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63" r:id="rId2"/>
    <p:sldId id="344" r:id="rId3"/>
    <p:sldId id="287" r:id="rId4"/>
    <p:sldId id="294" r:id="rId5"/>
    <p:sldId id="288" r:id="rId6"/>
    <p:sldId id="256" r:id="rId7"/>
    <p:sldId id="289" r:id="rId8"/>
    <p:sldId id="314" r:id="rId9"/>
    <p:sldId id="261" r:id="rId10"/>
    <p:sldId id="269" r:id="rId11"/>
    <p:sldId id="257" r:id="rId12"/>
    <p:sldId id="296" r:id="rId13"/>
    <p:sldId id="304" r:id="rId14"/>
    <p:sldId id="302" r:id="rId15"/>
    <p:sldId id="292" r:id="rId16"/>
    <p:sldId id="303" r:id="rId17"/>
    <p:sldId id="270" r:id="rId18"/>
    <p:sldId id="290" r:id="rId19"/>
    <p:sldId id="291" r:id="rId20"/>
    <p:sldId id="293" r:id="rId21"/>
    <p:sldId id="295" r:id="rId22"/>
    <p:sldId id="297" r:id="rId23"/>
    <p:sldId id="312" r:id="rId24"/>
    <p:sldId id="264" r:id="rId25"/>
    <p:sldId id="298" r:id="rId26"/>
    <p:sldId id="299" r:id="rId27"/>
    <p:sldId id="300" r:id="rId28"/>
    <p:sldId id="268" r:id="rId29"/>
    <p:sldId id="301" r:id="rId30"/>
    <p:sldId id="271" r:id="rId31"/>
    <p:sldId id="305" r:id="rId32"/>
    <p:sldId id="306" r:id="rId33"/>
    <p:sldId id="307" r:id="rId34"/>
    <p:sldId id="308" r:id="rId35"/>
    <p:sldId id="315" r:id="rId36"/>
    <p:sldId id="316" r:id="rId37"/>
    <p:sldId id="317" r:id="rId38"/>
    <p:sldId id="318" r:id="rId39"/>
    <p:sldId id="319" r:id="rId40"/>
    <p:sldId id="320" r:id="rId41"/>
    <p:sldId id="321" r:id="rId42"/>
    <p:sldId id="267" r:id="rId43"/>
    <p:sldId id="322" r:id="rId44"/>
    <p:sldId id="323" r:id="rId45"/>
    <p:sldId id="325" r:id="rId46"/>
    <p:sldId id="326" r:id="rId47"/>
    <p:sldId id="327" r:id="rId48"/>
    <p:sldId id="328" r:id="rId49"/>
    <p:sldId id="339" r:id="rId50"/>
    <p:sldId id="340" r:id="rId51"/>
    <p:sldId id="341" r:id="rId52"/>
    <p:sldId id="342" r:id="rId53"/>
    <p:sldId id="313" r:id="rId54"/>
    <p:sldId id="329" r:id="rId55"/>
    <p:sldId id="330" r:id="rId56"/>
    <p:sldId id="331" r:id="rId57"/>
    <p:sldId id="332" r:id="rId58"/>
    <p:sldId id="333" r:id="rId59"/>
    <p:sldId id="334" r:id="rId60"/>
    <p:sldId id="335" r:id="rId61"/>
    <p:sldId id="336" r:id="rId62"/>
    <p:sldId id="337" r:id="rId63"/>
    <p:sldId id="338" r:id="rId64"/>
    <p:sldId id="343" r:id="rId65"/>
    <p:sldId id="309" r:id="rId66"/>
    <p:sldId id="310"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01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1ED1C1-7C0F-49F2-83EE-5D6AE289AD13}" type="doc">
      <dgm:prSet loTypeId="urn:microsoft.com/office/officeart/2009/3/layout/HorizontalOrganizationChart" loCatId="hierarchy" qsTypeId="urn:microsoft.com/office/officeart/2005/8/quickstyle/3d1" qsCatId="3D" csTypeId="urn:microsoft.com/office/officeart/2005/8/colors/colorful1" csCatId="colorful" phldr="1"/>
      <dgm:spPr/>
      <dgm:t>
        <a:bodyPr/>
        <a:lstStyle/>
        <a:p>
          <a:endParaRPr lang="en-US"/>
        </a:p>
      </dgm:t>
    </dgm:pt>
    <dgm:pt modelId="{4329FAEA-1BF3-4FE6-88ED-056D242F5B11}">
      <dgm:prSet phldrT="[Text]" custT="1"/>
      <dgm:spPr/>
      <dgm:t>
        <a:bodyPr/>
        <a:lstStyle/>
        <a:p>
          <a:r>
            <a:rPr lang="en-US" sz="2800" b="1" dirty="0">
              <a:latin typeface="+mn-lt"/>
            </a:rPr>
            <a:t>Existing Product </a:t>
          </a:r>
          <a:endParaRPr lang="en-US" sz="2800" dirty="0">
            <a:latin typeface="+mn-lt"/>
          </a:endParaRPr>
        </a:p>
      </dgm:t>
    </dgm:pt>
    <dgm:pt modelId="{46EB46EC-2FB7-450C-904D-3F1993D0CFFF}" type="parTrans" cxnId="{27395818-C27C-4403-A9D8-8A3DF840D675}">
      <dgm:prSet/>
      <dgm:spPr/>
      <dgm:t>
        <a:bodyPr/>
        <a:lstStyle/>
        <a:p>
          <a:endParaRPr lang="en-US"/>
        </a:p>
      </dgm:t>
    </dgm:pt>
    <dgm:pt modelId="{7E135DEB-DD8E-43FA-BF24-470B18D768A1}" type="sibTrans" cxnId="{27395818-C27C-4403-A9D8-8A3DF840D675}">
      <dgm:prSet/>
      <dgm:spPr/>
      <dgm:t>
        <a:bodyPr/>
        <a:lstStyle/>
        <a:p>
          <a:endParaRPr lang="en-US"/>
        </a:p>
      </dgm:t>
    </dgm:pt>
    <dgm:pt modelId="{093F0302-4C25-47ED-80E5-F5B33308B4F9}">
      <dgm:prSet phldrT="[Text]" custT="1"/>
      <dgm:spPr/>
      <dgm:t>
        <a:bodyPr/>
        <a:lstStyle/>
        <a:p>
          <a:r>
            <a:rPr lang="en-US" sz="1800" dirty="0">
              <a:latin typeface="+mn-lt"/>
            </a:rPr>
            <a:t>2.Global Smart Shopping Cart Manufacturers</a:t>
          </a:r>
        </a:p>
      </dgm:t>
    </dgm:pt>
    <dgm:pt modelId="{F587FCDD-CC6E-41A5-ABD9-1EFF62048115}" type="parTrans" cxnId="{8139DC69-14DB-47E4-97A2-C4924AE3EBB5}">
      <dgm:prSet/>
      <dgm:spPr/>
      <dgm:t>
        <a:bodyPr/>
        <a:lstStyle/>
        <a:p>
          <a:endParaRPr lang="en-US" sz="1800">
            <a:latin typeface="+mn-lt"/>
          </a:endParaRPr>
        </a:p>
      </dgm:t>
    </dgm:pt>
    <dgm:pt modelId="{EFE50514-4CA6-4D7A-952E-EF304B2E97E8}" type="sibTrans" cxnId="{8139DC69-14DB-47E4-97A2-C4924AE3EBB5}">
      <dgm:prSet/>
      <dgm:spPr/>
      <dgm:t>
        <a:bodyPr/>
        <a:lstStyle/>
        <a:p>
          <a:endParaRPr lang="en-US"/>
        </a:p>
      </dgm:t>
    </dgm:pt>
    <dgm:pt modelId="{C69B6543-CE5E-4D16-B2B2-C9064DEF82A8}">
      <dgm:prSet phldrT="[Text]" custT="1"/>
      <dgm:spPr/>
      <dgm:t>
        <a:bodyPr/>
        <a:lstStyle/>
        <a:p>
          <a:r>
            <a:rPr lang="en-US" sz="1800" dirty="0">
              <a:solidFill>
                <a:schemeClr val="tx1"/>
              </a:solidFill>
              <a:latin typeface="+mn-lt"/>
            </a:rPr>
            <a:t>Red Sheep Store Fixtures (United States)</a:t>
          </a:r>
        </a:p>
      </dgm:t>
    </dgm:pt>
    <dgm:pt modelId="{C35DB428-53F1-4D0B-960A-3704EDB58DF6}" type="parTrans" cxnId="{5F0E336F-6534-4463-9649-E89142C64BB1}">
      <dgm:prSet/>
      <dgm:spPr/>
      <dgm:t>
        <a:bodyPr/>
        <a:lstStyle/>
        <a:p>
          <a:endParaRPr lang="en-US" sz="1800">
            <a:latin typeface="+mn-lt"/>
          </a:endParaRPr>
        </a:p>
      </dgm:t>
    </dgm:pt>
    <dgm:pt modelId="{45639293-1696-49B0-A021-3AC594D4E4D5}" type="sibTrans" cxnId="{5F0E336F-6534-4463-9649-E89142C64BB1}">
      <dgm:prSet/>
      <dgm:spPr/>
      <dgm:t>
        <a:bodyPr/>
        <a:lstStyle/>
        <a:p>
          <a:endParaRPr lang="en-US"/>
        </a:p>
      </dgm:t>
    </dgm:pt>
    <dgm:pt modelId="{1C941B0B-7860-4BBE-99F0-3A01E210D460}">
      <dgm:prSet phldrT="[Text]" custT="1"/>
      <dgm:spPr/>
      <dgm:t>
        <a:bodyPr/>
        <a:lstStyle/>
        <a:p>
          <a:r>
            <a:rPr lang="en-US" sz="1800" dirty="0" err="1">
              <a:solidFill>
                <a:schemeClr val="tx1"/>
              </a:solidFill>
              <a:latin typeface="+mn-lt"/>
            </a:rPr>
            <a:t>Wanzl</a:t>
          </a:r>
          <a:endParaRPr lang="en-US" sz="1800" dirty="0">
            <a:solidFill>
              <a:schemeClr val="tx1"/>
            </a:solidFill>
            <a:latin typeface="+mn-lt"/>
          </a:endParaRPr>
        </a:p>
        <a:p>
          <a:r>
            <a:rPr lang="en-US" sz="1800" dirty="0">
              <a:solidFill>
                <a:schemeClr val="tx1"/>
              </a:solidFill>
              <a:latin typeface="+mn-lt"/>
            </a:rPr>
            <a:t> (Germany)</a:t>
          </a:r>
        </a:p>
      </dgm:t>
    </dgm:pt>
    <dgm:pt modelId="{A7BB05EF-FD33-4B58-8C81-4287699719C2}" type="parTrans" cxnId="{A1AF51FD-097C-45E1-B016-C22D5F99E83F}">
      <dgm:prSet/>
      <dgm:spPr/>
      <dgm:t>
        <a:bodyPr/>
        <a:lstStyle/>
        <a:p>
          <a:endParaRPr lang="en-US" sz="1800">
            <a:latin typeface="+mn-lt"/>
          </a:endParaRPr>
        </a:p>
      </dgm:t>
    </dgm:pt>
    <dgm:pt modelId="{36DA8415-1281-45B1-BC80-5E9FD5159371}" type="sibTrans" cxnId="{A1AF51FD-097C-45E1-B016-C22D5F99E83F}">
      <dgm:prSet/>
      <dgm:spPr/>
      <dgm:t>
        <a:bodyPr/>
        <a:lstStyle/>
        <a:p>
          <a:endParaRPr lang="en-US"/>
        </a:p>
      </dgm:t>
    </dgm:pt>
    <dgm:pt modelId="{E3D30CE5-5BE4-408A-9DA6-3BBAF89F00AA}">
      <dgm:prSet phldrT="[Text]" custT="1"/>
      <dgm:spPr/>
      <dgm:t>
        <a:bodyPr/>
        <a:lstStyle/>
        <a:p>
          <a:r>
            <a:rPr lang="en-US" sz="1800" dirty="0">
              <a:latin typeface="+mn-lt"/>
            </a:rPr>
            <a:t>1.No Local Manufacturers in Bangladesh</a:t>
          </a:r>
        </a:p>
      </dgm:t>
    </dgm:pt>
    <dgm:pt modelId="{CCA3C2BC-F052-4C33-AA92-CB688E926079}" type="parTrans" cxnId="{06081CB1-6E74-4DC9-BD78-0684A7534067}">
      <dgm:prSet/>
      <dgm:spPr/>
      <dgm:t>
        <a:bodyPr/>
        <a:lstStyle/>
        <a:p>
          <a:endParaRPr lang="en-US" sz="1800">
            <a:latin typeface="+mn-lt"/>
          </a:endParaRPr>
        </a:p>
      </dgm:t>
    </dgm:pt>
    <dgm:pt modelId="{135BAAED-C7EB-4E0B-8F4E-D5084E4A8AF4}" type="sibTrans" cxnId="{06081CB1-6E74-4DC9-BD78-0684A7534067}">
      <dgm:prSet/>
      <dgm:spPr/>
      <dgm:t>
        <a:bodyPr/>
        <a:lstStyle/>
        <a:p>
          <a:endParaRPr lang="en-US"/>
        </a:p>
      </dgm:t>
    </dgm:pt>
    <dgm:pt modelId="{68B9D211-911C-4F76-8BA8-A648B719328A}">
      <dgm:prSet custT="1"/>
      <dgm:spPr/>
      <dgm:t>
        <a:bodyPr/>
        <a:lstStyle/>
        <a:p>
          <a:r>
            <a:rPr lang="en-US" sz="1800" dirty="0" err="1">
              <a:solidFill>
                <a:schemeClr val="tx1"/>
              </a:solidFill>
              <a:latin typeface="+mn-lt"/>
            </a:rPr>
            <a:t>Unarco</a:t>
          </a:r>
          <a:r>
            <a:rPr lang="en-US" sz="1800" dirty="0">
              <a:solidFill>
                <a:schemeClr val="tx1"/>
              </a:solidFill>
              <a:latin typeface="+mn-lt"/>
            </a:rPr>
            <a:t> Industries</a:t>
          </a:r>
        </a:p>
        <a:p>
          <a:r>
            <a:rPr lang="en-US" sz="1800" dirty="0">
              <a:solidFill>
                <a:schemeClr val="tx1"/>
              </a:solidFill>
              <a:latin typeface="+mn-lt"/>
            </a:rPr>
            <a:t> (United States)</a:t>
          </a:r>
        </a:p>
      </dgm:t>
    </dgm:pt>
    <dgm:pt modelId="{09627010-C8F9-4B53-894D-19E1D07FE65A}" type="parTrans" cxnId="{DDE319B4-BC92-4839-816A-DE4F2DB02793}">
      <dgm:prSet/>
      <dgm:spPr/>
      <dgm:t>
        <a:bodyPr/>
        <a:lstStyle/>
        <a:p>
          <a:endParaRPr lang="en-US" sz="1800">
            <a:latin typeface="+mn-lt"/>
          </a:endParaRPr>
        </a:p>
      </dgm:t>
    </dgm:pt>
    <dgm:pt modelId="{CB565069-0704-4641-98AA-F1011730D777}" type="sibTrans" cxnId="{DDE319B4-BC92-4839-816A-DE4F2DB02793}">
      <dgm:prSet/>
      <dgm:spPr/>
      <dgm:t>
        <a:bodyPr/>
        <a:lstStyle/>
        <a:p>
          <a:endParaRPr lang="en-US"/>
        </a:p>
      </dgm:t>
    </dgm:pt>
    <dgm:pt modelId="{B849F16A-A921-477E-8DF8-501FAA33313F}">
      <dgm:prSet custT="1"/>
      <dgm:spPr/>
      <dgm:t>
        <a:bodyPr/>
        <a:lstStyle/>
        <a:p>
          <a:r>
            <a:rPr lang="en-US" sz="1800" dirty="0">
              <a:solidFill>
                <a:schemeClr val="tx1"/>
              </a:solidFill>
              <a:latin typeface="+mn-lt"/>
            </a:rPr>
            <a:t>National Cart</a:t>
          </a:r>
        </a:p>
        <a:p>
          <a:r>
            <a:rPr lang="en-US" sz="1800" dirty="0">
              <a:solidFill>
                <a:schemeClr val="tx1"/>
              </a:solidFill>
              <a:latin typeface="+mn-lt"/>
            </a:rPr>
            <a:t> (United States)</a:t>
          </a:r>
        </a:p>
      </dgm:t>
    </dgm:pt>
    <dgm:pt modelId="{04168D85-6E96-4AED-AEF2-91318B4B5AF5}" type="parTrans" cxnId="{2ECB9F94-E5D2-4E57-909C-2AE96C7BCA7C}">
      <dgm:prSet/>
      <dgm:spPr/>
      <dgm:t>
        <a:bodyPr/>
        <a:lstStyle/>
        <a:p>
          <a:endParaRPr lang="en-US" sz="1800">
            <a:latin typeface="+mn-lt"/>
          </a:endParaRPr>
        </a:p>
      </dgm:t>
    </dgm:pt>
    <dgm:pt modelId="{1C5DC633-57DF-4657-A502-1F6BAADE6DCA}" type="sibTrans" cxnId="{2ECB9F94-E5D2-4E57-909C-2AE96C7BCA7C}">
      <dgm:prSet/>
      <dgm:spPr/>
      <dgm:t>
        <a:bodyPr/>
        <a:lstStyle/>
        <a:p>
          <a:endParaRPr lang="en-US"/>
        </a:p>
      </dgm:t>
    </dgm:pt>
    <dgm:pt modelId="{D323E8BE-C449-4DFC-A9F1-A9286AA2C6D7}">
      <dgm:prSet custT="1"/>
      <dgm:spPr/>
      <dgm:t>
        <a:bodyPr/>
        <a:lstStyle/>
        <a:p>
          <a:r>
            <a:rPr lang="en-US" sz="1800" dirty="0" err="1">
              <a:solidFill>
                <a:schemeClr val="tx1"/>
              </a:solidFill>
              <a:latin typeface="+mn-lt"/>
            </a:rPr>
            <a:t>Technibilt</a:t>
          </a:r>
          <a:endParaRPr lang="en-US" sz="1800" dirty="0">
            <a:solidFill>
              <a:schemeClr val="tx1"/>
            </a:solidFill>
            <a:latin typeface="+mn-lt"/>
          </a:endParaRPr>
        </a:p>
        <a:p>
          <a:r>
            <a:rPr lang="en-US" sz="1800" dirty="0">
              <a:solidFill>
                <a:schemeClr val="tx1"/>
              </a:solidFill>
              <a:latin typeface="+mn-lt"/>
            </a:rPr>
            <a:t> (United States)</a:t>
          </a:r>
        </a:p>
      </dgm:t>
    </dgm:pt>
    <dgm:pt modelId="{05D45902-FFDE-434F-B689-8EDD60C2C4B2}" type="parTrans" cxnId="{85796FE0-25F1-4398-BD32-A54836B2E2E3}">
      <dgm:prSet/>
      <dgm:spPr/>
      <dgm:t>
        <a:bodyPr/>
        <a:lstStyle/>
        <a:p>
          <a:endParaRPr lang="en-US" sz="1800">
            <a:latin typeface="+mn-lt"/>
          </a:endParaRPr>
        </a:p>
      </dgm:t>
    </dgm:pt>
    <dgm:pt modelId="{3A08599F-47CF-4CAC-83E9-980029FF107D}" type="sibTrans" cxnId="{85796FE0-25F1-4398-BD32-A54836B2E2E3}">
      <dgm:prSet/>
      <dgm:spPr/>
      <dgm:t>
        <a:bodyPr/>
        <a:lstStyle/>
        <a:p>
          <a:endParaRPr lang="en-US"/>
        </a:p>
      </dgm:t>
    </dgm:pt>
    <dgm:pt modelId="{1600CF90-9A05-41AD-B9EA-5ACF24A13C7E}" type="pres">
      <dgm:prSet presAssocID="{671ED1C1-7C0F-49F2-83EE-5D6AE289AD13}" presName="hierChild1" presStyleCnt="0">
        <dgm:presLayoutVars>
          <dgm:orgChart val="1"/>
          <dgm:chPref val="1"/>
          <dgm:dir/>
          <dgm:animOne val="branch"/>
          <dgm:animLvl val="lvl"/>
          <dgm:resizeHandles/>
        </dgm:presLayoutVars>
      </dgm:prSet>
      <dgm:spPr/>
    </dgm:pt>
    <dgm:pt modelId="{B137067A-65E9-4F54-8699-1C1E7AC55D7A}" type="pres">
      <dgm:prSet presAssocID="{4329FAEA-1BF3-4FE6-88ED-056D242F5B11}" presName="hierRoot1" presStyleCnt="0">
        <dgm:presLayoutVars>
          <dgm:hierBranch val="init"/>
        </dgm:presLayoutVars>
      </dgm:prSet>
      <dgm:spPr/>
    </dgm:pt>
    <dgm:pt modelId="{D91B46FC-ECCE-4166-ABE0-8C24E5D2F57D}" type="pres">
      <dgm:prSet presAssocID="{4329FAEA-1BF3-4FE6-88ED-056D242F5B11}" presName="rootComposite1" presStyleCnt="0"/>
      <dgm:spPr/>
    </dgm:pt>
    <dgm:pt modelId="{C65B22B3-C181-45C5-BC90-6D25E8CC23E2}" type="pres">
      <dgm:prSet presAssocID="{4329FAEA-1BF3-4FE6-88ED-056D242F5B11}" presName="rootText1" presStyleLbl="node0" presStyleIdx="0" presStyleCnt="1" custScaleX="113243" custScaleY="207571">
        <dgm:presLayoutVars>
          <dgm:chPref val="3"/>
        </dgm:presLayoutVars>
      </dgm:prSet>
      <dgm:spPr/>
    </dgm:pt>
    <dgm:pt modelId="{7C3D82B4-A5E1-45BD-AF0E-7EA30186247A}" type="pres">
      <dgm:prSet presAssocID="{4329FAEA-1BF3-4FE6-88ED-056D242F5B11}" presName="rootConnector1" presStyleLbl="node1" presStyleIdx="0" presStyleCnt="0"/>
      <dgm:spPr/>
    </dgm:pt>
    <dgm:pt modelId="{06C27BFA-9949-4672-9781-327975120EB2}" type="pres">
      <dgm:prSet presAssocID="{4329FAEA-1BF3-4FE6-88ED-056D242F5B11}" presName="hierChild2" presStyleCnt="0"/>
      <dgm:spPr/>
    </dgm:pt>
    <dgm:pt modelId="{5F60BC52-56B8-401D-AB82-FD6B19EB6047}" type="pres">
      <dgm:prSet presAssocID="{CCA3C2BC-F052-4C33-AA92-CB688E926079}" presName="Name64" presStyleLbl="parChTrans1D2" presStyleIdx="0" presStyleCnt="2"/>
      <dgm:spPr/>
    </dgm:pt>
    <dgm:pt modelId="{5BC8EA13-B18B-4DE3-8002-B288E2271C92}" type="pres">
      <dgm:prSet presAssocID="{E3D30CE5-5BE4-408A-9DA6-3BBAF89F00AA}" presName="hierRoot2" presStyleCnt="0">
        <dgm:presLayoutVars>
          <dgm:hierBranch val="init"/>
        </dgm:presLayoutVars>
      </dgm:prSet>
      <dgm:spPr/>
    </dgm:pt>
    <dgm:pt modelId="{3DC8D04B-7264-418D-9D03-1CC4FDFF22E9}" type="pres">
      <dgm:prSet presAssocID="{E3D30CE5-5BE4-408A-9DA6-3BBAF89F00AA}" presName="rootComposite" presStyleCnt="0"/>
      <dgm:spPr/>
    </dgm:pt>
    <dgm:pt modelId="{F2810A0E-6C54-40DA-BE73-73193076C722}" type="pres">
      <dgm:prSet presAssocID="{E3D30CE5-5BE4-408A-9DA6-3BBAF89F00AA}" presName="rootText" presStyleLbl="node2" presStyleIdx="0" presStyleCnt="2">
        <dgm:presLayoutVars>
          <dgm:chPref val="3"/>
        </dgm:presLayoutVars>
      </dgm:prSet>
      <dgm:spPr/>
    </dgm:pt>
    <dgm:pt modelId="{A937864A-B9B6-4F3B-B57A-7561BE541AD6}" type="pres">
      <dgm:prSet presAssocID="{E3D30CE5-5BE4-408A-9DA6-3BBAF89F00AA}" presName="rootConnector" presStyleLbl="node2" presStyleIdx="0" presStyleCnt="2"/>
      <dgm:spPr/>
    </dgm:pt>
    <dgm:pt modelId="{7BD0C393-3D73-49D9-A68E-166C8ADDDF3D}" type="pres">
      <dgm:prSet presAssocID="{E3D30CE5-5BE4-408A-9DA6-3BBAF89F00AA}" presName="hierChild4" presStyleCnt="0"/>
      <dgm:spPr/>
    </dgm:pt>
    <dgm:pt modelId="{84B5C88D-273A-43BC-9F94-D59049A0A9D6}" type="pres">
      <dgm:prSet presAssocID="{E3D30CE5-5BE4-408A-9DA6-3BBAF89F00AA}" presName="hierChild5" presStyleCnt="0"/>
      <dgm:spPr/>
    </dgm:pt>
    <dgm:pt modelId="{C0954E34-6EE5-492C-9775-E6D71B727BB0}" type="pres">
      <dgm:prSet presAssocID="{F587FCDD-CC6E-41A5-ABD9-1EFF62048115}" presName="Name64" presStyleLbl="parChTrans1D2" presStyleIdx="1" presStyleCnt="2"/>
      <dgm:spPr/>
    </dgm:pt>
    <dgm:pt modelId="{6EA0BF61-77B4-42D7-B899-D0A62BEA151B}" type="pres">
      <dgm:prSet presAssocID="{093F0302-4C25-47ED-80E5-F5B33308B4F9}" presName="hierRoot2" presStyleCnt="0">
        <dgm:presLayoutVars>
          <dgm:hierBranch val="init"/>
        </dgm:presLayoutVars>
      </dgm:prSet>
      <dgm:spPr/>
    </dgm:pt>
    <dgm:pt modelId="{94924BB8-892E-4749-A56B-B8341418A1CF}" type="pres">
      <dgm:prSet presAssocID="{093F0302-4C25-47ED-80E5-F5B33308B4F9}" presName="rootComposite" presStyleCnt="0"/>
      <dgm:spPr/>
    </dgm:pt>
    <dgm:pt modelId="{E0B5F5D8-72AA-4288-BA77-F0CCCDDBF870}" type="pres">
      <dgm:prSet presAssocID="{093F0302-4C25-47ED-80E5-F5B33308B4F9}" presName="rootText" presStyleLbl="node2" presStyleIdx="1" presStyleCnt="2">
        <dgm:presLayoutVars>
          <dgm:chPref val="3"/>
        </dgm:presLayoutVars>
      </dgm:prSet>
      <dgm:spPr/>
    </dgm:pt>
    <dgm:pt modelId="{A9086992-44D0-4126-9229-E3C40D78087D}" type="pres">
      <dgm:prSet presAssocID="{093F0302-4C25-47ED-80E5-F5B33308B4F9}" presName="rootConnector" presStyleLbl="node2" presStyleIdx="1" presStyleCnt="2"/>
      <dgm:spPr/>
    </dgm:pt>
    <dgm:pt modelId="{96A83997-E0C5-4AF0-B03C-910B9E6C2909}" type="pres">
      <dgm:prSet presAssocID="{093F0302-4C25-47ED-80E5-F5B33308B4F9}" presName="hierChild4" presStyleCnt="0"/>
      <dgm:spPr/>
    </dgm:pt>
    <dgm:pt modelId="{52F9D8F1-D61A-4B39-BA61-361C4F046460}" type="pres">
      <dgm:prSet presAssocID="{04168D85-6E96-4AED-AEF2-91318B4B5AF5}" presName="Name64" presStyleLbl="parChTrans1D3" presStyleIdx="0" presStyleCnt="5"/>
      <dgm:spPr/>
    </dgm:pt>
    <dgm:pt modelId="{9CAA4C0E-A3C5-4D3C-A749-7305EB68A7AD}" type="pres">
      <dgm:prSet presAssocID="{B849F16A-A921-477E-8DF8-501FAA33313F}" presName="hierRoot2" presStyleCnt="0">
        <dgm:presLayoutVars>
          <dgm:hierBranch val="init"/>
        </dgm:presLayoutVars>
      </dgm:prSet>
      <dgm:spPr/>
    </dgm:pt>
    <dgm:pt modelId="{64A32262-1288-4E66-82F4-9627168CB2C5}" type="pres">
      <dgm:prSet presAssocID="{B849F16A-A921-477E-8DF8-501FAA33313F}" presName="rootComposite" presStyleCnt="0"/>
      <dgm:spPr/>
    </dgm:pt>
    <dgm:pt modelId="{BA574C49-0D64-4954-B2D7-C30E77031840}" type="pres">
      <dgm:prSet presAssocID="{B849F16A-A921-477E-8DF8-501FAA33313F}" presName="rootText" presStyleLbl="node3" presStyleIdx="0" presStyleCnt="5">
        <dgm:presLayoutVars>
          <dgm:chPref val="3"/>
        </dgm:presLayoutVars>
      </dgm:prSet>
      <dgm:spPr/>
    </dgm:pt>
    <dgm:pt modelId="{17BC972E-DD99-4207-ABFE-0713B25ED76B}" type="pres">
      <dgm:prSet presAssocID="{B849F16A-A921-477E-8DF8-501FAA33313F}" presName="rootConnector" presStyleLbl="node3" presStyleIdx="0" presStyleCnt="5"/>
      <dgm:spPr/>
    </dgm:pt>
    <dgm:pt modelId="{225CE90A-9279-4E1C-9F96-13FF99204590}" type="pres">
      <dgm:prSet presAssocID="{B849F16A-A921-477E-8DF8-501FAA33313F}" presName="hierChild4" presStyleCnt="0"/>
      <dgm:spPr/>
    </dgm:pt>
    <dgm:pt modelId="{65942DDF-5A65-49E6-928F-3CE34F7C0C01}" type="pres">
      <dgm:prSet presAssocID="{B849F16A-A921-477E-8DF8-501FAA33313F}" presName="hierChild5" presStyleCnt="0"/>
      <dgm:spPr/>
    </dgm:pt>
    <dgm:pt modelId="{AFE80231-49E1-499A-881B-2E6E4C30C30B}" type="pres">
      <dgm:prSet presAssocID="{C35DB428-53F1-4D0B-960A-3704EDB58DF6}" presName="Name64" presStyleLbl="parChTrans1D3" presStyleIdx="1" presStyleCnt="5"/>
      <dgm:spPr/>
    </dgm:pt>
    <dgm:pt modelId="{63C76D87-2BFA-4EA6-BBD5-B95246A22A71}" type="pres">
      <dgm:prSet presAssocID="{C69B6543-CE5E-4D16-B2B2-C9064DEF82A8}" presName="hierRoot2" presStyleCnt="0">
        <dgm:presLayoutVars>
          <dgm:hierBranch val="init"/>
        </dgm:presLayoutVars>
      </dgm:prSet>
      <dgm:spPr/>
    </dgm:pt>
    <dgm:pt modelId="{9E8E3739-4A73-44B7-BEC3-80E12BC51478}" type="pres">
      <dgm:prSet presAssocID="{C69B6543-CE5E-4D16-B2B2-C9064DEF82A8}" presName="rootComposite" presStyleCnt="0"/>
      <dgm:spPr/>
    </dgm:pt>
    <dgm:pt modelId="{D5A0FADE-9D05-443F-B552-1DBB771738BF}" type="pres">
      <dgm:prSet presAssocID="{C69B6543-CE5E-4D16-B2B2-C9064DEF82A8}" presName="rootText" presStyleLbl="node3" presStyleIdx="1" presStyleCnt="5">
        <dgm:presLayoutVars>
          <dgm:chPref val="3"/>
        </dgm:presLayoutVars>
      </dgm:prSet>
      <dgm:spPr/>
    </dgm:pt>
    <dgm:pt modelId="{E98B8273-0FEA-445D-9C03-3DAF66016D09}" type="pres">
      <dgm:prSet presAssocID="{C69B6543-CE5E-4D16-B2B2-C9064DEF82A8}" presName="rootConnector" presStyleLbl="node3" presStyleIdx="1" presStyleCnt="5"/>
      <dgm:spPr/>
    </dgm:pt>
    <dgm:pt modelId="{7084F0EC-2C43-4149-A89A-DB2CD2A470A5}" type="pres">
      <dgm:prSet presAssocID="{C69B6543-CE5E-4D16-B2B2-C9064DEF82A8}" presName="hierChild4" presStyleCnt="0"/>
      <dgm:spPr/>
    </dgm:pt>
    <dgm:pt modelId="{6DC0284F-3C74-4F36-A513-34AE4F2EE712}" type="pres">
      <dgm:prSet presAssocID="{C69B6543-CE5E-4D16-B2B2-C9064DEF82A8}" presName="hierChild5" presStyleCnt="0"/>
      <dgm:spPr/>
    </dgm:pt>
    <dgm:pt modelId="{3BD9AFA0-C6E7-40EB-AA83-C30F8B8C971B}" type="pres">
      <dgm:prSet presAssocID="{05D45902-FFDE-434F-B689-8EDD60C2C4B2}" presName="Name64" presStyleLbl="parChTrans1D3" presStyleIdx="2" presStyleCnt="5"/>
      <dgm:spPr/>
    </dgm:pt>
    <dgm:pt modelId="{90450EC3-B890-4D0D-A748-8729FB95BE37}" type="pres">
      <dgm:prSet presAssocID="{D323E8BE-C449-4DFC-A9F1-A9286AA2C6D7}" presName="hierRoot2" presStyleCnt="0">
        <dgm:presLayoutVars>
          <dgm:hierBranch val="init"/>
        </dgm:presLayoutVars>
      </dgm:prSet>
      <dgm:spPr/>
    </dgm:pt>
    <dgm:pt modelId="{D808A7EC-4646-4FE8-95F7-F91249F2F551}" type="pres">
      <dgm:prSet presAssocID="{D323E8BE-C449-4DFC-A9F1-A9286AA2C6D7}" presName="rootComposite" presStyleCnt="0"/>
      <dgm:spPr/>
    </dgm:pt>
    <dgm:pt modelId="{D9FAAD41-ACE4-4368-BFF9-1A298C54F8A6}" type="pres">
      <dgm:prSet presAssocID="{D323E8BE-C449-4DFC-A9F1-A9286AA2C6D7}" presName="rootText" presStyleLbl="node3" presStyleIdx="2" presStyleCnt="5">
        <dgm:presLayoutVars>
          <dgm:chPref val="3"/>
        </dgm:presLayoutVars>
      </dgm:prSet>
      <dgm:spPr/>
    </dgm:pt>
    <dgm:pt modelId="{EF0814BE-71C5-4044-8B2B-1A920933B18B}" type="pres">
      <dgm:prSet presAssocID="{D323E8BE-C449-4DFC-A9F1-A9286AA2C6D7}" presName="rootConnector" presStyleLbl="node3" presStyleIdx="2" presStyleCnt="5"/>
      <dgm:spPr/>
    </dgm:pt>
    <dgm:pt modelId="{7FAF22C6-D2BC-4B33-8BDE-F0D0D8EBC517}" type="pres">
      <dgm:prSet presAssocID="{D323E8BE-C449-4DFC-A9F1-A9286AA2C6D7}" presName="hierChild4" presStyleCnt="0"/>
      <dgm:spPr/>
    </dgm:pt>
    <dgm:pt modelId="{237C59F3-70E6-4E42-95E3-EA5C72257EC8}" type="pres">
      <dgm:prSet presAssocID="{D323E8BE-C449-4DFC-A9F1-A9286AA2C6D7}" presName="hierChild5" presStyleCnt="0"/>
      <dgm:spPr/>
    </dgm:pt>
    <dgm:pt modelId="{BF53C416-6757-4050-8B7D-E831B6D60C20}" type="pres">
      <dgm:prSet presAssocID="{09627010-C8F9-4B53-894D-19E1D07FE65A}" presName="Name64" presStyleLbl="parChTrans1D3" presStyleIdx="3" presStyleCnt="5"/>
      <dgm:spPr/>
    </dgm:pt>
    <dgm:pt modelId="{E3CA61A1-1BB8-430D-A511-CF8D830C3E41}" type="pres">
      <dgm:prSet presAssocID="{68B9D211-911C-4F76-8BA8-A648B719328A}" presName="hierRoot2" presStyleCnt="0">
        <dgm:presLayoutVars>
          <dgm:hierBranch val="init"/>
        </dgm:presLayoutVars>
      </dgm:prSet>
      <dgm:spPr/>
    </dgm:pt>
    <dgm:pt modelId="{C93AE482-5510-4E17-A32A-A3C5089C93F7}" type="pres">
      <dgm:prSet presAssocID="{68B9D211-911C-4F76-8BA8-A648B719328A}" presName="rootComposite" presStyleCnt="0"/>
      <dgm:spPr/>
    </dgm:pt>
    <dgm:pt modelId="{FFE4B324-AF6B-4929-A1DC-A7F84414743D}" type="pres">
      <dgm:prSet presAssocID="{68B9D211-911C-4F76-8BA8-A648B719328A}" presName="rootText" presStyleLbl="node3" presStyleIdx="3" presStyleCnt="5">
        <dgm:presLayoutVars>
          <dgm:chPref val="3"/>
        </dgm:presLayoutVars>
      </dgm:prSet>
      <dgm:spPr/>
    </dgm:pt>
    <dgm:pt modelId="{F2651BF6-80B7-486D-9DC3-62E84643E762}" type="pres">
      <dgm:prSet presAssocID="{68B9D211-911C-4F76-8BA8-A648B719328A}" presName="rootConnector" presStyleLbl="node3" presStyleIdx="3" presStyleCnt="5"/>
      <dgm:spPr/>
    </dgm:pt>
    <dgm:pt modelId="{82B4AF9C-44CA-48EE-B1FA-911C9FDCA25B}" type="pres">
      <dgm:prSet presAssocID="{68B9D211-911C-4F76-8BA8-A648B719328A}" presName="hierChild4" presStyleCnt="0"/>
      <dgm:spPr/>
    </dgm:pt>
    <dgm:pt modelId="{46B892E0-24AE-45C5-B463-DB368CC0689D}" type="pres">
      <dgm:prSet presAssocID="{68B9D211-911C-4F76-8BA8-A648B719328A}" presName="hierChild5" presStyleCnt="0"/>
      <dgm:spPr/>
    </dgm:pt>
    <dgm:pt modelId="{D2F3CBA2-5BB2-43C2-A283-15055855E9FE}" type="pres">
      <dgm:prSet presAssocID="{A7BB05EF-FD33-4B58-8C81-4287699719C2}" presName="Name64" presStyleLbl="parChTrans1D3" presStyleIdx="4" presStyleCnt="5"/>
      <dgm:spPr/>
    </dgm:pt>
    <dgm:pt modelId="{59ECF540-7D14-4C8D-BD33-C546CB0F5990}" type="pres">
      <dgm:prSet presAssocID="{1C941B0B-7860-4BBE-99F0-3A01E210D460}" presName="hierRoot2" presStyleCnt="0">
        <dgm:presLayoutVars>
          <dgm:hierBranch val="init"/>
        </dgm:presLayoutVars>
      </dgm:prSet>
      <dgm:spPr/>
    </dgm:pt>
    <dgm:pt modelId="{7FF4B71A-CC9C-4913-B80A-9E70A78FEF3F}" type="pres">
      <dgm:prSet presAssocID="{1C941B0B-7860-4BBE-99F0-3A01E210D460}" presName="rootComposite" presStyleCnt="0"/>
      <dgm:spPr/>
    </dgm:pt>
    <dgm:pt modelId="{3C3B11E7-1F16-48DB-BD8C-92D8E12B24F0}" type="pres">
      <dgm:prSet presAssocID="{1C941B0B-7860-4BBE-99F0-3A01E210D460}" presName="rootText" presStyleLbl="node3" presStyleIdx="4" presStyleCnt="5">
        <dgm:presLayoutVars>
          <dgm:chPref val="3"/>
        </dgm:presLayoutVars>
      </dgm:prSet>
      <dgm:spPr/>
    </dgm:pt>
    <dgm:pt modelId="{EC47B6F1-5C7D-49C9-A38A-C3C54A92EB12}" type="pres">
      <dgm:prSet presAssocID="{1C941B0B-7860-4BBE-99F0-3A01E210D460}" presName="rootConnector" presStyleLbl="node3" presStyleIdx="4" presStyleCnt="5"/>
      <dgm:spPr/>
    </dgm:pt>
    <dgm:pt modelId="{A82D8B37-BC2E-4554-B146-B01AB01CE9D0}" type="pres">
      <dgm:prSet presAssocID="{1C941B0B-7860-4BBE-99F0-3A01E210D460}" presName="hierChild4" presStyleCnt="0"/>
      <dgm:spPr/>
    </dgm:pt>
    <dgm:pt modelId="{F3050510-927C-42FD-9013-ACF8DE56E465}" type="pres">
      <dgm:prSet presAssocID="{1C941B0B-7860-4BBE-99F0-3A01E210D460}" presName="hierChild5" presStyleCnt="0"/>
      <dgm:spPr/>
    </dgm:pt>
    <dgm:pt modelId="{E3E86E0D-5FB3-408E-82F8-B66B425CF2EC}" type="pres">
      <dgm:prSet presAssocID="{093F0302-4C25-47ED-80E5-F5B33308B4F9}" presName="hierChild5" presStyleCnt="0"/>
      <dgm:spPr/>
    </dgm:pt>
    <dgm:pt modelId="{0562BA42-0A5A-4D8F-9562-25C605312475}" type="pres">
      <dgm:prSet presAssocID="{4329FAEA-1BF3-4FE6-88ED-056D242F5B11}" presName="hierChild3" presStyleCnt="0"/>
      <dgm:spPr/>
    </dgm:pt>
  </dgm:ptLst>
  <dgm:cxnLst>
    <dgm:cxn modelId="{A05F8E00-37AE-48CF-8D9A-F807FF7DA4CA}" type="presOf" srcId="{C35DB428-53F1-4D0B-960A-3704EDB58DF6}" destId="{AFE80231-49E1-499A-881B-2E6E4C30C30B}" srcOrd="0" destOrd="0" presId="urn:microsoft.com/office/officeart/2009/3/layout/HorizontalOrganizationChart"/>
    <dgm:cxn modelId="{65133401-E372-48E0-A78E-08D1248EFFA0}" type="presOf" srcId="{B849F16A-A921-477E-8DF8-501FAA33313F}" destId="{17BC972E-DD99-4207-ABFE-0713B25ED76B}" srcOrd="1" destOrd="0" presId="urn:microsoft.com/office/officeart/2009/3/layout/HorizontalOrganizationChart"/>
    <dgm:cxn modelId="{18D25903-A5EF-41CF-95DB-4C9484812A84}" type="presOf" srcId="{04168D85-6E96-4AED-AEF2-91318B4B5AF5}" destId="{52F9D8F1-D61A-4B39-BA61-361C4F046460}" srcOrd="0" destOrd="0" presId="urn:microsoft.com/office/officeart/2009/3/layout/HorizontalOrganizationChart"/>
    <dgm:cxn modelId="{FA68DE05-43A6-4FCC-A97B-7F6B537CB8CE}" type="presOf" srcId="{4329FAEA-1BF3-4FE6-88ED-056D242F5B11}" destId="{7C3D82B4-A5E1-45BD-AF0E-7EA30186247A}" srcOrd="1" destOrd="0" presId="urn:microsoft.com/office/officeart/2009/3/layout/HorizontalOrganizationChart"/>
    <dgm:cxn modelId="{A45F5C0A-BE15-42BD-890B-94FCF721286A}" type="presOf" srcId="{68B9D211-911C-4F76-8BA8-A648B719328A}" destId="{FFE4B324-AF6B-4929-A1DC-A7F84414743D}" srcOrd="0" destOrd="0" presId="urn:microsoft.com/office/officeart/2009/3/layout/HorizontalOrganizationChart"/>
    <dgm:cxn modelId="{5AF7460B-0D6D-4355-B4C2-E85CF467B24A}" type="presOf" srcId="{B849F16A-A921-477E-8DF8-501FAA33313F}" destId="{BA574C49-0D64-4954-B2D7-C30E77031840}" srcOrd="0" destOrd="0" presId="urn:microsoft.com/office/officeart/2009/3/layout/HorizontalOrganizationChart"/>
    <dgm:cxn modelId="{27395818-C27C-4403-A9D8-8A3DF840D675}" srcId="{671ED1C1-7C0F-49F2-83EE-5D6AE289AD13}" destId="{4329FAEA-1BF3-4FE6-88ED-056D242F5B11}" srcOrd="0" destOrd="0" parTransId="{46EB46EC-2FB7-450C-904D-3F1993D0CFFF}" sibTransId="{7E135DEB-DD8E-43FA-BF24-470B18D768A1}"/>
    <dgm:cxn modelId="{4A517921-9493-4D00-8D59-583E52D88A00}" type="presOf" srcId="{68B9D211-911C-4F76-8BA8-A648B719328A}" destId="{F2651BF6-80B7-486D-9DC3-62E84643E762}" srcOrd="1" destOrd="0" presId="urn:microsoft.com/office/officeart/2009/3/layout/HorizontalOrganizationChart"/>
    <dgm:cxn modelId="{69E9BD25-D9B7-4A04-80D6-201307EFE9DE}" type="presOf" srcId="{A7BB05EF-FD33-4B58-8C81-4287699719C2}" destId="{D2F3CBA2-5BB2-43C2-A283-15055855E9FE}" srcOrd="0" destOrd="0" presId="urn:microsoft.com/office/officeart/2009/3/layout/HorizontalOrganizationChart"/>
    <dgm:cxn modelId="{51312928-7861-4B79-BAD0-D318A9411118}" type="presOf" srcId="{C69B6543-CE5E-4D16-B2B2-C9064DEF82A8}" destId="{E98B8273-0FEA-445D-9C03-3DAF66016D09}" srcOrd="1" destOrd="0" presId="urn:microsoft.com/office/officeart/2009/3/layout/HorizontalOrganizationChart"/>
    <dgm:cxn modelId="{2A067D2A-80C0-44BB-BD43-42CE3B06D824}" type="presOf" srcId="{C69B6543-CE5E-4D16-B2B2-C9064DEF82A8}" destId="{D5A0FADE-9D05-443F-B552-1DBB771738BF}" srcOrd="0" destOrd="0" presId="urn:microsoft.com/office/officeart/2009/3/layout/HorizontalOrganizationChart"/>
    <dgm:cxn modelId="{0240DC5F-2BBE-4157-8977-8B024A56D5D3}" type="presOf" srcId="{4329FAEA-1BF3-4FE6-88ED-056D242F5B11}" destId="{C65B22B3-C181-45C5-BC90-6D25E8CC23E2}" srcOrd="0" destOrd="0" presId="urn:microsoft.com/office/officeart/2009/3/layout/HorizontalOrganizationChart"/>
    <dgm:cxn modelId="{E5DB3141-A1FB-49ED-8A4F-821888902746}" type="presOf" srcId="{F587FCDD-CC6E-41A5-ABD9-1EFF62048115}" destId="{C0954E34-6EE5-492C-9775-E6D71B727BB0}" srcOrd="0" destOrd="0" presId="urn:microsoft.com/office/officeart/2009/3/layout/HorizontalOrganizationChart"/>
    <dgm:cxn modelId="{6BE8CD41-175F-429A-B7F1-D01E49DED102}" type="presOf" srcId="{05D45902-FFDE-434F-B689-8EDD60C2C4B2}" destId="{3BD9AFA0-C6E7-40EB-AA83-C30F8B8C971B}" srcOrd="0" destOrd="0" presId="urn:microsoft.com/office/officeart/2009/3/layout/HorizontalOrganizationChart"/>
    <dgm:cxn modelId="{386F9A48-6203-417A-B469-D6A2AE241FFC}" type="presOf" srcId="{09627010-C8F9-4B53-894D-19E1D07FE65A}" destId="{BF53C416-6757-4050-8B7D-E831B6D60C20}" srcOrd="0" destOrd="0" presId="urn:microsoft.com/office/officeart/2009/3/layout/HorizontalOrganizationChart"/>
    <dgm:cxn modelId="{3B62AE68-B44B-4FFF-B956-752F9EDCAD13}" type="presOf" srcId="{E3D30CE5-5BE4-408A-9DA6-3BBAF89F00AA}" destId="{F2810A0E-6C54-40DA-BE73-73193076C722}" srcOrd="0" destOrd="0" presId="urn:microsoft.com/office/officeart/2009/3/layout/HorizontalOrganizationChart"/>
    <dgm:cxn modelId="{8139DC69-14DB-47E4-97A2-C4924AE3EBB5}" srcId="{4329FAEA-1BF3-4FE6-88ED-056D242F5B11}" destId="{093F0302-4C25-47ED-80E5-F5B33308B4F9}" srcOrd="1" destOrd="0" parTransId="{F587FCDD-CC6E-41A5-ABD9-1EFF62048115}" sibTransId="{EFE50514-4CA6-4D7A-952E-EF304B2E97E8}"/>
    <dgm:cxn modelId="{5F0E336F-6534-4463-9649-E89142C64BB1}" srcId="{093F0302-4C25-47ED-80E5-F5B33308B4F9}" destId="{C69B6543-CE5E-4D16-B2B2-C9064DEF82A8}" srcOrd="1" destOrd="0" parTransId="{C35DB428-53F1-4D0B-960A-3704EDB58DF6}" sibTransId="{45639293-1696-49B0-A021-3AC594D4E4D5}"/>
    <dgm:cxn modelId="{7CDA9F50-BDC5-4508-B6CE-D67300C8FAE4}" type="presOf" srcId="{CCA3C2BC-F052-4C33-AA92-CB688E926079}" destId="{5F60BC52-56B8-401D-AB82-FD6B19EB6047}" srcOrd="0" destOrd="0" presId="urn:microsoft.com/office/officeart/2009/3/layout/HorizontalOrganizationChart"/>
    <dgm:cxn modelId="{4B9FB454-4EB0-499C-B8F0-0470A4968F0E}" type="presOf" srcId="{1C941B0B-7860-4BBE-99F0-3A01E210D460}" destId="{EC47B6F1-5C7D-49C9-A38A-C3C54A92EB12}" srcOrd="1" destOrd="0" presId="urn:microsoft.com/office/officeart/2009/3/layout/HorizontalOrganizationChart"/>
    <dgm:cxn modelId="{BA5FE558-8C2F-4972-AC61-35059845746C}" type="presOf" srcId="{D323E8BE-C449-4DFC-A9F1-A9286AA2C6D7}" destId="{D9FAAD41-ACE4-4368-BFF9-1A298C54F8A6}" srcOrd="0" destOrd="0" presId="urn:microsoft.com/office/officeart/2009/3/layout/HorizontalOrganizationChart"/>
    <dgm:cxn modelId="{2ECB9F94-E5D2-4E57-909C-2AE96C7BCA7C}" srcId="{093F0302-4C25-47ED-80E5-F5B33308B4F9}" destId="{B849F16A-A921-477E-8DF8-501FAA33313F}" srcOrd="0" destOrd="0" parTransId="{04168D85-6E96-4AED-AEF2-91318B4B5AF5}" sibTransId="{1C5DC633-57DF-4657-A502-1F6BAADE6DCA}"/>
    <dgm:cxn modelId="{11253C97-E5DE-401F-BE9A-14B60B786DEA}" type="presOf" srcId="{671ED1C1-7C0F-49F2-83EE-5D6AE289AD13}" destId="{1600CF90-9A05-41AD-B9EA-5ACF24A13C7E}" srcOrd="0" destOrd="0" presId="urn:microsoft.com/office/officeart/2009/3/layout/HorizontalOrganizationChart"/>
    <dgm:cxn modelId="{06081CB1-6E74-4DC9-BD78-0684A7534067}" srcId="{4329FAEA-1BF3-4FE6-88ED-056D242F5B11}" destId="{E3D30CE5-5BE4-408A-9DA6-3BBAF89F00AA}" srcOrd="0" destOrd="0" parTransId="{CCA3C2BC-F052-4C33-AA92-CB688E926079}" sibTransId="{135BAAED-C7EB-4E0B-8F4E-D5084E4A8AF4}"/>
    <dgm:cxn modelId="{BC2E1EB3-989C-4C6B-A88E-196EEC159A0C}" type="presOf" srcId="{D323E8BE-C449-4DFC-A9F1-A9286AA2C6D7}" destId="{EF0814BE-71C5-4044-8B2B-1A920933B18B}" srcOrd="1" destOrd="0" presId="urn:microsoft.com/office/officeart/2009/3/layout/HorizontalOrganizationChart"/>
    <dgm:cxn modelId="{DDE319B4-BC92-4839-816A-DE4F2DB02793}" srcId="{093F0302-4C25-47ED-80E5-F5B33308B4F9}" destId="{68B9D211-911C-4F76-8BA8-A648B719328A}" srcOrd="3" destOrd="0" parTransId="{09627010-C8F9-4B53-894D-19E1D07FE65A}" sibTransId="{CB565069-0704-4641-98AA-F1011730D777}"/>
    <dgm:cxn modelId="{FBCF7DB9-5F9B-4706-AEFC-2A5A6BEEDBE0}" type="presOf" srcId="{E3D30CE5-5BE4-408A-9DA6-3BBAF89F00AA}" destId="{A937864A-B9B6-4F3B-B57A-7561BE541AD6}" srcOrd="1" destOrd="0" presId="urn:microsoft.com/office/officeart/2009/3/layout/HorizontalOrganizationChart"/>
    <dgm:cxn modelId="{9318BEB9-00D9-4605-9415-C61040254846}" type="presOf" srcId="{093F0302-4C25-47ED-80E5-F5B33308B4F9}" destId="{E0B5F5D8-72AA-4288-BA77-F0CCCDDBF870}" srcOrd="0" destOrd="0" presId="urn:microsoft.com/office/officeart/2009/3/layout/HorizontalOrganizationChart"/>
    <dgm:cxn modelId="{85796FE0-25F1-4398-BD32-A54836B2E2E3}" srcId="{093F0302-4C25-47ED-80E5-F5B33308B4F9}" destId="{D323E8BE-C449-4DFC-A9F1-A9286AA2C6D7}" srcOrd="2" destOrd="0" parTransId="{05D45902-FFDE-434F-B689-8EDD60C2C4B2}" sibTransId="{3A08599F-47CF-4CAC-83E9-980029FF107D}"/>
    <dgm:cxn modelId="{8FD048E8-5661-4F77-B646-DB217BD3AC9A}" type="presOf" srcId="{093F0302-4C25-47ED-80E5-F5B33308B4F9}" destId="{A9086992-44D0-4126-9229-E3C40D78087D}" srcOrd="1" destOrd="0" presId="urn:microsoft.com/office/officeart/2009/3/layout/HorizontalOrganizationChart"/>
    <dgm:cxn modelId="{3D2956F8-395F-48E4-A39F-B1953D5280A5}" type="presOf" srcId="{1C941B0B-7860-4BBE-99F0-3A01E210D460}" destId="{3C3B11E7-1F16-48DB-BD8C-92D8E12B24F0}" srcOrd="0" destOrd="0" presId="urn:microsoft.com/office/officeart/2009/3/layout/HorizontalOrganizationChart"/>
    <dgm:cxn modelId="{A1AF51FD-097C-45E1-B016-C22D5F99E83F}" srcId="{093F0302-4C25-47ED-80E5-F5B33308B4F9}" destId="{1C941B0B-7860-4BBE-99F0-3A01E210D460}" srcOrd="4" destOrd="0" parTransId="{A7BB05EF-FD33-4B58-8C81-4287699719C2}" sibTransId="{36DA8415-1281-45B1-BC80-5E9FD5159371}"/>
    <dgm:cxn modelId="{E01F1903-77B7-417A-836C-1BDC1FC57BD6}" type="presParOf" srcId="{1600CF90-9A05-41AD-B9EA-5ACF24A13C7E}" destId="{B137067A-65E9-4F54-8699-1C1E7AC55D7A}" srcOrd="0" destOrd="0" presId="urn:microsoft.com/office/officeart/2009/3/layout/HorizontalOrganizationChart"/>
    <dgm:cxn modelId="{59B23178-2990-49A0-8F02-50C90B416D2D}" type="presParOf" srcId="{B137067A-65E9-4F54-8699-1C1E7AC55D7A}" destId="{D91B46FC-ECCE-4166-ABE0-8C24E5D2F57D}" srcOrd="0" destOrd="0" presId="urn:microsoft.com/office/officeart/2009/3/layout/HorizontalOrganizationChart"/>
    <dgm:cxn modelId="{D852BCC8-AC4A-467E-82C0-0A4B8CEB47E8}" type="presParOf" srcId="{D91B46FC-ECCE-4166-ABE0-8C24E5D2F57D}" destId="{C65B22B3-C181-45C5-BC90-6D25E8CC23E2}" srcOrd="0" destOrd="0" presId="urn:microsoft.com/office/officeart/2009/3/layout/HorizontalOrganizationChart"/>
    <dgm:cxn modelId="{6E8D7217-DBFA-4FFC-A7C6-7E0C1604B3C2}" type="presParOf" srcId="{D91B46FC-ECCE-4166-ABE0-8C24E5D2F57D}" destId="{7C3D82B4-A5E1-45BD-AF0E-7EA30186247A}" srcOrd="1" destOrd="0" presId="urn:microsoft.com/office/officeart/2009/3/layout/HorizontalOrganizationChart"/>
    <dgm:cxn modelId="{F3C00CAD-4DA9-4E0D-8F36-8E7A8550F131}" type="presParOf" srcId="{B137067A-65E9-4F54-8699-1C1E7AC55D7A}" destId="{06C27BFA-9949-4672-9781-327975120EB2}" srcOrd="1" destOrd="0" presId="urn:microsoft.com/office/officeart/2009/3/layout/HorizontalOrganizationChart"/>
    <dgm:cxn modelId="{2C9846A0-E83A-45E3-A38B-C5387A4CA385}" type="presParOf" srcId="{06C27BFA-9949-4672-9781-327975120EB2}" destId="{5F60BC52-56B8-401D-AB82-FD6B19EB6047}" srcOrd="0" destOrd="0" presId="urn:microsoft.com/office/officeart/2009/3/layout/HorizontalOrganizationChart"/>
    <dgm:cxn modelId="{FFB6A701-06D1-42B3-8BD5-4562410CF1C1}" type="presParOf" srcId="{06C27BFA-9949-4672-9781-327975120EB2}" destId="{5BC8EA13-B18B-4DE3-8002-B288E2271C92}" srcOrd="1" destOrd="0" presId="urn:microsoft.com/office/officeart/2009/3/layout/HorizontalOrganizationChart"/>
    <dgm:cxn modelId="{49DC71D2-23FA-4221-9395-2A8AB08294EC}" type="presParOf" srcId="{5BC8EA13-B18B-4DE3-8002-B288E2271C92}" destId="{3DC8D04B-7264-418D-9D03-1CC4FDFF22E9}" srcOrd="0" destOrd="0" presId="urn:microsoft.com/office/officeart/2009/3/layout/HorizontalOrganizationChart"/>
    <dgm:cxn modelId="{5E18483B-01FC-4E60-9570-BC3C8B5149AA}" type="presParOf" srcId="{3DC8D04B-7264-418D-9D03-1CC4FDFF22E9}" destId="{F2810A0E-6C54-40DA-BE73-73193076C722}" srcOrd="0" destOrd="0" presId="urn:microsoft.com/office/officeart/2009/3/layout/HorizontalOrganizationChart"/>
    <dgm:cxn modelId="{AE1CCABB-BA44-4DD0-9A00-00E3BC379ABC}" type="presParOf" srcId="{3DC8D04B-7264-418D-9D03-1CC4FDFF22E9}" destId="{A937864A-B9B6-4F3B-B57A-7561BE541AD6}" srcOrd="1" destOrd="0" presId="urn:microsoft.com/office/officeart/2009/3/layout/HorizontalOrganizationChart"/>
    <dgm:cxn modelId="{D1B38B4D-7471-451F-9AEA-2AEA01EBBE36}" type="presParOf" srcId="{5BC8EA13-B18B-4DE3-8002-B288E2271C92}" destId="{7BD0C393-3D73-49D9-A68E-166C8ADDDF3D}" srcOrd="1" destOrd="0" presId="urn:microsoft.com/office/officeart/2009/3/layout/HorizontalOrganizationChart"/>
    <dgm:cxn modelId="{A688B33B-1245-4556-A5D3-8F6580279C7B}" type="presParOf" srcId="{5BC8EA13-B18B-4DE3-8002-B288E2271C92}" destId="{84B5C88D-273A-43BC-9F94-D59049A0A9D6}" srcOrd="2" destOrd="0" presId="urn:microsoft.com/office/officeart/2009/3/layout/HorizontalOrganizationChart"/>
    <dgm:cxn modelId="{BCCF8ACC-5BAC-481D-96D8-8EB88315DBCC}" type="presParOf" srcId="{06C27BFA-9949-4672-9781-327975120EB2}" destId="{C0954E34-6EE5-492C-9775-E6D71B727BB0}" srcOrd="2" destOrd="0" presId="urn:microsoft.com/office/officeart/2009/3/layout/HorizontalOrganizationChart"/>
    <dgm:cxn modelId="{4CDB26D3-4A95-4585-B01B-E021BD3097AD}" type="presParOf" srcId="{06C27BFA-9949-4672-9781-327975120EB2}" destId="{6EA0BF61-77B4-42D7-B899-D0A62BEA151B}" srcOrd="3" destOrd="0" presId="urn:microsoft.com/office/officeart/2009/3/layout/HorizontalOrganizationChart"/>
    <dgm:cxn modelId="{9AC0DA83-7456-432C-9656-6E8E27476247}" type="presParOf" srcId="{6EA0BF61-77B4-42D7-B899-D0A62BEA151B}" destId="{94924BB8-892E-4749-A56B-B8341418A1CF}" srcOrd="0" destOrd="0" presId="urn:microsoft.com/office/officeart/2009/3/layout/HorizontalOrganizationChart"/>
    <dgm:cxn modelId="{53C11EF0-6B34-4ED0-80C6-AEF0F3C462A6}" type="presParOf" srcId="{94924BB8-892E-4749-A56B-B8341418A1CF}" destId="{E0B5F5D8-72AA-4288-BA77-F0CCCDDBF870}" srcOrd="0" destOrd="0" presId="urn:microsoft.com/office/officeart/2009/3/layout/HorizontalOrganizationChart"/>
    <dgm:cxn modelId="{B4214214-E4D3-4D35-8882-10EF763862AD}" type="presParOf" srcId="{94924BB8-892E-4749-A56B-B8341418A1CF}" destId="{A9086992-44D0-4126-9229-E3C40D78087D}" srcOrd="1" destOrd="0" presId="urn:microsoft.com/office/officeart/2009/3/layout/HorizontalOrganizationChart"/>
    <dgm:cxn modelId="{15C03D6E-D0D7-40DC-81C0-A7118E0E6765}" type="presParOf" srcId="{6EA0BF61-77B4-42D7-B899-D0A62BEA151B}" destId="{96A83997-E0C5-4AF0-B03C-910B9E6C2909}" srcOrd="1" destOrd="0" presId="urn:microsoft.com/office/officeart/2009/3/layout/HorizontalOrganizationChart"/>
    <dgm:cxn modelId="{FBF31126-BA45-4922-895F-2C8C7B13D882}" type="presParOf" srcId="{96A83997-E0C5-4AF0-B03C-910B9E6C2909}" destId="{52F9D8F1-D61A-4B39-BA61-361C4F046460}" srcOrd="0" destOrd="0" presId="urn:microsoft.com/office/officeart/2009/3/layout/HorizontalOrganizationChart"/>
    <dgm:cxn modelId="{B69EB5D0-B30C-4084-853D-A4378774E96A}" type="presParOf" srcId="{96A83997-E0C5-4AF0-B03C-910B9E6C2909}" destId="{9CAA4C0E-A3C5-4D3C-A749-7305EB68A7AD}" srcOrd="1" destOrd="0" presId="urn:microsoft.com/office/officeart/2009/3/layout/HorizontalOrganizationChart"/>
    <dgm:cxn modelId="{F416A94C-899B-4CC0-A796-9C76F3A0782A}" type="presParOf" srcId="{9CAA4C0E-A3C5-4D3C-A749-7305EB68A7AD}" destId="{64A32262-1288-4E66-82F4-9627168CB2C5}" srcOrd="0" destOrd="0" presId="urn:microsoft.com/office/officeart/2009/3/layout/HorizontalOrganizationChart"/>
    <dgm:cxn modelId="{FDD22D0A-B417-4A78-9538-C5D614F7D815}" type="presParOf" srcId="{64A32262-1288-4E66-82F4-9627168CB2C5}" destId="{BA574C49-0D64-4954-B2D7-C30E77031840}" srcOrd="0" destOrd="0" presId="urn:microsoft.com/office/officeart/2009/3/layout/HorizontalOrganizationChart"/>
    <dgm:cxn modelId="{983EAF80-8B82-42DF-982A-2C8B39FC561A}" type="presParOf" srcId="{64A32262-1288-4E66-82F4-9627168CB2C5}" destId="{17BC972E-DD99-4207-ABFE-0713B25ED76B}" srcOrd="1" destOrd="0" presId="urn:microsoft.com/office/officeart/2009/3/layout/HorizontalOrganizationChart"/>
    <dgm:cxn modelId="{3368AB88-47E5-4EBF-AAAA-196293091BB3}" type="presParOf" srcId="{9CAA4C0E-A3C5-4D3C-A749-7305EB68A7AD}" destId="{225CE90A-9279-4E1C-9F96-13FF99204590}" srcOrd="1" destOrd="0" presId="urn:microsoft.com/office/officeart/2009/3/layout/HorizontalOrganizationChart"/>
    <dgm:cxn modelId="{7F13246A-C333-4B30-8466-76F6C70C2B3E}" type="presParOf" srcId="{9CAA4C0E-A3C5-4D3C-A749-7305EB68A7AD}" destId="{65942DDF-5A65-49E6-928F-3CE34F7C0C01}" srcOrd="2" destOrd="0" presId="urn:microsoft.com/office/officeart/2009/3/layout/HorizontalOrganizationChart"/>
    <dgm:cxn modelId="{903E0EEF-6661-4327-84A0-1485406F53E4}" type="presParOf" srcId="{96A83997-E0C5-4AF0-B03C-910B9E6C2909}" destId="{AFE80231-49E1-499A-881B-2E6E4C30C30B}" srcOrd="2" destOrd="0" presId="urn:microsoft.com/office/officeart/2009/3/layout/HorizontalOrganizationChart"/>
    <dgm:cxn modelId="{91E03EA0-6FF2-4E28-9817-4EFE68FC0805}" type="presParOf" srcId="{96A83997-E0C5-4AF0-B03C-910B9E6C2909}" destId="{63C76D87-2BFA-4EA6-BBD5-B95246A22A71}" srcOrd="3" destOrd="0" presId="urn:microsoft.com/office/officeart/2009/3/layout/HorizontalOrganizationChart"/>
    <dgm:cxn modelId="{138A0A81-4EE4-4C02-8CBB-EC4AB62AB56C}" type="presParOf" srcId="{63C76D87-2BFA-4EA6-BBD5-B95246A22A71}" destId="{9E8E3739-4A73-44B7-BEC3-80E12BC51478}" srcOrd="0" destOrd="0" presId="urn:microsoft.com/office/officeart/2009/3/layout/HorizontalOrganizationChart"/>
    <dgm:cxn modelId="{2491EC2E-7590-4BB4-8623-7541F4AD6899}" type="presParOf" srcId="{9E8E3739-4A73-44B7-BEC3-80E12BC51478}" destId="{D5A0FADE-9D05-443F-B552-1DBB771738BF}" srcOrd="0" destOrd="0" presId="urn:microsoft.com/office/officeart/2009/3/layout/HorizontalOrganizationChart"/>
    <dgm:cxn modelId="{241CA99F-B943-4EF6-9B44-A0D90D7F79ED}" type="presParOf" srcId="{9E8E3739-4A73-44B7-BEC3-80E12BC51478}" destId="{E98B8273-0FEA-445D-9C03-3DAF66016D09}" srcOrd="1" destOrd="0" presId="urn:microsoft.com/office/officeart/2009/3/layout/HorizontalOrganizationChart"/>
    <dgm:cxn modelId="{E54ADF90-BA27-417A-A0F8-698FA24C3B06}" type="presParOf" srcId="{63C76D87-2BFA-4EA6-BBD5-B95246A22A71}" destId="{7084F0EC-2C43-4149-A89A-DB2CD2A470A5}" srcOrd="1" destOrd="0" presId="urn:microsoft.com/office/officeart/2009/3/layout/HorizontalOrganizationChart"/>
    <dgm:cxn modelId="{6753F76B-2CCC-413E-9535-9E6BE44EFC55}" type="presParOf" srcId="{63C76D87-2BFA-4EA6-BBD5-B95246A22A71}" destId="{6DC0284F-3C74-4F36-A513-34AE4F2EE712}" srcOrd="2" destOrd="0" presId="urn:microsoft.com/office/officeart/2009/3/layout/HorizontalOrganizationChart"/>
    <dgm:cxn modelId="{11D1C9E5-95B7-4F56-A3EE-415B9EA90AAF}" type="presParOf" srcId="{96A83997-E0C5-4AF0-B03C-910B9E6C2909}" destId="{3BD9AFA0-C6E7-40EB-AA83-C30F8B8C971B}" srcOrd="4" destOrd="0" presId="urn:microsoft.com/office/officeart/2009/3/layout/HorizontalOrganizationChart"/>
    <dgm:cxn modelId="{629DD7F7-7EAA-4DB8-BABE-EC0381804474}" type="presParOf" srcId="{96A83997-E0C5-4AF0-B03C-910B9E6C2909}" destId="{90450EC3-B890-4D0D-A748-8729FB95BE37}" srcOrd="5" destOrd="0" presId="urn:microsoft.com/office/officeart/2009/3/layout/HorizontalOrganizationChart"/>
    <dgm:cxn modelId="{E169357C-0570-4DD6-B877-FDECDB4A7E63}" type="presParOf" srcId="{90450EC3-B890-4D0D-A748-8729FB95BE37}" destId="{D808A7EC-4646-4FE8-95F7-F91249F2F551}" srcOrd="0" destOrd="0" presId="urn:microsoft.com/office/officeart/2009/3/layout/HorizontalOrganizationChart"/>
    <dgm:cxn modelId="{2933DC54-86D4-4019-A007-EE59222D8FD2}" type="presParOf" srcId="{D808A7EC-4646-4FE8-95F7-F91249F2F551}" destId="{D9FAAD41-ACE4-4368-BFF9-1A298C54F8A6}" srcOrd="0" destOrd="0" presId="urn:microsoft.com/office/officeart/2009/3/layout/HorizontalOrganizationChart"/>
    <dgm:cxn modelId="{48959D1A-C9B7-47E2-9ED6-D3F8AAD63F96}" type="presParOf" srcId="{D808A7EC-4646-4FE8-95F7-F91249F2F551}" destId="{EF0814BE-71C5-4044-8B2B-1A920933B18B}" srcOrd="1" destOrd="0" presId="urn:microsoft.com/office/officeart/2009/3/layout/HorizontalOrganizationChart"/>
    <dgm:cxn modelId="{14D1CF11-9434-4506-B7A3-ABD25963AA02}" type="presParOf" srcId="{90450EC3-B890-4D0D-A748-8729FB95BE37}" destId="{7FAF22C6-D2BC-4B33-8BDE-F0D0D8EBC517}" srcOrd="1" destOrd="0" presId="urn:microsoft.com/office/officeart/2009/3/layout/HorizontalOrganizationChart"/>
    <dgm:cxn modelId="{737DDAF2-8AE8-4190-8F2E-50F80E210E93}" type="presParOf" srcId="{90450EC3-B890-4D0D-A748-8729FB95BE37}" destId="{237C59F3-70E6-4E42-95E3-EA5C72257EC8}" srcOrd="2" destOrd="0" presId="urn:microsoft.com/office/officeart/2009/3/layout/HorizontalOrganizationChart"/>
    <dgm:cxn modelId="{623AFAD3-530B-45B1-A622-E843C4C88AD3}" type="presParOf" srcId="{96A83997-E0C5-4AF0-B03C-910B9E6C2909}" destId="{BF53C416-6757-4050-8B7D-E831B6D60C20}" srcOrd="6" destOrd="0" presId="urn:microsoft.com/office/officeart/2009/3/layout/HorizontalOrganizationChart"/>
    <dgm:cxn modelId="{3D72442E-F912-4908-A311-4E8566087EE5}" type="presParOf" srcId="{96A83997-E0C5-4AF0-B03C-910B9E6C2909}" destId="{E3CA61A1-1BB8-430D-A511-CF8D830C3E41}" srcOrd="7" destOrd="0" presId="urn:microsoft.com/office/officeart/2009/3/layout/HorizontalOrganizationChart"/>
    <dgm:cxn modelId="{836C7A94-9BE8-4EFA-9A6F-AF9F239B1C98}" type="presParOf" srcId="{E3CA61A1-1BB8-430D-A511-CF8D830C3E41}" destId="{C93AE482-5510-4E17-A32A-A3C5089C93F7}" srcOrd="0" destOrd="0" presId="urn:microsoft.com/office/officeart/2009/3/layout/HorizontalOrganizationChart"/>
    <dgm:cxn modelId="{95B09E98-2C15-4CDC-84AF-433FD4AD1803}" type="presParOf" srcId="{C93AE482-5510-4E17-A32A-A3C5089C93F7}" destId="{FFE4B324-AF6B-4929-A1DC-A7F84414743D}" srcOrd="0" destOrd="0" presId="urn:microsoft.com/office/officeart/2009/3/layout/HorizontalOrganizationChart"/>
    <dgm:cxn modelId="{6E5B1F13-01B3-44D1-9CB7-05953FA332E0}" type="presParOf" srcId="{C93AE482-5510-4E17-A32A-A3C5089C93F7}" destId="{F2651BF6-80B7-486D-9DC3-62E84643E762}" srcOrd="1" destOrd="0" presId="urn:microsoft.com/office/officeart/2009/3/layout/HorizontalOrganizationChart"/>
    <dgm:cxn modelId="{ED9239DA-4090-400B-AF31-2D7B713D827A}" type="presParOf" srcId="{E3CA61A1-1BB8-430D-A511-CF8D830C3E41}" destId="{82B4AF9C-44CA-48EE-B1FA-911C9FDCA25B}" srcOrd="1" destOrd="0" presId="urn:microsoft.com/office/officeart/2009/3/layout/HorizontalOrganizationChart"/>
    <dgm:cxn modelId="{1199B5BB-F3BE-44A7-8203-F5E5EBBA0060}" type="presParOf" srcId="{E3CA61A1-1BB8-430D-A511-CF8D830C3E41}" destId="{46B892E0-24AE-45C5-B463-DB368CC0689D}" srcOrd="2" destOrd="0" presId="urn:microsoft.com/office/officeart/2009/3/layout/HorizontalOrganizationChart"/>
    <dgm:cxn modelId="{3359FD2F-24E3-4A73-A70E-A50DB95AC7A0}" type="presParOf" srcId="{96A83997-E0C5-4AF0-B03C-910B9E6C2909}" destId="{D2F3CBA2-5BB2-43C2-A283-15055855E9FE}" srcOrd="8" destOrd="0" presId="urn:microsoft.com/office/officeart/2009/3/layout/HorizontalOrganizationChart"/>
    <dgm:cxn modelId="{7D9781E3-B797-4E3A-9CA4-41623F86ACE1}" type="presParOf" srcId="{96A83997-E0C5-4AF0-B03C-910B9E6C2909}" destId="{59ECF540-7D14-4C8D-BD33-C546CB0F5990}" srcOrd="9" destOrd="0" presId="urn:microsoft.com/office/officeart/2009/3/layout/HorizontalOrganizationChart"/>
    <dgm:cxn modelId="{54E48DFC-1F4B-40F7-8D60-06754AA50ECF}" type="presParOf" srcId="{59ECF540-7D14-4C8D-BD33-C546CB0F5990}" destId="{7FF4B71A-CC9C-4913-B80A-9E70A78FEF3F}" srcOrd="0" destOrd="0" presId="urn:microsoft.com/office/officeart/2009/3/layout/HorizontalOrganizationChart"/>
    <dgm:cxn modelId="{8D01487E-4A3C-4471-AF82-5E8DA449D893}" type="presParOf" srcId="{7FF4B71A-CC9C-4913-B80A-9E70A78FEF3F}" destId="{3C3B11E7-1F16-48DB-BD8C-92D8E12B24F0}" srcOrd="0" destOrd="0" presId="urn:microsoft.com/office/officeart/2009/3/layout/HorizontalOrganizationChart"/>
    <dgm:cxn modelId="{310F38BB-2B79-46E8-B60C-35DADB9F5E0D}" type="presParOf" srcId="{7FF4B71A-CC9C-4913-B80A-9E70A78FEF3F}" destId="{EC47B6F1-5C7D-49C9-A38A-C3C54A92EB12}" srcOrd="1" destOrd="0" presId="urn:microsoft.com/office/officeart/2009/3/layout/HorizontalOrganizationChart"/>
    <dgm:cxn modelId="{CBD2B409-9C25-46CB-B7F7-04176D8D6702}" type="presParOf" srcId="{59ECF540-7D14-4C8D-BD33-C546CB0F5990}" destId="{A82D8B37-BC2E-4554-B146-B01AB01CE9D0}" srcOrd="1" destOrd="0" presId="urn:microsoft.com/office/officeart/2009/3/layout/HorizontalOrganizationChart"/>
    <dgm:cxn modelId="{9B7E6192-7CC9-4193-938E-DA14FE5CBDF4}" type="presParOf" srcId="{59ECF540-7D14-4C8D-BD33-C546CB0F5990}" destId="{F3050510-927C-42FD-9013-ACF8DE56E465}" srcOrd="2" destOrd="0" presId="urn:microsoft.com/office/officeart/2009/3/layout/HorizontalOrganizationChart"/>
    <dgm:cxn modelId="{45105566-6DBE-45E9-AEB8-5560CB44DFE1}" type="presParOf" srcId="{6EA0BF61-77B4-42D7-B899-D0A62BEA151B}" destId="{E3E86E0D-5FB3-408E-82F8-B66B425CF2EC}" srcOrd="2" destOrd="0" presId="urn:microsoft.com/office/officeart/2009/3/layout/HorizontalOrganizationChart"/>
    <dgm:cxn modelId="{A274AE78-36AD-4EA8-970C-192284AB839F}" type="presParOf" srcId="{B137067A-65E9-4F54-8699-1C1E7AC55D7A}" destId="{0562BA42-0A5A-4D8F-9562-25C605312475}"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3CBA2-5BB2-43C2-A283-15055855E9FE}">
      <dsp:nvSpPr>
        <dsp:cNvPr id="0" name=""/>
        <dsp:cNvSpPr/>
      </dsp:nvSpPr>
      <dsp:spPr>
        <a:xfrm>
          <a:off x="6980303" y="2991677"/>
          <a:ext cx="590873" cy="2540756"/>
        </a:xfrm>
        <a:custGeom>
          <a:avLst/>
          <a:gdLst/>
          <a:ahLst/>
          <a:cxnLst/>
          <a:rect l="0" t="0" r="0" b="0"/>
          <a:pathLst>
            <a:path>
              <a:moveTo>
                <a:pt x="0" y="0"/>
              </a:moveTo>
              <a:lnTo>
                <a:pt x="295436" y="0"/>
              </a:lnTo>
              <a:lnTo>
                <a:pt x="295436" y="2540756"/>
              </a:lnTo>
              <a:lnTo>
                <a:pt x="590873" y="2540756"/>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F53C416-6757-4050-8B7D-E831B6D60C20}">
      <dsp:nvSpPr>
        <dsp:cNvPr id="0" name=""/>
        <dsp:cNvSpPr/>
      </dsp:nvSpPr>
      <dsp:spPr>
        <a:xfrm>
          <a:off x="6980303" y="2991677"/>
          <a:ext cx="590873" cy="1270378"/>
        </a:xfrm>
        <a:custGeom>
          <a:avLst/>
          <a:gdLst/>
          <a:ahLst/>
          <a:cxnLst/>
          <a:rect l="0" t="0" r="0" b="0"/>
          <a:pathLst>
            <a:path>
              <a:moveTo>
                <a:pt x="0" y="0"/>
              </a:moveTo>
              <a:lnTo>
                <a:pt x="295436" y="0"/>
              </a:lnTo>
              <a:lnTo>
                <a:pt x="295436" y="1270378"/>
              </a:lnTo>
              <a:lnTo>
                <a:pt x="590873" y="1270378"/>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BD9AFA0-C6E7-40EB-AA83-C30F8B8C971B}">
      <dsp:nvSpPr>
        <dsp:cNvPr id="0" name=""/>
        <dsp:cNvSpPr/>
      </dsp:nvSpPr>
      <dsp:spPr>
        <a:xfrm>
          <a:off x="6980303" y="2945957"/>
          <a:ext cx="590873" cy="91440"/>
        </a:xfrm>
        <a:custGeom>
          <a:avLst/>
          <a:gdLst/>
          <a:ahLst/>
          <a:cxnLst/>
          <a:rect l="0" t="0" r="0" b="0"/>
          <a:pathLst>
            <a:path>
              <a:moveTo>
                <a:pt x="0" y="45720"/>
              </a:moveTo>
              <a:lnTo>
                <a:pt x="590873" y="4572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FE80231-49E1-499A-881B-2E6E4C30C30B}">
      <dsp:nvSpPr>
        <dsp:cNvPr id="0" name=""/>
        <dsp:cNvSpPr/>
      </dsp:nvSpPr>
      <dsp:spPr>
        <a:xfrm>
          <a:off x="6980303" y="1721299"/>
          <a:ext cx="590873" cy="1270378"/>
        </a:xfrm>
        <a:custGeom>
          <a:avLst/>
          <a:gdLst/>
          <a:ahLst/>
          <a:cxnLst/>
          <a:rect l="0" t="0" r="0" b="0"/>
          <a:pathLst>
            <a:path>
              <a:moveTo>
                <a:pt x="0" y="1270378"/>
              </a:moveTo>
              <a:lnTo>
                <a:pt x="295436" y="1270378"/>
              </a:lnTo>
              <a:lnTo>
                <a:pt x="295436" y="0"/>
              </a:lnTo>
              <a:lnTo>
                <a:pt x="590873" y="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2F9D8F1-D61A-4B39-BA61-361C4F046460}">
      <dsp:nvSpPr>
        <dsp:cNvPr id="0" name=""/>
        <dsp:cNvSpPr/>
      </dsp:nvSpPr>
      <dsp:spPr>
        <a:xfrm>
          <a:off x="6980303" y="450921"/>
          <a:ext cx="590873" cy="2540756"/>
        </a:xfrm>
        <a:custGeom>
          <a:avLst/>
          <a:gdLst/>
          <a:ahLst/>
          <a:cxnLst/>
          <a:rect l="0" t="0" r="0" b="0"/>
          <a:pathLst>
            <a:path>
              <a:moveTo>
                <a:pt x="0" y="2540756"/>
              </a:moveTo>
              <a:lnTo>
                <a:pt x="295436" y="2540756"/>
              </a:lnTo>
              <a:lnTo>
                <a:pt x="295436" y="0"/>
              </a:lnTo>
              <a:lnTo>
                <a:pt x="590873" y="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0954E34-6EE5-492C-9775-E6D71B727BB0}">
      <dsp:nvSpPr>
        <dsp:cNvPr id="0" name=""/>
        <dsp:cNvSpPr/>
      </dsp:nvSpPr>
      <dsp:spPr>
        <a:xfrm>
          <a:off x="3435061" y="2356488"/>
          <a:ext cx="590873" cy="635189"/>
        </a:xfrm>
        <a:custGeom>
          <a:avLst/>
          <a:gdLst/>
          <a:ahLst/>
          <a:cxnLst/>
          <a:rect l="0" t="0" r="0" b="0"/>
          <a:pathLst>
            <a:path>
              <a:moveTo>
                <a:pt x="0" y="0"/>
              </a:moveTo>
              <a:lnTo>
                <a:pt x="295436" y="0"/>
              </a:lnTo>
              <a:lnTo>
                <a:pt x="295436" y="635189"/>
              </a:lnTo>
              <a:lnTo>
                <a:pt x="590873" y="635189"/>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F60BC52-56B8-401D-AB82-FD6B19EB6047}">
      <dsp:nvSpPr>
        <dsp:cNvPr id="0" name=""/>
        <dsp:cNvSpPr/>
      </dsp:nvSpPr>
      <dsp:spPr>
        <a:xfrm>
          <a:off x="3435061" y="1721299"/>
          <a:ext cx="590873" cy="635189"/>
        </a:xfrm>
        <a:custGeom>
          <a:avLst/>
          <a:gdLst/>
          <a:ahLst/>
          <a:cxnLst/>
          <a:rect l="0" t="0" r="0" b="0"/>
          <a:pathLst>
            <a:path>
              <a:moveTo>
                <a:pt x="0" y="635189"/>
              </a:moveTo>
              <a:lnTo>
                <a:pt x="295436" y="635189"/>
              </a:lnTo>
              <a:lnTo>
                <a:pt x="295436" y="0"/>
              </a:lnTo>
              <a:lnTo>
                <a:pt x="590873" y="0"/>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65B22B3-C181-45C5-BC90-6D25E8CC23E2}">
      <dsp:nvSpPr>
        <dsp:cNvPr id="0" name=""/>
        <dsp:cNvSpPr/>
      </dsp:nvSpPr>
      <dsp:spPr>
        <a:xfrm>
          <a:off x="89447" y="1421295"/>
          <a:ext cx="3345614" cy="187038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mn-lt"/>
            </a:rPr>
            <a:t>Existing Product </a:t>
          </a:r>
          <a:endParaRPr lang="en-US" sz="2800" kern="1200" dirty="0">
            <a:latin typeface="+mn-lt"/>
          </a:endParaRPr>
        </a:p>
      </dsp:txBody>
      <dsp:txXfrm>
        <a:off x="89447" y="1421295"/>
        <a:ext cx="3345614" cy="1870385"/>
      </dsp:txXfrm>
    </dsp:sp>
    <dsp:sp modelId="{F2810A0E-6C54-40DA-BE73-73193076C722}">
      <dsp:nvSpPr>
        <dsp:cNvPr id="0" name=""/>
        <dsp:cNvSpPr/>
      </dsp:nvSpPr>
      <dsp:spPr>
        <a:xfrm>
          <a:off x="4025935" y="1270758"/>
          <a:ext cx="2954367" cy="90108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1.No Local Manufacturers in Bangladesh</a:t>
          </a:r>
        </a:p>
      </dsp:txBody>
      <dsp:txXfrm>
        <a:off x="4025935" y="1270758"/>
        <a:ext cx="2954367" cy="901082"/>
      </dsp:txXfrm>
    </dsp:sp>
    <dsp:sp modelId="{E0B5F5D8-72AA-4288-BA77-F0CCCDDBF870}">
      <dsp:nvSpPr>
        <dsp:cNvPr id="0" name=""/>
        <dsp:cNvSpPr/>
      </dsp:nvSpPr>
      <dsp:spPr>
        <a:xfrm>
          <a:off x="4025935" y="2541136"/>
          <a:ext cx="2954367" cy="90108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2.Global Smart Shopping Cart Manufacturers</a:t>
          </a:r>
        </a:p>
      </dsp:txBody>
      <dsp:txXfrm>
        <a:off x="4025935" y="2541136"/>
        <a:ext cx="2954367" cy="901082"/>
      </dsp:txXfrm>
    </dsp:sp>
    <dsp:sp modelId="{BA574C49-0D64-4954-B2D7-C30E77031840}">
      <dsp:nvSpPr>
        <dsp:cNvPr id="0" name=""/>
        <dsp:cNvSpPr/>
      </dsp:nvSpPr>
      <dsp:spPr>
        <a:xfrm>
          <a:off x="7571176" y="380"/>
          <a:ext cx="2954367" cy="90108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mn-lt"/>
            </a:rPr>
            <a:t>National Cart</a:t>
          </a:r>
        </a:p>
        <a:p>
          <a:pPr marL="0" lvl="0" indent="0" algn="ctr" defTabSz="800100">
            <a:lnSpc>
              <a:spcPct val="90000"/>
            </a:lnSpc>
            <a:spcBef>
              <a:spcPct val="0"/>
            </a:spcBef>
            <a:spcAft>
              <a:spcPct val="35000"/>
            </a:spcAft>
            <a:buNone/>
          </a:pPr>
          <a:r>
            <a:rPr lang="en-US" sz="1800" kern="1200" dirty="0">
              <a:solidFill>
                <a:schemeClr val="tx1"/>
              </a:solidFill>
              <a:latin typeface="+mn-lt"/>
            </a:rPr>
            <a:t> (United States)</a:t>
          </a:r>
        </a:p>
      </dsp:txBody>
      <dsp:txXfrm>
        <a:off x="7571176" y="380"/>
        <a:ext cx="2954367" cy="901082"/>
      </dsp:txXfrm>
    </dsp:sp>
    <dsp:sp modelId="{D5A0FADE-9D05-443F-B552-1DBB771738BF}">
      <dsp:nvSpPr>
        <dsp:cNvPr id="0" name=""/>
        <dsp:cNvSpPr/>
      </dsp:nvSpPr>
      <dsp:spPr>
        <a:xfrm>
          <a:off x="7571176" y="1270758"/>
          <a:ext cx="2954367" cy="90108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latin typeface="+mn-lt"/>
            </a:rPr>
            <a:t>Red Sheep Store Fixtures (United States)</a:t>
          </a:r>
        </a:p>
      </dsp:txBody>
      <dsp:txXfrm>
        <a:off x="7571176" y="1270758"/>
        <a:ext cx="2954367" cy="901082"/>
      </dsp:txXfrm>
    </dsp:sp>
    <dsp:sp modelId="{D9FAAD41-ACE4-4368-BFF9-1A298C54F8A6}">
      <dsp:nvSpPr>
        <dsp:cNvPr id="0" name=""/>
        <dsp:cNvSpPr/>
      </dsp:nvSpPr>
      <dsp:spPr>
        <a:xfrm>
          <a:off x="7571176" y="2541136"/>
          <a:ext cx="2954367" cy="90108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latin typeface="+mn-lt"/>
            </a:rPr>
            <a:t>Technibilt</a:t>
          </a:r>
          <a:endParaRPr lang="en-US" sz="1800" kern="1200" dirty="0">
            <a:solidFill>
              <a:schemeClr val="tx1"/>
            </a:solidFill>
            <a:latin typeface="+mn-lt"/>
          </a:endParaRPr>
        </a:p>
        <a:p>
          <a:pPr marL="0" lvl="0" indent="0" algn="ctr" defTabSz="800100">
            <a:lnSpc>
              <a:spcPct val="90000"/>
            </a:lnSpc>
            <a:spcBef>
              <a:spcPct val="0"/>
            </a:spcBef>
            <a:spcAft>
              <a:spcPct val="35000"/>
            </a:spcAft>
            <a:buNone/>
          </a:pPr>
          <a:r>
            <a:rPr lang="en-US" sz="1800" kern="1200" dirty="0">
              <a:solidFill>
                <a:schemeClr val="tx1"/>
              </a:solidFill>
              <a:latin typeface="+mn-lt"/>
            </a:rPr>
            <a:t> (United States)</a:t>
          </a:r>
        </a:p>
      </dsp:txBody>
      <dsp:txXfrm>
        <a:off x="7571176" y="2541136"/>
        <a:ext cx="2954367" cy="901082"/>
      </dsp:txXfrm>
    </dsp:sp>
    <dsp:sp modelId="{FFE4B324-AF6B-4929-A1DC-A7F84414743D}">
      <dsp:nvSpPr>
        <dsp:cNvPr id="0" name=""/>
        <dsp:cNvSpPr/>
      </dsp:nvSpPr>
      <dsp:spPr>
        <a:xfrm>
          <a:off x="7571176" y="3811514"/>
          <a:ext cx="2954367" cy="90108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latin typeface="+mn-lt"/>
            </a:rPr>
            <a:t>Unarco</a:t>
          </a:r>
          <a:r>
            <a:rPr lang="en-US" sz="1800" kern="1200" dirty="0">
              <a:solidFill>
                <a:schemeClr val="tx1"/>
              </a:solidFill>
              <a:latin typeface="+mn-lt"/>
            </a:rPr>
            <a:t> Industries</a:t>
          </a:r>
        </a:p>
        <a:p>
          <a:pPr marL="0" lvl="0" indent="0" algn="ctr" defTabSz="800100">
            <a:lnSpc>
              <a:spcPct val="90000"/>
            </a:lnSpc>
            <a:spcBef>
              <a:spcPct val="0"/>
            </a:spcBef>
            <a:spcAft>
              <a:spcPct val="35000"/>
            </a:spcAft>
            <a:buNone/>
          </a:pPr>
          <a:r>
            <a:rPr lang="en-US" sz="1800" kern="1200" dirty="0">
              <a:solidFill>
                <a:schemeClr val="tx1"/>
              </a:solidFill>
              <a:latin typeface="+mn-lt"/>
            </a:rPr>
            <a:t> (United States)</a:t>
          </a:r>
        </a:p>
      </dsp:txBody>
      <dsp:txXfrm>
        <a:off x="7571176" y="3811514"/>
        <a:ext cx="2954367" cy="901082"/>
      </dsp:txXfrm>
    </dsp:sp>
    <dsp:sp modelId="{3C3B11E7-1F16-48DB-BD8C-92D8E12B24F0}">
      <dsp:nvSpPr>
        <dsp:cNvPr id="0" name=""/>
        <dsp:cNvSpPr/>
      </dsp:nvSpPr>
      <dsp:spPr>
        <a:xfrm>
          <a:off x="7571176" y="5081892"/>
          <a:ext cx="2954367" cy="90108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latin typeface="+mn-lt"/>
            </a:rPr>
            <a:t>Wanzl</a:t>
          </a:r>
          <a:endParaRPr lang="en-US" sz="1800" kern="1200" dirty="0">
            <a:solidFill>
              <a:schemeClr val="tx1"/>
            </a:solidFill>
            <a:latin typeface="+mn-lt"/>
          </a:endParaRPr>
        </a:p>
        <a:p>
          <a:pPr marL="0" lvl="0" indent="0" algn="ctr" defTabSz="800100">
            <a:lnSpc>
              <a:spcPct val="90000"/>
            </a:lnSpc>
            <a:spcBef>
              <a:spcPct val="0"/>
            </a:spcBef>
            <a:spcAft>
              <a:spcPct val="35000"/>
            </a:spcAft>
            <a:buNone/>
          </a:pPr>
          <a:r>
            <a:rPr lang="en-US" sz="1800" kern="1200" dirty="0">
              <a:solidFill>
                <a:schemeClr val="tx1"/>
              </a:solidFill>
              <a:latin typeface="+mn-lt"/>
            </a:rPr>
            <a:t> (Germany)</a:t>
          </a:r>
        </a:p>
      </dsp:txBody>
      <dsp:txXfrm>
        <a:off x="7571176" y="5081892"/>
        <a:ext cx="2954367" cy="901082"/>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8B1B2-B0E8-4E6E-9E8C-844B4B613A9C}" type="datetimeFigureOut">
              <a:rPr lang="en-US" smtClean="0"/>
              <a:t>4/22/2025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8BAD6-34E1-442B-8758-00040D6BEE6C}" type="slidenum">
              <a:rPr lang="en-US" smtClean="0"/>
              <a:t>‹#›</a:t>
            </a:fld>
            <a:endParaRPr lang="en-US"/>
          </a:p>
        </p:txBody>
      </p:sp>
    </p:spTree>
    <p:extLst>
      <p:ext uri="{BB962C8B-B14F-4D97-AF65-F5344CB8AC3E}">
        <p14:creationId xmlns:p14="http://schemas.microsoft.com/office/powerpoint/2010/main" val="3811482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B0A5284-2C1F-4F39-809A-E406CDB13649}"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2525227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0A5284-2C1F-4F39-809A-E406CDB13649}"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2677273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20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214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57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306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746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782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635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4727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283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306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9436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534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422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989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0173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2659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152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7745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56256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100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3877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7833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49268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82193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0163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961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297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7814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1024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0221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73225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0A5284-2C1F-4F39-809A-E406CDB13649}"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15030114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0A5284-2C1F-4F39-809A-E406CDB13649}"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4474273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0A5284-2C1F-4F39-809A-E406CDB13649}"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38844346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0A5284-2C1F-4F39-809A-E406CDB13649}"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36681740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0A5284-2C1F-4F39-809A-E406CDB13649}"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9211051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A5284-2C1F-4F39-809A-E406CDB13649}"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4396627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A5284-2C1F-4F39-809A-E406CDB13649}"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24373990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0A5284-2C1F-4F39-809A-E406CDB13649}"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33290180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0A5284-2C1F-4F39-809A-E406CDB13649}"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96D6FE-D984-495A-A9FC-1C5A134A0646}" type="slidenum">
              <a:rPr lang="en-US" smtClean="0"/>
              <a:t>‹#›</a:t>
            </a:fld>
            <a:endParaRPr lang="en-US"/>
          </a:p>
        </p:txBody>
      </p:sp>
    </p:spTree>
    <p:extLst>
      <p:ext uri="{BB962C8B-B14F-4D97-AF65-F5344CB8AC3E}">
        <p14:creationId xmlns:p14="http://schemas.microsoft.com/office/powerpoint/2010/main" val="263389595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0A5284-2C1F-4F39-809A-E406CDB13649}" type="datetimeFigureOut">
              <a:rPr lang="en-US" smtClean="0"/>
              <a:t>4/22/2025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96D6FE-D984-495A-A9FC-1C5A134A0646}" type="slidenum">
              <a:rPr lang="en-US" smtClean="0"/>
              <a:t>‹#›</a:t>
            </a:fld>
            <a:endParaRPr lang="en-US"/>
          </a:p>
        </p:txBody>
      </p:sp>
    </p:spTree>
    <p:extLst>
      <p:ext uri="{BB962C8B-B14F-4D97-AF65-F5344CB8AC3E}">
        <p14:creationId xmlns:p14="http://schemas.microsoft.com/office/powerpoint/2010/main" val="1588602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63" r:id="rId6"/>
    <p:sldLayoutId id="2147483665" r:id="rId7"/>
    <p:sldLayoutId id="2147483664"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51" r:id="rId34"/>
    <p:sldLayoutId id="2147483652" r:id="rId35"/>
    <p:sldLayoutId id="2147483653" r:id="rId36"/>
    <p:sldLayoutId id="2147483654" r:id="rId37"/>
    <p:sldLayoutId id="2147483655" r:id="rId38"/>
    <p:sldLayoutId id="2147483656" r:id="rId39"/>
    <p:sldLayoutId id="2147483657" r:id="rId40"/>
    <p:sldLayoutId id="2147483658" r:id="rId41"/>
    <p:sldLayoutId id="2147483659" r:id="rId4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4.jpe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 Id="rId4" Type="http://schemas.openxmlformats.org/officeDocument/2006/relationships/image" Target="../media/image63.jpeg"/></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AutoShape 6" descr="Why could Shopic's AI Smart Cart be the supermarket experience's future? -  Shopic">
            <a:extLst>
              <a:ext uri="{FF2B5EF4-FFF2-40B4-BE49-F238E27FC236}">
                <a16:creationId xmlns:a16="http://schemas.microsoft.com/office/drawing/2014/main" id="{5066DF31-CCF5-5982-9955-A1A19EA09617}"/>
              </a:ext>
            </a:extLst>
          </p:cNvPr>
          <p:cNvSpPr>
            <a:spLocks noChangeAspect="1" noChangeArrowheads="1"/>
          </p:cNvSpPr>
          <p:nvPr/>
        </p:nvSpPr>
        <p:spPr bwMode="auto">
          <a:xfrm>
            <a:off x="3386667" y="719667"/>
            <a:ext cx="2861733" cy="28617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AutoShape 14" descr="EASY Shopper | The Smart Shopping Cart">
            <a:extLst>
              <a:ext uri="{FF2B5EF4-FFF2-40B4-BE49-F238E27FC236}">
                <a16:creationId xmlns:a16="http://schemas.microsoft.com/office/drawing/2014/main" id="{1C0BA0ED-0361-D2F8-8700-6707BD0A37C6}"/>
              </a:ext>
            </a:extLst>
          </p:cNvPr>
          <p:cNvSpPr>
            <a:spLocks noChangeAspect="1" noChangeArrowheads="1"/>
          </p:cNvSpPr>
          <p:nvPr/>
        </p:nvSpPr>
        <p:spPr bwMode="auto">
          <a:xfrm>
            <a:off x="1151467" y="-1515533"/>
            <a:ext cx="5096933" cy="5096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9" name="Picture 178">
            <a:extLst>
              <a:ext uri="{FF2B5EF4-FFF2-40B4-BE49-F238E27FC236}">
                <a16:creationId xmlns:a16="http://schemas.microsoft.com/office/drawing/2014/main" id="{282056FC-4FB1-073D-04D3-913EDEAA0D47}"/>
              </a:ext>
            </a:extLst>
          </p:cNvPr>
          <p:cNvPicPr>
            <a:picLocks noChangeAspect="1"/>
          </p:cNvPicPr>
          <p:nvPr/>
        </p:nvPicPr>
        <p:blipFill rotWithShape="1">
          <a:blip r:embed="rId2">
            <a:extLst>
              <a:ext uri="{28A0092B-C50C-407E-A947-70E740481C1C}">
                <a14:useLocalDpi xmlns:a14="http://schemas.microsoft.com/office/drawing/2010/main" val="0"/>
              </a:ext>
            </a:extLst>
          </a:blip>
          <a:srcRect l="65109" t="-20004" r="3995" b="100000"/>
          <a:stretch/>
        </p:blipFill>
        <p:spPr>
          <a:xfrm>
            <a:off x="9088246" y="-1374166"/>
            <a:ext cx="2748334" cy="1374167"/>
          </a:xfrm>
          <a:custGeom>
            <a:avLst/>
            <a:gdLst>
              <a:gd name="connsiteX0" fmla="*/ 1374167 w 2748334"/>
              <a:gd name="connsiteY0" fmla="*/ 0 h 1374167"/>
              <a:gd name="connsiteX1" fmla="*/ 2748334 w 2748334"/>
              <a:gd name="connsiteY1" fmla="*/ 1374167 h 1374167"/>
              <a:gd name="connsiteX2" fmla="*/ 0 w 2748334"/>
              <a:gd name="connsiteY2" fmla="*/ 1374167 h 1374167"/>
              <a:gd name="connsiteX3" fmla="*/ 1374167 w 2748334"/>
              <a:gd name="connsiteY3" fmla="*/ 0 h 1374167"/>
            </a:gdLst>
            <a:ahLst/>
            <a:cxnLst>
              <a:cxn ang="0">
                <a:pos x="connsiteX0" y="connsiteY0"/>
              </a:cxn>
              <a:cxn ang="0">
                <a:pos x="connsiteX1" y="connsiteY1"/>
              </a:cxn>
              <a:cxn ang="0">
                <a:pos x="connsiteX2" y="connsiteY2"/>
              </a:cxn>
              <a:cxn ang="0">
                <a:pos x="connsiteX3" y="connsiteY3"/>
              </a:cxn>
            </a:cxnLst>
            <a:rect l="l" t="t" r="r" b="b"/>
            <a:pathLst>
              <a:path w="2748334" h="1374167">
                <a:moveTo>
                  <a:pt x="1374167" y="0"/>
                </a:moveTo>
                <a:lnTo>
                  <a:pt x="2748334" y="1374167"/>
                </a:lnTo>
                <a:lnTo>
                  <a:pt x="0" y="1374167"/>
                </a:lnTo>
                <a:lnTo>
                  <a:pt x="1374167" y="0"/>
                </a:lnTo>
                <a:close/>
              </a:path>
            </a:pathLst>
          </a:custGeom>
        </p:spPr>
      </p:pic>
      <p:pic>
        <p:nvPicPr>
          <p:cNvPr id="177" name="Picture 176">
            <a:extLst>
              <a:ext uri="{FF2B5EF4-FFF2-40B4-BE49-F238E27FC236}">
                <a16:creationId xmlns:a16="http://schemas.microsoft.com/office/drawing/2014/main" id="{90540294-F805-DAC8-C13A-8257533ECE7B}"/>
              </a:ext>
            </a:extLst>
          </p:cNvPr>
          <p:cNvPicPr>
            <a:picLocks noChangeAspect="1"/>
          </p:cNvPicPr>
          <p:nvPr/>
        </p:nvPicPr>
        <p:blipFill rotWithShape="1">
          <a:blip r:embed="rId2">
            <a:extLst>
              <a:ext uri="{28A0092B-C50C-407E-A947-70E740481C1C}">
                <a14:useLocalDpi xmlns:a14="http://schemas.microsoft.com/office/drawing/2010/main" val="0"/>
              </a:ext>
            </a:extLst>
          </a:blip>
          <a:srcRect l="100000" t="5174" r="-15353" b="55062"/>
          <a:stretch/>
        </p:blipFill>
        <p:spPr>
          <a:xfrm>
            <a:off x="12192000" y="355420"/>
            <a:ext cx="1365778" cy="2731556"/>
          </a:xfrm>
          <a:custGeom>
            <a:avLst/>
            <a:gdLst>
              <a:gd name="connsiteX0" fmla="*/ 0 w 1365778"/>
              <a:gd name="connsiteY0" fmla="*/ 0 h 2731556"/>
              <a:gd name="connsiteX1" fmla="*/ 1365778 w 1365778"/>
              <a:gd name="connsiteY1" fmla="*/ 1365778 h 2731556"/>
              <a:gd name="connsiteX2" fmla="*/ 0 w 1365778"/>
              <a:gd name="connsiteY2" fmla="*/ 2731556 h 2731556"/>
              <a:gd name="connsiteX3" fmla="*/ 0 w 1365778"/>
              <a:gd name="connsiteY3" fmla="*/ 0 h 2731556"/>
            </a:gdLst>
            <a:ahLst/>
            <a:cxnLst>
              <a:cxn ang="0">
                <a:pos x="connsiteX0" y="connsiteY0"/>
              </a:cxn>
              <a:cxn ang="0">
                <a:pos x="connsiteX1" y="connsiteY1"/>
              </a:cxn>
              <a:cxn ang="0">
                <a:pos x="connsiteX2" y="connsiteY2"/>
              </a:cxn>
              <a:cxn ang="0">
                <a:pos x="connsiteX3" y="connsiteY3"/>
              </a:cxn>
            </a:cxnLst>
            <a:rect l="l" t="t" r="r" b="b"/>
            <a:pathLst>
              <a:path w="1365778" h="2731556">
                <a:moveTo>
                  <a:pt x="0" y="0"/>
                </a:moveTo>
                <a:lnTo>
                  <a:pt x="1365778" y="1365778"/>
                </a:lnTo>
                <a:lnTo>
                  <a:pt x="0" y="2731556"/>
                </a:lnTo>
                <a:lnTo>
                  <a:pt x="0" y="0"/>
                </a:lnTo>
                <a:close/>
              </a:path>
            </a:pathLst>
          </a:custGeom>
        </p:spPr>
      </p:pic>
      <p:pic>
        <p:nvPicPr>
          <p:cNvPr id="176" name="Picture 175">
            <a:extLst>
              <a:ext uri="{FF2B5EF4-FFF2-40B4-BE49-F238E27FC236}">
                <a16:creationId xmlns:a16="http://schemas.microsoft.com/office/drawing/2014/main" id="{71B8C720-5E59-B50B-DE99-10659FFBFAD4}"/>
              </a:ext>
            </a:extLst>
          </p:cNvPr>
          <p:cNvPicPr>
            <a:picLocks noChangeAspect="1"/>
          </p:cNvPicPr>
          <p:nvPr/>
        </p:nvPicPr>
        <p:blipFill rotWithShape="1">
          <a:blip r:embed="rId2">
            <a:extLst>
              <a:ext uri="{28A0092B-C50C-407E-A947-70E740481C1C}">
                <a14:useLocalDpi xmlns:a14="http://schemas.microsoft.com/office/drawing/2010/main" val="0"/>
              </a:ext>
            </a:extLst>
          </a:blip>
          <a:srcRect l="101234" t="27887" r="-33845" b="29883"/>
          <a:stretch/>
        </p:blipFill>
        <p:spPr>
          <a:xfrm>
            <a:off x="12301805" y="1915671"/>
            <a:ext cx="2900892" cy="2900892"/>
          </a:xfrm>
          <a:custGeom>
            <a:avLst/>
            <a:gdLst>
              <a:gd name="connsiteX0" fmla="*/ 1450446 w 2900892"/>
              <a:gd name="connsiteY0" fmla="*/ 0 h 2900892"/>
              <a:gd name="connsiteX1" fmla="*/ 2900892 w 2900892"/>
              <a:gd name="connsiteY1" fmla="*/ 1450446 h 2900892"/>
              <a:gd name="connsiteX2" fmla="*/ 1450446 w 2900892"/>
              <a:gd name="connsiteY2" fmla="*/ 2900892 h 2900892"/>
              <a:gd name="connsiteX3" fmla="*/ 0 w 2900892"/>
              <a:gd name="connsiteY3" fmla="*/ 1450446 h 2900892"/>
              <a:gd name="connsiteX4" fmla="*/ 1450446 w 2900892"/>
              <a:gd name="connsiteY4" fmla="*/ 0 h 290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892" h="2900892">
                <a:moveTo>
                  <a:pt x="1450446" y="0"/>
                </a:moveTo>
                <a:lnTo>
                  <a:pt x="2900892" y="1450446"/>
                </a:lnTo>
                <a:lnTo>
                  <a:pt x="1450446" y="2900892"/>
                </a:lnTo>
                <a:lnTo>
                  <a:pt x="0" y="1450446"/>
                </a:lnTo>
                <a:lnTo>
                  <a:pt x="1450446" y="0"/>
                </a:lnTo>
                <a:close/>
              </a:path>
            </a:pathLst>
          </a:custGeom>
        </p:spPr>
      </p:pic>
      <p:pic>
        <p:nvPicPr>
          <p:cNvPr id="175" name="Picture 174">
            <a:extLst>
              <a:ext uri="{FF2B5EF4-FFF2-40B4-BE49-F238E27FC236}">
                <a16:creationId xmlns:a16="http://schemas.microsoft.com/office/drawing/2014/main" id="{460B4F89-5CB0-BCC3-E547-6C36F1B75F8D}"/>
              </a:ext>
            </a:extLst>
          </p:cNvPr>
          <p:cNvPicPr>
            <a:picLocks noChangeAspect="1"/>
          </p:cNvPicPr>
          <p:nvPr/>
        </p:nvPicPr>
        <p:blipFill rotWithShape="1">
          <a:blip r:embed="rId2">
            <a:extLst>
              <a:ext uri="{28A0092B-C50C-407E-A947-70E740481C1C}">
                <a14:useLocalDpi xmlns:a14="http://schemas.microsoft.com/office/drawing/2010/main" val="0"/>
              </a:ext>
            </a:extLst>
          </a:blip>
          <a:srcRect l="100000" t="53065" r="-15353" b="7170"/>
          <a:stretch/>
        </p:blipFill>
        <p:spPr>
          <a:xfrm>
            <a:off x="12192000" y="3645258"/>
            <a:ext cx="1365778" cy="2731557"/>
          </a:xfrm>
          <a:custGeom>
            <a:avLst/>
            <a:gdLst>
              <a:gd name="connsiteX0" fmla="*/ 0 w 1365778"/>
              <a:gd name="connsiteY0" fmla="*/ 0 h 2731557"/>
              <a:gd name="connsiteX1" fmla="*/ 1365778 w 1365778"/>
              <a:gd name="connsiteY1" fmla="*/ 1365779 h 2731557"/>
              <a:gd name="connsiteX2" fmla="*/ 0 w 1365778"/>
              <a:gd name="connsiteY2" fmla="*/ 2731557 h 2731557"/>
              <a:gd name="connsiteX3" fmla="*/ 0 w 1365778"/>
              <a:gd name="connsiteY3" fmla="*/ 0 h 2731557"/>
            </a:gdLst>
            <a:ahLst/>
            <a:cxnLst>
              <a:cxn ang="0">
                <a:pos x="connsiteX0" y="connsiteY0"/>
              </a:cxn>
              <a:cxn ang="0">
                <a:pos x="connsiteX1" y="connsiteY1"/>
              </a:cxn>
              <a:cxn ang="0">
                <a:pos x="connsiteX2" y="connsiteY2"/>
              </a:cxn>
              <a:cxn ang="0">
                <a:pos x="connsiteX3" y="connsiteY3"/>
              </a:cxn>
            </a:cxnLst>
            <a:rect l="l" t="t" r="r" b="b"/>
            <a:pathLst>
              <a:path w="1365778" h="2731557">
                <a:moveTo>
                  <a:pt x="0" y="0"/>
                </a:moveTo>
                <a:lnTo>
                  <a:pt x="1365778" y="1365779"/>
                </a:lnTo>
                <a:lnTo>
                  <a:pt x="0" y="2731557"/>
                </a:lnTo>
                <a:lnTo>
                  <a:pt x="0" y="0"/>
                </a:lnTo>
                <a:close/>
              </a:path>
            </a:pathLst>
          </a:custGeom>
        </p:spPr>
      </p:pic>
      <p:pic>
        <p:nvPicPr>
          <p:cNvPr id="174" name="Picture 173">
            <a:extLst>
              <a:ext uri="{FF2B5EF4-FFF2-40B4-BE49-F238E27FC236}">
                <a16:creationId xmlns:a16="http://schemas.microsoft.com/office/drawing/2014/main" id="{67BA6134-EF2D-DE60-90CE-B8425E41B988}"/>
              </a:ext>
            </a:extLst>
          </p:cNvPr>
          <p:cNvPicPr>
            <a:picLocks noChangeAspect="1"/>
          </p:cNvPicPr>
          <p:nvPr/>
        </p:nvPicPr>
        <p:blipFill rotWithShape="1">
          <a:blip r:embed="rId2">
            <a:extLst>
              <a:ext uri="{28A0092B-C50C-407E-A947-70E740481C1C}">
                <a14:useLocalDpi xmlns:a14="http://schemas.microsoft.com/office/drawing/2010/main" val="0"/>
              </a:ext>
            </a:extLst>
          </a:blip>
          <a:srcRect l="64782" t="97580" r="3668" b="-18008"/>
          <a:stretch/>
        </p:blipFill>
        <p:spPr>
          <a:xfrm>
            <a:off x="9013690" y="6710640"/>
            <a:ext cx="2806552" cy="1403276"/>
          </a:xfrm>
          <a:custGeom>
            <a:avLst/>
            <a:gdLst>
              <a:gd name="connsiteX0" fmla="*/ 0 w 2806552"/>
              <a:gd name="connsiteY0" fmla="*/ 0 h 1403276"/>
              <a:gd name="connsiteX1" fmla="*/ 2806552 w 2806552"/>
              <a:gd name="connsiteY1" fmla="*/ 0 h 1403276"/>
              <a:gd name="connsiteX2" fmla="*/ 1403276 w 2806552"/>
              <a:gd name="connsiteY2" fmla="*/ 1403276 h 1403276"/>
              <a:gd name="connsiteX3" fmla="*/ 0 w 2806552"/>
              <a:gd name="connsiteY3" fmla="*/ 0 h 1403276"/>
            </a:gdLst>
            <a:ahLst/>
            <a:cxnLst>
              <a:cxn ang="0">
                <a:pos x="connsiteX0" y="connsiteY0"/>
              </a:cxn>
              <a:cxn ang="0">
                <a:pos x="connsiteX1" y="connsiteY1"/>
              </a:cxn>
              <a:cxn ang="0">
                <a:pos x="connsiteX2" y="connsiteY2"/>
              </a:cxn>
              <a:cxn ang="0">
                <a:pos x="connsiteX3" y="connsiteY3"/>
              </a:cxn>
            </a:cxnLst>
            <a:rect l="l" t="t" r="r" b="b"/>
            <a:pathLst>
              <a:path w="2806552" h="1403276">
                <a:moveTo>
                  <a:pt x="0" y="0"/>
                </a:moveTo>
                <a:lnTo>
                  <a:pt x="2806552" y="0"/>
                </a:lnTo>
                <a:lnTo>
                  <a:pt x="1403276" y="1403276"/>
                </a:lnTo>
                <a:lnTo>
                  <a:pt x="0" y="0"/>
                </a:lnTo>
                <a:close/>
              </a:path>
            </a:pathLst>
          </a:custGeom>
        </p:spPr>
      </p:pic>
      <p:pic>
        <p:nvPicPr>
          <p:cNvPr id="173" name="Picture 172">
            <a:extLst>
              <a:ext uri="{FF2B5EF4-FFF2-40B4-BE49-F238E27FC236}">
                <a16:creationId xmlns:a16="http://schemas.microsoft.com/office/drawing/2014/main" id="{A86E4632-DB2E-DF13-8D40-E77768B85EAB}"/>
              </a:ext>
            </a:extLst>
          </p:cNvPr>
          <p:cNvPicPr>
            <a:picLocks noChangeAspect="1"/>
          </p:cNvPicPr>
          <p:nvPr/>
        </p:nvPicPr>
        <p:blipFill rotWithShape="1">
          <a:blip r:embed="rId2">
            <a:extLst>
              <a:ext uri="{28A0092B-C50C-407E-A947-70E740481C1C}">
                <a14:useLocalDpi xmlns:a14="http://schemas.microsoft.com/office/drawing/2010/main" val="0"/>
              </a:ext>
            </a:extLst>
          </a:blip>
          <a:srcRect l="55917" t="-30798" r="-42179" b="-28801"/>
          <a:stretch/>
        </p:blipFill>
        <p:spPr>
          <a:xfrm>
            <a:off x="8270542" y="-2115594"/>
            <a:ext cx="7673583" cy="10963419"/>
          </a:xfrm>
          <a:custGeom>
            <a:avLst/>
            <a:gdLst>
              <a:gd name="connsiteX0" fmla="*/ 1839391 w 7673583"/>
              <a:gd name="connsiteY0" fmla="*/ 0 h 10963419"/>
              <a:gd name="connsiteX1" fmla="*/ 2191872 w 7673583"/>
              <a:gd name="connsiteY1" fmla="*/ 352482 h 10963419"/>
              <a:gd name="connsiteX2" fmla="*/ 2544354 w 7673583"/>
              <a:gd name="connsiteY2" fmla="*/ 0 h 10963419"/>
              <a:gd name="connsiteX3" fmla="*/ 2738827 w 7673583"/>
              <a:gd name="connsiteY3" fmla="*/ 194473 h 10963419"/>
              <a:gd name="connsiteX4" fmla="*/ 2386345 w 7673583"/>
              <a:gd name="connsiteY4" fmla="*/ 546955 h 10963419"/>
              <a:gd name="connsiteX5" fmla="*/ 3836791 w 7673583"/>
              <a:gd name="connsiteY5" fmla="*/ 1997401 h 10963419"/>
              <a:gd name="connsiteX6" fmla="*/ 4189273 w 7673583"/>
              <a:gd name="connsiteY6" fmla="*/ 1644919 h 10963419"/>
              <a:gd name="connsiteX7" fmla="*/ 4383745 w 7673583"/>
              <a:gd name="connsiteY7" fmla="*/ 1839392 h 10963419"/>
              <a:gd name="connsiteX8" fmla="*/ 4031264 w 7673583"/>
              <a:gd name="connsiteY8" fmla="*/ 2191873 h 10963419"/>
              <a:gd name="connsiteX9" fmla="*/ 5481710 w 7673583"/>
              <a:gd name="connsiteY9" fmla="*/ 3642320 h 10963419"/>
              <a:gd name="connsiteX10" fmla="*/ 5834191 w 7673583"/>
              <a:gd name="connsiteY10" fmla="*/ 3289838 h 10963419"/>
              <a:gd name="connsiteX11" fmla="*/ 6028664 w 7673583"/>
              <a:gd name="connsiteY11" fmla="*/ 3484311 h 10963419"/>
              <a:gd name="connsiteX12" fmla="*/ 5676182 w 7673583"/>
              <a:gd name="connsiteY12" fmla="*/ 3836792 h 10963419"/>
              <a:gd name="connsiteX13" fmla="*/ 7126628 w 7673583"/>
              <a:gd name="connsiteY13" fmla="*/ 5287238 h 10963419"/>
              <a:gd name="connsiteX14" fmla="*/ 7479110 w 7673583"/>
              <a:gd name="connsiteY14" fmla="*/ 4934757 h 10963419"/>
              <a:gd name="connsiteX15" fmla="*/ 7673583 w 7673583"/>
              <a:gd name="connsiteY15" fmla="*/ 5129229 h 10963419"/>
              <a:gd name="connsiteX16" fmla="*/ 7321101 w 7673583"/>
              <a:gd name="connsiteY16" fmla="*/ 5481711 h 10963419"/>
              <a:gd name="connsiteX17" fmla="*/ 7673582 w 7673583"/>
              <a:gd name="connsiteY17" fmla="*/ 5834192 h 10963419"/>
              <a:gd name="connsiteX18" fmla="*/ 7479109 w 7673583"/>
              <a:gd name="connsiteY18" fmla="*/ 6028664 h 10963419"/>
              <a:gd name="connsiteX19" fmla="*/ 7126628 w 7673583"/>
              <a:gd name="connsiteY19" fmla="*/ 5676183 h 10963419"/>
              <a:gd name="connsiteX20" fmla="*/ 5676182 w 7673583"/>
              <a:gd name="connsiteY20" fmla="*/ 7126629 h 10963419"/>
              <a:gd name="connsiteX21" fmla="*/ 6028663 w 7673583"/>
              <a:gd name="connsiteY21" fmla="*/ 7479110 h 10963419"/>
              <a:gd name="connsiteX22" fmla="*/ 5834190 w 7673583"/>
              <a:gd name="connsiteY22" fmla="*/ 7673583 h 10963419"/>
              <a:gd name="connsiteX23" fmla="*/ 5481710 w 7673583"/>
              <a:gd name="connsiteY23" fmla="*/ 7321102 h 10963419"/>
              <a:gd name="connsiteX24" fmla="*/ 4031264 w 7673583"/>
              <a:gd name="connsiteY24" fmla="*/ 8771548 h 10963419"/>
              <a:gd name="connsiteX25" fmla="*/ 4383744 w 7673583"/>
              <a:gd name="connsiteY25" fmla="*/ 9124029 h 10963419"/>
              <a:gd name="connsiteX26" fmla="*/ 4189272 w 7673583"/>
              <a:gd name="connsiteY26" fmla="*/ 9318501 h 10963419"/>
              <a:gd name="connsiteX27" fmla="*/ 3836791 w 7673583"/>
              <a:gd name="connsiteY27" fmla="*/ 8966021 h 10963419"/>
              <a:gd name="connsiteX28" fmla="*/ 2386345 w 7673583"/>
              <a:gd name="connsiteY28" fmla="*/ 10416467 h 10963419"/>
              <a:gd name="connsiteX29" fmla="*/ 2738826 w 7673583"/>
              <a:gd name="connsiteY29" fmla="*/ 10768947 h 10963419"/>
              <a:gd name="connsiteX30" fmla="*/ 2544354 w 7673583"/>
              <a:gd name="connsiteY30" fmla="*/ 10963419 h 10963419"/>
              <a:gd name="connsiteX31" fmla="*/ 2191874 w 7673583"/>
              <a:gd name="connsiteY31" fmla="*/ 10610938 h 10963419"/>
              <a:gd name="connsiteX32" fmla="*/ 1839393 w 7673583"/>
              <a:gd name="connsiteY32" fmla="*/ 10963419 h 10963419"/>
              <a:gd name="connsiteX33" fmla="*/ 1644921 w 7673583"/>
              <a:gd name="connsiteY33" fmla="*/ 10768946 h 10963419"/>
              <a:gd name="connsiteX34" fmla="*/ 1997401 w 7673583"/>
              <a:gd name="connsiteY34" fmla="*/ 10416466 h 10963419"/>
              <a:gd name="connsiteX35" fmla="*/ 546955 w 7673583"/>
              <a:gd name="connsiteY35" fmla="*/ 8966020 h 10963419"/>
              <a:gd name="connsiteX36" fmla="*/ 194475 w 7673583"/>
              <a:gd name="connsiteY36" fmla="*/ 9318500 h 10963419"/>
              <a:gd name="connsiteX37" fmla="*/ 2 w 7673583"/>
              <a:gd name="connsiteY37" fmla="*/ 9124028 h 10963419"/>
              <a:gd name="connsiteX38" fmla="*/ 305311 w 7673583"/>
              <a:gd name="connsiteY38" fmla="*/ 8818718 h 10963419"/>
              <a:gd name="connsiteX39" fmla="*/ 788597 w 7673583"/>
              <a:gd name="connsiteY39" fmla="*/ 8818718 h 10963419"/>
              <a:gd name="connsiteX40" fmla="*/ 2191873 w 7673583"/>
              <a:gd name="connsiteY40" fmla="*/ 10221994 h 10963419"/>
              <a:gd name="connsiteX41" fmla="*/ 3595149 w 7673583"/>
              <a:gd name="connsiteY41" fmla="*/ 8818718 h 10963419"/>
              <a:gd name="connsiteX42" fmla="*/ 3921459 w 7673583"/>
              <a:gd name="connsiteY42" fmla="*/ 8818718 h 10963419"/>
              <a:gd name="connsiteX43" fmla="*/ 3921459 w 7673583"/>
              <a:gd name="connsiteY43" fmla="*/ 8492408 h 10963419"/>
              <a:gd name="connsiteX44" fmla="*/ 5287237 w 7673583"/>
              <a:gd name="connsiteY44" fmla="*/ 7126630 h 10963419"/>
              <a:gd name="connsiteX45" fmla="*/ 3921459 w 7673583"/>
              <a:gd name="connsiteY45" fmla="*/ 5760851 h 10963419"/>
              <a:gd name="connsiteX46" fmla="*/ 3921459 w 7673583"/>
              <a:gd name="connsiteY46" fmla="*/ 5202570 h 10963419"/>
              <a:gd name="connsiteX47" fmla="*/ 5287237 w 7673583"/>
              <a:gd name="connsiteY47" fmla="*/ 3836792 h 10963419"/>
              <a:gd name="connsiteX48" fmla="*/ 3921459 w 7673583"/>
              <a:gd name="connsiteY48" fmla="*/ 2471014 h 10963419"/>
              <a:gd name="connsiteX49" fmla="*/ 3921459 w 7673583"/>
              <a:gd name="connsiteY49" fmla="*/ 2115594 h 10963419"/>
              <a:gd name="connsiteX50" fmla="*/ 3566039 w 7673583"/>
              <a:gd name="connsiteY50" fmla="*/ 2115594 h 10963419"/>
              <a:gd name="connsiteX51" fmla="*/ 2191872 w 7673583"/>
              <a:gd name="connsiteY51" fmla="*/ 741427 h 10963419"/>
              <a:gd name="connsiteX52" fmla="*/ 817705 w 7673583"/>
              <a:gd name="connsiteY52" fmla="*/ 2115594 h 10963419"/>
              <a:gd name="connsiteX53" fmla="*/ 276202 w 7673583"/>
              <a:gd name="connsiteY53" fmla="*/ 2115594 h 10963419"/>
              <a:gd name="connsiteX54" fmla="*/ 0 w 7673583"/>
              <a:gd name="connsiteY54" fmla="*/ 1839392 h 10963419"/>
              <a:gd name="connsiteX55" fmla="*/ 194472 w 7673583"/>
              <a:gd name="connsiteY55" fmla="*/ 1644919 h 10963419"/>
              <a:gd name="connsiteX56" fmla="*/ 546954 w 7673583"/>
              <a:gd name="connsiteY56" fmla="*/ 1997401 h 10963419"/>
              <a:gd name="connsiteX57" fmla="*/ 1997400 w 7673583"/>
              <a:gd name="connsiteY57" fmla="*/ 546955 h 10963419"/>
              <a:gd name="connsiteX58" fmla="*/ 1644918 w 7673583"/>
              <a:gd name="connsiteY58" fmla="*/ 194473 h 10963419"/>
              <a:gd name="connsiteX59" fmla="*/ 1839391 w 7673583"/>
              <a:gd name="connsiteY59" fmla="*/ 0 h 10963419"/>
              <a:gd name="connsiteX60" fmla="*/ 5481710 w 7673583"/>
              <a:gd name="connsiteY60" fmla="*/ 4031265 h 10963419"/>
              <a:gd name="connsiteX61" fmla="*/ 4031264 w 7673583"/>
              <a:gd name="connsiteY61" fmla="*/ 5481711 h 10963419"/>
              <a:gd name="connsiteX62" fmla="*/ 5481710 w 7673583"/>
              <a:gd name="connsiteY62" fmla="*/ 6932157 h 10963419"/>
              <a:gd name="connsiteX63" fmla="*/ 6932156 w 7673583"/>
              <a:gd name="connsiteY63" fmla="*/ 5481711 h 10963419"/>
              <a:gd name="connsiteX64" fmla="*/ 5481710 w 7673583"/>
              <a:gd name="connsiteY64" fmla="*/ 4031265 h 1096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673583" h="10963419">
                <a:moveTo>
                  <a:pt x="1839391" y="0"/>
                </a:moveTo>
                <a:lnTo>
                  <a:pt x="2191872" y="352482"/>
                </a:lnTo>
                <a:lnTo>
                  <a:pt x="2544354" y="0"/>
                </a:lnTo>
                <a:lnTo>
                  <a:pt x="2738827" y="194473"/>
                </a:lnTo>
                <a:lnTo>
                  <a:pt x="2386345" y="546955"/>
                </a:lnTo>
                <a:lnTo>
                  <a:pt x="3836791" y="1997401"/>
                </a:lnTo>
                <a:lnTo>
                  <a:pt x="4189273" y="1644919"/>
                </a:lnTo>
                <a:lnTo>
                  <a:pt x="4383745" y="1839392"/>
                </a:lnTo>
                <a:lnTo>
                  <a:pt x="4031264" y="2191873"/>
                </a:lnTo>
                <a:lnTo>
                  <a:pt x="5481710" y="3642320"/>
                </a:lnTo>
                <a:lnTo>
                  <a:pt x="5834191" y="3289838"/>
                </a:lnTo>
                <a:lnTo>
                  <a:pt x="6028664" y="3484311"/>
                </a:lnTo>
                <a:lnTo>
                  <a:pt x="5676182" y="3836792"/>
                </a:lnTo>
                <a:lnTo>
                  <a:pt x="7126628" y="5287238"/>
                </a:lnTo>
                <a:lnTo>
                  <a:pt x="7479110" y="4934757"/>
                </a:lnTo>
                <a:lnTo>
                  <a:pt x="7673583" y="5129229"/>
                </a:lnTo>
                <a:lnTo>
                  <a:pt x="7321101" y="5481711"/>
                </a:lnTo>
                <a:lnTo>
                  <a:pt x="7673582" y="5834192"/>
                </a:lnTo>
                <a:lnTo>
                  <a:pt x="7479109" y="6028664"/>
                </a:lnTo>
                <a:lnTo>
                  <a:pt x="7126628" y="5676183"/>
                </a:lnTo>
                <a:lnTo>
                  <a:pt x="5676182" y="7126629"/>
                </a:lnTo>
                <a:lnTo>
                  <a:pt x="6028663" y="7479110"/>
                </a:lnTo>
                <a:lnTo>
                  <a:pt x="5834190" y="7673583"/>
                </a:lnTo>
                <a:lnTo>
                  <a:pt x="5481710" y="7321102"/>
                </a:lnTo>
                <a:lnTo>
                  <a:pt x="4031264" y="8771548"/>
                </a:lnTo>
                <a:lnTo>
                  <a:pt x="4383744" y="9124029"/>
                </a:lnTo>
                <a:lnTo>
                  <a:pt x="4189272" y="9318501"/>
                </a:lnTo>
                <a:lnTo>
                  <a:pt x="3836791" y="8966021"/>
                </a:lnTo>
                <a:lnTo>
                  <a:pt x="2386345" y="10416467"/>
                </a:lnTo>
                <a:lnTo>
                  <a:pt x="2738826" y="10768947"/>
                </a:lnTo>
                <a:lnTo>
                  <a:pt x="2544354" y="10963419"/>
                </a:lnTo>
                <a:lnTo>
                  <a:pt x="2191874" y="10610938"/>
                </a:lnTo>
                <a:lnTo>
                  <a:pt x="1839393" y="10963419"/>
                </a:lnTo>
                <a:lnTo>
                  <a:pt x="1644921" y="10768946"/>
                </a:lnTo>
                <a:lnTo>
                  <a:pt x="1997401" y="10416466"/>
                </a:lnTo>
                <a:lnTo>
                  <a:pt x="546955" y="8966020"/>
                </a:lnTo>
                <a:lnTo>
                  <a:pt x="194475" y="9318500"/>
                </a:lnTo>
                <a:lnTo>
                  <a:pt x="2" y="9124028"/>
                </a:lnTo>
                <a:lnTo>
                  <a:pt x="305311" y="8818718"/>
                </a:lnTo>
                <a:lnTo>
                  <a:pt x="788597" y="8818718"/>
                </a:lnTo>
                <a:lnTo>
                  <a:pt x="2191873" y="10221994"/>
                </a:lnTo>
                <a:lnTo>
                  <a:pt x="3595149" y="8818718"/>
                </a:lnTo>
                <a:lnTo>
                  <a:pt x="3921459" y="8818718"/>
                </a:lnTo>
                <a:lnTo>
                  <a:pt x="3921459" y="8492408"/>
                </a:lnTo>
                <a:lnTo>
                  <a:pt x="5287237" y="7126630"/>
                </a:lnTo>
                <a:lnTo>
                  <a:pt x="3921459" y="5760851"/>
                </a:lnTo>
                <a:lnTo>
                  <a:pt x="3921459" y="5202570"/>
                </a:lnTo>
                <a:lnTo>
                  <a:pt x="5287237" y="3836792"/>
                </a:lnTo>
                <a:lnTo>
                  <a:pt x="3921459" y="2471014"/>
                </a:lnTo>
                <a:lnTo>
                  <a:pt x="3921459" y="2115594"/>
                </a:lnTo>
                <a:lnTo>
                  <a:pt x="3566039" y="2115594"/>
                </a:lnTo>
                <a:lnTo>
                  <a:pt x="2191872" y="741427"/>
                </a:lnTo>
                <a:lnTo>
                  <a:pt x="817705" y="2115594"/>
                </a:lnTo>
                <a:lnTo>
                  <a:pt x="276202" y="2115594"/>
                </a:lnTo>
                <a:lnTo>
                  <a:pt x="0" y="1839392"/>
                </a:lnTo>
                <a:lnTo>
                  <a:pt x="194472" y="1644919"/>
                </a:lnTo>
                <a:lnTo>
                  <a:pt x="546954" y="1997401"/>
                </a:lnTo>
                <a:lnTo>
                  <a:pt x="1997400" y="546955"/>
                </a:lnTo>
                <a:lnTo>
                  <a:pt x="1644918" y="194473"/>
                </a:lnTo>
                <a:lnTo>
                  <a:pt x="1839391" y="0"/>
                </a:lnTo>
                <a:close/>
                <a:moveTo>
                  <a:pt x="5481710" y="4031265"/>
                </a:moveTo>
                <a:lnTo>
                  <a:pt x="4031264" y="5481711"/>
                </a:lnTo>
                <a:lnTo>
                  <a:pt x="5481710" y="6932157"/>
                </a:lnTo>
                <a:lnTo>
                  <a:pt x="6932156" y="5481711"/>
                </a:lnTo>
                <a:lnTo>
                  <a:pt x="5481710" y="4031265"/>
                </a:lnTo>
                <a:close/>
              </a:path>
            </a:pathLst>
          </a:custGeom>
        </p:spPr>
      </p:pic>
      <p:pic>
        <p:nvPicPr>
          <p:cNvPr id="171" name="Picture 170">
            <a:extLst>
              <a:ext uri="{FF2B5EF4-FFF2-40B4-BE49-F238E27FC236}">
                <a16:creationId xmlns:a16="http://schemas.microsoft.com/office/drawing/2014/main" id="{65D5AC5C-65DB-4E15-CCDF-12C11F45C609}"/>
              </a:ext>
            </a:extLst>
          </p:cNvPr>
          <p:cNvPicPr>
            <a:picLocks noChangeAspect="1"/>
          </p:cNvPicPr>
          <p:nvPr/>
        </p:nvPicPr>
        <p:blipFill rotWithShape="1">
          <a:blip r:embed="rId2">
            <a:extLst>
              <a:ext uri="{28A0092B-C50C-407E-A947-70E740481C1C}">
                <a14:useLocalDpi xmlns:a14="http://schemas.microsoft.com/office/drawing/2010/main" val="0"/>
              </a:ext>
            </a:extLst>
          </a:blip>
          <a:srcRect l="64252" r="3138" b="77775"/>
          <a:stretch/>
        </p:blipFill>
        <p:spPr>
          <a:xfrm>
            <a:off x="9011968" y="4248"/>
            <a:ext cx="3026174" cy="1522477"/>
          </a:xfrm>
          <a:custGeom>
            <a:avLst/>
            <a:gdLst>
              <a:gd name="connsiteX0" fmla="*/ 76279 w 2900892"/>
              <a:gd name="connsiteY0" fmla="*/ 0 h 1526725"/>
              <a:gd name="connsiteX1" fmla="*/ 2824613 w 2900892"/>
              <a:gd name="connsiteY1" fmla="*/ 0 h 1526725"/>
              <a:gd name="connsiteX2" fmla="*/ 2900892 w 2900892"/>
              <a:gd name="connsiteY2" fmla="*/ 76279 h 1526725"/>
              <a:gd name="connsiteX3" fmla="*/ 1450446 w 2900892"/>
              <a:gd name="connsiteY3" fmla="*/ 1526725 h 1526725"/>
              <a:gd name="connsiteX4" fmla="*/ 0 w 2900892"/>
              <a:gd name="connsiteY4" fmla="*/ 76279 h 1526725"/>
              <a:gd name="connsiteX5" fmla="*/ 76279 w 2900892"/>
              <a:gd name="connsiteY5" fmla="*/ 0 h 152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892" h="1526725">
                <a:moveTo>
                  <a:pt x="76279" y="0"/>
                </a:moveTo>
                <a:lnTo>
                  <a:pt x="2824613" y="0"/>
                </a:lnTo>
                <a:lnTo>
                  <a:pt x="2900892" y="76279"/>
                </a:lnTo>
                <a:lnTo>
                  <a:pt x="1450446" y="1526725"/>
                </a:lnTo>
                <a:lnTo>
                  <a:pt x="0" y="76279"/>
                </a:lnTo>
                <a:lnTo>
                  <a:pt x="76279" y="0"/>
                </a:lnTo>
                <a:close/>
              </a:path>
            </a:pathLst>
          </a:custGeom>
        </p:spPr>
      </p:pic>
      <p:pic>
        <p:nvPicPr>
          <p:cNvPr id="170" name="Picture 169">
            <a:extLst>
              <a:ext uri="{FF2B5EF4-FFF2-40B4-BE49-F238E27FC236}">
                <a16:creationId xmlns:a16="http://schemas.microsoft.com/office/drawing/2014/main" id="{2676333D-ECDC-D7BA-416E-8E9E395598FE}"/>
              </a:ext>
            </a:extLst>
          </p:cNvPr>
          <p:cNvPicPr>
            <a:picLocks noChangeAspect="1"/>
          </p:cNvPicPr>
          <p:nvPr/>
        </p:nvPicPr>
        <p:blipFill rotWithShape="1">
          <a:blip r:embed="rId2">
            <a:extLst>
              <a:ext uri="{28A0092B-C50C-407E-A947-70E740481C1C}">
                <a14:useLocalDpi xmlns:a14="http://schemas.microsoft.com/office/drawing/2010/main" val="0"/>
              </a:ext>
            </a:extLst>
          </a:blip>
          <a:srcRect l="45761" t="3941" r="21629" b="53829"/>
          <a:stretch/>
        </p:blipFill>
        <p:spPr>
          <a:xfrm>
            <a:off x="7419309" y="323012"/>
            <a:ext cx="2848632" cy="2848632"/>
          </a:xfrm>
          <a:custGeom>
            <a:avLst/>
            <a:gdLst>
              <a:gd name="connsiteX0" fmla="*/ 1450446 w 2900892"/>
              <a:gd name="connsiteY0" fmla="*/ 0 h 2900892"/>
              <a:gd name="connsiteX1" fmla="*/ 2900892 w 2900892"/>
              <a:gd name="connsiteY1" fmla="*/ 1450446 h 2900892"/>
              <a:gd name="connsiteX2" fmla="*/ 1450446 w 2900892"/>
              <a:gd name="connsiteY2" fmla="*/ 2900892 h 2900892"/>
              <a:gd name="connsiteX3" fmla="*/ 0 w 2900892"/>
              <a:gd name="connsiteY3" fmla="*/ 1450446 h 2900892"/>
              <a:gd name="connsiteX4" fmla="*/ 1450446 w 2900892"/>
              <a:gd name="connsiteY4" fmla="*/ 0 h 290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892" h="2900892">
                <a:moveTo>
                  <a:pt x="1450446" y="0"/>
                </a:moveTo>
                <a:lnTo>
                  <a:pt x="2900892" y="1450446"/>
                </a:lnTo>
                <a:lnTo>
                  <a:pt x="1450446" y="2900892"/>
                </a:lnTo>
                <a:lnTo>
                  <a:pt x="0" y="1450446"/>
                </a:lnTo>
                <a:lnTo>
                  <a:pt x="1450446" y="0"/>
                </a:lnTo>
                <a:close/>
              </a:path>
            </a:pathLst>
          </a:custGeom>
        </p:spPr>
      </p:pic>
      <p:pic>
        <p:nvPicPr>
          <p:cNvPr id="169" name="Picture 168">
            <a:extLst>
              <a:ext uri="{FF2B5EF4-FFF2-40B4-BE49-F238E27FC236}">
                <a16:creationId xmlns:a16="http://schemas.microsoft.com/office/drawing/2014/main" id="{BB987764-2F15-9CC4-94C7-6DBD004833FF}"/>
              </a:ext>
            </a:extLst>
          </p:cNvPr>
          <p:cNvPicPr>
            <a:picLocks noChangeAspect="1"/>
          </p:cNvPicPr>
          <p:nvPr/>
        </p:nvPicPr>
        <p:blipFill rotWithShape="1">
          <a:blip r:embed="rId2">
            <a:extLst>
              <a:ext uri="{28A0092B-C50C-407E-A947-70E740481C1C}">
                <a14:useLocalDpi xmlns:a14="http://schemas.microsoft.com/office/drawing/2010/main" val="0"/>
              </a:ext>
            </a:extLst>
          </a:blip>
          <a:srcRect l="82743" t="3941" b="53829"/>
          <a:stretch/>
        </p:blipFill>
        <p:spPr>
          <a:xfrm>
            <a:off x="10656886" y="270752"/>
            <a:ext cx="1535114" cy="2900892"/>
          </a:xfrm>
          <a:custGeom>
            <a:avLst/>
            <a:gdLst>
              <a:gd name="connsiteX0" fmla="*/ 1450446 w 1535114"/>
              <a:gd name="connsiteY0" fmla="*/ 0 h 2900892"/>
              <a:gd name="connsiteX1" fmla="*/ 1535114 w 1535114"/>
              <a:gd name="connsiteY1" fmla="*/ 84668 h 2900892"/>
              <a:gd name="connsiteX2" fmla="*/ 1535114 w 1535114"/>
              <a:gd name="connsiteY2" fmla="*/ 2816224 h 2900892"/>
              <a:gd name="connsiteX3" fmla="*/ 1450446 w 1535114"/>
              <a:gd name="connsiteY3" fmla="*/ 2900892 h 2900892"/>
              <a:gd name="connsiteX4" fmla="*/ 0 w 1535114"/>
              <a:gd name="connsiteY4" fmla="*/ 1450446 h 2900892"/>
              <a:gd name="connsiteX5" fmla="*/ 1450446 w 1535114"/>
              <a:gd name="connsiteY5" fmla="*/ 0 h 290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5114" h="2900892">
                <a:moveTo>
                  <a:pt x="1450446" y="0"/>
                </a:moveTo>
                <a:lnTo>
                  <a:pt x="1535114" y="84668"/>
                </a:lnTo>
                <a:lnTo>
                  <a:pt x="1535114" y="2816224"/>
                </a:lnTo>
                <a:lnTo>
                  <a:pt x="1450446" y="2900892"/>
                </a:lnTo>
                <a:lnTo>
                  <a:pt x="0" y="1450446"/>
                </a:lnTo>
                <a:lnTo>
                  <a:pt x="1450446" y="0"/>
                </a:lnTo>
                <a:close/>
              </a:path>
            </a:pathLst>
          </a:custGeom>
        </p:spPr>
      </p:pic>
      <p:pic>
        <p:nvPicPr>
          <p:cNvPr id="168" name="Picture 167">
            <a:extLst>
              <a:ext uri="{FF2B5EF4-FFF2-40B4-BE49-F238E27FC236}">
                <a16:creationId xmlns:a16="http://schemas.microsoft.com/office/drawing/2014/main" id="{DDC40D0B-4EBB-3D7F-DDB6-0A4F09900E08}"/>
              </a:ext>
            </a:extLst>
          </p:cNvPr>
          <p:cNvPicPr>
            <a:picLocks noChangeAspect="1"/>
          </p:cNvPicPr>
          <p:nvPr/>
        </p:nvPicPr>
        <p:blipFill rotWithShape="1">
          <a:blip r:embed="rId2">
            <a:extLst>
              <a:ext uri="{28A0092B-C50C-407E-A947-70E740481C1C}">
                <a14:useLocalDpi xmlns:a14="http://schemas.microsoft.com/office/drawing/2010/main" val="0"/>
              </a:ext>
            </a:extLst>
          </a:blip>
          <a:srcRect l="27269" t="27887" r="40121" b="29883"/>
          <a:stretch/>
        </p:blipFill>
        <p:spPr>
          <a:xfrm>
            <a:off x="5861918" y="1915672"/>
            <a:ext cx="2761103" cy="2761104"/>
          </a:xfrm>
          <a:custGeom>
            <a:avLst/>
            <a:gdLst>
              <a:gd name="connsiteX0" fmla="*/ 1450446 w 2900892"/>
              <a:gd name="connsiteY0" fmla="*/ 0 h 2900893"/>
              <a:gd name="connsiteX1" fmla="*/ 2900892 w 2900892"/>
              <a:gd name="connsiteY1" fmla="*/ 1450447 h 2900893"/>
              <a:gd name="connsiteX2" fmla="*/ 1450446 w 2900892"/>
              <a:gd name="connsiteY2" fmla="*/ 2900893 h 2900893"/>
              <a:gd name="connsiteX3" fmla="*/ 0 w 2900892"/>
              <a:gd name="connsiteY3" fmla="*/ 1450447 h 2900893"/>
              <a:gd name="connsiteX4" fmla="*/ 1450446 w 2900892"/>
              <a:gd name="connsiteY4" fmla="*/ 0 h 2900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892" h="2900893">
                <a:moveTo>
                  <a:pt x="1450446" y="0"/>
                </a:moveTo>
                <a:lnTo>
                  <a:pt x="2900892" y="1450447"/>
                </a:lnTo>
                <a:lnTo>
                  <a:pt x="1450446" y="2900893"/>
                </a:lnTo>
                <a:lnTo>
                  <a:pt x="0" y="1450447"/>
                </a:lnTo>
                <a:lnTo>
                  <a:pt x="1450446" y="0"/>
                </a:lnTo>
                <a:close/>
              </a:path>
            </a:pathLst>
          </a:custGeom>
        </p:spPr>
      </p:pic>
      <p:pic>
        <p:nvPicPr>
          <p:cNvPr id="167" name="Picture 166">
            <a:extLst>
              <a:ext uri="{FF2B5EF4-FFF2-40B4-BE49-F238E27FC236}">
                <a16:creationId xmlns:a16="http://schemas.microsoft.com/office/drawing/2014/main" id="{A68C24AB-7212-C7D4-67A1-E56CE65C6513}"/>
              </a:ext>
            </a:extLst>
          </p:cNvPr>
          <p:cNvPicPr>
            <a:picLocks noChangeAspect="1"/>
          </p:cNvPicPr>
          <p:nvPr/>
        </p:nvPicPr>
        <p:blipFill rotWithShape="1">
          <a:blip r:embed="rId2">
            <a:extLst>
              <a:ext uri="{28A0092B-C50C-407E-A947-70E740481C1C}">
                <a14:useLocalDpi xmlns:a14="http://schemas.microsoft.com/office/drawing/2010/main" val="0"/>
              </a:ext>
            </a:extLst>
          </a:blip>
          <a:srcRect l="64252" t="27887" r="3138" b="29883"/>
          <a:stretch/>
        </p:blipFill>
        <p:spPr>
          <a:xfrm>
            <a:off x="9011968" y="1915671"/>
            <a:ext cx="2900893" cy="2900892"/>
          </a:xfrm>
          <a:custGeom>
            <a:avLst/>
            <a:gdLst>
              <a:gd name="connsiteX0" fmla="*/ 1450446 w 2900893"/>
              <a:gd name="connsiteY0" fmla="*/ 0 h 2900892"/>
              <a:gd name="connsiteX1" fmla="*/ 2900893 w 2900893"/>
              <a:gd name="connsiteY1" fmla="*/ 1450446 h 2900892"/>
              <a:gd name="connsiteX2" fmla="*/ 1450446 w 2900893"/>
              <a:gd name="connsiteY2" fmla="*/ 2900892 h 2900892"/>
              <a:gd name="connsiteX3" fmla="*/ 0 w 2900893"/>
              <a:gd name="connsiteY3" fmla="*/ 1450446 h 2900892"/>
              <a:gd name="connsiteX4" fmla="*/ 1450446 w 2900893"/>
              <a:gd name="connsiteY4" fmla="*/ 0 h 2900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893" h="2900892">
                <a:moveTo>
                  <a:pt x="1450446" y="0"/>
                </a:moveTo>
                <a:lnTo>
                  <a:pt x="2900893" y="1450446"/>
                </a:lnTo>
                <a:lnTo>
                  <a:pt x="1450446" y="2900892"/>
                </a:lnTo>
                <a:lnTo>
                  <a:pt x="0" y="1450446"/>
                </a:lnTo>
                <a:lnTo>
                  <a:pt x="1450446" y="0"/>
                </a:lnTo>
                <a:close/>
              </a:path>
            </a:pathLst>
          </a:custGeom>
        </p:spPr>
      </p:pic>
      <p:pic>
        <p:nvPicPr>
          <p:cNvPr id="166" name="Picture 165">
            <a:extLst>
              <a:ext uri="{FF2B5EF4-FFF2-40B4-BE49-F238E27FC236}">
                <a16:creationId xmlns:a16="http://schemas.microsoft.com/office/drawing/2014/main" id="{BCAE6A00-1288-FB16-1A67-A858E549958A}"/>
              </a:ext>
            </a:extLst>
          </p:cNvPr>
          <p:cNvPicPr>
            <a:picLocks noChangeAspect="1"/>
          </p:cNvPicPr>
          <p:nvPr/>
        </p:nvPicPr>
        <p:blipFill rotWithShape="1">
          <a:blip r:embed="rId2">
            <a:extLst>
              <a:ext uri="{28A0092B-C50C-407E-A947-70E740481C1C}">
                <a14:useLocalDpi xmlns:a14="http://schemas.microsoft.com/office/drawing/2010/main" val="0"/>
              </a:ext>
            </a:extLst>
          </a:blip>
          <a:srcRect l="45761" t="51833" r="21629" b="5938"/>
          <a:stretch/>
        </p:blipFill>
        <p:spPr>
          <a:xfrm>
            <a:off x="7506837" y="3560590"/>
            <a:ext cx="2761104" cy="2761105"/>
          </a:xfrm>
          <a:custGeom>
            <a:avLst/>
            <a:gdLst>
              <a:gd name="connsiteX0" fmla="*/ 1450446 w 2900892"/>
              <a:gd name="connsiteY0" fmla="*/ 0 h 2900893"/>
              <a:gd name="connsiteX1" fmla="*/ 2900892 w 2900892"/>
              <a:gd name="connsiteY1" fmla="*/ 1450446 h 2900893"/>
              <a:gd name="connsiteX2" fmla="*/ 1450446 w 2900892"/>
              <a:gd name="connsiteY2" fmla="*/ 2900893 h 2900893"/>
              <a:gd name="connsiteX3" fmla="*/ 0 w 2900892"/>
              <a:gd name="connsiteY3" fmla="*/ 1450446 h 2900893"/>
              <a:gd name="connsiteX4" fmla="*/ 1450446 w 2900892"/>
              <a:gd name="connsiteY4" fmla="*/ 0 h 2900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892" h="2900893">
                <a:moveTo>
                  <a:pt x="1450446" y="0"/>
                </a:moveTo>
                <a:lnTo>
                  <a:pt x="2900892" y="1450446"/>
                </a:lnTo>
                <a:lnTo>
                  <a:pt x="1450446" y="2900893"/>
                </a:lnTo>
                <a:lnTo>
                  <a:pt x="0" y="1450446"/>
                </a:lnTo>
                <a:lnTo>
                  <a:pt x="1450446" y="0"/>
                </a:lnTo>
                <a:close/>
              </a:path>
            </a:pathLst>
          </a:custGeom>
        </p:spPr>
      </p:pic>
      <p:pic>
        <p:nvPicPr>
          <p:cNvPr id="165" name="Picture 164">
            <a:extLst>
              <a:ext uri="{FF2B5EF4-FFF2-40B4-BE49-F238E27FC236}">
                <a16:creationId xmlns:a16="http://schemas.microsoft.com/office/drawing/2014/main" id="{6C28F500-6B9F-F474-48D7-12717074D158}"/>
              </a:ext>
            </a:extLst>
          </p:cNvPr>
          <p:cNvPicPr>
            <a:picLocks noChangeAspect="1"/>
          </p:cNvPicPr>
          <p:nvPr/>
        </p:nvPicPr>
        <p:blipFill rotWithShape="1">
          <a:blip r:embed="rId2">
            <a:extLst>
              <a:ext uri="{28A0092B-C50C-407E-A947-70E740481C1C}">
                <a14:useLocalDpi xmlns:a14="http://schemas.microsoft.com/office/drawing/2010/main" val="0"/>
              </a:ext>
            </a:extLst>
          </a:blip>
          <a:srcRect l="82743" t="51833" b="5938"/>
          <a:stretch/>
        </p:blipFill>
        <p:spPr>
          <a:xfrm>
            <a:off x="10656886" y="3560590"/>
            <a:ext cx="1535114" cy="2900893"/>
          </a:xfrm>
          <a:custGeom>
            <a:avLst/>
            <a:gdLst>
              <a:gd name="connsiteX0" fmla="*/ 1450446 w 1535114"/>
              <a:gd name="connsiteY0" fmla="*/ 0 h 2900893"/>
              <a:gd name="connsiteX1" fmla="*/ 1535114 w 1535114"/>
              <a:gd name="connsiteY1" fmla="*/ 84668 h 2900893"/>
              <a:gd name="connsiteX2" fmla="*/ 1535114 w 1535114"/>
              <a:gd name="connsiteY2" fmla="*/ 2816225 h 2900893"/>
              <a:gd name="connsiteX3" fmla="*/ 1450446 w 1535114"/>
              <a:gd name="connsiteY3" fmla="*/ 2900893 h 2900893"/>
              <a:gd name="connsiteX4" fmla="*/ 0 w 1535114"/>
              <a:gd name="connsiteY4" fmla="*/ 1450447 h 2900893"/>
              <a:gd name="connsiteX5" fmla="*/ 1450446 w 1535114"/>
              <a:gd name="connsiteY5" fmla="*/ 0 h 290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5114" h="2900893">
                <a:moveTo>
                  <a:pt x="1450446" y="0"/>
                </a:moveTo>
                <a:lnTo>
                  <a:pt x="1535114" y="84668"/>
                </a:lnTo>
                <a:lnTo>
                  <a:pt x="1535114" y="2816225"/>
                </a:lnTo>
                <a:lnTo>
                  <a:pt x="1450446" y="2900893"/>
                </a:lnTo>
                <a:lnTo>
                  <a:pt x="0" y="1450447"/>
                </a:lnTo>
                <a:lnTo>
                  <a:pt x="1450446" y="0"/>
                </a:lnTo>
                <a:close/>
              </a:path>
            </a:pathLst>
          </a:custGeom>
        </p:spPr>
      </p:pic>
      <p:pic>
        <p:nvPicPr>
          <p:cNvPr id="164" name="Picture 163">
            <a:extLst>
              <a:ext uri="{FF2B5EF4-FFF2-40B4-BE49-F238E27FC236}">
                <a16:creationId xmlns:a16="http://schemas.microsoft.com/office/drawing/2014/main" id="{9AF98914-F66F-00F3-5E7A-D3247AB401B9}"/>
              </a:ext>
            </a:extLst>
          </p:cNvPr>
          <p:cNvPicPr>
            <a:picLocks noChangeAspect="1"/>
          </p:cNvPicPr>
          <p:nvPr/>
        </p:nvPicPr>
        <p:blipFill rotWithShape="1">
          <a:blip r:embed="rId2">
            <a:extLst>
              <a:ext uri="{28A0092B-C50C-407E-A947-70E740481C1C}">
                <a14:useLocalDpi xmlns:a14="http://schemas.microsoft.com/office/drawing/2010/main" val="0"/>
              </a:ext>
            </a:extLst>
          </a:blip>
          <a:srcRect l="64252" t="75779" r="3138" b="2420"/>
          <a:stretch/>
        </p:blipFill>
        <p:spPr>
          <a:xfrm>
            <a:off x="9088246" y="5061963"/>
            <a:ext cx="2718155" cy="1403276"/>
          </a:xfrm>
          <a:custGeom>
            <a:avLst/>
            <a:gdLst>
              <a:gd name="connsiteX0" fmla="*/ 1450446 w 2900892"/>
              <a:gd name="connsiteY0" fmla="*/ 0 h 1497616"/>
              <a:gd name="connsiteX1" fmla="*/ 2900892 w 2900892"/>
              <a:gd name="connsiteY1" fmla="*/ 1450446 h 1497616"/>
              <a:gd name="connsiteX2" fmla="*/ 2853722 w 2900892"/>
              <a:gd name="connsiteY2" fmla="*/ 1497616 h 1497616"/>
              <a:gd name="connsiteX3" fmla="*/ 47170 w 2900892"/>
              <a:gd name="connsiteY3" fmla="*/ 1497616 h 1497616"/>
              <a:gd name="connsiteX4" fmla="*/ 0 w 2900892"/>
              <a:gd name="connsiteY4" fmla="*/ 1450446 h 1497616"/>
              <a:gd name="connsiteX5" fmla="*/ 1450446 w 2900892"/>
              <a:gd name="connsiteY5" fmla="*/ 0 h 1497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892" h="1497616">
                <a:moveTo>
                  <a:pt x="1450446" y="0"/>
                </a:moveTo>
                <a:lnTo>
                  <a:pt x="2900892" y="1450446"/>
                </a:lnTo>
                <a:lnTo>
                  <a:pt x="2853722" y="1497616"/>
                </a:lnTo>
                <a:lnTo>
                  <a:pt x="47170" y="1497616"/>
                </a:lnTo>
                <a:lnTo>
                  <a:pt x="0" y="1450446"/>
                </a:lnTo>
                <a:lnTo>
                  <a:pt x="1450446" y="0"/>
                </a:lnTo>
                <a:close/>
              </a:path>
            </a:pathLst>
          </a:custGeom>
        </p:spPr>
      </p:pic>
      <p:sp>
        <p:nvSpPr>
          <p:cNvPr id="2" name="TextBox 1">
            <a:extLst>
              <a:ext uri="{FF2B5EF4-FFF2-40B4-BE49-F238E27FC236}">
                <a16:creationId xmlns:a16="http://schemas.microsoft.com/office/drawing/2014/main" id="{DB7C76B1-DE1C-3E4A-A6FD-1DEBD2FB9D7A}"/>
              </a:ext>
            </a:extLst>
          </p:cNvPr>
          <p:cNvSpPr txBox="1"/>
          <p:nvPr/>
        </p:nvSpPr>
        <p:spPr>
          <a:xfrm>
            <a:off x="-169859" y="1273370"/>
            <a:ext cx="7003714" cy="1569660"/>
          </a:xfrm>
          <a:prstGeom prst="rect">
            <a:avLst/>
          </a:prstGeom>
          <a:noFill/>
        </p:spPr>
        <p:txBody>
          <a:bodyPr wrap="square" rtlCol="0">
            <a:spAutoFit/>
          </a:bodyPr>
          <a:lstStyle/>
          <a:p>
            <a:pPr algn="ctr"/>
            <a:r>
              <a:rPr lang="en-US" sz="4800" b="1" dirty="0">
                <a:latin typeface="Arial Black" panose="020B0A04020102020204" pitchFamily="34" charset="0"/>
              </a:rPr>
              <a:t>SMART SHOPPING CART</a:t>
            </a:r>
          </a:p>
        </p:txBody>
      </p:sp>
      <p:sp>
        <p:nvSpPr>
          <p:cNvPr id="3" name="TextBox 2">
            <a:extLst>
              <a:ext uri="{FF2B5EF4-FFF2-40B4-BE49-F238E27FC236}">
                <a16:creationId xmlns:a16="http://schemas.microsoft.com/office/drawing/2014/main" id="{33EAFB47-3AEB-76CD-FB79-72BB6699EBB1}"/>
              </a:ext>
            </a:extLst>
          </p:cNvPr>
          <p:cNvSpPr txBox="1"/>
          <p:nvPr/>
        </p:nvSpPr>
        <p:spPr>
          <a:xfrm>
            <a:off x="602883" y="3171644"/>
            <a:ext cx="4533995" cy="769441"/>
          </a:xfrm>
          <a:prstGeom prst="rect">
            <a:avLst/>
          </a:prstGeom>
          <a:noFill/>
        </p:spPr>
        <p:txBody>
          <a:bodyPr wrap="square" rtlCol="0">
            <a:spAutoFit/>
          </a:bodyPr>
          <a:lstStyle/>
          <a:p>
            <a:pPr algn="ctr"/>
            <a:r>
              <a:rPr lang="en-US" sz="4400" dirty="0"/>
              <a:t>PRESENTED BY </a:t>
            </a:r>
          </a:p>
        </p:txBody>
      </p:sp>
      <p:sp>
        <p:nvSpPr>
          <p:cNvPr id="4" name="TextBox 3">
            <a:extLst>
              <a:ext uri="{FF2B5EF4-FFF2-40B4-BE49-F238E27FC236}">
                <a16:creationId xmlns:a16="http://schemas.microsoft.com/office/drawing/2014/main" id="{95EF138B-6478-FB92-9714-9CA851D46479}"/>
              </a:ext>
            </a:extLst>
          </p:cNvPr>
          <p:cNvSpPr txBox="1"/>
          <p:nvPr/>
        </p:nvSpPr>
        <p:spPr>
          <a:xfrm>
            <a:off x="2255022" y="4266612"/>
            <a:ext cx="2562511" cy="646331"/>
          </a:xfrm>
          <a:prstGeom prst="rect">
            <a:avLst/>
          </a:prstGeom>
          <a:noFill/>
        </p:spPr>
        <p:txBody>
          <a:bodyPr wrap="square" rtlCol="0">
            <a:spAutoFit/>
          </a:bodyPr>
          <a:lstStyle/>
          <a:p>
            <a:r>
              <a:rPr lang="en-US" sz="3600" b="1" dirty="0"/>
              <a:t>GROUP-02</a:t>
            </a:r>
          </a:p>
        </p:txBody>
      </p:sp>
    </p:spTree>
    <p:extLst>
      <p:ext uri="{BB962C8B-B14F-4D97-AF65-F5344CB8AC3E}">
        <p14:creationId xmlns:p14="http://schemas.microsoft.com/office/powerpoint/2010/main" val="1789258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apezoid 1">
            <a:extLst>
              <a:ext uri="{FF2B5EF4-FFF2-40B4-BE49-F238E27FC236}">
                <a16:creationId xmlns:a16="http://schemas.microsoft.com/office/drawing/2014/main" id="{59BAA8C9-C7D1-6F26-13E8-3A80AC339D4B}"/>
              </a:ext>
            </a:extLst>
          </p:cNvPr>
          <p:cNvSpPr/>
          <p:nvPr/>
        </p:nvSpPr>
        <p:spPr>
          <a:xfrm>
            <a:off x="943373" y="530434"/>
            <a:ext cx="3292725" cy="822505"/>
          </a:xfrm>
          <a:prstGeom prst="trapezoid">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SCENARIO</a:t>
            </a:r>
          </a:p>
        </p:txBody>
      </p:sp>
      <p:pic>
        <p:nvPicPr>
          <p:cNvPr id="4" name="Picture 3">
            <a:extLst>
              <a:ext uri="{FF2B5EF4-FFF2-40B4-BE49-F238E27FC236}">
                <a16:creationId xmlns:a16="http://schemas.microsoft.com/office/drawing/2014/main" id="{D8770979-8ED7-A6EE-BBBA-F725797EE3DC}"/>
              </a:ext>
            </a:extLst>
          </p:cNvPr>
          <p:cNvPicPr>
            <a:picLocks noChangeAspect="1"/>
          </p:cNvPicPr>
          <p:nvPr/>
        </p:nvPicPr>
        <p:blipFill>
          <a:blip r:embed="rId2"/>
          <a:stretch>
            <a:fillRect/>
          </a:stretch>
        </p:blipFill>
        <p:spPr>
          <a:xfrm>
            <a:off x="1047135" y="2999231"/>
            <a:ext cx="4601190" cy="314893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242" name="Picture 2" descr="People waiting in line with shopping baskets at grocery store">
            <a:extLst>
              <a:ext uri="{FF2B5EF4-FFF2-40B4-BE49-F238E27FC236}">
                <a16:creationId xmlns:a16="http://schemas.microsoft.com/office/drawing/2014/main" id="{A54AFED2-6F79-C5D2-EE80-79C928F6B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4921" y="1307862"/>
            <a:ext cx="4353706" cy="290388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97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8962B3-726C-3785-8BBE-D2543E07D4EB}"/>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5403F9B-DD5E-ECD7-1375-F5C3B49EF24F}"/>
              </a:ext>
            </a:extLst>
          </p:cNvPr>
          <p:cNvSpPr/>
          <p:nvPr/>
        </p:nvSpPr>
        <p:spPr>
          <a:xfrm>
            <a:off x="438542" y="1670179"/>
            <a:ext cx="1866122" cy="3517642"/>
          </a:xfrm>
          <a:prstGeom prst="round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F00C59-9FE7-9F1A-FB6D-3245155C516A}"/>
              </a:ext>
            </a:extLst>
          </p:cNvPr>
          <p:cNvSpPr txBox="1"/>
          <p:nvPr/>
        </p:nvSpPr>
        <p:spPr>
          <a:xfrm>
            <a:off x="4273419" y="265150"/>
            <a:ext cx="3060441" cy="523220"/>
          </a:xfrm>
          <a:prstGeom prst="rect">
            <a:avLst/>
          </a:prstGeom>
          <a:noFill/>
        </p:spPr>
        <p:txBody>
          <a:bodyPr wrap="square" rtlCol="0">
            <a:spAutoFit/>
          </a:bodyPr>
          <a:lstStyle/>
          <a:p>
            <a:pPr algn="ctr"/>
            <a:r>
              <a:rPr lang="en-US" sz="2800" b="1" dirty="0">
                <a:solidFill>
                  <a:schemeClr val="accent2"/>
                </a:solidFill>
                <a:latin typeface="+mj-lt"/>
              </a:rPr>
              <a:t>MEET</a:t>
            </a:r>
            <a:r>
              <a:rPr lang="en-US" sz="2800" b="1" dirty="0">
                <a:solidFill>
                  <a:schemeClr val="accent2">
                    <a:lumMod val="50000"/>
                  </a:schemeClr>
                </a:solidFill>
                <a:latin typeface="+mj-lt"/>
              </a:rPr>
              <a:t> </a:t>
            </a:r>
            <a:r>
              <a:rPr lang="en-US" sz="2800" b="1" dirty="0">
                <a:solidFill>
                  <a:schemeClr val="accent3">
                    <a:lumMod val="75000"/>
                  </a:schemeClr>
                </a:solidFill>
                <a:latin typeface="+mj-lt"/>
              </a:rPr>
              <a:t>THE TEAM</a:t>
            </a:r>
          </a:p>
        </p:txBody>
      </p:sp>
      <p:sp>
        <p:nvSpPr>
          <p:cNvPr id="10" name="Rectangle: Rounded Corners 9">
            <a:extLst>
              <a:ext uri="{FF2B5EF4-FFF2-40B4-BE49-F238E27FC236}">
                <a16:creationId xmlns:a16="http://schemas.microsoft.com/office/drawing/2014/main" id="{503C684E-A184-B6F5-21DD-7C510138D6C5}"/>
              </a:ext>
            </a:extLst>
          </p:cNvPr>
          <p:cNvSpPr/>
          <p:nvPr/>
        </p:nvSpPr>
        <p:spPr>
          <a:xfrm>
            <a:off x="10089499" y="1648407"/>
            <a:ext cx="1866122" cy="3517642"/>
          </a:xfrm>
          <a:prstGeom prst="roundRect">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6247100-5ED4-E881-A7D4-508EC49A0962}"/>
              </a:ext>
            </a:extLst>
          </p:cNvPr>
          <p:cNvSpPr/>
          <p:nvPr/>
        </p:nvSpPr>
        <p:spPr>
          <a:xfrm>
            <a:off x="7710195" y="1670179"/>
            <a:ext cx="1866122" cy="3517642"/>
          </a:xfrm>
          <a:prstGeom prst="roundRect">
            <a:avLst/>
          </a:prstGeom>
          <a:no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8299A25-0600-4D67-D22A-E298652C4C6D}"/>
              </a:ext>
            </a:extLst>
          </p:cNvPr>
          <p:cNvSpPr/>
          <p:nvPr/>
        </p:nvSpPr>
        <p:spPr>
          <a:xfrm>
            <a:off x="5330891" y="1670179"/>
            <a:ext cx="1866122" cy="3517642"/>
          </a:xfrm>
          <a:prstGeom prst="roundRect">
            <a:avLst/>
          </a:prstGeom>
          <a:noFill/>
          <a:ln w="28575">
            <a:solidFill>
              <a:srgbClr val="7901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FA948C4-7C79-3951-522B-7C9E8196DF00}"/>
              </a:ext>
            </a:extLst>
          </p:cNvPr>
          <p:cNvSpPr/>
          <p:nvPr/>
        </p:nvSpPr>
        <p:spPr>
          <a:xfrm>
            <a:off x="2951587" y="1670179"/>
            <a:ext cx="1866122" cy="3517642"/>
          </a:xfrm>
          <a:prstGeom prst="roundRect">
            <a:avLst/>
          </a:prstGeom>
          <a:noFill/>
          <a:ln w="285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7A24DF9F-DA9E-7C2E-84B7-369CA83D5FA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763" t="11532" r="21478" b="26979"/>
          <a:stretch/>
        </p:blipFill>
        <p:spPr>
          <a:xfrm>
            <a:off x="5495732" y="1888861"/>
            <a:ext cx="1536441" cy="1513702"/>
          </a:xfrm>
          <a:prstGeom prst="ellipse">
            <a:avLst/>
          </a:prstGeom>
          <a:ln w="38100">
            <a:solidFill>
              <a:schemeClr val="accent2"/>
            </a:solidFill>
          </a:ln>
        </p:spPr>
      </p:pic>
      <p:pic>
        <p:nvPicPr>
          <p:cNvPr id="17" name="Picture 16">
            <a:extLst>
              <a:ext uri="{FF2B5EF4-FFF2-40B4-BE49-F238E27FC236}">
                <a16:creationId xmlns:a16="http://schemas.microsoft.com/office/drawing/2014/main" id="{D1C63353-E77F-BB80-B1D4-462183B6A38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448" t="39376" r="19323" b="18991"/>
          <a:stretch/>
        </p:blipFill>
        <p:spPr>
          <a:xfrm>
            <a:off x="652134" y="1888861"/>
            <a:ext cx="1468484" cy="1540139"/>
          </a:xfrm>
          <a:prstGeom prst="ellipse">
            <a:avLst/>
          </a:prstGeom>
          <a:ln w="38100">
            <a:solidFill>
              <a:schemeClr val="accent2"/>
            </a:solidFill>
          </a:ln>
        </p:spPr>
      </p:pic>
      <p:pic>
        <p:nvPicPr>
          <p:cNvPr id="18" name="Picture 17">
            <a:extLst>
              <a:ext uri="{FF2B5EF4-FFF2-40B4-BE49-F238E27FC236}">
                <a16:creationId xmlns:a16="http://schemas.microsoft.com/office/drawing/2014/main" id="{9745FBB9-E9B9-A217-7AB3-2980BEB2208C}"/>
              </a:ext>
            </a:extLst>
          </p:cNvPr>
          <p:cNvPicPr>
            <a:picLocks noChangeAspect="1"/>
          </p:cNvPicPr>
          <p:nvPr/>
        </p:nvPicPr>
        <p:blipFill>
          <a:blip r:embed="rId4" cstate="print">
            <a:extLst>
              <a:ext uri="{28A0092B-C50C-407E-A947-70E740481C1C}">
                <a14:useLocalDpi xmlns:a14="http://schemas.microsoft.com/office/drawing/2010/main" val="0"/>
              </a:ext>
            </a:extLst>
          </a:blip>
          <a:srcRect t="10670" b="10670"/>
          <a:stretch/>
        </p:blipFill>
        <p:spPr>
          <a:xfrm>
            <a:off x="3150406" y="1862424"/>
            <a:ext cx="1468484" cy="1540139"/>
          </a:xfrm>
          <a:prstGeom prst="ellipse">
            <a:avLst/>
          </a:prstGeom>
          <a:ln w="38100">
            <a:solidFill>
              <a:schemeClr val="accent2"/>
            </a:solidFill>
          </a:ln>
        </p:spPr>
      </p:pic>
      <p:pic>
        <p:nvPicPr>
          <p:cNvPr id="19" name="Picture 18">
            <a:extLst>
              <a:ext uri="{FF2B5EF4-FFF2-40B4-BE49-F238E27FC236}">
                <a16:creationId xmlns:a16="http://schemas.microsoft.com/office/drawing/2014/main" id="{1D268B15-83B3-0170-0EB6-5F00EB3229C1}"/>
              </a:ext>
            </a:extLst>
          </p:cNvPr>
          <p:cNvPicPr>
            <a:picLocks noChangeAspect="1"/>
          </p:cNvPicPr>
          <p:nvPr/>
        </p:nvPicPr>
        <p:blipFill>
          <a:blip r:embed="rId5" cstate="print">
            <a:extLst>
              <a:ext uri="{28A0092B-C50C-407E-A947-70E740481C1C}">
                <a14:useLocalDpi xmlns:a14="http://schemas.microsoft.com/office/drawing/2010/main" val="0"/>
              </a:ext>
            </a:extLst>
          </a:blip>
          <a:srcRect l="1338" r="1338"/>
          <a:stretch/>
        </p:blipFill>
        <p:spPr>
          <a:xfrm>
            <a:off x="7910338" y="1875642"/>
            <a:ext cx="1468484" cy="1540139"/>
          </a:xfrm>
          <a:prstGeom prst="ellipse">
            <a:avLst/>
          </a:prstGeom>
          <a:ln w="38100">
            <a:solidFill>
              <a:schemeClr val="accent2"/>
            </a:solidFill>
          </a:ln>
        </p:spPr>
      </p:pic>
      <p:pic>
        <p:nvPicPr>
          <p:cNvPr id="20" name="Picture 19">
            <a:extLst>
              <a:ext uri="{FF2B5EF4-FFF2-40B4-BE49-F238E27FC236}">
                <a16:creationId xmlns:a16="http://schemas.microsoft.com/office/drawing/2014/main" id="{35BF7189-CCDB-93FA-41C9-C61746A0EF82}"/>
              </a:ext>
            </a:extLst>
          </p:cNvPr>
          <p:cNvPicPr>
            <a:picLocks noChangeAspect="1"/>
          </p:cNvPicPr>
          <p:nvPr/>
        </p:nvPicPr>
        <p:blipFill>
          <a:blip r:embed="rId6" cstate="print">
            <a:extLst>
              <a:ext uri="{28A0092B-C50C-407E-A947-70E740481C1C}">
                <a14:useLocalDpi xmlns:a14="http://schemas.microsoft.com/office/drawing/2010/main" val="0"/>
              </a:ext>
            </a:extLst>
          </a:blip>
          <a:srcRect l="14245" r="14245"/>
          <a:stretch/>
        </p:blipFill>
        <p:spPr>
          <a:xfrm>
            <a:off x="10359081" y="1903046"/>
            <a:ext cx="1468484" cy="1540139"/>
          </a:xfrm>
          <a:prstGeom prst="ellipse">
            <a:avLst/>
          </a:prstGeom>
          <a:ln w="38100">
            <a:solidFill>
              <a:schemeClr val="accent2"/>
            </a:solidFill>
          </a:ln>
        </p:spPr>
      </p:pic>
      <p:sp>
        <p:nvSpPr>
          <p:cNvPr id="23" name="TextBox 22">
            <a:extLst>
              <a:ext uri="{FF2B5EF4-FFF2-40B4-BE49-F238E27FC236}">
                <a16:creationId xmlns:a16="http://schemas.microsoft.com/office/drawing/2014/main" id="{4D351F93-A5CB-136C-FFC3-C4FFBB20F353}"/>
              </a:ext>
            </a:extLst>
          </p:cNvPr>
          <p:cNvSpPr txBox="1"/>
          <p:nvPr/>
        </p:nvSpPr>
        <p:spPr>
          <a:xfrm>
            <a:off x="586663" y="3647682"/>
            <a:ext cx="1599426" cy="369332"/>
          </a:xfrm>
          <a:prstGeom prst="rect">
            <a:avLst/>
          </a:prstGeom>
          <a:noFill/>
        </p:spPr>
        <p:txBody>
          <a:bodyPr wrap="square" rtlCol="0">
            <a:spAutoFit/>
          </a:bodyPr>
          <a:lstStyle/>
          <a:p>
            <a:r>
              <a:rPr lang="en-US" b="1" dirty="0" err="1"/>
              <a:t>Punno</a:t>
            </a:r>
            <a:r>
              <a:rPr lang="en-US" dirty="0"/>
              <a:t> </a:t>
            </a:r>
            <a:r>
              <a:rPr lang="en-US" b="1" dirty="0"/>
              <a:t>Saha</a:t>
            </a:r>
          </a:p>
        </p:txBody>
      </p:sp>
      <p:sp>
        <p:nvSpPr>
          <p:cNvPr id="24" name="TextBox 23">
            <a:extLst>
              <a:ext uri="{FF2B5EF4-FFF2-40B4-BE49-F238E27FC236}">
                <a16:creationId xmlns:a16="http://schemas.microsoft.com/office/drawing/2014/main" id="{CC4955BE-723D-EF04-9151-8D6C9274C6A4}"/>
              </a:ext>
            </a:extLst>
          </p:cNvPr>
          <p:cNvSpPr txBox="1"/>
          <p:nvPr/>
        </p:nvSpPr>
        <p:spPr>
          <a:xfrm>
            <a:off x="541022" y="4051030"/>
            <a:ext cx="1599426" cy="369332"/>
          </a:xfrm>
          <a:prstGeom prst="rect">
            <a:avLst/>
          </a:prstGeom>
          <a:noFill/>
        </p:spPr>
        <p:txBody>
          <a:bodyPr wrap="square" rtlCol="0">
            <a:spAutoFit/>
          </a:bodyPr>
          <a:lstStyle/>
          <a:p>
            <a:pPr algn="ctr"/>
            <a:r>
              <a:rPr lang="en-US" b="1" dirty="0"/>
              <a:t>2005002</a:t>
            </a:r>
          </a:p>
        </p:txBody>
      </p:sp>
      <p:sp>
        <p:nvSpPr>
          <p:cNvPr id="25" name="TextBox 24">
            <a:extLst>
              <a:ext uri="{FF2B5EF4-FFF2-40B4-BE49-F238E27FC236}">
                <a16:creationId xmlns:a16="http://schemas.microsoft.com/office/drawing/2014/main" id="{D8D79C6F-ADA6-2D68-5F19-AD8AE46F3605}"/>
              </a:ext>
            </a:extLst>
          </p:cNvPr>
          <p:cNvSpPr txBox="1"/>
          <p:nvPr/>
        </p:nvSpPr>
        <p:spPr>
          <a:xfrm>
            <a:off x="3056556" y="3647682"/>
            <a:ext cx="1599426" cy="369332"/>
          </a:xfrm>
          <a:prstGeom prst="rect">
            <a:avLst/>
          </a:prstGeom>
          <a:noFill/>
        </p:spPr>
        <p:txBody>
          <a:bodyPr wrap="square" rtlCol="0">
            <a:spAutoFit/>
          </a:bodyPr>
          <a:lstStyle/>
          <a:p>
            <a:pPr algn="ctr"/>
            <a:r>
              <a:rPr lang="en-US" b="1" dirty="0" err="1"/>
              <a:t>Rafiul</a:t>
            </a:r>
            <a:r>
              <a:rPr lang="en-US" b="1" dirty="0"/>
              <a:t> Islam</a:t>
            </a:r>
          </a:p>
        </p:txBody>
      </p:sp>
      <p:sp>
        <p:nvSpPr>
          <p:cNvPr id="26" name="TextBox 25">
            <a:extLst>
              <a:ext uri="{FF2B5EF4-FFF2-40B4-BE49-F238E27FC236}">
                <a16:creationId xmlns:a16="http://schemas.microsoft.com/office/drawing/2014/main" id="{0D60492F-F956-B5E2-5589-85A7D1072B82}"/>
              </a:ext>
            </a:extLst>
          </p:cNvPr>
          <p:cNvSpPr txBox="1"/>
          <p:nvPr/>
        </p:nvSpPr>
        <p:spPr>
          <a:xfrm>
            <a:off x="3084935" y="4048419"/>
            <a:ext cx="1599426" cy="369332"/>
          </a:xfrm>
          <a:prstGeom prst="rect">
            <a:avLst/>
          </a:prstGeom>
          <a:noFill/>
        </p:spPr>
        <p:txBody>
          <a:bodyPr wrap="square" rtlCol="0">
            <a:spAutoFit/>
          </a:bodyPr>
          <a:lstStyle/>
          <a:p>
            <a:pPr algn="ctr"/>
            <a:r>
              <a:rPr lang="en-US" b="1" dirty="0"/>
              <a:t>2005004</a:t>
            </a:r>
          </a:p>
        </p:txBody>
      </p:sp>
      <p:sp>
        <p:nvSpPr>
          <p:cNvPr id="27" name="TextBox 26">
            <a:extLst>
              <a:ext uri="{FF2B5EF4-FFF2-40B4-BE49-F238E27FC236}">
                <a16:creationId xmlns:a16="http://schemas.microsoft.com/office/drawing/2014/main" id="{2D36FB7F-6CE1-0CAD-79BB-B63EF9A3A11A}"/>
              </a:ext>
            </a:extLst>
          </p:cNvPr>
          <p:cNvSpPr txBox="1"/>
          <p:nvPr/>
        </p:nvSpPr>
        <p:spPr>
          <a:xfrm>
            <a:off x="5517894" y="3643202"/>
            <a:ext cx="1599426" cy="369332"/>
          </a:xfrm>
          <a:prstGeom prst="rect">
            <a:avLst/>
          </a:prstGeom>
          <a:noFill/>
        </p:spPr>
        <p:txBody>
          <a:bodyPr wrap="square" rtlCol="0">
            <a:spAutoFit/>
          </a:bodyPr>
          <a:lstStyle/>
          <a:p>
            <a:pPr algn="ctr"/>
            <a:r>
              <a:rPr lang="en-US" b="1" dirty="0"/>
              <a:t>Farabe</a:t>
            </a:r>
          </a:p>
        </p:txBody>
      </p:sp>
      <p:sp>
        <p:nvSpPr>
          <p:cNvPr id="28" name="TextBox 27">
            <a:extLst>
              <a:ext uri="{FF2B5EF4-FFF2-40B4-BE49-F238E27FC236}">
                <a16:creationId xmlns:a16="http://schemas.microsoft.com/office/drawing/2014/main" id="{F8A31209-1294-4DD2-D220-11DFC242E47B}"/>
              </a:ext>
            </a:extLst>
          </p:cNvPr>
          <p:cNvSpPr txBox="1"/>
          <p:nvPr/>
        </p:nvSpPr>
        <p:spPr>
          <a:xfrm>
            <a:off x="5517894" y="4049180"/>
            <a:ext cx="1599426" cy="369332"/>
          </a:xfrm>
          <a:prstGeom prst="rect">
            <a:avLst/>
          </a:prstGeom>
          <a:noFill/>
        </p:spPr>
        <p:txBody>
          <a:bodyPr wrap="square" rtlCol="0">
            <a:spAutoFit/>
          </a:bodyPr>
          <a:lstStyle/>
          <a:p>
            <a:pPr algn="ctr"/>
            <a:r>
              <a:rPr lang="en-US" b="1" dirty="0"/>
              <a:t>2005023</a:t>
            </a:r>
          </a:p>
        </p:txBody>
      </p:sp>
      <p:sp>
        <p:nvSpPr>
          <p:cNvPr id="29" name="TextBox 28">
            <a:extLst>
              <a:ext uri="{FF2B5EF4-FFF2-40B4-BE49-F238E27FC236}">
                <a16:creationId xmlns:a16="http://schemas.microsoft.com/office/drawing/2014/main" id="{59BA4D7C-E281-DEC5-3C86-ED24C9A3E413}"/>
              </a:ext>
            </a:extLst>
          </p:cNvPr>
          <p:cNvSpPr txBox="1"/>
          <p:nvPr/>
        </p:nvSpPr>
        <p:spPr>
          <a:xfrm>
            <a:off x="7965617" y="3643202"/>
            <a:ext cx="1599426" cy="369332"/>
          </a:xfrm>
          <a:prstGeom prst="rect">
            <a:avLst/>
          </a:prstGeom>
          <a:noFill/>
        </p:spPr>
        <p:txBody>
          <a:bodyPr wrap="square" rtlCol="0">
            <a:spAutoFit/>
          </a:bodyPr>
          <a:lstStyle/>
          <a:p>
            <a:r>
              <a:rPr lang="en-US" dirty="0"/>
              <a:t> </a:t>
            </a:r>
            <a:r>
              <a:rPr lang="en-US" b="1" dirty="0"/>
              <a:t>Ratul joy</a:t>
            </a:r>
          </a:p>
        </p:txBody>
      </p:sp>
      <p:sp>
        <p:nvSpPr>
          <p:cNvPr id="30" name="TextBox 29">
            <a:extLst>
              <a:ext uri="{FF2B5EF4-FFF2-40B4-BE49-F238E27FC236}">
                <a16:creationId xmlns:a16="http://schemas.microsoft.com/office/drawing/2014/main" id="{5DB77EEB-560C-3A13-C4FA-9EBA9FB05535}"/>
              </a:ext>
            </a:extLst>
          </p:cNvPr>
          <p:cNvSpPr txBox="1"/>
          <p:nvPr/>
        </p:nvSpPr>
        <p:spPr>
          <a:xfrm>
            <a:off x="7910338" y="4055289"/>
            <a:ext cx="1599426" cy="369332"/>
          </a:xfrm>
          <a:prstGeom prst="rect">
            <a:avLst/>
          </a:prstGeom>
          <a:noFill/>
        </p:spPr>
        <p:txBody>
          <a:bodyPr wrap="square" rtlCol="0">
            <a:spAutoFit/>
          </a:bodyPr>
          <a:lstStyle/>
          <a:p>
            <a:pPr algn="ctr"/>
            <a:r>
              <a:rPr lang="en-US" b="1" dirty="0"/>
              <a:t>2005030</a:t>
            </a:r>
          </a:p>
        </p:txBody>
      </p:sp>
      <p:sp>
        <p:nvSpPr>
          <p:cNvPr id="31" name="TextBox 30">
            <a:extLst>
              <a:ext uri="{FF2B5EF4-FFF2-40B4-BE49-F238E27FC236}">
                <a16:creationId xmlns:a16="http://schemas.microsoft.com/office/drawing/2014/main" id="{7F148129-8BE4-176E-4546-AB404C4D49FF}"/>
              </a:ext>
            </a:extLst>
          </p:cNvPr>
          <p:cNvSpPr txBox="1"/>
          <p:nvPr/>
        </p:nvSpPr>
        <p:spPr>
          <a:xfrm>
            <a:off x="10293610" y="3643202"/>
            <a:ext cx="1599426" cy="369332"/>
          </a:xfrm>
          <a:prstGeom prst="rect">
            <a:avLst/>
          </a:prstGeom>
          <a:noFill/>
        </p:spPr>
        <p:txBody>
          <a:bodyPr wrap="square" rtlCol="0">
            <a:spAutoFit/>
          </a:bodyPr>
          <a:lstStyle/>
          <a:p>
            <a:pPr algn="ctr"/>
            <a:r>
              <a:rPr lang="en-US" b="1" dirty="0"/>
              <a:t>Nahid</a:t>
            </a:r>
          </a:p>
        </p:txBody>
      </p:sp>
      <p:sp>
        <p:nvSpPr>
          <p:cNvPr id="32" name="TextBox 31">
            <a:extLst>
              <a:ext uri="{FF2B5EF4-FFF2-40B4-BE49-F238E27FC236}">
                <a16:creationId xmlns:a16="http://schemas.microsoft.com/office/drawing/2014/main" id="{B5472558-056C-F32D-85D2-E803D9B1DADF}"/>
              </a:ext>
            </a:extLst>
          </p:cNvPr>
          <p:cNvSpPr txBox="1"/>
          <p:nvPr/>
        </p:nvSpPr>
        <p:spPr>
          <a:xfrm>
            <a:off x="10356195" y="4012534"/>
            <a:ext cx="1599426" cy="369332"/>
          </a:xfrm>
          <a:prstGeom prst="rect">
            <a:avLst/>
          </a:prstGeom>
          <a:noFill/>
        </p:spPr>
        <p:txBody>
          <a:bodyPr wrap="square" rtlCol="0">
            <a:spAutoFit/>
          </a:bodyPr>
          <a:lstStyle/>
          <a:p>
            <a:pPr algn="ctr"/>
            <a:r>
              <a:rPr lang="en-US" b="1" dirty="0"/>
              <a:t>2005034</a:t>
            </a:r>
          </a:p>
        </p:txBody>
      </p:sp>
      <p:cxnSp>
        <p:nvCxnSpPr>
          <p:cNvPr id="37" name="Straight Connector 36">
            <a:extLst>
              <a:ext uri="{FF2B5EF4-FFF2-40B4-BE49-F238E27FC236}">
                <a16:creationId xmlns:a16="http://schemas.microsoft.com/office/drawing/2014/main" id="{388B6C73-85E2-E342-A822-87649A990F35}"/>
              </a:ext>
            </a:extLst>
          </p:cNvPr>
          <p:cNvCxnSpPr>
            <a:cxnSpLocks/>
          </p:cNvCxnSpPr>
          <p:nvPr/>
        </p:nvCxnSpPr>
        <p:spPr>
          <a:xfrm>
            <a:off x="1012567" y="1038064"/>
            <a:ext cx="10249793" cy="0"/>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E34E0BB0-8252-5B15-CF2A-A6ADB3AECF18}"/>
              </a:ext>
            </a:extLst>
          </p:cNvPr>
          <p:cNvCxnSpPr>
            <a:cxnSpLocks/>
          </p:cNvCxnSpPr>
          <p:nvPr/>
        </p:nvCxnSpPr>
        <p:spPr>
          <a:xfrm>
            <a:off x="1012567" y="1038063"/>
            <a:ext cx="0" cy="632115"/>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4E643BA-3F19-A6E4-1AB5-0DF1292687AB}"/>
              </a:ext>
            </a:extLst>
          </p:cNvPr>
          <p:cNvCxnSpPr>
            <a:cxnSpLocks/>
          </p:cNvCxnSpPr>
          <p:nvPr/>
        </p:nvCxnSpPr>
        <p:spPr>
          <a:xfrm>
            <a:off x="3856269" y="1038064"/>
            <a:ext cx="0" cy="63211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6D98AA8-04C2-35EA-9F3F-BB19FA094AF0}"/>
              </a:ext>
            </a:extLst>
          </p:cNvPr>
          <p:cNvCxnSpPr>
            <a:cxnSpLocks/>
          </p:cNvCxnSpPr>
          <p:nvPr/>
        </p:nvCxnSpPr>
        <p:spPr>
          <a:xfrm>
            <a:off x="6317607" y="1038064"/>
            <a:ext cx="0" cy="632115"/>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FB375CC-1A16-8D42-01F9-FDCF35B1DAB1}"/>
              </a:ext>
            </a:extLst>
          </p:cNvPr>
          <p:cNvCxnSpPr>
            <a:cxnSpLocks/>
            <a:endCxn id="11" idx="0"/>
          </p:cNvCxnSpPr>
          <p:nvPr/>
        </p:nvCxnSpPr>
        <p:spPr>
          <a:xfrm>
            <a:off x="8643256" y="1038064"/>
            <a:ext cx="0" cy="63211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2C64B7F-3F27-38C1-0DFC-6E841E2238AC}"/>
              </a:ext>
            </a:extLst>
          </p:cNvPr>
          <p:cNvCxnSpPr>
            <a:cxnSpLocks/>
          </p:cNvCxnSpPr>
          <p:nvPr/>
        </p:nvCxnSpPr>
        <p:spPr>
          <a:xfrm>
            <a:off x="11262360" y="1038063"/>
            <a:ext cx="0" cy="632115"/>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E7878C3-1107-0970-3BBE-6080D003C895}"/>
              </a:ext>
            </a:extLst>
          </p:cNvPr>
          <p:cNvSpPr/>
          <p:nvPr/>
        </p:nvSpPr>
        <p:spPr>
          <a:xfrm>
            <a:off x="10966778" y="5875536"/>
            <a:ext cx="567611" cy="1153041"/>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812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0D5AE1-13EA-8CFB-F8DC-59D9BB792B67}"/>
              </a:ext>
            </a:extLst>
          </p:cNvPr>
          <p:cNvSpPr/>
          <p:nvPr/>
        </p:nvSpPr>
        <p:spPr>
          <a:xfrm>
            <a:off x="3383711" y="431255"/>
            <a:ext cx="4543808"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solidFill>
                  <a:schemeClr val="accent3"/>
                </a:solidFill>
                <a:effectLst>
                  <a:outerShdw blurRad="12700" dist="38100" dir="2700000" algn="tl" rotWithShape="0">
                    <a:schemeClr val="bg1">
                      <a:lumMod val="50000"/>
                    </a:schemeClr>
                  </a:outerShdw>
                </a:effectLst>
              </a:rPr>
              <a:t>Introduction</a:t>
            </a:r>
            <a:endParaRPr lang="en-US" sz="5400" b="1" cap="none" spc="0" dirty="0">
              <a:ln w="9525">
                <a:solidFill>
                  <a:schemeClr val="bg1"/>
                </a:solidFill>
                <a:prstDash val="solid"/>
              </a:ln>
              <a:solidFill>
                <a:schemeClr val="accent3"/>
              </a:solidFill>
              <a:effectLst>
                <a:outerShdw blurRad="12700" dist="38100" dir="2700000" algn="tl" rotWithShape="0">
                  <a:schemeClr val="bg1">
                    <a:lumMod val="50000"/>
                  </a:schemeClr>
                </a:outerShdw>
              </a:effectLst>
            </a:endParaRPr>
          </a:p>
        </p:txBody>
      </p:sp>
      <p:pic>
        <p:nvPicPr>
          <p:cNvPr id="7" name="Picture 6">
            <a:extLst>
              <a:ext uri="{FF2B5EF4-FFF2-40B4-BE49-F238E27FC236}">
                <a16:creationId xmlns:a16="http://schemas.microsoft.com/office/drawing/2014/main" id="{6CF18D41-6954-66C1-6D70-1DDD3050423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00" r="12500"/>
          <a:stretch/>
        </p:blipFill>
        <p:spPr>
          <a:xfrm>
            <a:off x="4408707" y="1595285"/>
            <a:ext cx="2509156" cy="2509156"/>
          </a:xfrm>
          <a:prstGeom prst="flowChartConnector">
            <a:avLst/>
          </a:prstGeom>
          <a:ln w="28575">
            <a:solidFill>
              <a:schemeClr val="accent4"/>
            </a:solidFill>
          </a:ln>
        </p:spPr>
      </p:pic>
      <p:sp>
        <p:nvSpPr>
          <p:cNvPr id="9" name="TextBox 8">
            <a:extLst>
              <a:ext uri="{FF2B5EF4-FFF2-40B4-BE49-F238E27FC236}">
                <a16:creationId xmlns:a16="http://schemas.microsoft.com/office/drawing/2014/main" id="{3ED208A4-54D8-393D-668D-C097AF2B0BDE}"/>
              </a:ext>
            </a:extLst>
          </p:cNvPr>
          <p:cNvSpPr txBox="1"/>
          <p:nvPr/>
        </p:nvSpPr>
        <p:spPr>
          <a:xfrm>
            <a:off x="4538094" y="5035053"/>
            <a:ext cx="2379769" cy="1077218"/>
          </a:xfrm>
          <a:prstGeom prst="rect">
            <a:avLst/>
          </a:prstGeom>
          <a:noFill/>
        </p:spPr>
        <p:txBody>
          <a:bodyPr wrap="square" rtlCol="0">
            <a:spAutoFit/>
          </a:bodyPr>
          <a:lstStyle/>
          <a:p>
            <a:pPr algn="ctr"/>
            <a:r>
              <a:rPr lang="en-US" sz="3200" b="1" dirty="0"/>
              <a:t>Nahid</a:t>
            </a:r>
          </a:p>
          <a:p>
            <a:pPr algn="ctr"/>
            <a:r>
              <a:rPr lang="en-US" sz="3200" b="1" dirty="0"/>
              <a:t>2005034</a:t>
            </a:r>
          </a:p>
        </p:txBody>
      </p:sp>
      <p:sp>
        <p:nvSpPr>
          <p:cNvPr id="2" name="Rectangle 1">
            <a:extLst>
              <a:ext uri="{FF2B5EF4-FFF2-40B4-BE49-F238E27FC236}">
                <a16:creationId xmlns:a16="http://schemas.microsoft.com/office/drawing/2014/main" id="{2F53B45E-9340-F85F-D3A1-9515667BC534}"/>
              </a:ext>
            </a:extLst>
          </p:cNvPr>
          <p:cNvSpPr/>
          <p:nvPr/>
        </p:nvSpPr>
        <p:spPr>
          <a:xfrm rot="19289892">
            <a:off x="-1387949" y="-450449"/>
            <a:ext cx="4025830" cy="151476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9AC7FAC-D82D-6F8C-A7EC-0F2E3E2EC2AE}"/>
              </a:ext>
            </a:extLst>
          </p:cNvPr>
          <p:cNvSpPr txBox="1"/>
          <p:nvPr/>
        </p:nvSpPr>
        <p:spPr>
          <a:xfrm>
            <a:off x="4717965" y="4411484"/>
            <a:ext cx="2199898" cy="461665"/>
          </a:xfrm>
          <a:prstGeom prst="rect">
            <a:avLst/>
          </a:prstGeom>
          <a:noFill/>
        </p:spPr>
        <p:txBody>
          <a:bodyPr wrap="none" rtlCol="0">
            <a:spAutoFit/>
          </a:bodyPr>
          <a:lstStyle/>
          <a:p>
            <a:r>
              <a:rPr lang="en-US" sz="2400" b="1" dirty="0"/>
              <a:t>Presented By</a:t>
            </a:r>
          </a:p>
        </p:txBody>
      </p:sp>
    </p:spTree>
    <p:extLst>
      <p:ext uri="{BB962C8B-B14F-4D97-AF65-F5344CB8AC3E}">
        <p14:creationId xmlns:p14="http://schemas.microsoft.com/office/powerpoint/2010/main" val="3950069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apezoid 1">
            <a:extLst>
              <a:ext uri="{FF2B5EF4-FFF2-40B4-BE49-F238E27FC236}">
                <a16:creationId xmlns:a16="http://schemas.microsoft.com/office/drawing/2014/main" id="{F00C2208-06B5-C70B-476C-6CCB8FA0199D}"/>
              </a:ext>
            </a:extLst>
          </p:cNvPr>
          <p:cNvSpPr/>
          <p:nvPr/>
        </p:nvSpPr>
        <p:spPr>
          <a:xfrm>
            <a:off x="2594891" y="287838"/>
            <a:ext cx="4655126" cy="1080834"/>
          </a:xfrm>
          <a:prstGeom prst="trapezoid">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8C3B736-F50D-441B-A694-B0D70E3638FA}"/>
              </a:ext>
            </a:extLst>
          </p:cNvPr>
          <p:cNvSpPr txBox="1"/>
          <p:nvPr/>
        </p:nvSpPr>
        <p:spPr>
          <a:xfrm>
            <a:off x="1234456" y="539914"/>
            <a:ext cx="7402059" cy="584757"/>
          </a:xfrm>
          <a:prstGeom prst="rect">
            <a:avLst/>
          </a:prstGeom>
          <a:noFill/>
        </p:spPr>
        <p:txBody>
          <a:bodyPr wrap="square" lIns="91422" tIns="45711" rIns="91422" bIns="45711" rtlCol="0">
            <a:spAutoFit/>
          </a:bodyPr>
          <a:lstStyle/>
          <a:p>
            <a:pPr algn="ctr"/>
            <a:r>
              <a:rPr lang="en-US" sz="3200" b="1" spc="300" dirty="0">
                <a:solidFill>
                  <a:schemeClr val="tx1">
                    <a:lumMod val="95000"/>
                    <a:lumOff val="5000"/>
                  </a:schemeClr>
                </a:solidFill>
                <a:latin typeface="Poppins" panose="00000500000000000000" pitchFamily="2" charset="0"/>
                <a:cs typeface="Poppins" panose="00000500000000000000" pitchFamily="2" charset="0"/>
              </a:rPr>
              <a:t>Introduction</a:t>
            </a:r>
            <a:r>
              <a:rPr lang="en-US" sz="2800" b="1" spc="300" dirty="0">
                <a:solidFill>
                  <a:schemeClr val="tx1">
                    <a:lumMod val="95000"/>
                    <a:lumOff val="5000"/>
                  </a:schemeClr>
                </a:solidFill>
                <a:latin typeface="Poppins" panose="00000500000000000000" pitchFamily="2" charset="0"/>
                <a:cs typeface="Poppins" panose="00000500000000000000" pitchFamily="2" charset="0"/>
              </a:rPr>
              <a:t> </a:t>
            </a:r>
            <a:endParaRPr lang="en-US" sz="2400" b="1" spc="300" dirty="0">
              <a:solidFill>
                <a:schemeClr val="tx1">
                  <a:lumMod val="95000"/>
                  <a:lumOff val="5000"/>
                </a:schemeClr>
              </a:solidFill>
              <a:latin typeface="Poppins" panose="00000500000000000000" pitchFamily="2" charset="0"/>
              <a:cs typeface="Poppins" panose="00000500000000000000" pitchFamily="2" charset="0"/>
            </a:endParaRPr>
          </a:p>
        </p:txBody>
      </p:sp>
      <p:grpSp>
        <p:nvGrpSpPr>
          <p:cNvPr id="3" name="Group 2">
            <a:extLst>
              <a:ext uri="{FF2B5EF4-FFF2-40B4-BE49-F238E27FC236}">
                <a16:creationId xmlns:a16="http://schemas.microsoft.com/office/drawing/2014/main" id="{245AA635-5EA8-8A10-289F-07F1D1E18210}"/>
              </a:ext>
            </a:extLst>
          </p:cNvPr>
          <p:cNvGrpSpPr/>
          <p:nvPr/>
        </p:nvGrpSpPr>
        <p:grpSpPr>
          <a:xfrm>
            <a:off x="7386335" y="934001"/>
            <a:ext cx="4816530" cy="4989998"/>
            <a:chOff x="5906889" y="-621198"/>
            <a:chExt cx="7581964" cy="8100394"/>
          </a:xfrm>
          <a:blipFill>
            <a:blip r:embed="rId2"/>
            <a:stretch>
              <a:fillRect/>
            </a:stretch>
          </a:blipFill>
        </p:grpSpPr>
        <p:grpSp>
          <p:nvGrpSpPr>
            <p:cNvPr id="5" name="Group 4">
              <a:extLst>
                <a:ext uri="{FF2B5EF4-FFF2-40B4-BE49-F238E27FC236}">
                  <a16:creationId xmlns:a16="http://schemas.microsoft.com/office/drawing/2014/main" id="{04AFF1DA-D837-5620-19FC-06664A7B96D1}"/>
                </a:ext>
              </a:extLst>
            </p:cNvPr>
            <p:cNvGrpSpPr/>
            <p:nvPr/>
          </p:nvGrpSpPr>
          <p:grpSpPr>
            <a:xfrm>
              <a:off x="5967056" y="2469874"/>
              <a:ext cx="6425711" cy="1918252"/>
              <a:chOff x="5890591" y="1659834"/>
              <a:chExt cx="6425711" cy="1918252"/>
            </a:xfrm>
            <a:grpFill/>
          </p:grpSpPr>
          <p:sp>
            <p:nvSpPr>
              <p:cNvPr id="22" name="Hexagon 21">
                <a:extLst>
                  <a:ext uri="{FF2B5EF4-FFF2-40B4-BE49-F238E27FC236}">
                    <a16:creationId xmlns:a16="http://schemas.microsoft.com/office/drawing/2014/main" id="{F562E947-D39C-70FC-D8BC-7C902A127758}"/>
                  </a:ext>
                </a:extLst>
              </p:cNvPr>
              <p:cNvSpPr/>
              <p:nvPr/>
            </p:nvSpPr>
            <p:spPr>
              <a:xfrm rot="16200000">
                <a:off x="5956587"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exagon 22">
                <a:extLst>
                  <a:ext uri="{FF2B5EF4-FFF2-40B4-BE49-F238E27FC236}">
                    <a16:creationId xmlns:a16="http://schemas.microsoft.com/office/drawing/2014/main" id="{C5FD854F-9923-4948-9518-D78DB7245642}"/>
                  </a:ext>
                </a:extLst>
              </p:cNvPr>
              <p:cNvSpPr/>
              <p:nvPr/>
            </p:nvSpPr>
            <p:spPr>
              <a:xfrm rot="16200000">
                <a:off x="10341994"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B970A300-7CEA-9440-F67E-D16B2FA881B1}"/>
                  </a:ext>
                </a:extLst>
              </p:cNvPr>
              <p:cNvSpPr/>
              <p:nvPr/>
            </p:nvSpPr>
            <p:spPr>
              <a:xfrm rot="16200000">
                <a:off x="8149291" y="159383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E00CB931-681D-D59C-AFC8-6B100C339D20}"/>
                </a:ext>
              </a:extLst>
            </p:cNvPr>
            <p:cNvGrpSpPr/>
            <p:nvPr/>
          </p:nvGrpSpPr>
          <p:grpSpPr>
            <a:xfrm>
              <a:off x="6987208" y="924338"/>
              <a:ext cx="6425711" cy="1918252"/>
              <a:chOff x="5890591" y="1659834"/>
              <a:chExt cx="6425711" cy="1918252"/>
            </a:xfrm>
            <a:grpFill/>
          </p:grpSpPr>
          <p:sp>
            <p:nvSpPr>
              <p:cNvPr id="19" name="Hexagon 18">
                <a:extLst>
                  <a:ext uri="{FF2B5EF4-FFF2-40B4-BE49-F238E27FC236}">
                    <a16:creationId xmlns:a16="http://schemas.microsoft.com/office/drawing/2014/main" id="{D365D8B5-4922-4AAF-8BC9-DE1DFC78B6E2}"/>
                  </a:ext>
                </a:extLst>
              </p:cNvPr>
              <p:cNvSpPr/>
              <p:nvPr/>
            </p:nvSpPr>
            <p:spPr>
              <a:xfrm rot="16200000">
                <a:off x="5956587"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1A95F33E-2400-013F-9554-860F40E08E22}"/>
                  </a:ext>
                </a:extLst>
              </p:cNvPr>
              <p:cNvSpPr/>
              <p:nvPr/>
            </p:nvSpPr>
            <p:spPr>
              <a:xfrm rot="16200000">
                <a:off x="10341994"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exagon 20">
                <a:extLst>
                  <a:ext uri="{FF2B5EF4-FFF2-40B4-BE49-F238E27FC236}">
                    <a16:creationId xmlns:a16="http://schemas.microsoft.com/office/drawing/2014/main" id="{C69BD691-DC0D-BC8D-6025-989417A96039}"/>
                  </a:ext>
                </a:extLst>
              </p:cNvPr>
              <p:cNvSpPr/>
              <p:nvPr/>
            </p:nvSpPr>
            <p:spPr>
              <a:xfrm rot="16200000">
                <a:off x="8149291" y="159383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2B73B306-5429-B64E-98DF-3C57A7192614}"/>
                </a:ext>
              </a:extLst>
            </p:cNvPr>
            <p:cNvGrpSpPr/>
            <p:nvPr/>
          </p:nvGrpSpPr>
          <p:grpSpPr>
            <a:xfrm>
              <a:off x="6042990" y="5560944"/>
              <a:ext cx="6425711" cy="1918252"/>
              <a:chOff x="5890591" y="1659834"/>
              <a:chExt cx="6425711" cy="1918252"/>
            </a:xfrm>
            <a:grpFill/>
          </p:grpSpPr>
          <p:sp>
            <p:nvSpPr>
              <p:cNvPr id="16" name="Hexagon 15">
                <a:extLst>
                  <a:ext uri="{FF2B5EF4-FFF2-40B4-BE49-F238E27FC236}">
                    <a16:creationId xmlns:a16="http://schemas.microsoft.com/office/drawing/2014/main" id="{4A4065D7-7D03-4EE3-52A6-6E645F7E8B3A}"/>
                  </a:ext>
                </a:extLst>
              </p:cNvPr>
              <p:cNvSpPr/>
              <p:nvPr/>
            </p:nvSpPr>
            <p:spPr>
              <a:xfrm rot="16200000">
                <a:off x="5956587"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3CE38E35-1461-50CB-213C-96D61F40B608}"/>
                  </a:ext>
                </a:extLst>
              </p:cNvPr>
              <p:cNvSpPr/>
              <p:nvPr/>
            </p:nvSpPr>
            <p:spPr>
              <a:xfrm rot="16200000">
                <a:off x="10341994"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E26C7C1C-8B41-2301-4BF2-BFECCF77418F}"/>
                  </a:ext>
                </a:extLst>
              </p:cNvPr>
              <p:cNvSpPr/>
              <p:nvPr/>
            </p:nvSpPr>
            <p:spPr>
              <a:xfrm rot="16200000">
                <a:off x="8149291" y="159383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94A0DF4A-1E5C-9A9A-1BF4-DC2D34713E43}"/>
                </a:ext>
              </a:extLst>
            </p:cNvPr>
            <p:cNvGrpSpPr/>
            <p:nvPr/>
          </p:nvGrpSpPr>
          <p:grpSpPr>
            <a:xfrm>
              <a:off x="7063142" y="4005469"/>
              <a:ext cx="6425711" cy="1918252"/>
              <a:chOff x="5890591" y="1659834"/>
              <a:chExt cx="6425711" cy="1918252"/>
            </a:xfrm>
            <a:grpFill/>
          </p:grpSpPr>
          <p:sp>
            <p:nvSpPr>
              <p:cNvPr id="13" name="Hexagon 12">
                <a:extLst>
                  <a:ext uri="{FF2B5EF4-FFF2-40B4-BE49-F238E27FC236}">
                    <a16:creationId xmlns:a16="http://schemas.microsoft.com/office/drawing/2014/main" id="{92BFE4C6-6E1E-8164-35E9-46808F89A12B}"/>
                  </a:ext>
                </a:extLst>
              </p:cNvPr>
              <p:cNvSpPr/>
              <p:nvPr/>
            </p:nvSpPr>
            <p:spPr>
              <a:xfrm rot="16200000">
                <a:off x="5956587"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4B0E6E3B-5660-F2E7-43AD-D1FEE6EA37A2}"/>
                  </a:ext>
                </a:extLst>
              </p:cNvPr>
              <p:cNvSpPr/>
              <p:nvPr/>
            </p:nvSpPr>
            <p:spPr>
              <a:xfrm rot="16200000">
                <a:off x="10341994"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3F0F7845-DDE8-6784-1DA2-2C9CC4603E25}"/>
                  </a:ext>
                </a:extLst>
              </p:cNvPr>
              <p:cNvSpPr/>
              <p:nvPr/>
            </p:nvSpPr>
            <p:spPr>
              <a:xfrm rot="16200000">
                <a:off x="8149291" y="159383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2978E22-38DC-19E9-3A7E-CAC9DF5F7FC1}"/>
                </a:ext>
              </a:extLst>
            </p:cNvPr>
            <p:cNvGrpSpPr/>
            <p:nvPr/>
          </p:nvGrpSpPr>
          <p:grpSpPr>
            <a:xfrm>
              <a:off x="5906889" y="-621198"/>
              <a:ext cx="6425711" cy="1918252"/>
              <a:chOff x="5890591" y="1659834"/>
              <a:chExt cx="6425711" cy="1918252"/>
            </a:xfrm>
            <a:grpFill/>
          </p:grpSpPr>
          <p:sp>
            <p:nvSpPr>
              <p:cNvPr id="10" name="Hexagon 9">
                <a:extLst>
                  <a:ext uri="{FF2B5EF4-FFF2-40B4-BE49-F238E27FC236}">
                    <a16:creationId xmlns:a16="http://schemas.microsoft.com/office/drawing/2014/main" id="{089AE533-FC59-6610-9856-58FC113F0AEF}"/>
                  </a:ext>
                </a:extLst>
              </p:cNvPr>
              <p:cNvSpPr/>
              <p:nvPr/>
            </p:nvSpPr>
            <p:spPr>
              <a:xfrm rot="16200000">
                <a:off x="5956587"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735D7D76-984C-F15F-92E5-4027EC75400C}"/>
                  </a:ext>
                </a:extLst>
              </p:cNvPr>
              <p:cNvSpPr/>
              <p:nvPr/>
            </p:nvSpPr>
            <p:spPr>
              <a:xfrm rot="16200000">
                <a:off x="10341994" y="160377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908FD3E9-BB5A-6F3A-B7FC-E8995278A7CD}"/>
                  </a:ext>
                </a:extLst>
              </p:cNvPr>
              <p:cNvSpPr/>
              <p:nvPr/>
            </p:nvSpPr>
            <p:spPr>
              <a:xfrm rot="16200000">
                <a:off x="8149291" y="1593838"/>
                <a:ext cx="1908312" cy="2040304"/>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1">
            <a:extLst>
              <a:ext uri="{FF2B5EF4-FFF2-40B4-BE49-F238E27FC236}">
                <a16:creationId xmlns:a16="http://schemas.microsoft.com/office/drawing/2014/main" id="{0F31C71D-80D4-AA29-1E29-D05987473D03}"/>
              </a:ext>
            </a:extLst>
          </p:cNvPr>
          <p:cNvSpPr>
            <a:spLocks noChangeArrowheads="1"/>
          </p:cNvSpPr>
          <p:nvPr/>
        </p:nvSpPr>
        <p:spPr bwMode="auto">
          <a:xfrm>
            <a:off x="432609" y="1671613"/>
            <a:ext cx="658128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Our Smart Shopping Cart is equipped with RFID scanning, automatic billing, a digital display, and real-time inventory tracking. It offers a user-friendly design to enhance shopping efficiency, reduce checkout time, and modernize the retail experience.</a:t>
            </a:r>
          </a:p>
        </p:txBody>
      </p:sp>
    </p:spTree>
    <p:extLst>
      <p:ext uri="{BB962C8B-B14F-4D97-AF65-F5344CB8AC3E}">
        <p14:creationId xmlns:p14="http://schemas.microsoft.com/office/powerpoint/2010/main" val="2943811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6B25E05D-5C8A-440F-BDBC-89940B4EA933}"/>
              </a:ext>
            </a:extLst>
          </p:cNvPr>
          <p:cNvSpPr txBox="1"/>
          <p:nvPr/>
        </p:nvSpPr>
        <p:spPr>
          <a:xfrm>
            <a:off x="3806294" y="223016"/>
            <a:ext cx="4579411" cy="646313"/>
          </a:xfrm>
          <a:prstGeom prst="rect">
            <a:avLst/>
          </a:prstGeom>
          <a:noFill/>
        </p:spPr>
        <p:txBody>
          <a:bodyPr wrap="square" lIns="91422" tIns="45711" rIns="91422" bIns="45711" rtlCol="0">
            <a:spAutoFit/>
          </a:bodyPr>
          <a:lstStyle/>
          <a:p>
            <a:pPr algn="ctr"/>
            <a:r>
              <a:rPr lang="en-US" sz="3600" b="1" spc="300" dirty="0">
                <a:solidFill>
                  <a:schemeClr val="accent3"/>
                </a:solidFill>
                <a:latin typeface="Poppins" panose="00000500000000000000" pitchFamily="2" charset="0"/>
                <a:cs typeface="Poppins" panose="00000500000000000000" pitchFamily="2" charset="0"/>
              </a:rPr>
              <a:t>Objective</a:t>
            </a:r>
          </a:p>
        </p:txBody>
      </p:sp>
      <p:sp>
        <p:nvSpPr>
          <p:cNvPr id="12" name="Trapezoid 11"/>
          <p:cNvSpPr/>
          <p:nvPr/>
        </p:nvSpPr>
        <p:spPr>
          <a:xfrm>
            <a:off x="2054884" y="1809047"/>
            <a:ext cx="2454355" cy="1387307"/>
          </a:xfrm>
          <a:prstGeom prst="trapezoid">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13"/>
          <p:cNvSpPr/>
          <p:nvPr/>
        </p:nvSpPr>
        <p:spPr>
          <a:xfrm>
            <a:off x="989074" y="1079737"/>
            <a:ext cx="4520311" cy="1839047"/>
          </a:xfrm>
          <a:custGeom>
            <a:avLst/>
            <a:gdLst>
              <a:gd name="connsiteX0" fmla="*/ 0 w 7939314"/>
              <a:gd name="connsiteY0" fmla="*/ 0 h 1741715"/>
              <a:gd name="connsiteX1" fmla="*/ 7939314 w 7939314"/>
              <a:gd name="connsiteY1" fmla="*/ 0 h 1741715"/>
              <a:gd name="connsiteX2" fmla="*/ 7939314 w 7939314"/>
              <a:gd name="connsiteY2" fmla="*/ 1741715 h 1741715"/>
              <a:gd name="connsiteX3" fmla="*/ 5522684 w 7939314"/>
              <a:gd name="connsiteY3" fmla="*/ 1741715 h 1741715"/>
              <a:gd name="connsiteX4" fmla="*/ 5304970 w 7939314"/>
              <a:gd name="connsiteY4" fmla="*/ 870857 h 1741715"/>
              <a:gd name="connsiteX5" fmla="*/ 2634342 w 7939314"/>
              <a:gd name="connsiteY5" fmla="*/ 870857 h 1741715"/>
              <a:gd name="connsiteX6" fmla="*/ 2416627 w 7939314"/>
              <a:gd name="connsiteY6" fmla="*/ 1741715 h 1741715"/>
              <a:gd name="connsiteX7" fmla="*/ 0 w 7939314"/>
              <a:gd name="connsiteY7" fmla="*/ 1741715 h 1741715"/>
              <a:gd name="connsiteX8" fmla="*/ 0 w 7939314"/>
              <a:gd name="connsiteY8" fmla="*/ 0 h 174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39314" h="1741715">
                <a:moveTo>
                  <a:pt x="0" y="0"/>
                </a:moveTo>
                <a:lnTo>
                  <a:pt x="7939314" y="0"/>
                </a:lnTo>
                <a:lnTo>
                  <a:pt x="7939314" y="1741715"/>
                </a:lnTo>
                <a:lnTo>
                  <a:pt x="5522684" y="1741715"/>
                </a:lnTo>
                <a:lnTo>
                  <a:pt x="5304970" y="870857"/>
                </a:lnTo>
                <a:lnTo>
                  <a:pt x="2634342" y="870857"/>
                </a:lnTo>
                <a:lnTo>
                  <a:pt x="2416627" y="1741715"/>
                </a:lnTo>
                <a:lnTo>
                  <a:pt x="0" y="1741715"/>
                </a:lnTo>
                <a:lnTo>
                  <a:pt x="0" y="0"/>
                </a:ln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6540677" y="1099454"/>
            <a:ext cx="4687870" cy="2179624"/>
            <a:chOff x="2218257" y="1572729"/>
            <a:chExt cx="7939314" cy="2346129"/>
          </a:xfrm>
        </p:grpSpPr>
        <p:sp>
          <p:nvSpPr>
            <p:cNvPr id="25" name="Trapezoid 24"/>
            <p:cNvSpPr/>
            <p:nvPr/>
          </p:nvSpPr>
          <p:spPr>
            <a:xfrm>
              <a:off x="3971562" y="2460171"/>
              <a:ext cx="4310742" cy="1458687"/>
            </a:xfrm>
            <a:prstGeom prst="trapezoid">
              <a:avLst/>
            </a:prstGeom>
            <a:solidFill>
              <a:schemeClr val="accent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2218257" y="1572729"/>
              <a:ext cx="7939314" cy="1901372"/>
            </a:xfrm>
            <a:custGeom>
              <a:avLst/>
              <a:gdLst>
                <a:gd name="connsiteX0" fmla="*/ 0 w 7939314"/>
                <a:gd name="connsiteY0" fmla="*/ 0 h 1741715"/>
                <a:gd name="connsiteX1" fmla="*/ 7939314 w 7939314"/>
                <a:gd name="connsiteY1" fmla="*/ 0 h 1741715"/>
                <a:gd name="connsiteX2" fmla="*/ 7939314 w 7939314"/>
                <a:gd name="connsiteY2" fmla="*/ 1741715 h 1741715"/>
                <a:gd name="connsiteX3" fmla="*/ 5522684 w 7939314"/>
                <a:gd name="connsiteY3" fmla="*/ 1741715 h 1741715"/>
                <a:gd name="connsiteX4" fmla="*/ 5304970 w 7939314"/>
                <a:gd name="connsiteY4" fmla="*/ 870857 h 1741715"/>
                <a:gd name="connsiteX5" fmla="*/ 2634342 w 7939314"/>
                <a:gd name="connsiteY5" fmla="*/ 870857 h 1741715"/>
                <a:gd name="connsiteX6" fmla="*/ 2416627 w 7939314"/>
                <a:gd name="connsiteY6" fmla="*/ 1741715 h 1741715"/>
                <a:gd name="connsiteX7" fmla="*/ 0 w 7939314"/>
                <a:gd name="connsiteY7" fmla="*/ 1741715 h 1741715"/>
                <a:gd name="connsiteX8" fmla="*/ 0 w 7939314"/>
                <a:gd name="connsiteY8" fmla="*/ 0 h 174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39314" h="1741715">
                  <a:moveTo>
                    <a:pt x="0" y="0"/>
                  </a:moveTo>
                  <a:lnTo>
                    <a:pt x="7939314" y="0"/>
                  </a:lnTo>
                  <a:lnTo>
                    <a:pt x="7939314" y="1741715"/>
                  </a:lnTo>
                  <a:lnTo>
                    <a:pt x="5522684" y="1741715"/>
                  </a:lnTo>
                  <a:lnTo>
                    <a:pt x="5304970" y="870857"/>
                  </a:lnTo>
                  <a:lnTo>
                    <a:pt x="2634342" y="870857"/>
                  </a:lnTo>
                  <a:lnTo>
                    <a:pt x="2416627" y="1741715"/>
                  </a:lnTo>
                  <a:lnTo>
                    <a:pt x="0" y="1741715"/>
                  </a:lnTo>
                  <a:lnTo>
                    <a:pt x="0" y="0"/>
                  </a:ln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a:p>
              <a:pPr algn="ctr"/>
              <a:endParaRPr lang="en-US" dirty="0"/>
            </a:p>
          </p:txBody>
        </p:sp>
      </p:grpSp>
      <p:sp>
        <p:nvSpPr>
          <p:cNvPr id="34" name="Rectangle 33">
            <a:extLst>
              <a:ext uri="{FF2B5EF4-FFF2-40B4-BE49-F238E27FC236}">
                <a16:creationId xmlns:a16="http://schemas.microsoft.com/office/drawing/2014/main" id="{DECB1A80-71F5-4FF2-A33E-5D89CD8D6C10}"/>
              </a:ext>
            </a:extLst>
          </p:cNvPr>
          <p:cNvSpPr/>
          <p:nvPr/>
        </p:nvSpPr>
        <p:spPr>
          <a:xfrm>
            <a:off x="7213196" y="1789113"/>
            <a:ext cx="3405725" cy="264991"/>
          </a:xfrm>
          <a:prstGeom prst="rect">
            <a:avLst/>
          </a:prstGeom>
        </p:spPr>
        <p:txBody>
          <a:bodyPr wrap="square">
            <a:spAutoFit/>
          </a:bodyPr>
          <a:lstStyle/>
          <a:p>
            <a:pPr algn="ctr">
              <a:lnSpc>
                <a:spcPct val="150000"/>
              </a:lnSpc>
            </a:pPr>
            <a:endParaRPr lang="en-US" sz="1100" dirty="0">
              <a:solidFill>
                <a:schemeClr val="tx1">
                  <a:lumMod val="95000"/>
                  <a:lumOff val="5000"/>
                </a:schemeClr>
              </a:solidFill>
              <a:latin typeface="DauphinPlain"/>
            </a:endParaRPr>
          </a:p>
        </p:txBody>
      </p:sp>
      <p:sp>
        <p:nvSpPr>
          <p:cNvPr id="38" name="Rectangle 37">
            <a:extLst>
              <a:ext uri="{FF2B5EF4-FFF2-40B4-BE49-F238E27FC236}">
                <a16:creationId xmlns:a16="http://schemas.microsoft.com/office/drawing/2014/main" id="{DECB1A80-71F5-4FF2-A33E-5D89CD8D6C10}"/>
              </a:ext>
            </a:extLst>
          </p:cNvPr>
          <p:cNvSpPr/>
          <p:nvPr/>
        </p:nvSpPr>
        <p:spPr>
          <a:xfrm>
            <a:off x="1374154" y="1228962"/>
            <a:ext cx="3750149" cy="646331"/>
          </a:xfrm>
          <a:prstGeom prst="rect">
            <a:avLst/>
          </a:prstGeom>
        </p:spPr>
        <p:txBody>
          <a:bodyPr wrap="square">
            <a:spAutoFit/>
          </a:bodyPr>
          <a:lstStyle/>
          <a:p>
            <a:pPr lvl="0" algn="ctr"/>
            <a:r>
              <a:rPr lang="en-US" dirty="0"/>
              <a:t>To improve shopping by adding smart technology to the cart.</a:t>
            </a:r>
          </a:p>
        </p:txBody>
      </p:sp>
      <p:grpSp>
        <p:nvGrpSpPr>
          <p:cNvPr id="18" name="Group 17"/>
          <p:cNvGrpSpPr/>
          <p:nvPr/>
        </p:nvGrpSpPr>
        <p:grpSpPr>
          <a:xfrm>
            <a:off x="1021906" y="4021282"/>
            <a:ext cx="4496276" cy="2226404"/>
            <a:chOff x="2126343" y="1509486"/>
            <a:chExt cx="7939314" cy="2409371"/>
          </a:xfrm>
        </p:grpSpPr>
        <p:sp>
          <p:nvSpPr>
            <p:cNvPr id="19" name="Trapezoid 18"/>
            <p:cNvSpPr/>
            <p:nvPr/>
          </p:nvSpPr>
          <p:spPr>
            <a:xfrm>
              <a:off x="3940628" y="2460171"/>
              <a:ext cx="4310743" cy="1458686"/>
            </a:xfrm>
            <a:prstGeom prst="trapezoid">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19"/>
            <p:cNvSpPr/>
            <p:nvPr/>
          </p:nvSpPr>
          <p:spPr>
            <a:xfrm>
              <a:off x="2126343" y="1509486"/>
              <a:ext cx="7939314" cy="1901371"/>
            </a:xfrm>
            <a:custGeom>
              <a:avLst/>
              <a:gdLst>
                <a:gd name="connsiteX0" fmla="*/ 0 w 7939314"/>
                <a:gd name="connsiteY0" fmla="*/ 0 h 1741715"/>
                <a:gd name="connsiteX1" fmla="*/ 7939314 w 7939314"/>
                <a:gd name="connsiteY1" fmla="*/ 0 h 1741715"/>
                <a:gd name="connsiteX2" fmla="*/ 7939314 w 7939314"/>
                <a:gd name="connsiteY2" fmla="*/ 1741715 h 1741715"/>
                <a:gd name="connsiteX3" fmla="*/ 5522684 w 7939314"/>
                <a:gd name="connsiteY3" fmla="*/ 1741715 h 1741715"/>
                <a:gd name="connsiteX4" fmla="*/ 5304970 w 7939314"/>
                <a:gd name="connsiteY4" fmla="*/ 870857 h 1741715"/>
                <a:gd name="connsiteX5" fmla="*/ 2634342 w 7939314"/>
                <a:gd name="connsiteY5" fmla="*/ 870857 h 1741715"/>
                <a:gd name="connsiteX6" fmla="*/ 2416627 w 7939314"/>
                <a:gd name="connsiteY6" fmla="*/ 1741715 h 1741715"/>
                <a:gd name="connsiteX7" fmla="*/ 0 w 7939314"/>
                <a:gd name="connsiteY7" fmla="*/ 1741715 h 1741715"/>
                <a:gd name="connsiteX8" fmla="*/ 0 w 7939314"/>
                <a:gd name="connsiteY8" fmla="*/ 0 h 174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39314" h="1741715">
                  <a:moveTo>
                    <a:pt x="0" y="0"/>
                  </a:moveTo>
                  <a:lnTo>
                    <a:pt x="7939314" y="0"/>
                  </a:lnTo>
                  <a:lnTo>
                    <a:pt x="7939314" y="1741715"/>
                  </a:lnTo>
                  <a:lnTo>
                    <a:pt x="5522684" y="1741715"/>
                  </a:lnTo>
                  <a:lnTo>
                    <a:pt x="5304970" y="870857"/>
                  </a:lnTo>
                  <a:lnTo>
                    <a:pt x="2634342" y="870857"/>
                  </a:lnTo>
                  <a:lnTo>
                    <a:pt x="2416627" y="1741715"/>
                  </a:lnTo>
                  <a:lnTo>
                    <a:pt x="0" y="1741715"/>
                  </a:lnTo>
                  <a:lnTo>
                    <a:pt x="0" y="0"/>
                  </a:ln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DECB1A80-71F5-4FF2-A33E-5D89CD8D6C10}"/>
              </a:ext>
            </a:extLst>
          </p:cNvPr>
          <p:cNvSpPr/>
          <p:nvPr/>
        </p:nvSpPr>
        <p:spPr>
          <a:xfrm>
            <a:off x="1021906" y="4126607"/>
            <a:ext cx="4520310" cy="646331"/>
          </a:xfrm>
          <a:prstGeom prst="rect">
            <a:avLst/>
          </a:prstGeom>
        </p:spPr>
        <p:txBody>
          <a:bodyPr wrap="square">
            <a:spAutoFit/>
          </a:bodyPr>
          <a:lstStyle/>
          <a:p>
            <a:pPr lvl="0" algn="ctr"/>
            <a:r>
              <a:rPr lang="en-US" dirty="0"/>
              <a:t>To remove the need for manual scanning or standing in checkout lines.</a:t>
            </a:r>
          </a:p>
        </p:txBody>
      </p:sp>
      <p:grpSp>
        <p:nvGrpSpPr>
          <p:cNvPr id="57" name="Group 598"/>
          <p:cNvGrpSpPr>
            <a:grpSpLocks noChangeAspect="1"/>
          </p:cNvGrpSpPr>
          <p:nvPr/>
        </p:nvGrpSpPr>
        <p:grpSpPr bwMode="auto">
          <a:xfrm>
            <a:off x="8475566" y="2271178"/>
            <a:ext cx="797544" cy="732787"/>
            <a:chOff x="259" y="3983"/>
            <a:chExt cx="326" cy="293"/>
          </a:xfrm>
          <a:solidFill>
            <a:schemeClr val="bg1"/>
          </a:solidFill>
          <a:effectLst>
            <a:outerShdw blurRad="50800" dist="38100" dir="5400000" algn="t" rotWithShape="0">
              <a:prstClr val="black">
                <a:alpha val="40000"/>
              </a:prstClr>
            </a:outerShdw>
          </a:effectLst>
        </p:grpSpPr>
        <p:sp>
          <p:nvSpPr>
            <p:cNvPr id="58" name="Freeform 600"/>
            <p:cNvSpPr>
              <a:spLocks/>
            </p:cNvSpPr>
            <p:nvPr/>
          </p:nvSpPr>
          <p:spPr bwMode="auto">
            <a:xfrm>
              <a:off x="380" y="4038"/>
              <a:ext cx="205" cy="108"/>
            </a:xfrm>
            <a:custGeom>
              <a:avLst/>
              <a:gdLst>
                <a:gd name="T0" fmla="*/ 91 w 2256"/>
                <a:gd name="T1" fmla="*/ 0 h 1074"/>
                <a:gd name="T2" fmla="*/ 2182 w 2256"/>
                <a:gd name="T3" fmla="*/ 0 h 1074"/>
                <a:gd name="T4" fmla="*/ 2204 w 2256"/>
                <a:gd name="T5" fmla="*/ 2 h 1074"/>
                <a:gd name="T6" fmla="*/ 2223 w 2256"/>
                <a:gd name="T7" fmla="*/ 8 h 1074"/>
                <a:gd name="T8" fmla="*/ 2237 w 2256"/>
                <a:gd name="T9" fmla="*/ 19 h 1074"/>
                <a:gd name="T10" fmla="*/ 2248 w 2256"/>
                <a:gd name="T11" fmla="*/ 32 h 1074"/>
                <a:gd name="T12" fmla="*/ 2255 w 2256"/>
                <a:gd name="T13" fmla="*/ 48 h 1074"/>
                <a:gd name="T14" fmla="*/ 2256 w 2256"/>
                <a:gd name="T15" fmla="*/ 66 h 1074"/>
                <a:gd name="T16" fmla="*/ 2252 w 2256"/>
                <a:gd name="T17" fmla="*/ 86 h 1074"/>
                <a:gd name="T18" fmla="*/ 1963 w 2256"/>
                <a:gd name="T19" fmla="*/ 988 h 1074"/>
                <a:gd name="T20" fmla="*/ 1952 w 2256"/>
                <a:gd name="T21" fmla="*/ 1011 h 1074"/>
                <a:gd name="T22" fmla="*/ 1935 w 2256"/>
                <a:gd name="T23" fmla="*/ 1032 h 1074"/>
                <a:gd name="T24" fmla="*/ 1914 w 2256"/>
                <a:gd name="T25" fmla="*/ 1049 h 1074"/>
                <a:gd name="T26" fmla="*/ 1889 w 2256"/>
                <a:gd name="T27" fmla="*/ 1063 h 1074"/>
                <a:gd name="T28" fmla="*/ 1862 w 2256"/>
                <a:gd name="T29" fmla="*/ 1071 h 1074"/>
                <a:gd name="T30" fmla="*/ 1835 w 2256"/>
                <a:gd name="T31" fmla="*/ 1074 h 1074"/>
                <a:gd name="T32" fmla="*/ 464 w 2256"/>
                <a:gd name="T33" fmla="*/ 1074 h 1074"/>
                <a:gd name="T34" fmla="*/ 437 w 2256"/>
                <a:gd name="T35" fmla="*/ 1071 h 1074"/>
                <a:gd name="T36" fmla="*/ 410 w 2256"/>
                <a:gd name="T37" fmla="*/ 1063 h 1074"/>
                <a:gd name="T38" fmla="*/ 386 w 2256"/>
                <a:gd name="T39" fmla="*/ 1049 h 1074"/>
                <a:gd name="T40" fmla="*/ 364 w 2256"/>
                <a:gd name="T41" fmla="*/ 1032 h 1074"/>
                <a:gd name="T42" fmla="*/ 347 w 2256"/>
                <a:gd name="T43" fmla="*/ 1011 h 1074"/>
                <a:gd name="T44" fmla="*/ 335 w 2256"/>
                <a:gd name="T45" fmla="*/ 988 h 1074"/>
                <a:gd name="T46" fmla="*/ 5 w 2256"/>
                <a:gd name="T47" fmla="*/ 107 h 1074"/>
                <a:gd name="T48" fmla="*/ 0 w 2256"/>
                <a:gd name="T49" fmla="*/ 85 h 1074"/>
                <a:gd name="T50" fmla="*/ 0 w 2256"/>
                <a:gd name="T51" fmla="*/ 65 h 1074"/>
                <a:gd name="T52" fmla="*/ 5 w 2256"/>
                <a:gd name="T53" fmla="*/ 47 h 1074"/>
                <a:gd name="T54" fmla="*/ 15 w 2256"/>
                <a:gd name="T55" fmla="*/ 31 h 1074"/>
                <a:gd name="T56" fmla="*/ 28 w 2256"/>
                <a:gd name="T57" fmla="*/ 18 h 1074"/>
                <a:gd name="T58" fmla="*/ 46 w 2256"/>
                <a:gd name="T59" fmla="*/ 8 h 1074"/>
                <a:gd name="T60" fmla="*/ 67 w 2256"/>
                <a:gd name="T61" fmla="*/ 2 h 1074"/>
                <a:gd name="T62" fmla="*/ 91 w 2256"/>
                <a:gd name="T63" fmla="*/ 0 h 1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56" h="1074">
                  <a:moveTo>
                    <a:pt x="91" y="0"/>
                  </a:moveTo>
                  <a:lnTo>
                    <a:pt x="2182" y="0"/>
                  </a:lnTo>
                  <a:lnTo>
                    <a:pt x="2204" y="2"/>
                  </a:lnTo>
                  <a:lnTo>
                    <a:pt x="2223" y="8"/>
                  </a:lnTo>
                  <a:lnTo>
                    <a:pt x="2237" y="19"/>
                  </a:lnTo>
                  <a:lnTo>
                    <a:pt x="2248" y="32"/>
                  </a:lnTo>
                  <a:lnTo>
                    <a:pt x="2255" y="48"/>
                  </a:lnTo>
                  <a:lnTo>
                    <a:pt x="2256" y="66"/>
                  </a:lnTo>
                  <a:lnTo>
                    <a:pt x="2252" y="86"/>
                  </a:lnTo>
                  <a:lnTo>
                    <a:pt x="1963" y="988"/>
                  </a:lnTo>
                  <a:lnTo>
                    <a:pt x="1952" y="1011"/>
                  </a:lnTo>
                  <a:lnTo>
                    <a:pt x="1935" y="1032"/>
                  </a:lnTo>
                  <a:lnTo>
                    <a:pt x="1914" y="1049"/>
                  </a:lnTo>
                  <a:lnTo>
                    <a:pt x="1889" y="1063"/>
                  </a:lnTo>
                  <a:lnTo>
                    <a:pt x="1862" y="1071"/>
                  </a:lnTo>
                  <a:lnTo>
                    <a:pt x="1835" y="1074"/>
                  </a:lnTo>
                  <a:lnTo>
                    <a:pt x="464" y="1074"/>
                  </a:lnTo>
                  <a:lnTo>
                    <a:pt x="437" y="1071"/>
                  </a:lnTo>
                  <a:lnTo>
                    <a:pt x="410" y="1063"/>
                  </a:lnTo>
                  <a:lnTo>
                    <a:pt x="386" y="1049"/>
                  </a:lnTo>
                  <a:lnTo>
                    <a:pt x="364" y="1032"/>
                  </a:lnTo>
                  <a:lnTo>
                    <a:pt x="347" y="1011"/>
                  </a:lnTo>
                  <a:lnTo>
                    <a:pt x="335" y="988"/>
                  </a:lnTo>
                  <a:lnTo>
                    <a:pt x="5" y="107"/>
                  </a:lnTo>
                  <a:lnTo>
                    <a:pt x="0" y="85"/>
                  </a:lnTo>
                  <a:lnTo>
                    <a:pt x="0" y="65"/>
                  </a:lnTo>
                  <a:lnTo>
                    <a:pt x="5" y="47"/>
                  </a:lnTo>
                  <a:lnTo>
                    <a:pt x="15" y="31"/>
                  </a:lnTo>
                  <a:lnTo>
                    <a:pt x="28" y="18"/>
                  </a:lnTo>
                  <a:lnTo>
                    <a:pt x="46" y="8"/>
                  </a:lnTo>
                  <a:lnTo>
                    <a:pt x="67" y="2"/>
                  </a:lnTo>
                  <a:lnTo>
                    <a:pt x="9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601"/>
            <p:cNvSpPr>
              <a:spLocks/>
            </p:cNvSpPr>
            <p:nvPr/>
          </p:nvSpPr>
          <p:spPr bwMode="auto">
            <a:xfrm>
              <a:off x="377" y="4219"/>
              <a:ext cx="57" cy="57"/>
            </a:xfrm>
            <a:custGeom>
              <a:avLst/>
              <a:gdLst>
                <a:gd name="T0" fmla="*/ 312 w 625"/>
                <a:gd name="T1" fmla="*/ 0 h 568"/>
                <a:gd name="T2" fmla="*/ 359 w 625"/>
                <a:gd name="T3" fmla="*/ 3 h 568"/>
                <a:gd name="T4" fmla="*/ 403 w 625"/>
                <a:gd name="T5" fmla="*/ 12 h 568"/>
                <a:gd name="T6" fmla="*/ 444 w 625"/>
                <a:gd name="T7" fmla="*/ 26 h 568"/>
                <a:gd name="T8" fmla="*/ 483 w 625"/>
                <a:gd name="T9" fmla="*/ 45 h 568"/>
                <a:gd name="T10" fmla="*/ 517 w 625"/>
                <a:gd name="T11" fmla="*/ 69 h 568"/>
                <a:gd name="T12" fmla="*/ 549 w 625"/>
                <a:gd name="T13" fmla="*/ 97 h 568"/>
                <a:gd name="T14" fmla="*/ 575 w 625"/>
                <a:gd name="T15" fmla="*/ 129 h 568"/>
                <a:gd name="T16" fmla="*/ 596 w 625"/>
                <a:gd name="T17" fmla="*/ 164 h 568"/>
                <a:gd name="T18" fmla="*/ 612 w 625"/>
                <a:gd name="T19" fmla="*/ 202 h 568"/>
                <a:gd name="T20" fmla="*/ 621 w 625"/>
                <a:gd name="T21" fmla="*/ 242 h 568"/>
                <a:gd name="T22" fmla="*/ 625 w 625"/>
                <a:gd name="T23" fmla="*/ 284 h 568"/>
                <a:gd name="T24" fmla="*/ 621 w 625"/>
                <a:gd name="T25" fmla="*/ 326 h 568"/>
                <a:gd name="T26" fmla="*/ 612 w 625"/>
                <a:gd name="T27" fmla="*/ 366 h 568"/>
                <a:gd name="T28" fmla="*/ 596 w 625"/>
                <a:gd name="T29" fmla="*/ 404 h 568"/>
                <a:gd name="T30" fmla="*/ 575 w 625"/>
                <a:gd name="T31" fmla="*/ 439 h 568"/>
                <a:gd name="T32" fmla="*/ 549 w 625"/>
                <a:gd name="T33" fmla="*/ 470 h 568"/>
                <a:gd name="T34" fmla="*/ 517 w 625"/>
                <a:gd name="T35" fmla="*/ 498 h 568"/>
                <a:gd name="T36" fmla="*/ 483 w 625"/>
                <a:gd name="T37" fmla="*/ 522 h 568"/>
                <a:gd name="T38" fmla="*/ 444 w 625"/>
                <a:gd name="T39" fmla="*/ 542 h 568"/>
                <a:gd name="T40" fmla="*/ 403 w 625"/>
                <a:gd name="T41" fmla="*/ 556 h 568"/>
                <a:gd name="T42" fmla="*/ 359 w 625"/>
                <a:gd name="T43" fmla="*/ 565 h 568"/>
                <a:gd name="T44" fmla="*/ 312 w 625"/>
                <a:gd name="T45" fmla="*/ 568 h 568"/>
                <a:gd name="T46" fmla="*/ 266 w 625"/>
                <a:gd name="T47" fmla="*/ 565 h 568"/>
                <a:gd name="T48" fmla="*/ 222 w 625"/>
                <a:gd name="T49" fmla="*/ 556 h 568"/>
                <a:gd name="T50" fmla="*/ 180 w 625"/>
                <a:gd name="T51" fmla="*/ 542 h 568"/>
                <a:gd name="T52" fmla="*/ 142 w 625"/>
                <a:gd name="T53" fmla="*/ 522 h 568"/>
                <a:gd name="T54" fmla="*/ 108 w 625"/>
                <a:gd name="T55" fmla="*/ 498 h 568"/>
                <a:gd name="T56" fmla="*/ 77 w 625"/>
                <a:gd name="T57" fmla="*/ 470 h 568"/>
                <a:gd name="T58" fmla="*/ 51 w 625"/>
                <a:gd name="T59" fmla="*/ 439 h 568"/>
                <a:gd name="T60" fmla="*/ 29 w 625"/>
                <a:gd name="T61" fmla="*/ 404 h 568"/>
                <a:gd name="T62" fmla="*/ 13 w 625"/>
                <a:gd name="T63" fmla="*/ 366 h 568"/>
                <a:gd name="T64" fmla="*/ 3 w 625"/>
                <a:gd name="T65" fmla="*/ 326 h 568"/>
                <a:gd name="T66" fmla="*/ 0 w 625"/>
                <a:gd name="T67" fmla="*/ 284 h 568"/>
                <a:gd name="T68" fmla="*/ 3 w 625"/>
                <a:gd name="T69" fmla="*/ 242 h 568"/>
                <a:gd name="T70" fmla="*/ 13 w 625"/>
                <a:gd name="T71" fmla="*/ 202 h 568"/>
                <a:gd name="T72" fmla="*/ 29 w 625"/>
                <a:gd name="T73" fmla="*/ 164 h 568"/>
                <a:gd name="T74" fmla="*/ 51 w 625"/>
                <a:gd name="T75" fmla="*/ 129 h 568"/>
                <a:gd name="T76" fmla="*/ 77 w 625"/>
                <a:gd name="T77" fmla="*/ 97 h 568"/>
                <a:gd name="T78" fmla="*/ 108 w 625"/>
                <a:gd name="T79" fmla="*/ 69 h 568"/>
                <a:gd name="T80" fmla="*/ 142 w 625"/>
                <a:gd name="T81" fmla="*/ 45 h 568"/>
                <a:gd name="T82" fmla="*/ 180 w 625"/>
                <a:gd name="T83" fmla="*/ 26 h 568"/>
                <a:gd name="T84" fmla="*/ 222 w 625"/>
                <a:gd name="T85" fmla="*/ 12 h 568"/>
                <a:gd name="T86" fmla="*/ 266 w 625"/>
                <a:gd name="T87" fmla="*/ 3 h 568"/>
                <a:gd name="T88" fmla="*/ 312 w 625"/>
                <a:gd name="T89" fmla="*/ 0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5" h="568">
                  <a:moveTo>
                    <a:pt x="312" y="0"/>
                  </a:moveTo>
                  <a:lnTo>
                    <a:pt x="359" y="3"/>
                  </a:lnTo>
                  <a:lnTo>
                    <a:pt x="403" y="12"/>
                  </a:lnTo>
                  <a:lnTo>
                    <a:pt x="444" y="26"/>
                  </a:lnTo>
                  <a:lnTo>
                    <a:pt x="483" y="45"/>
                  </a:lnTo>
                  <a:lnTo>
                    <a:pt x="517" y="69"/>
                  </a:lnTo>
                  <a:lnTo>
                    <a:pt x="549" y="97"/>
                  </a:lnTo>
                  <a:lnTo>
                    <a:pt x="575" y="129"/>
                  </a:lnTo>
                  <a:lnTo>
                    <a:pt x="596" y="164"/>
                  </a:lnTo>
                  <a:lnTo>
                    <a:pt x="612" y="202"/>
                  </a:lnTo>
                  <a:lnTo>
                    <a:pt x="621" y="242"/>
                  </a:lnTo>
                  <a:lnTo>
                    <a:pt x="625" y="284"/>
                  </a:lnTo>
                  <a:lnTo>
                    <a:pt x="621" y="326"/>
                  </a:lnTo>
                  <a:lnTo>
                    <a:pt x="612" y="366"/>
                  </a:lnTo>
                  <a:lnTo>
                    <a:pt x="596" y="404"/>
                  </a:lnTo>
                  <a:lnTo>
                    <a:pt x="575" y="439"/>
                  </a:lnTo>
                  <a:lnTo>
                    <a:pt x="549" y="470"/>
                  </a:lnTo>
                  <a:lnTo>
                    <a:pt x="517" y="498"/>
                  </a:lnTo>
                  <a:lnTo>
                    <a:pt x="483" y="522"/>
                  </a:lnTo>
                  <a:lnTo>
                    <a:pt x="444" y="542"/>
                  </a:lnTo>
                  <a:lnTo>
                    <a:pt x="403" y="556"/>
                  </a:lnTo>
                  <a:lnTo>
                    <a:pt x="359" y="565"/>
                  </a:lnTo>
                  <a:lnTo>
                    <a:pt x="312" y="568"/>
                  </a:lnTo>
                  <a:lnTo>
                    <a:pt x="266" y="565"/>
                  </a:lnTo>
                  <a:lnTo>
                    <a:pt x="222" y="556"/>
                  </a:lnTo>
                  <a:lnTo>
                    <a:pt x="180" y="542"/>
                  </a:lnTo>
                  <a:lnTo>
                    <a:pt x="142" y="522"/>
                  </a:lnTo>
                  <a:lnTo>
                    <a:pt x="108" y="498"/>
                  </a:lnTo>
                  <a:lnTo>
                    <a:pt x="77" y="470"/>
                  </a:lnTo>
                  <a:lnTo>
                    <a:pt x="51" y="439"/>
                  </a:lnTo>
                  <a:lnTo>
                    <a:pt x="29" y="404"/>
                  </a:lnTo>
                  <a:lnTo>
                    <a:pt x="13" y="366"/>
                  </a:lnTo>
                  <a:lnTo>
                    <a:pt x="3" y="326"/>
                  </a:lnTo>
                  <a:lnTo>
                    <a:pt x="0" y="284"/>
                  </a:lnTo>
                  <a:lnTo>
                    <a:pt x="3" y="242"/>
                  </a:lnTo>
                  <a:lnTo>
                    <a:pt x="13" y="202"/>
                  </a:lnTo>
                  <a:lnTo>
                    <a:pt x="29" y="164"/>
                  </a:lnTo>
                  <a:lnTo>
                    <a:pt x="51" y="129"/>
                  </a:lnTo>
                  <a:lnTo>
                    <a:pt x="77" y="97"/>
                  </a:lnTo>
                  <a:lnTo>
                    <a:pt x="108" y="69"/>
                  </a:lnTo>
                  <a:lnTo>
                    <a:pt x="142" y="45"/>
                  </a:lnTo>
                  <a:lnTo>
                    <a:pt x="180" y="26"/>
                  </a:lnTo>
                  <a:lnTo>
                    <a:pt x="222" y="12"/>
                  </a:lnTo>
                  <a:lnTo>
                    <a:pt x="266" y="3"/>
                  </a:lnTo>
                  <a:lnTo>
                    <a:pt x="3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602"/>
            <p:cNvSpPr>
              <a:spLocks/>
            </p:cNvSpPr>
            <p:nvPr/>
          </p:nvSpPr>
          <p:spPr bwMode="auto">
            <a:xfrm>
              <a:off x="497" y="4219"/>
              <a:ext cx="57" cy="57"/>
            </a:xfrm>
            <a:custGeom>
              <a:avLst/>
              <a:gdLst>
                <a:gd name="T0" fmla="*/ 313 w 625"/>
                <a:gd name="T1" fmla="*/ 0 h 569"/>
                <a:gd name="T2" fmla="*/ 359 w 625"/>
                <a:gd name="T3" fmla="*/ 3 h 569"/>
                <a:gd name="T4" fmla="*/ 403 w 625"/>
                <a:gd name="T5" fmla="*/ 12 h 569"/>
                <a:gd name="T6" fmla="*/ 445 w 625"/>
                <a:gd name="T7" fmla="*/ 27 h 569"/>
                <a:gd name="T8" fmla="*/ 483 w 625"/>
                <a:gd name="T9" fmla="*/ 46 h 569"/>
                <a:gd name="T10" fmla="*/ 518 w 625"/>
                <a:gd name="T11" fmla="*/ 70 h 569"/>
                <a:gd name="T12" fmla="*/ 549 w 625"/>
                <a:gd name="T13" fmla="*/ 98 h 569"/>
                <a:gd name="T14" fmla="*/ 576 w 625"/>
                <a:gd name="T15" fmla="*/ 130 h 569"/>
                <a:gd name="T16" fmla="*/ 596 w 625"/>
                <a:gd name="T17" fmla="*/ 165 h 569"/>
                <a:gd name="T18" fmla="*/ 612 w 625"/>
                <a:gd name="T19" fmla="*/ 202 h 569"/>
                <a:gd name="T20" fmla="*/ 622 w 625"/>
                <a:gd name="T21" fmla="*/ 242 h 569"/>
                <a:gd name="T22" fmla="*/ 625 w 625"/>
                <a:gd name="T23" fmla="*/ 284 h 569"/>
                <a:gd name="T24" fmla="*/ 622 w 625"/>
                <a:gd name="T25" fmla="*/ 326 h 569"/>
                <a:gd name="T26" fmla="*/ 612 w 625"/>
                <a:gd name="T27" fmla="*/ 367 h 569"/>
                <a:gd name="T28" fmla="*/ 596 w 625"/>
                <a:gd name="T29" fmla="*/ 404 h 569"/>
                <a:gd name="T30" fmla="*/ 576 w 625"/>
                <a:gd name="T31" fmla="*/ 439 h 569"/>
                <a:gd name="T32" fmla="*/ 549 w 625"/>
                <a:gd name="T33" fmla="*/ 471 h 569"/>
                <a:gd name="T34" fmla="*/ 518 w 625"/>
                <a:gd name="T35" fmla="*/ 499 h 569"/>
                <a:gd name="T36" fmla="*/ 483 w 625"/>
                <a:gd name="T37" fmla="*/ 523 h 569"/>
                <a:gd name="T38" fmla="*/ 445 w 625"/>
                <a:gd name="T39" fmla="*/ 542 h 569"/>
                <a:gd name="T40" fmla="*/ 403 w 625"/>
                <a:gd name="T41" fmla="*/ 557 h 569"/>
                <a:gd name="T42" fmla="*/ 359 w 625"/>
                <a:gd name="T43" fmla="*/ 566 h 569"/>
                <a:gd name="T44" fmla="*/ 313 w 625"/>
                <a:gd name="T45" fmla="*/ 569 h 569"/>
                <a:gd name="T46" fmla="*/ 266 w 625"/>
                <a:gd name="T47" fmla="*/ 566 h 569"/>
                <a:gd name="T48" fmla="*/ 222 w 625"/>
                <a:gd name="T49" fmla="*/ 557 h 569"/>
                <a:gd name="T50" fmla="*/ 181 w 625"/>
                <a:gd name="T51" fmla="*/ 542 h 569"/>
                <a:gd name="T52" fmla="*/ 142 w 625"/>
                <a:gd name="T53" fmla="*/ 523 h 569"/>
                <a:gd name="T54" fmla="*/ 108 w 625"/>
                <a:gd name="T55" fmla="*/ 499 h 569"/>
                <a:gd name="T56" fmla="*/ 77 w 625"/>
                <a:gd name="T57" fmla="*/ 471 h 569"/>
                <a:gd name="T58" fmla="*/ 51 w 625"/>
                <a:gd name="T59" fmla="*/ 439 h 569"/>
                <a:gd name="T60" fmla="*/ 29 w 625"/>
                <a:gd name="T61" fmla="*/ 404 h 569"/>
                <a:gd name="T62" fmla="*/ 13 w 625"/>
                <a:gd name="T63" fmla="*/ 367 h 569"/>
                <a:gd name="T64" fmla="*/ 4 w 625"/>
                <a:gd name="T65" fmla="*/ 326 h 569"/>
                <a:gd name="T66" fmla="*/ 0 w 625"/>
                <a:gd name="T67" fmla="*/ 284 h 569"/>
                <a:gd name="T68" fmla="*/ 4 w 625"/>
                <a:gd name="T69" fmla="*/ 242 h 569"/>
                <a:gd name="T70" fmla="*/ 13 w 625"/>
                <a:gd name="T71" fmla="*/ 202 h 569"/>
                <a:gd name="T72" fmla="*/ 29 w 625"/>
                <a:gd name="T73" fmla="*/ 165 h 569"/>
                <a:gd name="T74" fmla="*/ 51 w 625"/>
                <a:gd name="T75" fmla="*/ 130 h 569"/>
                <a:gd name="T76" fmla="*/ 77 w 625"/>
                <a:gd name="T77" fmla="*/ 98 h 569"/>
                <a:gd name="T78" fmla="*/ 108 w 625"/>
                <a:gd name="T79" fmla="*/ 70 h 569"/>
                <a:gd name="T80" fmla="*/ 142 w 625"/>
                <a:gd name="T81" fmla="*/ 46 h 569"/>
                <a:gd name="T82" fmla="*/ 181 w 625"/>
                <a:gd name="T83" fmla="*/ 27 h 569"/>
                <a:gd name="T84" fmla="*/ 222 w 625"/>
                <a:gd name="T85" fmla="*/ 12 h 569"/>
                <a:gd name="T86" fmla="*/ 266 w 625"/>
                <a:gd name="T87" fmla="*/ 3 h 569"/>
                <a:gd name="T88" fmla="*/ 313 w 625"/>
                <a:gd name="T89" fmla="*/ 0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5" h="569">
                  <a:moveTo>
                    <a:pt x="313" y="0"/>
                  </a:moveTo>
                  <a:lnTo>
                    <a:pt x="359" y="3"/>
                  </a:lnTo>
                  <a:lnTo>
                    <a:pt x="403" y="12"/>
                  </a:lnTo>
                  <a:lnTo>
                    <a:pt x="445" y="27"/>
                  </a:lnTo>
                  <a:lnTo>
                    <a:pt x="483" y="46"/>
                  </a:lnTo>
                  <a:lnTo>
                    <a:pt x="518" y="70"/>
                  </a:lnTo>
                  <a:lnTo>
                    <a:pt x="549" y="98"/>
                  </a:lnTo>
                  <a:lnTo>
                    <a:pt x="576" y="130"/>
                  </a:lnTo>
                  <a:lnTo>
                    <a:pt x="596" y="165"/>
                  </a:lnTo>
                  <a:lnTo>
                    <a:pt x="612" y="202"/>
                  </a:lnTo>
                  <a:lnTo>
                    <a:pt x="622" y="242"/>
                  </a:lnTo>
                  <a:lnTo>
                    <a:pt x="625" y="284"/>
                  </a:lnTo>
                  <a:lnTo>
                    <a:pt x="622" y="326"/>
                  </a:lnTo>
                  <a:lnTo>
                    <a:pt x="612" y="367"/>
                  </a:lnTo>
                  <a:lnTo>
                    <a:pt x="596" y="404"/>
                  </a:lnTo>
                  <a:lnTo>
                    <a:pt x="576" y="439"/>
                  </a:lnTo>
                  <a:lnTo>
                    <a:pt x="549" y="471"/>
                  </a:lnTo>
                  <a:lnTo>
                    <a:pt x="518" y="499"/>
                  </a:lnTo>
                  <a:lnTo>
                    <a:pt x="483" y="523"/>
                  </a:lnTo>
                  <a:lnTo>
                    <a:pt x="445" y="542"/>
                  </a:lnTo>
                  <a:lnTo>
                    <a:pt x="403" y="557"/>
                  </a:lnTo>
                  <a:lnTo>
                    <a:pt x="359" y="566"/>
                  </a:lnTo>
                  <a:lnTo>
                    <a:pt x="313" y="569"/>
                  </a:lnTo>
                  <a:lnTo>
                    <a:pt x="266" y="566"/>
                  </a:lnTo>
                  <a:lnTo>
                    <a:pt x="222" y="557"/>
                  </a:lnTo>
                  <a:lnTo>
                    <a:pt x="181" y="542"/>
                  </a:lnTo>
                  <a:lnTo>
                    <a:pt x="142" y="523"/>
                  </a:lnTo>
                  <a:lnTo>
                    <a:pt x="108" y="499"/>
                  </a:lnTo>
                  <a:lnTo>
                    <a:pt x="77" y="471"/>
                  </a:lnTo>
                  <a:lnTo>
                    <a:pt x="51" y="439"/>
                  </a:lnTo>
                  <a:lnTo>
                    <a:pt x="29" y="404"/>
                  </a:lnTo>
                  <a:lnTo>
                    <a:pt x="13" y="367"/>
                  </a:lnTo>
                  <a:lnTo>
                    <a:pt x="4" y="326"/>
                  </a:lnTo>
                  <a:lnTo>
                    <a:pt x="0" y="284"/>
                  </a:lnTo>
                  <a:lnTo>
                    <a:pt x="4" y="242"/>
                  </a:lnTo>
                  <a:lnTo>
                    <a:pt x="13" y="202"/>
                  </a:lnTo>
                  <a:lnTo>
                    <a:pt x="29" y="165"/>
                  </a:lnTo>
                  <a:lnTo>
                    <a:pt x="51" y="130"/>
                  </a:lnTo>
                  <a:lnTo>
                    <a:pt x="77" y="98"/>
                  </a:lnTo>
                  <a:lnTo>
                    <a:pt x="108" y="70"/>
                  </a:lnTo>
                  <a:lnTo>
                    <a:pt x="142" y="46"/>
                  </a:lnTo>
                  <a:lnTo>
                    <a:pt x="181" y="27"/>
                  </a:lnTo>
                  <a:lnTo>
                    <a:pt x="222" y="12"/>
                  </a:lnTo>
                  <a:lnTo>
                    <a:pt x="266" y="3"/>
                  </a:lnTo>
                  <a:lnTo>
                    <a:pt x="3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603"/>
            <p:cNvSpPr>
              <a:spLocks/>
            </p:cNvSpPr>
            <p:nvPr/>
          </p:nvSpPr>
          <p:spPr bwMode="auto">
            <a:xfrm>
              <a:off x="259" y="3983"/>
              <a:ext cx="317" cy="224"/>
            </a:xfrm>
            <a:custGeom>
              <a:avLst/>
              <a:gdLst>
                <a:gd name="T0" fmla="*/ 177 w 3486"/>
                <a:gd name="T1" fmla="*/ 0 h 2238"/>
                <a:gd name="T2" fmla="*/ 747 w 3486"/>
                <a:gd name="T3" fmla="*/ 0 h 2238"/>
                <a:gd name="T4" fmla="*/ 1480 w 3486"/>
                <a:gd name="T5" fmla="*/ 1917 h 2238"/>
                <a:gd name="T6" fmla="*/ 3309 w 3486"/>
                <a:gd name="T7" fmla="*/ 1917 h 2238"/>
                <a:gd name="T8" fmla="*/ 3340 w 3486"/>
                <a:gd name="T9" fmla="*/ 1919 h 2238"/>
                <a:gd name="T10" fmla="*/ 3370 w 3486"/>
                <a:gd name="T11" fmla="*/ 1927 h 2238"/>
                <a:gd name="T12" fmla="*/ 3398 w 3486"/>
                <a:gd name="T13" fmla="*/ 1939 h 2238"/>
                <a:gd name="T14" fmla="*/ 3422 w 3486"/>
                <a:gd name="T15" fmla="*/ 1954 h 2238"/>
                <a:gd name="T16" fmla="*/ 3444 w 3486"/>
                <a:gd name="T17" fmla="*/ 1974 h 2238"/>
                <a:gd name="T18" fmla="*/ 3462 w 3486"/>
                <a:gd name="T19" fmla="*/ 1996 h 2238"/>
                <a:gd name="T20" fmla="*/ 3474 w 3486"/>
                <a:gd name="T21" fmla="*/ 2021 h 2238"/>
                <a:gd name="T22" fmla="*/ 3483 w 3486"/>
                <a:gd name="T23" fmla="*/ 2049 h 2238"/>
                <a:gd name="T24" fmla="*/ 3486 w 3486"/>
                <a:gd name="T25" fmla="*/ 2077 h 2238"/>
                <a:gd name="T26" fmla="*/ 3483 w 3486"/>
                <a:gd name="T27" fmla="*/ 2106 h 2238"/>
                <a:gd name="T28" fmla="*/ 3474 w 3486"/>
                <a:gd name="T29" fmla="*/ 2134 h 2238"/>
                <a:gd name="T30" fmla="*/ 3462 w 3486"/>
                <a:gd name="T31" fmla="*/ 2159 h 2238"/>
                <a:gd name="T32" fmla="*/ 3444 w 3486"/>
                <a:gd name="T33" fmla="*/ 2181 h 2238"/>
                <a:gd name="T34" fmla="*/ 3422 w 3486"/>
                <a:gd name="T35" fmla="*/ 2201 h 2238"/>
                <a:gd name="T36" fmla="*/ 3398 w 3486"/>
                <a:gd name="T37" fmla="*/ 2217 h 2238"/>
                <a:gd name="T38" fmla="*/ 3370 w 3486"/>
                <a:gd name="T39" fmla="*/ 2228 h 2238"/>
                <a:gd name="T40" fmla="*/ 3340 w 3486"/>
                <a:gd name="T41" fmla="*/ 2236 h 2238"/>
                <a:gd name="T42" fmla="*/ 3309 w 3486"/>
                <a:gd name="T43" fmla="*/ 2238 h 2238"/>
                <a:gd name="T44" fmla="*/ 1228 w 3486"/>
                <a:gd name="T45" fmla="*/ 2238 h 2238"/>
                <a:gd name="T46" fmla="*/ 495 w 3486"/>
                <a:gd name="T47" fmla="*/ 322 h 2238"/>
                <a:gd name="T48" fmla="*/ 177 w 3486"/>
                <a:gd name="T49" fmla="*/ 322 h 2238"/>
                <a:gd name="T50" fmla="*/ 145 w 3486"/>
                <a:gd name="T51" fmla="*/ 320 h 2238"/>
                <a:gd name="T52" fmla="*/ 116 w 3486"/>
                <a:gd name="T53" fmla="*/ 312 h 2238"/>
                <a:gd name="T54" fmla="*/ 88 w 3486"/>
                <a:gd name="T55" fmla="*/ 300 h 2238"/>
                <a:gd name="T56" fmla="*/ 63 w 3486"/>
                <a:gd name="T57" fmla="*/ 285 h 2238"/>
                <a:gd name="T58" fmla="*/ 42 w 3486"/>
                <a:gd name="T59" fmla="*/ 265 h 2238"/>
                <a:gd name="T60" fmla="*/ 24 w 3486"/>
                <a:gd name="T61" fmla="*/ 243 h 2238"/>
                <a:gd name="T62" fmla="*/ 11 w 3486"/>
                <a:gd name="T63" fmla="*/ 218 h 2238"/>
                <a:gd name="T64" fmla="*/ 3 w 3486"/>
                <a:gd name="T65" fmla="*/ 190 h 2238"/>
                <a:gd name="T66" fmla="*/ 0 w 3486"/>
                <a:gd name="T67" fmla="*/ 161 h 2238"/>
                <a:gd name="T68" fmla="*/ 3 w 3486"/>
                <a:gd name="T69" fmla="*/ 133 h 2238"/>
                <a:gd name="T70" fmla="*/ 11 w 3486"/>
                <a:gd name="T71" fmla="*/ 105 h 2238"/>
                <a:gd name="T72" fmla="*/ 24 w 3486"/>
                <a:gd name="T73" fmla="*/ 80 h 2238"/>
                <a:gd name="T74" fmla="*/ 42 w 3486"/>
                <a:gd name="T75" fmla="*/ 58 h 2238"/>
                <a:gd name="T76" fmla="*/ 63 w 3486"/>
                <a:gd name="T77" fmla="*/ 38 h 2238"/>
                <a:gd name="T78" fmla="*/ 88 w 3486"/>
                <a:gd name="T79" fmla="*/ 22 h 2238"/>
                <a:gd name="T80" fmla="*/ 116 w 3486"/>
                <a:gd name="T81" fmla="*/ 11 h 2238"/>
                <a:gd name="T82" fmla="*/ 145 w 3486"/>
                <a:gd name="T83" fmla="*/ 3 h 2238"/>
                <a:gd name="T84" fmla="*/ 177 w 3486"/>
                <a:gd name="T85" fmla="*/ 0 h 2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486" h="2238">
                  <a:moveTo>
                    <a:pt x="177" y="0"/>
                  </a:moveTo>
                  <a:lnTo>
                    <a:pt x="747" y="0"/>
                  </a:lnTo>
                  <a:lnTo>
                    <a:pt x="1480" y="1917"/>
                  </a:lnTo>
                  <a:lnTo>
                    <a:pt x="3309" y="1917"/>
                  </a:lnTo>
                  <a:lnTo>
                    <a:pt x="3340" y="1919"/>
                  </a:lnTo>
                  <a:lnTo>
                    <a:pt x="3370" y="1927"/>
                  </a:lnTo>
                  <a:lnTo>
                    <a:pt x="3398" y="1939"/>
                  </a:lnTo>
                  <a:lnTo>
                    <a:pt x="3422" y="1954"/>
                  </a:lnTo>
                  <a:lnTo>
                    <a:pt x="3444" y="1974"/>
                  </a:lnTo>
                  <a:lnTo>
                    <a:pt x="3462" y="1996"/>
                  </a:lnTo>
                  <a:lnTo>
                    <a:pt x="3474" y="2021"/>
                  </a:lnTo>
                  <a:lnTo>
                    <a:pt x="3483" y="2049"/>
                  </a:lnTo>
                  <a:lnTo>
                    <a:pt x="3486" y="2077"/>
                  </a:lnTo>
                  <a:lnTo>
                    <a:pt x="3483" y="2106"/>
                  </a:lnTo>
                  <a:lnTo>
                    <a:pt x="3474" y="2134"/>
                  </a:lnTo>
                  <a:lnTo>
                    <a:pt x="3462" y="2159"/>
                  </a:lnTo>
                  <a:lnTo>
                    <a:pt x="3444" y="2181"/>
                  </a:lnTo>
                  <a:lnTo>
                    <a:pt x="3422" y="2201"/>
                  </a:lnTo>
                  <a:lnTo>
                    <a:pt x="3398" y="2217"/>
                  </a:lnTo>
                  <a:lnTo>
                    <a:pt x="3370" y="2228"/>
                  </a:lnTo>
                  <a:lnTo>
                    <a:pt x="3340" y="2236"/>
                  </a:lnTo>
                  <a:lnTo>
                    <a:pt x="3309" y="2238"/>
                  </a:lnTo>
                  <a:lnTo>
                    <a:pt x="1228" y="2238"/>
                  </a:lnTo>
                  <a:lnTo>
                    <a:pt x="495" y="322"/>
                  </a:lnTo>
                  <a:lnTo>
                    <a:pt x="177" y="322"/>
                  </a:lnTo>
                  <a:lnTo>
                    <a:pt x="145" y="320"/>
                  </a:lnTo>
                  <a:lnTo>
                    <a:pt x="116" y="312"/>
                  </a:lnTo>
                  <a:lnTo>
                    <a:pt x="88" y="300"/>
                  </a:lnTo>
                  <a:lnTo>
                    <a:pt x="63" y="285"/>
                  </a:lnTo>
                  <a:lnTo>
                    <a:pt x="42" y="265"/>
                  </a:lnTo>
                  <a:lnTo>
                    <a:pt x="24" y="243"/>
                  </a:lnTo>
                  <a:lnTo>
                    <a:pt x="11" y="218"/>
                  </a:lnTo>
                  <a:lnTo>
                    <a:pt x="3" y="190"/>
                  </a:lnTo>
                  <a:lnTo>
                    <a:pt x="0" y="161"/>
                  </a:lnTo>
                  <a:lnTo>
                    <a:pt x="3" y="133"/>
                  </a:lnTo>
                  <a:lnTo>
                    <a:pt x="11" y="105"/>
                  </a:lnTo>
                  <a:lnTo>
                    <a:pt x="24" y="80"/>
                  </a:lnTo>
                  <a:lnTo>
                    <a:pt x="42" y="58"/>
                  </a:lnTo>
                  <a:lnTo>
                    <a:pt x="63" y="38"/>
                  </a:lnTo>
                  <a:lnTo>
                    <a:pt x="88" y="22"/>
                  </a:lnTo>
                  <a:lnTo>
                    <a:pt x="116" y="11"/>
                  </a:lnTo>
                  <a:lnTo>
                    <a:pt x="145" y="3"/>
                  </a:lnTo>
                  <a:lnTo>
                    <a:pt x="1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7" name="Group 26"/>
          <p:cNvGrpSpPr/>
          <p:nvPr/>
        </p:nvGrpSpPr>
        <p:grpSpPr>
          <a:xfrm>
            <a:off x="6540677" y="3927763"/>
            <a:ext cx="4520311" cy="2319923"/>
            <a:chOff x="2126343" y="1509486"/>
            <a:chExt cx="7939314" cy="2409371"/>
          </a:xfrm>
        </p:grpSpPr>
        <p:sp>
          <p:nvSpPr>
            <p:cNvPr id="28" name="Trapezoid 27"/>
            <p:cNvSpPr/>
            <p:nvPr/>
          </p:nvSpPr>
          <p:spPr>
            <a:xfrm>
              <a:off x="3940628" y="2460171"/>
              <a:ext cx="4310743" cy="1458686"/>
            </a:xfrm>
            <a:prstGeom prst="trapezoid">
              <a:avLst/>
            </a:prstGeom>
            <a:solidFill>
              <a:schemeClr val="accent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2126343" y="1509486"/>
              <a:ext cx="7939314" cy="1901371"/>
            </a:xfrm>
            <a:custGeom>
              <a:avLst/>
              <a:gdLst>
                <a:gd name="connsiteX0" fmla="*/ 0 w 7939314"/>
                <a:gd name="connsiteY0" fmla="*/ 0 h 1741715"/>
                <a:gd name="connsiteX1" fmla="*/ 7939314 w 7939314"/>
                <a:gd name="connsiteY1" fmla="*/ 0 h 1741715"/>
                <a:gd name="connsiteX2" fmla="*/ 7939314 w 7939314"/>
                <a:gd name="connsiteY2" fmla="*/ 1741715 h 1741715"/>
                <a:gd name="connsiteX3" fmla="*/ 5522684 w 7939314"/>
                <a:gd name="connsiteY3" fmla="*/ 1741715 h 1741715"/>
                <a:gd name="connsiteX4" fmla="*/ 5304970 w 7939314"/>
                <a:gd name="connsiteY4" fmla="*/ 870857 h 1741715"/>
                <a:gd name="connsiteX5" fmla="*/ 2634342 w 7939314"/>
                <a:gd name="connsiteY5" fmla="*/ 870857 h 1741715"/>
                <a:gd name="connsiteX6" fmla="*/ 2416627 w 7939314"/>
                <a:gd name="connsiteY6" fmla="*/ 1741715 h 1741715"/>
                <a:gd name="connsiteX7" fmla="*/ 0 w 7939314"/>
                <a:gd name="connsiteY7" fmla="*/ 1741715 h 1741715"/>
                <a:gd name="connsiteX8" fmla="*/ 0 w 7939314"/>
                <a:gd name="connsiteY8" fmla="*/ 0 h 174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39314" h="1741715">
                  <a:moveTo>
                    <a:pt x="0" y="0"/>
                  </a:moveTo>
                  <a:lnTo>
                    <a:pt x="7939314" y="0"/>
                  </a:lnTo>
                  <a:lnTo>
                    <a:pt x="7939314" y="1741715"/>
                  </a:lnTo>
                  <a:lnTo>
                    <a:pt x="5522684" y="1741715"/>
                  </a:lnTo>
                  <a:lnTo>
                    <a:pt x="5304970" y="870857"/>
                  </a:lnTo>
                  <a:lnTo>
                    <a:pt x="2634342" y="870857"/>
                  </a:lnTo>
                  <a:lnTo>
                    <a:pt x="2416627" y="1741715"/>
                  </a:lnTo>
                  <a:lnTo>
                    <a:pt x="0" y="1741715"/>
                  </a:lnTo>
                  <a:lnTo>
                    <a:pt x="0" y="0"/>
                  </a:lnTo>
                  <a:close/>
                </a:path>
              </a:pathLst>
            </a:cu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Rectangle 41">
            <a:extLst>
              <a:ext uri="{FF2B5EF4-FFF2-40B4-BE49-F238E27FC236}">
                <a16:creationId xmlns:a16="http://schemas.microsoft.com/office/drawing/2014/main" id="{DECB1A80-71F5-4FF2-A33E-5D89CD8D6C10}"/>
              </a:ext>
            </a:extLst>
          </p:cNvPr>
          <p:cNvSpPr/>
          <p:nvPr/>
        </p:nvSpPr>
        <p:spPr>
          <a:xfrm>
            <a:off x="6692331" y="3927763"/>
            <a:ext cx="4217002" cy="923330"/>
          </a:xfrm>
          <a:prstGeom prst="rect">
            <a:avLst/>
          </a:prstGeom>
        </p:spPr>
        <p:txBody>
          <a:bodyPr wrap="square">
            <a:spAutoFit/>
          </a:bodyPr>
          <a:lstStyle/>
          <a:p>
            <a:pPr lvl="0" algn="ctr"/>
            <a:r>
              <a:rPr lang="en-US" dirty="0"/>
              <a:t>To make shopping easier for customers and to help stores manage giving real-time updates on products </a:t>
            </a:r>
          </a:p>
        </p:txBody>
      </p:sp>
      <p:sp>
        <p:nvSpPr>
          <p:cNvPr id="3" name="TextBox 2">
            <a:extLst>
              <a:ext uri="{FF2B5EF4-FFF2-40B4-BE49-F238E27FC236}">
                <a16:creationId xmlns:a16="http://schemas.microsoft.com/office/drawing/2014/main" id="{059B8931-6373-1AD3-0433-55D6453529B3}"/>
              </a:ext>
            </a:extLst>
          </p:cNvPr>
          <p:cNvSpPr txBox="1"/>
          <p:nvPr/>
        </p:nvSpPr>
        <p:spPr>
          <a:xfrm>
            <a:off x="6641657" y="1205519"/>
            <a:ext cx="4687870" cy="646331"/>
          </a:xfrm>
          <a:prstGeom prst="rect">
            <a:avLst/>
          </a:prstGeom>
          <a:noFill/>
        </p:spPr>
        <p:txBody>
          <a:bodyPr wrap="square">
            <a:spAutoFit/>
          </a:bodyPr>
          <a:lstStyle/>
          <a:p>
            <a:pPr lvl="0"/>
            <a:r>
              <a:rPr lang="en-US" dirty="0"/>
              <a:t>To automatically scan and track items by connecting the cart to the store's system.</a:t>
            </a:r>
          </a:p>
        </p:txBody>
      </p:sp>
      <p:pic>
        <p:nvPicPr>
          <p:cNvPr id="68" name="Graphic 67" descr="Cloud Computing with solid fill">
            <a:extLst>
              <a:ext uri="{FF2B5EF4-FFF2-40B4-BE49-F238E27FC236}">
                <a16:creationId xmlns:a16="http://schemas.microsoft.com/office/drawing/2014/main" id="{E9B9C6E8-5E77-D942-5B6F-6FC6481126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54349" y="2162390"/>
            <a:ext cx="914400" cy="914400"/>
          </a:xfrm>
          <a:prstGeom prst="rect">
            <a:avLst/>
          </a:prstGeom>
        </p:spPr>
      </p:pic>
      <p:pic>
        <p:nvPicPr>
          <p:cNvPr id="76" name="Graphic 75" descr="Customer review with solid fill">
            <a:extLst>
              <a:ext uri="{FF2B5EF4-FFF2-40B4-BE49-F238E27FC236}">
                <a16:creationId xmlns:a16="http://schemas.microsoft.com/office/drawing/2014/main" id="{5026AD71-CC26-02F1-F10C-BC3C554EB7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92028" y="5088220"/>
            <a:ext cx="914400" cy="914400"/>
          </a:xfrm>
          <a:prstGeom prst="rect">
            <a:avLst/>
          </a:prstGeom>
        </p:spPr>
      </p:pic>
      <p:pic>
        <p:nvPicPr>
          <p:cNvPr id="78" name="Graphic 77" descr="Business Growth with solid fill">
            <a:extLst>
              <a:ext uri="{FF2B5EF4-FFF2-40B4-BE49-F238E27FC236}">
                <a16:creationId xmlns:a16="http://schemas.microsoft.com/office/drawing/2014/main" id="{13CE1378-BB3A-2B3F-A3F3-87588E1DE04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46496" y="5042578"/>
            <a:ext cx="914400" cy="914400"/>
          </a:xfrm>
          <a:prstGeom prst="rect">
            <a:avLst/>
          </a:prstGeom>
        </p:spPr>
      </p:pic>
    </p:spTree>
    <p:extLst>
      <p:ext uri="{BB962C8B-B14F-4D97-AF65-F5344CB8AC3E}">
        <p14:creationId xmlns:p14="http://schemas.microsoft.com/office/powerpoint/2010/main" val="837969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63DB97C-5A42-1C2C-5B88-161580A16675}"/>
              </a:ext>
            </a:extLst>
          </p:cNvPr>
          <p:cNvGraphicFramePr/>
          <p:nvPr>
            <p:extLst>
              <p:ext uri="{D42A27DB-BD31-4B8C-83A1-F6EECF244321}">
                <p14:modId xmlns:p14="http://schemas.microsoft.com/office/powerpoint/2010/main" val="3553471146"/>
              </p:ext>
            </p:extLst>
          </p:nvPr>
        </p:nvGraphicFramePr>
        <p:xfrm>
          <a:off x="854765" y="516835"/>
          <a:ext cx="10614992" cy="59833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161B7006-5611-851E-7A21-5865EBD963F7}"/>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CDFC17F-D4B4-F20A-7C36-C4B4D9F13084}"/>
              </a:ext>
            </a:extLst>
          </p:cNvPr>
          <p:cNvSpPr/>
          <p:nvPr/>
        </p:nvSpPr>
        <p:spPr>
          <a:xfrm>
            <a:off x="10262084" y="6649303"/>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797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7454D54-08DD-2674-304C-5A6C18ECF040}"/>
              </a:ext>
            </a:extLst>
          </p:cNvPr>
          <p:cNvGraphicFramePr>
            <a:graphicFrameLocks noGrp="1"/>
          </p:cNvGraphicFramePr>
          <p:nvPr>
            <p:extLst>
              <p:ext uri="{D42A27DB-BD31-4B8C-83A1-F6EECF244321}">
                <p14:modId xmlns:p14="http://schemas.microsoft.com/office/powerpoint/2010/main" val="3286881588"/>
              </p:ext>
            </p:extLst>
          </p:nvPr>
        </p:nvGraphicFramePr>
        <p:xfrm>
          <a:off x="1102150" y="1097280"/>
          <a:ext cx="9064487" cy="5760720"/>
        </p:xfrm>
        <a:graphic>
          <a:graphicData uri="http://schemas.openxmlformats.org/drawingml/2006/table">
            <a:tbl>
              <a:tblPr firstRow="1" bandRow="1">
                <a:tableStyleId>{00A15C55-8517-42AA-B614-E9B94910E393}</a:tableStyleId>
              </a:tblPr>
              <a:tblGrid>
                <a:gridCol w="2797170">
                  <a:extLst>
                    <a:ext uri="{9D8B030D-6E8A-4147-A177-3AD203B41FA5}">
                      <a16:colId xmlns:a16="http://schemas.microsoft.com/office/drawing/2014/main" val="2535013477"/>
                    </a:ext>
                  </a:extLst>
                </a:gridCol>
                <a:gridCol w="1589857">
                  <a:extLst>
                    <a:ext uri="{9D8B030D-6E8A-4147-A177-3AD203B41FA5}">
                      <a16:colId xmlns:a16="http://schemas.microsoft.com/office/drawing/2014/main" val="2594234999"/>
                    </a:ext>
                  </a:extLst>
                </a:gridCol>
                <a:gridCol w="4677460">
                  <a:extLst>
                    <a:ext uri="{9D8B030D-6E8A-4147-A177-3AD203B41FA5}">
                      <a16:colId xmlns:a16="http://schemas.microsoft.com/office/drawing/2014/main" val="4074444575"/>
                    </a:ext>
                  </a:extLst>
                </a:gridCol>
              </a:tblGrid>
              <a:tr h="330133">
                <a:tc>
                  <a:txBody>
                    <a:bodyPr/>
                    <a:lstStyle/>
                    <a:p>
                      <a:pPr algn="l"/>
                      <a:r>
                        <a:rPr lang="en-US" sz="1800" b="1" kern="1200" dirty="0">
                          <a:solidFill>
                            <a:schemeClr val="lt1"/>
                          </a:solidFill>
                          <a:effectLst/>
                        </a:rPr>
                        <a:t>Manufacturer</a:t>
                      </a:r>
                      <a:endParaRPr lang="en-US" dirty="0"/>
                    </a:p>
                  </a:txBody>
                  <a:tcPr/>
                </a:tc>
                <a:tc>
                  <a:txBody>
                    <a:bodyPr/>
                    <a:lstStyle/>
                    <a:p>
                      <a:pPr algn="l"/>
                      <a:r>
                        <a:rPr lang="en-US" sz="1800" b="1" kern="1200" dirty="0">
                          <a:solidFill>
                            <a:schemeClr val="lt1"/>
                          </a:solidFill>
                          <a:effectLst/>
                        </a:rPr>
                        <a:t>Price</a:t>
                      </a:r>
                      <a:endParaRPr lang="en-US" dirty="0"/>
                    </a:p>
                  </a:txBody>
                  <a:tcPr/>
                </a:tc>
                <a:tc>
                  <a:txBody>
                    <a:bodyPr/>
                    <a:lstStyle/>
                    <a:p>
                      <a:pPr algn="l"/>
                      <a:r>
                        <a:rPr lang="en-US" sz="1800" b="1" kern="1200" dirty="0">
                          <a:solidFill>
                            <a:schemeClr val="lt1"/>
                          </a:solidFill>
                          <a:effectLst/>
                        </a:rPr>
                        <a:t>Features</a:t>
                      </a:r>
                      <a:endParaRPr lang="en-US" dirty="0"/>
                    </a:p>
                  </a:txBody>
                  <a:tcPr/>
                </a:tc>
                <a:extLst>
                  <a:ext uri="{0D108BD9-81ED-4DB2-BD59-A6C34878D82A}">
                    <a16:rowId xmlns:a16="http://schemas.microsoft.com/office/drawing/2014/main" val="1729594473"/>
                  </a:ext>
                </a:extLst>
              </a:tr>
              <a:tr h="825332">
                <a:tc>
                  <a:txBody>
                    <a:bodyPr/>
                    <a:lstStyle/>
                    <a:p>
                      <a:pPr algn="l"/>
                      <a:r>
                        <a:rPr lang="en-US" sz="1800" kern="1200" dirty="0" err="1">
                          <a:solidFill>
                            <a:schemeClr val="dk1"/>
                          </a:solidFill>
                          <a:effectLst/>
                        </a:rPr>
                        <a:t>Wanzl</a:t>
                      </a:r>
                      <a:endParaRPr lang="en-US" sz="1800" kern="1200" dirty="0">
                        <a:solidFill>
                          <a:schemeClr val="dk1"/>
                        </a:solidFill>
                        <a:effectLst/>
                      </a:endParaRPr>
                    </a:p>
                    <a:p>
                      <a:pPr algn="l"/>
                      <a:r>
                        <a:rPr lang="en-US" sz="1800" kern="1200" dirty="0">
                          <a:solidFill>
                            <a:schemeClr val="dk1"/>
                          </a:solidFill>
                          <a:effectLst/>
                        </a:rPr>
                        <a:t> (Germany) </a:t>
                      </a:r>
                      <a:endParaRPr lang="en-US" dirty="0"/>
                    </a:p>
                  </a:txBody>
                  <a:tcPr/>
                </a:tc>
                <a:tc>
                  <a:txBody>
                    <a:bodyPr/>
                    <a:lstStyle/>
                    <a:p>
                      <a:pPr algn="l"/>
                      <a:r>
                        <a:rPr lang="en-US" sz="1800" kern="1200" dirty="0">
                          <a:solidFill>
                            <a:schemeClr val="dk1"/>
                          </a:solidFill>
                          <a:effectLst/>
                        </a:rPr>
                        <a:t>$100 - $300 </a:t>
                      </a:r>
                      <a:endParaRPr lang="en-US" dirty="0"/>
                    </a:p>
                  </a:txBody>
                  <a:tcPr/>
                </a:tc>
                <a:tc>
                  <a:txBody>
                    <a:bodyPr/>
                    <a:lstStyle/>
                    <a:p>
                      <a:pPr algn="l"/>
                      <a:r>
                        <a:rPr lang="en-US" sz="1800" kern="1200" dirty="0">
                          <a:solidFill>
                            <a:schemeClr val="dk1"/>
                          </a:solidFill>
                          <a:effectLst/>
                        </a:rPr>
                        <a:t> Built-in scanners Automatic billing</a:t>
                      </a:r>
                    </a:p>
                    <a:p>
                      <a:pPr algn="l"/>
                      <a:r>
                        <a:rPr lang="en-US" sz="1800" kern="1200" dirty="0">
                          <a:solidFill>
                            <a:schemeClr val="dk1"/>
                          </a:solidFill>
                          <a:effectLst/>
                        </a:rPr>
                        <a:t> Digital display </a:t>
                      </a:r>
                    </a:p>
                    <a:p>
                      <a:pPr algn="l"/>
                      <a:r>
                        <a:rPr lang="en-US" sz="1800" kern="1200" dirty="0">
                          <a:solidFill>
                            <a:schemeClr val="dk1"/>
                          </a:solidFill>
                          <a:effectLst/>
                        </a:rPr>
                        <a:t> Rechargeable battery </a:t>
                      </a:r>
                      <a:endParaRPr lang="en-US" dirty="0"/>
                    </a:p>
                  </a:txBody>
                  <a:tcPr/>
                </a:tc>
                <a:extLst>
                  <a:ext uri="{0D108BD9-81ED-4DB2-BD59-A6C34878D82A}">
                    <a16:rowId xmlns:a16="http://schemas.microsoft.com/office/drawing/2014/main" val="3426894364"/>
                  </a:ext>
                </a:extLst>
              </a:tr>
              <a:tr h="1072932">
                <a:tc>
                  <a:txBody>
                    <a:bodyPr/>
                    <a:lstStyle/>
                    <a:p>
                      <a:pPr algn="l"/>
                      <a:r>
                        <a:rPr lang="en-US" sz="1800" kern="1200" dirty="0" err="1">
                          <a:solidFill>
                            <a:schemeClr val="dk1"/>
                          </a:solidFill>
                          <a:effectLst/>
                        </a:rPr>
                        <a:t>Unarco</a:t>
                      </a:r>
                      <a:r>
                        <a:rPr lang="en-US" sz="1800" kern="1200" dirty="0">
                          <a:solidFill>
                            <a:schemeClr val="dk1"/>
                          </a:solidFill>
                          <a:effectLst/>
                        </a:rPr>
                        <a:t> Industries</a:t>
                      </a:r>
                    </a:p>
                    <a:p>
                      <a:pPr algn="l"/>
                      <a:r>
                        <a:rPr lang="en-US" sz="1800" kern="1200" dirty="0">
                          <a:solidFill>
                            <a:schemeClr val="dk1"/>
                          </a:solidFill>
                          <a:effectLst/>
                        </a:rPr>
                        <a:t> (United States)</a:t>
                      </a:r>
                      <a:endParaRPr lang="en-US" dirty="0"/>
                    </a:p>
                  </a:txBody>
                  <a:tcPr/>
                </a:tc>
                <a:tc>
                  <a:txBody>
                    <a:bodyPr/>
                    <a:lstStyle/>
                    <a:p>
                      <a:pPr algn="l"/>
                      <a:r>
                        <a:rPr lang="en-US" sz="1800" kern="1200" dirty="0">
                          <a:solidFill>
                            <a:schemeClr val="dk1"/>
                          </a:solidFill>
                          <a:effectLst/>
                        </a:rPr>
                        <a:t>$75 - $250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Built-in scanners Automatic billing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Digital display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360-degree wheel rotation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Rechargeable battery </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466682562"/>
                  </a:ext>
                </a:extLst>
              </a:tr>
              <a:tr h="1141077">
                <a:tc>
                  <a:txBody>
                    <a:bodyPr/>
                    <a:lstStyle/>
                    <a:p>
                      <a:pPr algn="l"/>
                      <a:r>
                        <a:rPr lang="en-US" sz="1800" kern="1200" dirty="0" err="1">
                          <a:solidFill>
                            <a:schemeClr val="dk1"/>
                          </a:solidFill>
                          <a:effectLst/>
                        </a:rPr>
                        <a:t>Technibilt</a:t>
                      </a:r>
                      <a:r>
                        <a:rPr lang="en-US" sz="1800" kern="1200" dirty="0">
                          <a:solidFill>
                            <a:schemeClr val="dk1"/>
                          </a:solidFill>
                          <a:effectLst/>
                        </a:rPr>
                        <a:t> </a:t>
                      </a:r>
                    </a:p>
                    <a:p>
                      <a:pPr algn="l"/>
                      <a:r>
                        <a:rPr lang="en-US" sz="1800" kern="1200" dirty="0">
                          <a:solidFill>
                            <a:schemeClr val="dk1"/>
                          </a:solidFill>
                          <a:effectLst/>
                        </a:rPr>
                        <a:t>(United States)</a:t>
                      </a:r>
                      <a:endParaRPr lang="en-US" dirty="0"/>
                    </a:p>
                  </a:txBody>
                  <a:tcPr/>
                </a:tc>
                <a:tc>
                  <a:txBody>
                    <a:bodyPr/>
                    <a:lstStyle/>
                    <a:p>
                      <a:pPr algn="l"/>
                      <a:r>
                        <a:rPr lang="en-US" sz="1800" kern="1200" dirty="0">
                          <a:solidFill>
                            <a:schemeClr val="dk1"/>
                          </a:solidFill>
                          <a:effectLst/>
                        </a:rPr>
                        <a:t>$100 - $300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Built-in </a:t>
                      </a:r>
                      <a:r>
                        <a:rPr lang="en-US" sz="1800" kern="1200" dirty="0" err="1">
                          <a:solidFill>
                            <a:schemeClr val="dk1"/>
                          </a:solidFill>
                          <a:effectLst/>
                        </a:rPr>
                        <a:t>scanners,Automatic</a:t>
                      </a:r>
                      <a:r>
                        <a:rPr lang="en-US" sz="1800" kern="1200" dirty="0">
                          <a:solidFill>
                            <a:schemeClr val="dk1"/>
                          </a:solidFill>
                          <a:effectLst/>
                        </a:rPr>
                        <a:t> billing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Digital display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Rechargeable </a:t>
                      </a:r>
                      <a:r>
                        <a:rPr lang="en-US" sz="1800" kern="1200" dirty="0" err="1">
                          <a:solidFill>
                            <a:schemeClr val="dk1"/>
                          </a:solidFill>
                          <a:effectLst/>
                        </a:rPr>
                        <a:t>battery,Phone</a:t>
                      </a:r>
                      <a:r>
                        <a:rPr lang="en-US" sz="1800" kern="1200" dirty="0">
                          <a:solidFill>
                            <a:schemeClr val="dk1"/>
                          </a:solidFill>
                          <a:effectLst/>
                        </a:rPr>
                        <a:t> charging,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Touch screen </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2477096942"/>
                  </a:ext>
                </a:extLst>
              </a:tr>
              <a:tr h="825332">
                <a:tc>
                  <a:txBody>
                    <a:bodyPr/>
                    <a:lstStyle/>
                    <a:p>
                      <a:pPr algn="l"/>
                      <a:r>
                        <a:rPr lang="en-US" sz="1800" kern="1200" dirty="0">
                          <a:solidFill>
                            <a:schemeClr val="dk1"/>
                          </a:solidFill>
                          <a:effectLst/>
                        </a:rPr>
                        <a:t>National Cart </a:t>
                      </a:r>
                    </a:p>
                    <a:p>
                      <a:pPr algn="l"/>
                      <a:r>
                        <a:rPr lang="en-US" sz="1800" kern="1200" dirty="0">
                          <a:solidFill>
                            <a:schemeClr val="dk1"/>
                          </a:solidFill>
                          <a:effectLst/>
                        </a:rPr>
                        <a:t>(United States)</a:t>
                      </a:r>
                      <a:endParaRPr lang="en-US" dirty="0"/>
                    </a:p>
                  </a:txBody>
                  <a:tcPr/>
                </a:tc>
                <a:tc>
                  <a:txBody>
                    <a:bodyPr/>
                    <a:lstStyle/>
                    <a:p>
                      <a:pPr algn="l"/>
                      <a:r>
                        <a:rPr lang="en-US" sz="1800" kern="1200" dirty="0">
                          <a:solidFill>
                            <a:schemeClr val="dk1"/>
                          </a:solidFill>
                          <a:effectLst/>
                        </a:rPr>
                        <a:t>$50 </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Built-in scanners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 Automatic billing                                      </a:t>
                      </a:r>
                    </a:p>
                    <a:p>
                      <a:pPr algn="l"/>
                      <a:endParaRPr lang="en-US" dirty="0"/>
                    </a:p>
                  </a:txBody>
                  <a:tcPr/>
                </a:tc>
                <a:extLst>
                  <a:ext uri="{0D108BD9-81ED-4DB2-BD59-A6C34878D82A}">
                    <a16:rowId xmlns:a16="http://schemas.microsoft.com/office/drawing/2014/main" val="1008270517"/>
                  </a:ext>
                </a:extLst>
              </a:tr>
              <a:tr h="1072932">
                <a:tc>
                  <a:txBody>
                    <a:bodyPr/>
                    <a:lstStyle/>
                    <a:p>
                      <a:pPr algn="l"/>
                      <a:r>
                        <a:rPr lang="en-US" sz="1800" kern="1200" dirty="0" err="1">
                          <a:solidFill>
                            <a:schemeClr val="dk1"/>
                          </a:solidFill>
                          <a:effectLst/>
                        </a:rPr>
                        <a:t>RedSheep</a:t>
                      </a:r>
                      <a:r>
                        <a:rPr lang="en-US" sz="1800" kern="1200" dirty="0">
                          <a:solidFill>
                            <a:schemeClr val="dk1"/>
                          </a:solidFill>
                          <a:effectLst/>
                        </a:rPr>
                        <a:t> Store Fixtures </a:t>
                      </a:r>
                    </a:p>
                    <a:p>
                      <a:pPr algn="l"/>
                      <a:r>
                        <a:rPr lang="en-US" sz="1800" kern="1200" dirty="0">
                          <a:solidFill>
                            <a:schemeClr val="dk1"/>
                          </a:solidFill>
                          <a:effectLst/>
                        </a:rPr>
                        <a:t>(United States)</a:t>
                      </a:r>
                      <a:endParaRPr lang="en-US" dirty="0"/>
                    </a:p>
                  </a:txBody>
                  <a:tcPr/>
                </a:tc>
                <a:tc>
                  <a:txBody>
                    <a:bodyPr/>
                    <a:lstStyle/>
                    <a:p>
                      <a:pPr algn="l"/>
                      <a:r>
                        <a:rPr lang="en-US" sz="1800" kern="1200" dirty="0">
                          <a:solidFill>
                            <a:schemeClr val="dk1"/>
                          </a:solidFill>
                          <a:effectLst/>
                        </a:rPr>
                        <a:t>$75 - $150 </a:t>
                      </a:r>
                      <a:endParaRPr lang="en-US" dirty="0"/>
                    </a:p>
                  </a:txBody>
                  <a:tcPr/>
                </a:tc>
                <a:tc>
                  <a:txBody>
                    <a:bodyPr/>
                    <a:lstStyle/>
                    <a:p>
                      <a:pPr algn="l"/>
                      <a:r>
                        <a:rPr lang="en-US" sz="1800" kern="1200" dirty="0">
                          <a:solidFill>
                            <a:schemeClr val="dk1"/>
                          </a:solidFill>
                          <a:effectLst/>
                        </a:rPr>
                        <a:t> Built-in scanners</a:t>
                      </a:r>
                    </a:p>
                    <a:p>
                      <a:pPr algn="l"/>
                      <a:r>
                        <a:rPr lang="en-US" sz="1800" kern="1200" dirty="0">
                          <a:solidFill>
                            <a:schemeClr val="dk1"/>
                          </a:solidFill>
                          <a:effectLst/>
                        </a:rPr>
                        <a:t> Rechargeable battery</a:t>
                      </a:r>
                    </a:p>
                    <a:p>
                      <a:pPr algn="l"/>
                      <a:r>
                        <a:rPr lang="en-US" sz="1800" kern="1200" dirty="0">
                          <a:solidFill>
                            <a:schemeClr val="dk1"/>
                          </a:solidFill>
                          <a:effectLst/>
                        </a:rPr>
                        <a:t> Digital display</a:t>
                      </a:r>
                    </a:p>
                    <a:p>
                      <a:pPr algn="l"/>
                      <a:r>
                        <a:rPr lang="en-US" sz="1800" kern="1200" dirty="0">
                          <a:solidFill>
                            <a:schemeClr val="dk1"/>
                          </a:solidFill>
                          <a:effectLst/>
                        </a:rPr>
                        <a:t> Task screen </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489718453"/>
                  </a:ext>
                </a:extLst>
              </a:tr>
            </a:tbl>
          </a:graphicData>
        </a:graphic>
      </p:graphicFrame>
      <p:sp>
        <p:nvSpPr>
          <p:cNvPr id="6" name="TextBox 5">
            <a:extLst>
              <a:ext uri="{FF2B5EF4-FFF2-40B4-BE49-F238E27FC236}">
                <a16:creationId xmlns:a16="http://schemas.microsoft.com/office/drawing/2014/main" id="{2068CAA9-8101-B3FC-EBA7-38E946B373D2}"/>
              </a:ext>
            </a:extLst>
          </p:cNvPr>
          <p:cNvSpPr txBox="1"/>
          <p:nvPr/>
        </p:nvSpPr>
        <p:spPr>
          <a:xfrm>
            <a:off x="2587179" y="218876"/>
            <a:ext cx="6094428" cy="646331"/>
          </a:xfrm>
          <a:prstGeom prst="rect">
            <a:avLst/>
          </a:prstGeom>
          <a:noFill/>
        </p:spPr>
        <p:txBody>
          <a:bodyPr wrap="square">
            <a:spAutoFit/>
          </a:bodyPr>
          <a:lstStyle/>
          <a:p>
            <a:pPr algn="ct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Competitor Analysis: </a:t>
            </a:r>
          </a:p>
          <a:p>
            <a:endParaRPr lang="en-US" dirty="0"/>
          </a:p>
        </p:txBody>
      </p:sp>
    </p:spTree>
    <p:extLst>
      <p:ext uri="{BB962C8B-B14F-4D97-AF65-F5344CB8AC3E}">
        <p14:creationId xmlns:p14="http://schemas.microsoft.com/office/powerpoint/2010/main" val="2987568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1041824" y="1710011"/>
            <a:ext cx="2536602" cy="3112727"/>
            <a:chOff x="3099224" y="2525050"/>
            <a:chExt cx="3214347" cy="3815435"/>
          </a:xfrm>
        </p:grpSpPr>
        <p:grpSp>
          <p:nvGrpSpPr>
            <p:cNvPr id="19" name="Group 18"/>
            <p:cNvGrpSpPr/>
            <p:nvPr/>
          </p:nvGrpSpPr>
          <p:grpSpPr>
            <a:xfrm flipH="1" flipV="1">
              <a:off x="3284621" y="2525050"/>
              <a:ext cx="3028950" cy="3028950"/>
              <a:chOff x="2395601" y="2670122"/>
              <a:chExt cx="3028950" cy="3028950"/>
            </a:xfrm>
            <a:solidFill>
              <a:schemeClr val="bg1">
                <a:lumMod val="75000"/>
              </a:schemeClr>
            </a:solidFill>
            <a:effectLst>
              <a:outerShdw blurRad="50800" dist="38100" dir="5400000" algn="t" rotWithShape="0">
                <a:prstClr val="black">
                  <a:alpha val="40000"/>
                </a:prstClr>
              </a:outerShdw>
            </a:effectLst>
          </p:grpSpPr>
          <p:sp>
            <p:nvSpPr>
              <p:cNvPr id="20" name="Block Arc 19"/>
              <p:cNvSpPr/>
              <p:nvPr/>
            </p:nvSpPr>
            <p:spPr>
              <a:xfrm>
                <a:off x="2395601" y="2670122"/>
                <a:ext cx="3028950" cy="3028950"/>
              </a:xfrm>
              <a:prstGeom prst="blockArc">
                <a:avLst>
                  <a:gd name="adj1" fmla="val 12694834"/>
                  <a:gd name="adj2" fmla="val 21535268"/>
                  <a:gd name="adj3" fmla="val 43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Isosceles Triangle 20"/>
              <p:cNvSpPr/>
              <p:nvPr/>
            </p:nvSpPr>
            <p:spPr>
              <a:xfrm rot="1821842" flipV="1">
                <a:off x="2417479" y="3471428"/>
                <a:ext cx="354238" cy="30537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FC9D21B9-935B-4DE0-87E0-DE2454E5C009}"/>
                </a:ext>
              </a:extLst>
            </p:cNvPr>
            <p:cNvGrpSpPr/>
            <p:nvPr/>
          </p:nvGrpSpPr>
          <p:grpSpPr>
            <a:xfrm flipH="1">
              <a:off x="3099224" y="3700322"/>
              <a:ext cx="906875" cy="2640163"/>
              <a:chOff x="2602471" y="2506223"/>
              <a:chExt cx="1103879" cy="3213695"/>
            </a:xfrm>
            <a:effectLst>
              <a:outerShdw blurRad="50800" dist="38100" dir="5400000" algn="t" rotWithShape="0">
                <a:prstClr val="black">
                  <a:alpha val="40000"/>
                </a:prstClr>
              </a:outerShdw>
            </a:effectLst>
          </p:grpSpPr>
          <p:sp>
            <p:nvSpPr>
              <p:cNvPr id="5" name="Freeform 57">
                <a:extLst>
                  <a:ext uri="{FF2B5EF4-FFF2-40B4-BE49-F238E27FC236}">
                    <a16:creationId xmlns:a16="http://schemas.microsoft.com/office/drawing/2014/main" id="{CC31F195-7638-4BB5-90DF-5A59403519D5}"/>
                  </a:ext>
                </a:extLst>
              </p:cNvPr>
              <p:cNvSpPr>
                <a:spLocks/>
              </p:cNvSpPr>
              <p:nvPr/>
            </p:nvSpPr>
            <p:spPr bwMode="auto">
              <a:xfrm>
                <a:off x="2602471" y="2506223"/>
                <a:ext cx="1103878" cy="3213695"/>
              </a:xfrm>
              <a:custGeom>
                <a:avLst/>
                <a:gdLst>
                  <a:gd name="T0" fmla="*/ 1462 w 1512"/>
                  <a:gd name="T1" fmla="*/ 1262 h 4401"/>
                  <a:gd name="T2" fmla="*/ 1407 w 1512"/>
                  <a:gd name="T3" fmla="*/ 1188 h 4401"/>
                  <a:gd name="T4" fmla="*/ 1339 w 1512"/>
                  <a:gd name="T5" fmla="*/ 1141 h 4401"/>
                  <a:gd name="T6" fmla="*/ 1317 w 1512"/>
                  <a:gd name="T7" fmla="*/ 1132 h 4401"/>
                  <a:gd name="T8" fmla="*/ 1292 w 1512"/>
                  <a:gd name="T9" fmla="*/ 1144 h 4401"/>
                  <a:gd name="T10" fmla="*/ 1292 w 1512"/>
                  <a:gd name="T11" fmla="*/ 1122 h 4401"/>
                  <a:gd name="T12" fmla="*/ 989 w 1512"/>
                  <a:gd name="T13" fmla="*/ 1000 h 4401"/>
                  <a:gd name="T14" fmla="*/ 1124 w 1512"/>
                  <a:gd name="T15" fmla="*/ 926 h 4401"/>
                  <a:gd name="T16" fmla="*/ 1169 w 1512"/>
                  <a:gd name="T17" fmla="*/ 894 h 4401"/>
                  <a:gd name="T18" fmla="*/ 1237 w 1512"/>
                  <a:gd name="T19" fmla="*/ 786 h 4401"/>
                  <a:gd name="T20" fmla="*/ 1261 w 1512"/>
                  <a:gd name="T21" fmla="*/ 630 h 4401"/>
                  <a:gd name="T22" fmla="*/ 1237 w 1512"/>
                  <a:gd name="T23" fmla="*/ 452 h 4401"/>
                  <a:gd name="T24" fmla="*/ 1169 w 1512"/>
                  <a:gd name="T25" fmla="*/ 281 h 4401"/>
                  <a:gd name="T26" fmla="*/ 1067 w 1512"/>
                  <a:gd name="T27" fmla="*/ 136 h 4401"/>
                  <a:gd name="T28" fmla="*/ 938 w 1512"/>
                  <a:gd name="T29" fmla="*/ 35 h 4401"/>
                  <a:gd name="T30" fmla="*/ 806 w 1512"/>
                  <a:gd name="T31" fmla="*/ 2 h 4401"/>
                  <a:gd name="T32" fmla="*/ 698 w 1512"/>
                  <a:gd name="T33" fmla="*/ 41 h 4401"/>
                  <a:gd name="T34" fmla="*/ 700 w 1512"/>
                  <a:gd name="T35" fmla="*/ 38 h 4401"/>
                  <a:gd name="T36" fmla="*/ 418 w 1512"/>
                  <a:gd name="T37" fmla="*/ 245 h 4401"/>
                  <a:gd name="T38" fmla="*/ 372 w 1512"/>
                  <a:gd name="T39" fmla="*/ 290 h 4401"/>
                  <a:gd name="T40" fmla="*/ 338 w 1512"/>
                  <a:gd name="T41" fmla="*/ 351 h 4401"/>
                  <a:gd name="T42" fmla="*/ 316 w 1512"/>
                  <a:gd name="T43" fmla="*/ 426 h 4401"/>
                  <a:gd name="T44" fmla="*/ 308 w 1512"/>
                  <a:gd name="T45" fmla="*/ 514 h 4401"/>
                  <a:gd name="T46" fmla="*/ 336 w 1512"/>
                  <a:gd name="T47" fmla="*/ 698 h 4401"/>
                  <a:gd name="T48" fmla="*/ 374 w 1512"/>
                  <a:gd name="T49" fmla="*/ 797 h 4401"/>
                  <a:gd name="T50" fmla="*/ 355 w 1512"/>
                  <a:gd name="T51" fmla="*/ 807 h 4401"/>
                  <a:gd name="T52" fmla="*/ 284 w 1512"/>
                  <a:gd name="T53" fmla="*/ 853 h 4401"/>
                  <a:gd name="T54" fmla="*/ 79 w 1512"/>
                  <a:gd name="T55" fmla="*/ 984 h 4401"/>
                  <a:gd name="T56" fmla="*/ 47 w 1512"/>
                  <a:gd name="T57" fmla="*/ 1013 h 4401"/>
                  <a:gd name="T58" fmla="*/ 22 w 1512"/>
                  <a:gd name="T59" fmla="*/ 1052 h 4401"/>
                  <a:gd name="T60" fmla="*/ 6 w 1512"/>
                  <a:gd name="T61" fmla="*/ 1101 h 4401"/>
                  <a:gd name="T62" fmla="*/ 0 w 1512"/>
                  <a:gd name="T63" fmla="*/ 1158 h 4401"/>
                  <a:gd name="T64" fmla="*/ 0 w 1512"/>
                  <a:gd name="T65" fmla="*/ 2527 h 4401"/>
                  <a:gd name="T66" fmla="*/ 17 w 1512"/>
                  <a:gd name="T67" fmla="*/ 2634 h 4401"/>
                  <a:gd name="T68" fmla="*/ 65 w 1512"/>
                  <a:gd name="T69" fmla="*/ 2726 h 4401"/>
                  <a:gd name="T70" fmla="*/ 134 w 1512"/>
                  <a:gd name="T71" fmla="*/ 2794 h 4401"/>
                  <a:gd name="T72" fmla="*/ 217 w 1512"/>
                  <a:gd name="T73" fmla="*/ 2829 h 4401"/>
                  <a:gd name="T74" fmla="*/ 272 w 1512"/>
                  <a:gd name="T75" fmla="*/ 2813 h 4401"/>
                  <a:gd name="T76" fmla="*/ 272 w 1512"/>
                  <a:gd name="T77" fmla="*/ 4401 h 4401"/>
                  <a:gd name="T78" fmla="*/ 414 w 1512"/>
                  <a:gd name="T79" fmla="*/ 4401 h 4401"/>
                  <a:gd name="T80" fmla="*/ 552 w 1512"/>
                  <a:gd name="T81" fmla="*/ 4401 h 4401"/>
                  <a:gd name="T82" fmla="*/ 697 w 1512"/>
                  <a:gd name="T83" fmla="*/ 4401 h 4401"/>
                  <a:gd name="T84" fmla="*/ 785 w 1512"/>
                  <a:gd name="T85" fmla="*/ 4377 h 4401"/>
                  <a:gd name="T86" fmla="*/ 790 w 1512"/>
                  <a:gd name="T87" fmla="*/ 4374 h 4401"/>
                  <a:gd name="T88" fmla="*/ 798 w 1512"/>
                  <a:gd name="T89" fmla="*/ 4379 h 4401"/>
                  <a:gd name="T90" fmla="*/ 878 w 1512"/>
                  <a:gd name="T91" fmla="*/ 4401 h 4401"/>
                  <a:gd name="T92" fmla="*/ 1002 w 1512"/>
                  <a:gd name="T93" fmla="*/ 4401 h 4401"/>
                  <a:gd name="T94" fmla="*/ 1167 w 1512"/>
                  <a:gd name="T95" fmla="*/ 4401 h 4401"/>
                  <a:gd name="T96" fmla="*/ 1292 w 1512"/>
                  <a:gd name="T97" fmla="*/ 4401 h 4401"/>
                  <a:gd name="T98" fmla="*/ 1292 w 1512"/>
                  <a:gd name="T99" fmla="*/ 2927 h 4401"/>
                  <a:gd name="T100" fmla="*/ 1407 w 1512"/>
                  <a:gd name="T101" fmla="*/ 2899 h 4401"/>
                  <a:gd name="T102" fmla="*/ 1462 w 1512"/>
                  <a:gd name="T103" fmla="*/ 2858 h 4401"/>
                  <a:gd name="T104" fmla="*/ 1499 w 1512"/>
                  <a:gd name="T105" fmla="*/ 2788 h 4401"/>
                  <a:gd name="T106" fmla="*/ 1512 w 1512"/>
                  <a:gd name="T107" fmla="*/ 2697 h 4401"/>
                  <a:gd name="T108" fmla="*/ 1512 w 1512"/>
                  <a:gd name="T109" fmla="*/ 1452 h 4401"/>
                  <a:gd name="T110" fmla="*/ 1499 w 1512"/>
                  <a:gd name="T111" fmla="*/ 1354 h 4401"/>
                  <a:gd name="T112" fmla="*/ 1462 w 1512"/>
                  <a:gd name="T113" fmla="*/ 1262 h 4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2" h="4401">
                    <a:moveTo>
                      <a:pt x="1462" y="1262"/>
                    </a:moveTo>
                    <a:cubicBezTo>
                      <a:pt x="1446" y="1234"/>
                      <a:pt x="1428" y="1209"/>
                      <a:pt x="1407" y="1188"/>
                    </a:cubicBezTo>
                    <a:cubicBezTo>
                      <a:pt x="1386" y="1167"/>
                      <a:pt x="1363" y="1151"/>
                      <a:pt x="1339" y="1141"/>
                    </a:cubicBezTo>
                    <a:cubicBezTo>
                      <a:pt x="1317" y="1132"/>
                      <a:pt x="1317" y="1132"/>
                      <a:pt x="1317" y="1132"/>
                    </a:cubicBezTo>
                    <a:cubicBezTo>
                      <a:pt x="1292" y="1144"/>
                      <a:pt x="1292" y="1144"/>
                      <a:pt x="1292" y="1144"/>
                    </a:cubicBezTo>
                    <a:cubicBezTo>
                      <a:pt x="1292" y="1122"/>
                      <a:pt x="1292" y="1122"/>
                      <a:pt x="1292" y="1122"/>
                    </a:cubicBezTo>
                    <a:cubicBezTo>
                      <a:pt x="989" y="1000"/>
                      <a:pt x="989" y="1000"/>
                      <a:pt x="989" y="1000"/>
                    </a:cubicBezTo>
                    <a:cubicBezTo>
                      <a:pt x="1036" y="974"/>
                      <a:pt x="1126" y="925"/>
                      <a:pt x="1124" y="926"/>
                    </a:cubicBezTo>
                    <a:cubicBezTo>
                      <a:pt x="1140" y="918"/>
                      <a:pt x="1156" y="907"/>
                      <a:pt x="1169" y="894"/>
                    </a:cubicBezTo>
                    <a:cubicBezTo>
                      <a:pt x="1198" y="867"/>
                      <a:pt x="1221" y="831"/>
                      <a:pt x="1237" y="786"/>
                    </a:cubicBezTo>
                    <a:cubicBezTo>
                      <a:pt x="1252" y="742"/>
                      <a:pt x="1261" y="689"/>
                      <a:pt x="1261" y="630"/>
                    </a:cubicBezTo>
                    <a:cubicBezTo>
                      <a:pt x="1261" y="571"/>
                      <a:pt x="1252" y="510"/>
                      <a:pt x="1237" y="452"/>
                    </a:cubicBezTo>
                    <a:cubicBezTo>
                      <a:pt x="1221" y="392"/>
                      <a:pt x="1198" y="335"/>
                      <a:pt x="1169" y="281"/>
                    </a:cubicBezTo>
                    <a:cubicBezTo>
                      <a:pt x="1140" y="227"/>
                      <a:pt x="1106" y="178"/>
                      <a:pt x="1067" y="136"/>
                    </a:cubicBezTo>
                    <a:cubicBezTo>
                      <a:pt x="1028" y="93"/>
                      <a:pt x="984" y="59"/>
                      <a:pt x="938" y="35"/>
                    </a:cubicBezTo>
                    <a:cubicBezTo>
                      <a:pt x="892" y="10"/>
                      <a:pt x="847" y="0"/>
                      <a:pt x="806" y="2"/>
                    </a:cubicBezTo>
                    <a:cubicBezTo>
                      <a:pt x="765" y="3"/>
                      <a:pt x="729" y="17"/>
                      <a:pt x="698" y="41"/>
                    </a:cubicBezTo>
                    <a:cubicBezTo>
                      <a:pt x="698" y="40"/>
                      <a:pt x="699" y="39"/>
                      <a:pt x="700" y="38"/>
                    </a:cubicBezTo>
                    <a:cubicBezTo>
                      <a:pt x="606" y="107"/>
                      <a:pt x="512" y="176"/>
                      <a:pt x="418" y="245"/>
                    </a:cubicBezTo>
                    <a:cubicBezTo>
                      <a:pt x="401" y="257"/>
                      <a:pt x="386" y="272"/>
                      <a:pt x="372" y="290"/>
                    </a:cubicBezTo>
                    <a:cubicBezTo>
                      <a:pt x="359" y="308"/>
                      <a:pt x="347" y="328"/>
                      <a:pt x="338" y="351"/>
                    </a:cubicBezTo>
                    <a:cubicBezTo>
                      <a:pt x="328" y="373"/>
                      <a:pt x="321" y="398"/>
                      <a:pt x="316" y="426"/>
                    </a:cubicBezTo>
                    <a:cubicBezTo>
                      <a:pt x="311" y="453"/>
                      <a:pt x="308" y="483"/>
                      <a:pt x="308" y="514"/>
                    </a:cubicBezTo>
                    <a:cubicBezTo>
                      <a:pt x="308" y="575"/>
                      <a:pt x="318" y="637"/>
                      <a:pt x="336" y="698"/>
                    </a:cubicBezTo>
                    <a:cubicBezTo>
                      <a:pt x="346" y="732"/>
                      <a:pt x="359" y="765"/>
                      <a:pt x="374" y="797"/>
                    </a:cubicBezTo>
                    <a:cubicBezTo>
                      <a:pt x="368" y="800"/>
                      <a:pt x="361" y="804"/>
                      <a:pt x="355" y="807"/>
                    </a:cubicBezTo>
                    <a:cubicBezTo>
                      <a:pt x="331" y="823"/>
                      <a:pt x="308" y="838"/>
                      <a:pt x="284" y="853"/>
                    </a:cubicBezTo>
                    <a:cubicBezTo>
                      <a:pt x="216" y="897"/>
                      <a:pt x="147" y="940"/>
                      <a:pt x="79" y="984"/>
                    </a:cubicBezTo>
                    <a:cubicBezTo>
                      <a:pt x="67" y="991"/>
                      <a:pt x="56" y="1001"/>
                      <a:pt x="47" y="1013"/>
                    </a:cubicBezTo>
                    <a:cubicBezTo>
                      <a:pt x="37" y="1024"/>
                      <a:pt x="29" y="1037"/>
                      <a:pt x="22" y="1052"/>
                    </a:cubicBezTo>
                    <a:cubicBezTo>
                      <a:pt x="15" y="1067"/>
                      <a:pt x="9" y="1083"/>
                      <a:pt x="6" y="1101"/>
                    </a:cubicBezTo>
                    <a:cubicBezTo>
                      <a:pt x="2" y="1118"/>
                      <a:pt x="0" y="1138"/>
                      <a:pt x="0" y="1158"/>
                    </a:cubicBezTo>
                    <a:cubicBezTo>
                      <a:pt x="0" y="2527"/>
                      <a:pt x="0" y="2527"/>
                      <a:pt x="0" y="2527"/>
                    </a:cubicBezTo>
                    <a:cubicBezTo>
                      <a:pt x="0" y="2564"/>
                      <a:pt x="6" y="2600"/>
                      <a:pt x="17" y="2634"/>
                    </a:cubicBezTo>
                    <a:cubicBezTo>
                      <a:pt x="29" y="2667"/>
                      <a:pt x="45" y="2698"/>
                      <a:pt x="65" y="2726"/>
                    </a:cubicBezTo>
                    <a:cubicBezTo>
                      <a:pt x="84" y="2753"/>
                      <a:pt x="108" y="2777"/>
                      <a:pt x="134" y="2794"/>
                    </a:cubicBezTo>
                    <a:cubicBezTo>
                      <a:pt x="159" y="2812"/>
                      <a:pt x="187" y="2824"/>
                      <a:pt x="217" y="2829"/>
                    </a:cubicBezTo>
                    <a:cubicBezTo>
                      <a:pt x="272" y="2813"/>
                      <a:pt x="272" y="2813"/>
                      <a:pt x="272" y="2813"/>
                    </a:cubicBezTo>
                    <a:cubicBezTo>
                      <a:pt x="272" y="4401"/>
                      <a:pt x="272" y="4401"/>
                      <a:pt x="272" y="4401"/>
                    </a:cubicBezTo>
                    <a:cubicBezTo>
                      <a:pt x="414" y="4401"/>
                      <a:pt x="414" y="4401"/>
                      <a:pt x="414" y="4401"/>
                    </a:cubicBezTo>
                    <a:cubicBezTo>
                      <a:pt x="552" y="4401"/>
                      <a:pt x="552" y="4401"/>
                      <a:pt x="552" y="4401"/>
                    </a:cubicBezTo>
                    <a:cubicBezTo>
                      <a:pt x="697" y="4401"/>
                      <a:pt x="697" y="4401"/>
                      <a:pt x="697" y="4401"/>
                    </a:cubicBezTo>
                    <a:cubicBezTo>
                      <a:pt x="728" y="4401"/>
                      <a:pt x="758" y="4393"/>
                      <a:pt x="785" y="4377"/>
                    </a:cubicBezTo>
                    <a:cubicBezTo>
                      <a:pt x="787" y="4377"/>
                      <a:pt x="789" y="4375"/>
                      <a:pt x="790" y="4374"/>
                    </a:cubicBezTo>
                    <a:cubicBezTo>
                      <a:pt x="793" y="4376"/>
                      <a:pt x="796" y="4378"/>
                      <a:pt x="798" y="4379"/>
                    </a:cubicBezTo>
                    <a:cubicBezTo>
                      <a:pt x="823" y="4393"/>
                      <a:pt x="850" y="4401"/>
                      <a:pt x="878" y="4401"/>
                    </a:cubicBezTo>
                    <a:cubicBezTo>
                      <a:pt x="1002" y="4401"/>
                      <a:pt x="1002" y="4401"/>
                      <a:pt x="1002" y="4401"/>
                    </a:cubicBezTo>
                    <a:cubicBezTo>
                      <a:pt x="1167" y="4401"/>
                      <a:pt x="1167" y="4401"/>
                      <a:pt x="1167" y="4401"/>
                    </a:cubicBezTo>
                    <a:cubicBezTo>
                      <a:pt x="1292" y="4401"/>
                      <a:pt x="1292" y="4401"/>
                      <a:pt x="1292" y="4401"/>
                    </a:cubicBezTo>
                    <a:cubicBezTo>
                      <a:pt x="1292" y="2927"/>
                      <a:pt x="1292" y="2927"/>
                      <a:pt x="1292" y="2927"/>
                    </a:cubicBezTo>
                    <a:cubicBezTo>
                      <a:pt x="1324" y="2920"/>
                      <a:pt x="1392" y="2905"/>
                      <a:pt x="1407" y="2899"/>
                    </a:cubicBezTo>
                    <a:cubicBezTo>
                      <a:pt x="1428" y="2891"/>
                      <a:pt x="1446" y="2877"/>
                      <a:pt x="1462" y="2858"/>
                    </a:cubicBezTo>
                    <a:cubicBezTo>
                      <a:pt x="1478" y="2839"/>
                      <a:pt x="1490" y="2815"/>
                      <a:pt x="1499" y="2788"/>
                    </a:cubicBezTo>
                    <a:cubicBezTo>
                      <a:pt x="1508" y="2761"/>
                      <a:pt x="1512" y="2730"/>
                      <a:pt x="1512" y="2697"/>
                    </a:cubicBezTo>
                    <a:cubicBezTo>
                      <a:pt x="1512" y="1452"/>
                      <a:pt x="1512" y="1452"/>
                      <a:pt x="1512" y="1452"/>
                    </a:cubicBezTo>
                    <a:cubicBezTo>
                      <a:pt x="1512" y="1419"/>
                      <a:pt x="1508" y="1385"/>
                      <a:pt x="1499" y="1354"/>
                    </a:cubicBezTo>
                    <a:cubicBezTo>
                      <a:pt x="1490" y="1321"/>
                      <a:pt x="1478" y="1290"/>
                      <a:pt x="1462" y="126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62">
                <a:extLst>
                  <a:ext uri="{FF2B5EF4-FFF2-40B4-BE49-F238E27FC236}">
                    <a16:creationId xmlns:a16="http://schemas.microsoft.com/office/drawing/2014/main" id="{E37E7B5F-7F0F-487C-B4F4-B72E7BB7EC0A}"/>
                  </a:ext>
                </a:extLst>
              </p:cNvPr>
              <p:cNvSpPr>
                <a:spLocks noEditPoints="1"/>
              </p:cNvSpPr>
              <p:nvPr/>
            </p:nvSpPr>
            <p:spPr bwMode="auto">
              <a:xfrm>
                <a:off x="2803290" y="2506223"/>
                <a:ext cx="903060" cy="3213695"/>
              </a:xfrm>
              <a:custGeom>
                <a:avLst/>
                <a:gdLst>
                  <a:gd name="T0" fmla="*/ 1237 w 1237"/>
                  <a:gd name="T1" fmla="*/ 1452 h 4401"/>
                  <a:gd name="T2" fmla="*/ 1237 w 1237"/>
                  <a:gd name="T3" fmla="*/ 2697 h 4401"/>
                  <a:gd name="T4" fmla="*/ 1224 w 1237"/>
                  <a:gd name="T5" fmla="*/ 2788 h 4401"/>
                  <a:gd name="T6" fmla="*/ 1187 w 1237"/>
                  <a:gd name="T7" fmla="*/ 2858 h 4401"/>
                  <a:gd name="T8" fmla="*/ 1132 w 1237"/>
                  <a:gd name="T9" fmla="*/ 2899 h 4401"/>
                  <a:gd name="T10" fmla="*/ 1064 w 1237"/>
                  <a:gd name="T11" fmla="*/ 2906 h 4401"/>
                  <a:gd name="T12" fmla="*/ 1042 w 1237"/>
                  <a:gd name="T13" fmla="*/ 2902 h 4401"/>
                  <a:gd name="T14" fmla="*/ 1042 w 1237"/>
                  <a:gd name="T15" fmla="*/ 1132 h 4401"/>
                  <a:gd name="T16" fmla="*/ 1064 w 1237"/>
                  <a:gd name="T17" fmla="*/ 1141 h 4401"/>
                  <a:gd name="T18" fmla="*/ 1132 w 1237"/>
                  <a:gd name="T19" fmla="*/ 1188 h 4401"/>
                  <a:gd name="T20" fmla="*/ 1187 w 1237"/>
                  <a:gd name="T21" fmla="*/ 1262 h 4401"/>
                  <a:gd name="T22" fmla="*/ 1224 w 1237"/>
                  <a:gd name="T23" fmla="*/ 1354 h 4401"/>
                  <a:gd name="T24" fmla="*/ 1237 w 1237"/>
                  <a:gd name="T25" fmla="*/ 1452 h 4401"/>
                  <a:gd name="T26" fmla="*/ 419 w 1237"/>
                  <a:gd name="T27" fmla="*/ 691 h 4401"/>
                  <a:gd name="T28" fmla="*/ 531 w 1237"/>
                  <a:gd name="T29" fmla="*/ 836 h 4401"/>
                  <a:gd name="T30" fmla="*/ 663 w 1237"/>
                  <a:gd name="T31" fmla="*/ 926 h 4401"/>
                  <a:gd name="T32" fmla="*/ 792 w 1237"/>
                  <a:gd name="T33" fmla="*/ 945 h 4401"/>
                  <a:gd name="T34" fmla="*/ 894 w 1237"/>
                  <a:gd name="T35" fmla="*/ 894 h 4401"/>
                  <a:gd name="T36" fmla="*/ 962 w 1237"/>
                  <a:gd name="T37" fmla="*/ 786 h 4401"/>
                  <a:gd name="T38" fmla="*/ 986 w 1237"/>
                  <a:gd name="T39" fmla="*/ 630 h 4401"/>
                  <a:gd name="T40" fmla="*/ 962 w 1237"/>
                  <a:gd name="T41" fmla="*/ 452 h 4401"/>
                  <a:gd name="T42" fmla="*/ 894 w 1237"/>
                  <a:gd name="T43" fmla="*/ 281 h 4401"/>
                  <a:gd name="T44" fmla="*/ 792 w 1237"/>
                  <a:gd name="T45" fmla="*/ 136 h 4401"/>
                  <a:gd name="T46" fmla="*/ 663 w 1237"/>
                  <a:gd name="T47" fmla="*/ 35 h 4401"/>
                  <a:gd name="T48" fmla="*/ 531 w 1237"/>
                  <a:gd name="T49" fmla="*/ 2 h 4401"/>
                  <a:gd name="T50" fmla="*/ 419 w 1237"/>
                  <a:gd name="T51" fmla="*/ 43 h 4401"/>
                  <a:gd name="T52" fmla="*/ 342 w 1237"/>
                  <a:gd name="T53" fmla="*/ 151 h 4401"/>
                  <a:gd name="T54" fmla="*/ 314 w 1237"/>
                  <a:gd name="T55" fmla="*/ 318 h 4401"/>
                  <a:gd name="T56" fmla="*/ 342 w 1237"/>
                  <a:gd name="T57" fmla="*/ 512 h 4401"/>
                  <a:gd name="T58" fmla="*/ 419 w 1237"/>
                  <a:gd name="T59" fmla="*/ 691 h 4401"/>
                  <a:gd name="T60" fmla="*/ 277 w 1237"/>
                  <a:gd name="T61" fmla="*/ 4401 h 4401"/>
                  <a:gd name="T62" fmla="*/ 422 w 1237"/>
                  <a:gd name="T63" fmla="*/ 4401 h 4401"/>
                  <a:gd name="T64" fmla="*/ 510 w 1237"/>
                  <a:gd name="T65" fmla="*/ 4377 h 4401"/>
                  <a:gd name="T66" fmla="*/ 581 w 1237"/>
                  <a:gd name="T67" fmla="*/ 4315 h 4401"/>
                  <a:gd name="T68" fmla="*/ 629 w 1237"/>
                  <a:gd name="T69" fmla="*/ 4223 h 4401"/>
                  <a:gd name="T70" fmla="*/ 646 w 1237"/>
                  <a:gd name="T71" fmla="*/ 4111 h 4401"/>
                  <a:gd name="T72" fmla="*/ 646 w 1237"/>
                  <a:gd name="T73" fmla="*/ 2828 h 4401"/>
                  <a:gd name="T74" fmla="*/ 681 w 1237"/>
                  <a:gd name="T75" fmla="*/ 2834 h 4401"/>
                  <a:gd name="T76" fmla="*/ 681 w 1237"/>
                  <a:gd name="T77" fmla="*/ 4113 h 4401"/>
                  <a:gd name="T78" fmla="*/ 698 w 1237"/>
                  <a:gd name="T79" fmla="*/ 4225 h 4401"/>
                  <a:gd name="T80" fmla="*/ 744 w 1237"/>
                  <a:gd name="T81" fmla="*/ 4317 h 4401"/>
                  <a:gd name="T82" fmla="*/ 811 w 1237"/>
                  <a:gd name="T83" fmla="*/ 4378 h 4401"/>
                  <a:gd name="T84" fmla="*/ 892 w 1237"/>
                  <a:gd name="T85" fmla="*/ 4401 h 4401"/>
                  <a:gd name="T86" fmla="*/ 1017 w 1237"/>
                  <a:gd name="T87" fmla="*/ 4401 h 4401"/>
                  <a:gd name="T88" fmla="*/ 1017 w 1237"/>
                  <a:gd name="T89" fmla="*/ 1122 h 4401"/>
                  <a:gd name="T90" fmla="*/ 277 w 1237"/>
                  <a:gd name="T91" fmla="*/ 823 h 4401"/>
                  <a:gd name="T92" fmla="*/ 277 w 1237"/>
                  <a:gd name="T93" fmla="*/ 4401 h 4401"/>
                  <a:gd name="T94" fmla="*/ 136 w 1237"/>
                  <a:gd name="T95" fmla="*/ 787 h 4401"/>
                  <a:gd name="T96" fmla="*/ 66 w 1237"/>
                  <a:gd name="T97" fmla="*/ 818 h 4401"/>
                  <a:gd name="T98" fmla="*/ 17 w 1237"/>
                  <a:gd name="T99" fmla="*/ 888 h 4401"/>
                  <a:gd name="T100" fmla="*/ 0 w 1237"/>
                  <a:gd name="T101" fmla="*/ 989 h 4401"/>
                  <a:gd name="T102" fmla="*/ 0 w 1237"/>
                  <a:gd name="T103" fmla="*/ 2430 h 4401"/>
                  <a:gd name="T104" fmla="*/ 17 w 1237"/>
                  <a:gd name="T105" fmla="*/ 2542 h 4401"/>
                  <a:gd name="T106" fmla="*/ 66 w 1237"/>
                  <a:gd name="T107" fmla="*/ 2639 h 4401"/>
                  <a:gd name="T108" fmla="*/ 136 w 1237"/>
                  <a:gd name="T109" fmla="*/ 2712 h 4401"/>
                  <a:gd name="T110" fmla="*/ 220 w 1237"/>
                  <a:gd name="T111" fmla="*/ 2749 h 4401"/>
                  <a:gd name="T112" fmla="*/ 248 w 1237"/>
                  <a:gd name="T113" fmla="*/ 2754 h 4401"/>
                  <a:gd name="T114" fmla="*/ 248 w 1237"/>
                  <a:gd name="T115" fmla="*/ 811 h 4401"/>
                  <a:gd name="T116" fmla="*/ 220 w 1237"/>
                  <a:gd name="T117" fmla="*/ 800 h 4401"/>
                  <a:gd name="T118" fmla="*/ 136 w 1237"/>
                  <a:gd name="T119" fmla="*/ 787 h 4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37" h="4401">
                    <a:moveTo>
                      <a:pt x="1237" y="1452"/>
                    </a:moveTo>
                    <a:cubicBezTo>
                      <a:pt x="1237" y="2697"/>
                      <a:pt x="1237" y="2697"/>
                      <a:pt x="1237" y="2697"/>
                    </a:cubicBezTo>
                    <a:cubicBezTo>
                      <a:pt x="1237" y="2730"/>
                      <a:pt x="1233" y="2761"/>
                      <a:pt x="1224" y="2788"/>
                    </a:cubicBezTo>
                    <a:cubicBezTo>
                      <a:pt x="1215" y="2815"/>
                      <a:pt x="1203" y="2839"/>
                      <a:pt x="1187" y="2858"/>
                    </a:cubicBezTo>
                    <a:cubicBezTo>
                      <a:pt x="1171" y="2877"/>
                      <a:pt x="1153" y="2891"/>
                      <a:pt x="1132" y="2899"/>
                    </a:cubicBezTo>
                    <a:cubicBezTo>
                      <a:pt x="1111" y="2908"/>
                      <a:pt x="1088" y="2910"/>
                      <a:pt x="1064" y="2906"/>
                    </a:cubicBezTo>
                    <a:cubicBezTo>
                      <a:pt x="1042" y="2902"/>
                      <a:pt x="1042" y="2902"/>
                      <a:pt x="1042" y="2902"/>
                    </a:cubicBezTo>
                    <a:cubicBezTo>
                      <a:pt x="1042" y="1132"/>
                      <a:pt x="1042" y="1132"/>
                      <a:pt x="1042" y="1132"/>
                    </a:cubicBezTo>
                    <a:cubicBezTo>
                      <a:pt x="1064" y="1141"/>
                      <a:pt x="1064" y="1141"/>
                      <a:pt x="1064" y="1141"/>
                    </a:cubicBezTo>
                    <a:cubicBezTo>
                      <a:pt x="1088" y="1151"/>
                      <a:pt x="1111" y="1167"/>
                      <a:pt x="1132" y="1188"/>
                    </a:cubicBezTo>
                    <a:cubicBezTo>
                      <a:pt x="1153" y="1209"/>
                      <a:pt x="1171" y="1234"/>
                      <a:pt x="1187" y="1262"/>
                    </a:cubicBezTo>
                    <a:cubicBezTo>
                      <a:pt x="1203" y="1290"/>
                      <a:pt x="1215" y="1321"/>
                      <a:pt x="1224" y="1354"/>
                    </a:cubicBezTo>
                    <a:cubicBezTo>
                      <a:pt x="1233" y="1385"/>
                      <a:pt x="1237" y="1419"/>
                      <a:pt x="1237" y="1452"/>
                    </a:cubicBezTo>
                    <a:close/>
                    <a:moveTo>
                      <a:pt x="419" y="691"/>
                    </a:moveTo>
                    <a:cubicBezTo>
                      <a:pt x="451" y="747"/>
                      <a:pt x="489" y="796"/>
                      <a:pt x="531" y="836"/>
                    </a:cubicBezTo>
                    <a:cubicBezTo>
                      <a:pt x="572" y="876"/>
                      <a:pt x="617" y="907"/>
                      <a:pt x="663" y="926"/>
                    </a:cubicBezTo>
                    <a:cubicBezTo>
                      <a:pt x="709" y="945"/>
                      <a:pt x="753" y="951"/>
                      <a:pt x="792" y="945"/>
                    </a:cubicBezTo>
                    <a:cubicBezTo>
                      <a:pt x="831" y="939"/>
                      <a:pt x="865" y="921"/>
                      <a:pt x="894" y="894"/>
                    </a:cubicBezTo>
                    <a:cubicBezTo>
                      <a:pt x="923" y="867"/>
                      <a:pt x="946" y="831"/>
                      <a:pt x="962" y="786"/>
                    </a:cubicBezTo>
                    <a:cubicBezTo>
                      <a:pt x="977" y="742"/>
                      <a:pt x="986" y="689"/>
                      <a:pt x="986" y="630"/>
                    </a:cubicBezTo>
                    <a:cubicBezTo>
                      <a:pt x="986" y="571"/>
                      <a:pt x="977" y="510"/>
                      <a:pt x="962" y="452"/>
                    </a:cubicBezTo>
                    <a:cubicBezTo>
                      <a:pt x="946" y="392"/>
                      <a:pt x="923" y="335"/>
                      <a:pt x="894" y="281"/>
                    </a:cubicBezTo>
                    <a:cubicBezTo>
                      <a:pt x="865" y="227"/>
                      <a:pt x="831" y="178"/>
                      <a:pt x="792" y="136"/>
                    </a:cubicBezTo>
                    <a:cubicBezTo>
                      <a:pt x="753" y="93"/>
                      <a:pt x="709" y="59"/>
                      <a:pt x="663" y="35"/>
                    </a:cubicBezTo>
                    <a:cubicBezTo>
                      <a:pt x="617" y="10"/>
                      <a:pt x="572" y="0"/>
                      <a:pt x="531" y="2"/>
                    </a:cubicBezTo>
                    <a:cubicBezTo>
                      <a:pt x="489" y="3"/>
                      <a:pt x="451" y="18"/>
                      <a:pt x="419" y="43"/>
                    </a:cubicBezTo>
                    <a:cubicBezTo>
                      <a:pt x="387" y="68"/>
                      <a:pt x="361" y="105"/>
                      <a:pt x="342" y="151"/>
                    </a:cubicBezTo>
                    <a:cubicBezTo>
                      <a:pt x="324" y="198"/>
                      <a:pt x="314" y="254"/>
                      <a:pt x="314" y="318"/>
                    </a:cubicBezTo>
                    <a:cubicBezTo>
                      <a:pt x="314" y="382"/>
                      <a:pt x="324" y="448"/>
                      <a:pt x="342" y="512"/>
                    </a:cubicBezTo>
                    <a:cubicBezTo>
                      <a:pt x="361" y="575"/>
                      <a:pt x="387" y="636"/>
                      <a:pt x="419" y="691"/>
                    </a:cubicBezTo>
                    <a:close/>
                    <a:moveTo>
                      <a:pt x="277" y="4401"/>
                    </a:moveTo>
                    <a:cubicBezTo>
                      <a:pt x="422" y="4401"/>
                      <a:pt x="422" y="4401"/>
                      <a:pt x="422" y="4401"/>
                    </a:cubicBezTo>
                    <a:cubicBezTo>
                      <a:pt x="453" y="4401"/>
                      <a:pt x="483" y="4393"/>
                      <a:pt x="510" y="4377"/>
                    </a:cubicBezTo>
                    <a:cubicBezTo>
                      <a:pt x="537" y="4363"/>
                      <a:pt x="561" y="4341"/>
                      <a:pt x="581" y="4315"/>
                    </a:cubicBezTo>
                    <a:cubicBezTo>
                      <a:pt x="601" y="4289"/>
                      <a:pt x="617" y="4258"/>
                      <a:pt x="629" y="4223"/>
                    </a:cubicBezTo>
                    <a:cubicBezTo>
                      <a:pt x="640" y="4189"/>
                      <a:pt x="646" y="4151"/>
                      <a:pt x="646" y="4111"/>
                    </a:cubicBezTo>
                    <a:cubicBezTo>
                      <a:pt x="646" y="2828"/>
                      <a:pt x="646" y="2828"/>
                      <a:pt x="646" y="2828"/>
                    </a:cubicBezTo>
                    <a:cubicBezTo>
                      <a:pt x="681" y="2834"/>
                      <a:pt x="681" y="2834"/>
                      <a:pt x="681" y="2834"/>
                    </a:cubicBezTo>
                    <a:cubicBezTo>
                      <a:pt x="681" y="4113"/>
                      <a:pt x="681" y="4113"/>
                      <a:pt x="681" y="4113"/>
                    </a:cubicBezTo>
                    <a:cubicBezTo>
                      <a:pt x="681" y="4152"/>
                      <a:pt x="687" y="4190"/>
                      <a:pt x="698" y="4225"/>
                    </a:cubicBezTo>
                    <a:cubicBezTo>
                      <a:pt x="709" y="4259"/>
                      <a:pt x="725" y="4290"/>
                      <a:pt x="744" y="4317"/>
                    </a:cubicBezTo>
                    <a:cubicBezTo>
                      <a:pt x="763" y="4343"/>
                      <a:pt x="786" y="4364"/>
                      <a:pt x="811" y="4378"/>
                    </a:cubicBezTo>
                    <a:cubicBezTo>
                      <a:pt x="836" y="4393"/>
                      <a:pt x="863" y="4401"/>
                      <a:pt x="892" y="4401"/>
                    </a:cubicBezTo>
                    <a:cubicBezTo>
                      <a:pt x="1017" y="4401"/>
                      <a:pt x="1017" y="4401"/>
                      <a:pt x="1017" y="4401"/>
                    </a:cubicBezTo>
                    <a:cubicBezTo>
                      <a:pt x="1017" y="1122"/>
                      <a:pt x="1017" y="1122"/>
                      <a:pt x="1017" y="1122"/>
                    </a:cubicBezTo>
                    <a:cubicBezTo>
                      <a:pt x="277" y="823"/>
                      <a:pt x="277" y="823"/>
                      <a:pt x="277" y="823"/>
                    </a:cubicBezTo>
                    <a:lnTo>
                      <a:pt x="277" y="4401"/>
                    </a:lnTo>
                    <a:close/>
                    <a:moveTo>
                      <a:pt x="136" y="787"/>
                    </a:moveTo>
                    <a:cubicBezTo>
                      <a:pt x="109" y="791"/>
                      <a:pt x="86" y="801"/>
                      <a:pt x="66" y="818"/>
                    </a:cubicBezTo>
                    <a:cubicBezTo>
                      <a:pt x="45" y="835"/>
                      <a:pt x="29" y="859"/>
                      <a:pt x="17" y="888"/>
                    </a:cubicBezTo>
                    <a:cubicBezTo>
                      <a:pt x="6" y="916"/>
                      <a:pt x="0" y="950"/>
                      <a:pt x="0" y="989"/>
                    </a:cubicBezTo>
                    <a:cubicBezTo>
                      <a:pt x="0" y="2430"/>
                      <a:pt x="0" y="2430"/>
                      <a:pt x="0" y="2430"/>
                    </a:cubicBezTo>
                    <a:cubicBezTo>
                      <a:pt x="0" y="2468"/>
                      <a:pt x="6" y="2506"/>
                      <a:pt x="17" y="2542"/>
                    </a:cubicBezTo>
                    <a:cubicBezTo>
                      <a:pt x="29" y="2577"/>
                      <a:pt x="45" y="2610"/>
                      <a:pt x="66" y="2639"/>
                    </a:cubicBezTo>
                    <a:cubicBezTo>
                      <a:pt x="86" y="2668"/>
                      <a:pt x="109" y="2693"/>
                      <a:pt x="136" y="2712"/>
                    </a:cubicBezTo>
                    <a:cubicBezTo>
                      <a:pt x="162" y="2731"/>
                      <a:pt x="191" y="2744"/>
                      <a:pt x="220" y="2749"/>
                    </a:cubicBezTo>
                    <a:cubicBezTo>
                      <a:pt x="248" y="2754"/>
                      <a:pt x="248" y="2754"/>
                      <a:pt x="248" y="2754"/>
                    </a:cubicBezTo>
                    <a:cubicBezTo>
                      <a:pt x="248" y="811"/>
                      <a:pt x="248" y="811"/>
                      <a:pt x="248" y="811"/>
                    </a:cubicBezTo>
                    <a:cubicBezTo>
                      <a:pt x="220" y="800"/>
                      <a:pt x="220" y="800"/>
                      <a:pt x="220" y="800"/>
                    </a:cubicBezTo>
                    <a:cubicBezTo>
                      <a:pt x="191" y="788"/>
                      <a:pt x="162" y="784"/>
                      <a:pt x="136" y="78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 name="Freeform 63">
                <a:extLst>
                  <a:ext uri="{FF2B5EF4-FFF2-40B4-BE49-F238E27FC236}">
                    <a16:creationId xmlns:a16="http://schemas.microsoft.com/office/drawing/2014/main" id="{016C5B83-2CC5-429F-BA6A-34F3BDD421E5}"/>
                  </a:ext>
                </a:extLst>
              </p:cNvPr>
              <p:cNvSpPr>
                <a:spLocks/>
              </p:cNvSpPr>
              <p:nvPr/>
            </p:nvSpPr>
            <p:spPr bwMode="auto">
              <a:xfrm>
                <a:off x="2602471" y="3095699"/>
                <a:ext cx="361472" cy="1476471"/>
              </a:xfrm>
              <a:custGeom>
                <a:avLst/>
                <a:gdLst>
                  <a:gd name="T0" fmla="*/ 411 w 495"/>
                  <a:gd name="T1" fmla="*/ 1905 h 2022"/>
                  <a:gd name="T2" fmla="*/ 341 w 495"/>
                  <a:gd name="T3" fmla="*/ 1832 h 2022"/>
                  <a:gd name="T4" fmla="*/ 292 w 495"/>
                  <a:gd name="T5" fmla="*/ 1735 h 2022"/>
                  <a:gd name="T6" fmla="*/ 275 w 495"/>
                  <a:gd name="T7" fmla="*/ 1623 h 2022"/>
                  <a:gd name="T8" fmla="*/ 275 w 495"/>
                  <a:gd name="T9" fmla="*/ 182 h 2022"/>
                  <a:gd name="T10" fmla="*/ 280 w 495"/>
                  <a:gd name="T11" fmla="*/ 122 h 2022"/>
                  <a:gd name="T12" fmla="*/ 297 w 495"/>
                  <a:gd name="T13" fmla="*/ 70 h 2022"/>
                  <a:gd name="T14" fmla="*/ 322 w 495"/>
                  <a:gd name="T15" fmla="*/ 30 h 2022"/>
                  <a:gd name="T16" fmla="*/ 356 w 495"/>
                  <a:gd name="T17" fmla="*/ 0 h 2022"/>
                  <a:gd name="T18" fmla="*/ 284 w 495"/>
                  <a:gd name="T19" fmla="*/ 46 h 2022"/>
                  <a:gd name="T20" fmla="*/ 79 w 495"/>
                  <a:gd name="T21" fmla="*/ 177 h 2022"/>
                  <a:gd name="T22" fmla="*/ 47 w 495"/>
                  <a:gd name="T23" fmla="*/ 206 h 2022"/>
                  <a:gd name="T24" fmla="*/ 22 w 495"/>
                  <a:gd name="T25" fmla="*/ 245 h 2022"/>
                  <a:gd name="T26" fmla="*/ 6 w 495"/>
                  <a:gd name="T27" fmla="*/ 294 h 2022"/>
                  <a:gd name="T28" fmla="*/ 0 w 495"/>
                  <a:gd name="T29" fmla="*/ 351 h 2022"/>
                  <a:gd name="T30" fmla="*/ 0 w 495"/>
                  <a:gd name="T31" fmla="*/ 1720 h 2022"/>
                  <a:gd name="T32" fmla="*/ 17 w 495"/>
                  <a:gd name="T33" fmla="*/ 1827 h 2022"/>
                  <a:gd name="T34" fmla="*/ 65 w 495"/>
                  <a:gd name="T35" fmla="*/ 1919 h 2022"/>
                  <a:gd name="T36" fmla="*/ 134 w 495"/>
                  <a:gd name="T37" fmla="*/ 1987 h 2022"/>
                  <a:gd name="T38" fmla="*/ 217 w 495"/>
                  <a:gd name="T39" fmla="*/ 2022 h 2022"/>
                  <a:gd name="T40" fmla="*/ 495 w 495"/>
                  <a:gd name="T41" fmla="*/ 1942 h 2022"/>
                  <a:gd name="T42" fmla="*/ 411 w 495"/>
                  <a:gd name="T43" fmla="*/ 190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95" h="2022">
                    <a:moveTo>
                      <a:pt x="411" y="1905"/>
                    </a:moveTo>
                    <a:cubicBezTo>
                      <a:pt x="384" y="1886"/>
                      <a:pt x="361" y="1861"/>
                      <a:pt x="341" y="1832"/>
                    </a:cubicBezTo>
                    <a:cubicBezTo>
                      <a:pt x="320" y="1803"/>
                      <a:pt x="304" y="1770"/>
                      <a:pt x="292" y="1735"/>
                    </a:cubicBezTo>
                    <a:cubicBezTo>
                      <a:pt x="281" y="1699"/>
                      <a:pt x="275" y="1661"/>
                      <a:pt x="275" y="1623"/>
                    </a:cubicBezTo>
                    <a:cubicBezTo>
                      <a:pt x="275" y="182"/>
                      <a:pt x="275" y="182"/>
                      <a:pt x="275" y="182"/>
                    </a:cubicBezTo>
                    <a:cubicBezTo>
                      <a:pt x="275" y="160"/>
                      <a:pt x="277" y="140"/>
                      <a:pt x="280" y="122"/>
                    </a:cubicBezTo>
                    <a:cubicBezTo>
                      <a:pt x="284" y="103"/>
                      <a:pt x="290" y="86"/>
                      <a:pt x="297" y="70"/>
                    </a:cubicBezTo>
                    <a:cubicBezTo>
                      <a:pt x="304" y="55"/>
                      <a:pt x="312" y="41"/>
                      <a:pt x="322" y="30"/>
                    </a:cubicBezTo>
                    <a:cubicBezTo>
                      <a:pt x="332" y="18"/>
                      <a:pt x="343" y="8"/>
                      <a:pt x="356" y="0"/>
                    </a:cubicBezTo>
                    <a:cubicBezTo>
                      <a:pt x="331" y="15"/>
                      <a:pt x="308" y="31"/>
                      <a:pt x="284" y="46"/>
                    </a:cubicBezTo>
                    <a:cubicBezTo>
                      <a:pt x="216" y="90"/>
                      <a:pt x="147" y="133"/>
                      <a:pt x="79" y="177"/>
                    </a:cubicBezTo>
                    <a:cubicBezTo>
                      <a:pt x="67" y="184"/>
                      <a:pt x="56" y="194"/>
                      <a:pt x="47" y="206"/>
                    </a:cubicBezTo>
                    <a:cubicBezTo>
                      <a:pt x="37" y="217"/>
                      <a:pt x="29" y="230"/>
                      <a:pt x="22" y="245"/>
                    </a:cubicBezTo>
                    <a:cubicBezTo>
                      <a:pt x="15" y="260"/>
                      <a:pt x="9" y="276"/>
                      <a:pt x="6" y="294"/>
                    </a:cubicBezTo>
                    <a:cubicBezTo>
                      <a:pt x="2" y="311"/>
                      <a:pt x="0" y="331"/>
                      <a:pt x="0" y="351"/>
                    </a:cubicBezTo>
                    <a:cubicBezTo>
                      <a:pt x="0" y="1720"/>
                      <a:pt x="0" y="1720"/>
                      <a:pt x="0" y="1720"/>
                    </a:cubicBezTo>
                    <a:cubicBezTo>
                      <a:pt x="0" y="1757"/>
                      <a:pt x="6" y="1793"/>
                      <a:pt x="17" y="1827"/>
                    </a:cubicBezTo>
                    <a:cubicBezTo>
                      <a:pt x="29" y="1860"/>
                      <a:pt x="45" y="1891"/>
                      <a:pt x="65" y="1919"/>
                    </a:cubicBezTo>
                    <a:cubicBezTo>
                      <a:pt x="84" y="1946"/>
                      <a:pt x="108" y="1970"/>
                      <a:pt x="134" y="1987"/>
                    </a:cubicBezTo>
                    <a:cubicBezTo>
                      <a:pt x="159" y="2005"/>
                      <a:pt x="187" y="2017"/>
                      <a:pt x="217" y="2022"/>
                    </a:cubicBezTo>
                    <a:cubicBezTo>
                      <a:pt x="495" y="1942"/>
                      <a:pt x="495" y="1942"/>
                      <a:pt x="495" y="1942"/>
                    </a:cubicBezTo>
                    <a:cubicBezTo>
                      <a:pt x="466" y="1937"/>
                      <a:pt x="437" y="1924"/>
                      <a:pt x="411" y="1905"/>
                    </a:cubicBezTo>
                    <a:close/>
                  </a:path>
                </a:pathLst>
              </a:custGeom>
              <a:gradFill flip="none" rotWithShape="1">
                <a:gsLst>
                  <a:gs pos="100000">
                    <a:schemeClr val="accent2">
                      <a:lumMod val="80000"/>
                    </a:schemeClr>
                  </a:gs>
                  <a:gs pos="0">
                    <a:schemeClr val="accent2">
                      <a:lumMod val="90000"/>
                    </a:schemeClr>
                  </a:gs>
                </a:gsLst>
                <a:lin ang="42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8" name="Group 17"/>
            <p:cNvGrpSpPr/>
            <p:nvPr/>
          </p:nvGrpSpPr>
          <p:grpSpPr>
            <a:xfrm>
              <a:off x="3194578" y="2525050"/>
              <a:ext cx="3028950" cy="3028950"/>
              <a:chOff x="2395601" y="2670122"/>
              <a:chExt cx="3028950" cy="3028950"/>
            </a:xfrm>
            <a:solidFill>
              <a:schemeClr val="bg1">
                <a:lumMod val="75000"/>
              </a:schemeClr>
            </a:solidFill>
            <a:effectLst>
              <a:outerShdw blurRad="50800" dist="38100" dir="5400000" algn="t" rotWithShape="0">
                <a:prstClr val="black">
                  <a:alpha val="40000"/>
                </a:prstClr>
              </a:outerShdw>
            </a:effectLst>
          </p:grpSpPr>
          <p:sp>
            <p:nvSpPr>
              <p:cNvPr id="12" name="Block Arc 11"/>
              <p:cNvSpPr/>
              <p:nvPr/>
            </p:nvSpPr>
            <p:spPr>
              <a:xfrm>
                <a:off x="2395601" y="2670122"/>
                <a:ext cx="3028950" cy="3028950"/>
              </a:xfrm>
              <a:prstGeom prst="blockArc">
                <a:avLst>
                  <a:gd name="adj1" fmla="val 12694834"/>
                  <a:gd name="adj2" fmla="val 21535268"/>
                  <a:gd name="adj3" fmla="val 43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Isosceles Triangle 12"/>
              <p:cNvSpPr/>
              <p:nvPr/>
            </p:nvSpPr>
            <p:spPr>
              <a:xfrm rot="1821842" flipV="1">
                <a:off x="2436529" y="3471428"/>
                <a:ext cx="354238" cy="30537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1C2FCF44-3498-4804-9482-A632320B604F}"/>
                </a:ext>
              </a:extLst>
            </p:cNvPr>
            <p:cNvGrpSpPr/>
            <p:nvPr/>
          </p:nvGrpSpPr>
          <p:grpSpPr>
            <a:xfrm flipH="1">
              <a:off x="4089492" y="2911851"/>
              <a:ext cx="1178071" cy="3428634"/>
              <a:chOff x="1139285" y="2047741"/>
              <a:chExt cx="1261752" cy="3672178"/>
            </a:xfrm>
            <a:effectLst>
              <a:outerShdw blurRad="190500" sx="102000" sy="102000" algn="ctr" rotWithShape="0">
                <a:prstClr val="black">
                  <a:alpha val="40000"/>
                </a:prstClr>
              </a:outerShdw>
            </a:effectLst>
          </p:grpSpPr>
          <p:sp>
            <p:nvSpPr>
              <p:cNvPr id="15" name="Freeform 58">
                <a:extLst>
                  <a:ext uri="{FF2B5EF4-FFF2-40B4-BE49-F238E27FC236}">
                    <a16:creationId xmlns:a16="http://schemas.microsoft.com/office/drawing/2014/main" id="{B3D22038-21DF-4B08-AA4D-156B9524F4C4}"/>
                  </a:ext>
                </a:extLst>
              </p:cNvPr>
              <p:cNvSpPr>
                <a:spLocks/>
              </p:cNvSpPr>
              <p:nvPr/>
            </p:nvSpPr>
            <p:spPr bwMode="auto">
              <a:xfrm>
                <a:off x="1139285" y="2047741"/>
                <a:ext cx="1261752" cy="3672178"/>
              </a:xfrm>
              <a:custGeom>
                <a:avLst/>
                <a:gdLst>
                  <a:gd name="T0" fmla="*/ 1671 w 1728"/>
                  <a:gd name="T1" fmla="*/ 1442 h 5029"/>
                  <a:gd name="T2" fmla="*/ 1608 w 1728"/>
                  <a:gd name="T3" fmla="*/ 1358 h 5029"/>
                  <a:gd name="T4" fmla="*/ 1530 w 1728"/>
                  <a:gd name="T5" fmla="*/ 1304 h 5029"/>
                  <a:gd name="T6" fmla="*/ 1504 w 1728"/>
                  <a:gd name="T7" fmla="*/ 1294 h 5029"/>
                  <a:gd name="T8" fmla="*/ 1476 w 1728"/>
                  <a:gd name="T9" fmla="*/ 1308 h 5029"/>
                  <a:gd name="T10" fmla="*/ 1476 w 1728"/>
                  <a:gd name="T11" fmla="*/ 1282 h 5029"/>
                  <a:gd name="T12" fmla="*/ 1130 w 1728"/>
                  <a:gd name="T13" fmla="*/ 1142 h 5029"/>
                  <a:gd name="T14" fmla="*/ 1289 w 1728"/>
                  <a:gd name="T15" fmla="*/ 1056 h 5029"/>
                  <a:gd name="T16" fmla="*/ 1284 w 1728"/>
                  <a:gd name="T17" fmla="*/ 1058 h 5029"/>
                  <a:gd name="T18" fmla="*/ 1336 w 1728"/>
                  <a:gd name="T19" fmla="*/ 1022 h 5029"/>
                  <a:gd name="T20" fmla="*/ 1413 w 1728"/>
                  <a:gd name="T21" fmla="*/ 899 h 5029"/>
                  <a:gd name="T22" fmla="*/ 1441 w 1728"/>
                  <a:gd name="T23" fmla="*/ 720 h 5029"/>
                  <a:gd name="T24" fmla="*/ 1413 w 1728"/>
                  <a:gd name="T25" fmla="*/ 516 h 5029"/>
                  <a:gd name="T26" fmla="*/ 1336 w 1728"/>
                  <a:gd name="T27" fmla="*/ 321 h 5029"/>
                  <a:gd name="T28" fmla="*/ 1219 w 1728"/>
                  <a:gd name="T29" fmla="*/ 155 h 5029"/>
                  <a:gd name="T30" fmla="*/ 1072 w 1728"/>
                  <a:gd name="T31" fmla="*/ 40 h 5029"/>
                  <a:gd name="T32" fmla="*/ 920 w 1728"/>
                  <a:gd name="T33" fmla="*/ 2 h 5029"/>
                  <a:gd name="T34" fmla="*/ 797 w 1728"/>
                  <a:gd name="T35" fmla="*/ 46 h 5029"/>
                  <a:gd name="T36" fmla="*/ 800 w 1728"/>
                  <a:gd name="T37" fmla="*/ 44 h 5029"/>
                  <a:gd name="T38" fmla="*/ 477 w 1728"/>
                  <a:gd name="T39" fmla="*/ 280 h 5029"/>
                  <a:gd name="T40" fmla="*/ 425 w 1728"/>
                  <a:gd name="T41" fmla="*/ 331 h 5029"/>
                  <a:gd name="T42" fmla="*/ 386 w 1728"/>
                  <a:gd name="T43" fmla="*/ 401 h 5029"/>
                  <a:gd name="T44" fmla="*/ 361 w 1728"/>
                  <a:gd name="T45" fmla="*/ 487 h 5029"/>
                  <a:gd name="T46" fmla="*/ 352 w 1728"/>
                  <a:gd name="T47" fmla="*/ 587 h 5029"/>
                  <a:gd name="T48" fmla="*/ 384 w 1728"/>
                  <a:gd name="T49" fmla="*/ 797 h 5029"/>
                  <a:gd name="T50" fmla="*/ 428 w 1728"/>
                  <a:gd name="T51" fmla="*/ 911 h 5029"/>
                  <a:gd name="T52" fmla="*/ 405 w 1728"/>
                  <a:gd name="T53" fmla="*/ 923 h 5029"/>
                  <a:gd name="T54" fmla="*/ 324 w 1728"/>
                  <a:gd name="T55" fmla="*/ 975 h 5029"/>
                  <a:gd name="T56" fmla="*/ 91 w 1728"/>
                  <a:gd name="T57" fmla="*/ 1125 h 5029"/>
                  <a:gd name="T58" fmla="*/ 53 w 1728"/>
                  <a:gd name="T59" fmla="*/ 1157 h 5029"/>
                  <a:gd name="T60" fmla="*/ 25 w 1728"/>
                  <a:gd name="T61" fmla="*/ 1202 h 5029"/>
                  <a:gd name="T62" fmla="*/ 6 w 1728"/>
                  <a:gd name="T63" fmla="*/ 1258 h 5029"/>
                  <a:gd name="T64" fmla="*/ 0 w 1728"/>
                  <a:gd name="T65" fmla="*/ 1323 h 5029"/>
                  <a:gd name="T66" fmla="*/ 0 w 1728"/>
                  <a:gd name="T67" fmla="*/ 2888 h 5029"/>
                  <a:gd name="T68" fmla="*/ 20 w 1728"/>
                  <a:gd name="T69" fmla="*/ 3009 h 5029"/>
                  <a:gd name="T70" fmla="*/ 74 w 1728"/>
                  <a:gd name="T71" fmla="*/ 3115 h 5029"/>
                  <a:gd name="T72" fmla="*/ 153 w 1728"/>
                  <a:gd name="T73" fmla="*/ 3193 h 5029"/>
                  <a:gd name="T74" fmla="*/ 247 w 1728"/>
                  <a:gd name="T75" fmla="*/ 3233 h 5029"/>
                  <a:gd name="T76" fmla="*/ 311 w 1728"/>
                  <a:gd name="T77" fmla="*/ 3215 h 5029"/>
                  <a:gd name="T78" fmla="*/ 311 w 1728"/>
                  <a:gd name="T79" fmla="*/ 5029 h 5029"/>
                  <a:gd name="T80" fmla="*/ 473 w 1728"/>
                  <a:gd name="T81" fmla="*/ 5029 h 5029"/>
                  <a:gd name="T82" fmla="*/ 631 w 1728"/>
                  <a:gd name="T83" fmla="*/ 5029 h 5029"/>
                  <a:gd name="T84" fmla="*/ 796 w 1728"/>
                  <a:gd name="T85" fmla="*/ 5029 h 5029"/>
                  <a:gd name="T86" fmla="*/ 897 w 1728"/>
                  <a:gd name="T87" fmla="*/ 5002 h 5029"/>
                  <a:gd name="T88" fmla="*/ 903 w 1728"/>
                  <a:gd name="T89" fmla="*/ 4999 h 5029"/>
                  <a:gd name="T90" fmla="*/ 912 w 1728"/>
                  <a:gd name="T91" fmla="*/ 5005 h 5029"/>
                  <a:gd name="T92" fmla="*/ 1003 w 1728"/>
                  <a:gd name="T93" fmla="*/ 5029 h 5029"/>
                  <a:gd name="T94" fmla="*/ 1145 w 1728"/>
                  <a:gd name="T95" fmla="*/ 5029 h 5029"/>
                  <a:gd name="T96" fmla="*/ 1333 w 1728"/>
                  <a:gd name="T97" fmla="*/ 5029 h 5029"/>
                  <a:gd name="T98" fmla="*/ 1476 w 1728"/>
                  <a:gd name="T99" fmla="*/ 5029 h 5029"/>
                  <a:gd name="T100" fmla="*/ 1476 w 1728"/>
                  <a:gd name="T101" fmla="*/ 3345 h 5029"/>
                  <a:gd name="T102" fmla="*/ 1586 w 1728"/>
                  <a:gd name="T103" fmla="*/ 3320 h 5029"/>
                  <a:gd name="T104" fmla="*/ 1608 w 1728"/>
                  <a:gd name="T105" fmla="*/ 3313 h 5029"/>
                  <a:gd name="T106" fmla="*/ 1671 w 1728"/>
                  <a:gd name="T107" fmla="*/ 3265 h 5029"/>
                  <a:gd name="T108" fmla="*/ 1712 w 1728"/>
                  <a:gd name="T109" fmla="*/ 3186 h 5029"/>
                  <a:gd name="T110" fmla="*/ 1728 w 1728"/>
                  <a:gd name="T111" fmla="*/ 3082 h 5029"/>
                  <a:gd name="T112" fmla="*/ 1728 w 1728"/>
                  <a:gd name="T113" fmla="*/ 1659 h 5029"/>
                  <a:gd name="T114" fmla="*/ 1712 w 1728"/>
                  <a:gd name="T115" fmla="*/ 1547 h 5029"/>
                  <a:gd name="T116" fmla="*/ 1671 w 1728"/>
                  <a:gd name="T117" fmla="*/ 1442 h 5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28" h="5029">
                    <a:moveTo>
                      <a:pt x="1671" y="1442"/>
                    </a:moveTo>
                    <a:cubicBezTo>
                      <a:pt x="1653" y="1410"/>
                      <a:pt x="1632" y="1381"/>
                      <a:pt x="1608" y="1358"/>
                    </a:cubicBezTo>
                    <a:cubicBezTo>
                      <a:pt x="1584" y="1334"/>
                      <a:pt x="1558" y="1315"/>
                      <a:pt x="1530" y="1304"/>
                    </a:cubicBezTo>
                    <a:cubicBezTo>
                      <a:pt x="1504" y="1294"/>
                      <a:pt x="1504" y="1294"/>
                      <a:pt x="1504" y="1294"/>
                    </a:cubicBezTo>
                    <a:cubicBezTo>
                      <a:pt x="1476" y="1308"/>
                      <a:pt x="1476" y="1308"/>
                      <a:pt x="1476" y="1308"/>
                    </a:cubicBezTo>
                    <a:cubicBezTo>
                      <a:pt x="1476" y="1282"/>
                      <a:pt x="1476" y="1282"/>
                      <a:pt x="1476" y="1282"/>
                    </a:cubicBezTo>
                    <a:cubicBezTo>
                      <a:pt x="1130" y="1142"/>
                      <a:pt x="1130" y="1142"/>
                      <a:pt x="1130" y="1142"/>
                    </a:cubicBezTo>
                    <a:cubicBezTo>
                      <a:pt x="1183" y="1113"/>
                      <a:pt x="1236" y="1085"/>
                      <a:pt x="1289" y="1056"/>
                    </a:cubicBezTo>
                    <a:cubicBezTo>
                      <a:pt x="1288" y="1057"/>
                      <a:pt x="1286" y="1057"/>
                      <a:pt x="1284" y="1058"/>
                    </a:cubicBezTo>
                    <a:cubicBezTo>
                      <a:pt x="1303" y="1049"/>
                      <a:pt x="1320" y="1037"/>
                      <a:pt x="1336" y="1022"/>
                    </a:cubicBezTo>
                    <a:cubicBezTo>
                      <a:pt x="1369" y="991"/>
                      <a:pt x="1395" y="949"/>
                      <a:pt x="1413" y="899"/>
                    </a:cubicBezTo>
                    <a:cubicBezTo>
                      <a:pt x="1431" y="848"/>
                      <a:pt x="1441" y="788"/>
                      <a:pt x="1441" y="720"/>
                    </a:cubicBezTo>
                    <a:cubicBezTo>
                      <a:pt x="1441" y="652"/>
                      <a:pt x="1431" y="583"/>
                      <a:pt x="1413" y="516"/>
                    </a:cubicBezTo>
                    <a:cubicBezTo>
                      <a:pt x="1395" y="448"/>
                      <a:pt x="1369" y="382"/>
                      <a:pt x="1336" y="321"/>
                    </a:cubicBezTo>
                    <a:cubicBezTo>
                      <a:pt x="1303" y="260"/>
                      <a:pt x="1264" y="203"/>
                      <a:pt x="1219" y="155"/>
                    </a:cubicBezTo>
                    <a:cubicBezTo>
                      <a:pt x="1174" y="106"/>
                      <a:pt x="1125" y="67"/>
                      <a:pt x="1072" y="40"/>
                    </a:cubicBezTo>
                    <a:cubicBezTo>
                      <a:pt x="1019" y="12"/>
                      <a:pt x="968" y="0"/>
                      <a:pt x="920" y="2"/>
                    </a:cubicBezTo>
                    <a:cubicBezTo>
                      <a:pt x="875" y="4"/>
                      <a:pt x="833" y="19"/>
                      <a:pt x="797" y="46"/>
                    </a:cubicBezTo>
                    <a:cubicBezTo>
                      <a:pt x="798" y="46"/>
                      <a:pt x="799" y="45"/>
                      <a:pt x="800" y="44"/>
                    </a:cubicBezTo>
                    <a:cubicBezTo>
                      <a:pt x="692" y="122"/>
                      <a:pt x="585" y="201"/>
                      <a:pt x="477" y="280"/>
                    </a:cubicBezTo>
                    <a:cubicBezTo>
                      <a:pt x="458" y="294"/>
                      <a:pt x="441" y="311"/>
                      <a:pt x="425" y="331"/>
                    </a:cubicBezTo>
                    <a:cubicBezTo>
                      <a:pt x="410" y="351"/>
                      <a:pt x="397" y="375"/>
                      <a:pt x="386" y="401"/>
                    </a:cubicBezTo>
                    <a:cubicBezTo>
                      <a:pt x="375" y="427"/>
                      <a:pt x="367" y="455"/>
                      <a:pt x="361" y="487"/>
                    </a:cubicBezTo>
                    <a:cubicBezTo>
                      <a:pt x="355" y="518"/>
                      <a:pt x="352" y="552"/>
                      <a:pt x="352" y="587"/>
                    </a:cubicBezTo>
                    <a:cubicBezTo>
                      <a:pt x="352" y="657"/>
                      <a:pt x="363" y="728"/>
                      <a:pt x="384" y="797"/>
                    </a:cubicBezTo>
                    <a:cubicBezTo>
                      <a:pt x="396" y="836"/>
                      <a:pt x="411" y="874"/>
                      <a:pt x="428" y="911"/>
                    </a:cubicBezTo>
                    <a:cubicBezTo>
                      <a:pt x="420" y="914"/>
                      <a:pt x="413" y="918"/>
                      <a:pt x="405" y="923"/>
                    </a:cubicBezTo>
                    <a:cubicBezTo>
                      <a:pt x="378" y="940"/>
                      <a:pt x="351" y="957"/>
                      <a:pt x="324" y="975"/>
                    </a:cubicBezTo>
                    <a:cubicBezTo>
                      <a:pt x="246" y="1025"/>
                      <a:pt x="168" y="1074"/>
                      <a:pt x="91" y="1125"/>
                    </a:cubicBezTo>
                    <a:cubicBezTo>
                      <a:pt x="77" y="1133"/>
                      <a:pt x="64" y="1144"/>
                      <a:pt x="53" y="1157"/>
                    </a:cubicBezTo>
                    <a:cubicBezTo>
                      <a:pt x="42" y="1170"/>
                      <a:pt x="33" y="1185"/>
                      <a:pt x="25" y="1202"/>
                    </a:cubicBezTo>
                    <a:cubicBezTo>
                      <a:pt x="17" y="1219"/>
                      <a:pt x="11" y="1237"/>
                      <a:pt x="6" y="1258"/>
                    </a:cubicBezTo>
                    <a:cubicBezTo>
                      <a:pt x="2" y="1278"/>
                      <a:pt x="0" y="1300"/>
                      <a:pt x="0" y="1323"/>
                    </a:cubicBezTo>
                    <a:cubicBezTo>
                      <a:pt x="0" y="2888"/>
                      <a:pt x="0" y="2888"/>
                      <a:pt x="0" y="2888"/>
                    </a:cubicBezTo>
                    <a:cubicBezTo>
                      <a:pt x="0" y="2930"/>
                      <a:pt x="7" y="2971"/>
                      <a:pt x="20" y="3009"/>
                    </a:cubicBezTo>
                    <a:cubicBezTo>
                      <a:pt x="33" y="3048"/>
                      <a:pt x="51" y="3084"/>
                      <a:pt x="74" y="3115"/>
                    </a:cubicBezTo>
                    <a:cubicBezTo>
                      <a:pt x="96" y="3146"/>
                      <a:pt x="123" y="3173"/>
                      <a:pt x="153" y="3193"/>
                    </a:cubicBezTo>
                    <a:cubicBezTo>
                      <a:pt x="182" y="3213"/>
                      <a:pt x="214" y="3227"/>
                      <a:pt x="247" y="3233"/>
                    </a:cubicBezTo>
                    <a:cubicBezTo>
                      <a:pt x="311" y="3215"/>
                      <a:pt x="311" y="3215"/>
                      <a:pt x="311" y="3215"/>
                    </a:cubicBezTo>
                    <a:cubicBezTo>
                      <a:pt x="311" y="5029"/>
                      <a:pt x="311" y="5029"/>
                      <a:pt x="311" y="5029"/>
                    </a:cubicBezTo>
                    <a:cubicBezTo>
                      <a:pt x="473" y="5029"/>
                      <a:pt x="473" y="5029"/>
                      <a:pt x="473" y="5029"/>
                    </a:cubicBezTo>
                    <a:cubicBezTo>
                      <a:pt x="631" y="5029"/>
                      <a:pt x="631" y="5029"/>
                      <a:pt x="631" y="5029"/>
                    </a:cubicBezTo>
                    <a:cubicBezTo>
                      <a:pt x="796" y="5029"/>
                      <a:pt x="796" y="5029"/>
                      <a:pt x="796" y="5029"/>
                    </a:cubicBezTo>
                    <a:cubicBezTo>
                      <a:pt x="832" y="5029"/>
                      <a:pt x="866" y="5020"/>
                      <a:pt x="897" y="5002"/>
                    </a:cubicBezTo>
                    <a:cubicBezTo>
                      <a:pt x="899" y="5001"/>
                      <a:pt x="901" y="5000"/>
                      <a:pt x="903" y="4999"/>
                    </a:cubicBezTo>
                    <a:cubicBezTo>
                      <a:pt x="906" y="5001"/>
                      <a:pt x="909" y="5003"/>
                      <a:pt x="912" y="5005"/>
                    </a:cubicBezTo>
                    <a:cubicBezTo>
                      <a:pt x="940" y="5020"/>
                      <a:pt x="971" y="5029"/>
                      <a:pt x="1003" y="5029"/>
                    </a:cubicBezTo>
                    <a:cubicBezTo>
                      <a:pt x="1145" y="5029"/>
                      <a:pt x="1145" y="5029"/>
                      <a:pt x="1145" y="5029"/>
                    </a:cubicBezTo>
                    <a:cubicBezTo>
                      <a:pt x="1333" y="5029"/>
                      <a:pt x="1333" y="5029"/>
                      <a:pt x="1333" y="5029"/>
                    </a:cubicBezTo>
                    <a:cubicBezTo>
                      <a:pt x="1476" y="5029"/>
                      <a:pt x="1476" y="5029"/>
                      <a:pt x="1476" y="5029"/>
                    </a:cubicBezTo>
                    <a:cubicBezTo>
                      <a:pt x="1476" y="3345"/>
                      <a:pt x="1476" y="3345"/>
                      <a:pt x="1476" y="3345"/>
                    </a:cubicBezTo>
                    <a:cubicBezTo>
                      <a:pt x="1513" y="3336"/>
                      <a:pt x="1550" y="3328"/>
                      <a:pt x="1586" y="3320"/>
                    </a:cubicBezTo>
                    <a:cubicBezTo>
                      <a:pt x="1608" y="3313"/>
                      <a:pt x="1608" y="3313"/>
                      <a:pt x="1608" y="3313"/>
                    </a:cubicBezTo>
                    <a:cubicBezTo>
                      <a:pt x="1632" y="3304"/>
                      <a:pt x="1653" y="3287"/>
                      <a:pt x="1671" y="3265"/>
                    </a:cubicBezTo>
                    <a:cubicBezTo>
                      <a:pt x="1688" y="3244"/>
                      <a:pt x="1703" y="3217"/>
                      <a:pt x="1712" y="3186"/>
                    </a:cubicBezTo>
                    <a:cubicBezTo>
                      <a:pt x="1723" y="3155"/>
                      <a:pt x="1728" y="3120"/>
                      <a:pt x="1728" y="3082"/>
                    </a:cubicBezTo>
                    <a:cubicBezTo>
                      <a:pt x="1728" y="1659"/>
                      <a:pt x="1728" y="1659"/>
                      <a:pt x="1728" y="1659"/>
                    </a:cubicBezTo>
                    <a:cubicBezTo>
                      <a:pt x="1728" y="1621"/>
                      <a:pt x="1723" y="1583"/>
                      <a:pt x="1712" y="1547"/>
                    </a:cubicBezTo>
                    <a:cubicBezTo>
                      <a:pt x="1703" y="1510"/>
                      <a:pt x="1688" y="1475"/>
                      <a:pt x="1671" y="14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4">
                <a:extLst>
                  <a:ext uri="{FF2B5EF4-FFF2-40B4-BE49-F238E27FC236}">
                    <a16:creationId xmlns:a16="http://schemas.microsoft.com/office/drawing/2014/main" id="{5812E792-EEEB-454C-8B55-D825DF438597}"/>
                  </a:ext>
                </a:extLst>
              </p:cNvPr>
              <p:cNvSpPr>
                <a:spLocks noEditPoints="1"/>
              </p:cNvSpPr>
              <p:nvPr/>
            </p:nvSpPr>
            <p:spPr bwMode="auto">
              <a:xfrm>
                <a:off x="1368525" y="2047741"/>
                <a:ext cx="1032511" cy="3672178"/>
              </a:xfrm>
              <a:custGeom>
                <a:avLst/>
                <a:gdLst>
                  <a:gd name="T0" fmla="*/ 1414 w 1414"/>
                  <a:gd name="T1" fmla="*/ 1659 h 5029"/>
                  <a:gd name="T2" fmla="*/ 1414 w 1414"/>
                  <a:gd name="T3" fmla="*/ 3082 h 5029"/>
                  <a:gd name="T4" fmla="*/ 1398 w 1414"/>
                  <a:gd name="T5" fmla="*/ 3186 h 5029"/>
                  <a:gd name="T6" fmla="*/ 1357 w 1414"/>
                  <a:gd name="T7" fmla="*/ 3265 h 5029"/>
                  <a:gd name="T8" fmla="*/ 1294 w 1414"/>
                  <a:gd name="T9" fmla="*/ 3313 h 5029"/>
                  <a:gd name="T10" fmla="*/ 1216 w 1414"/>
                  <a:gd name="T11" fmla="*/ 3321 h 5029"/>
                  <a:gd name="T12" fmla="*/ 1190 w 1414"/>
                  <a:gd name="T13" fmla="*/ 3316 h 5029"/>
                  <a:gd name="T14" fmla="*/ 1190 w 1414"/>
                  <a:gd name="T15" fmla="*/ 1294 h 5029"/>
                  <a:gd name="T16" fmla="*/ 1216 w 1414"/>
                  <a:gd name="T17" fmla="*/ 1304 h 5029"/>
                  <a:gd name="T18" fmla="*/ 1294 w 1414"/>
                  <a:gd name="T19" fmla="*/ 1358 h 5029"/>
                  <a:gd name="T20" fmla="*/ 1357 w 1414"/>
                  <a:gd name="T21" fmla="*/ 1442 h 5029"/>
                  <a:gd name="T22" fmla="*/ 1398 w 1414"/>
                  <a:gd name="T23" fmla="*/ 1547 h 5029"/>
                  <a:gd name="T24" fmla="*/ 1414 w 1414"/>
                  <a:gd name="T25" fmla="*/ 1659 h 5029"/>
                  <a:gd name="T26" fmla="*/ 479 w 1414"/>
                  <a:gd name="T27" fmla="*/ 790 h 5029"/>
                  <a:gd name="T28" fmla="*/ 606 w 1414"/>
                  <a:gd name="T29" fmla="*/ 956 h 5029"/>
                  <a:gd name="T30" fmla="*/ 758 w 1414"/>
                  <a:gd name="T31" fmla="*/ 1058 h 5029"/>
                  <a:gd name="T32" fmla="*/ 905 w 1414"/>
                  <a:gd name="T33" fmla="*/ 1079 h 5029"/>
                  <a:gd name="T34" fmla="*/ 1022 w 1414"/>
                  <a:gd name="T35" fmla="*/ 1022 h 5029"/>
                  <a:gd name="T36" fmla="*/ 1099 w 1414"/>
                  <a:gd name="T37" fmla="*/ 899 h 5029"/>
                  <a:gd name="T38" fmla="*/ 1127 w 1414"/>
                  <a:gd name="T39" fmla="*/ 720 h 5029"/>
                  <a:gd name="T40" fmla="*/ 1099 w 1414"/>
                  <a:gd name="T41" fmla="*/ 516 h 5029"/>
                  <a:gd name="T42" fmla="*/ 1022 w 1414"/>
                  <a:gd name="T43" fmla="*/ 321 h 5029"/>
                  <a:gd name="T44" fmla="*/ 905 w 1414"/>
                  <a:gd name="T45" fmla="*/ 155 h 5029"/>
                  <a:gd name="T46" fmla="*/ 758 w 1414"/>
                  <a:gd name="T47" fmla="*/ 40 h 5029"/>
                  <a:gd name="T48" fmla="*/ 606 w 1414"/>
                  <a:gd name="T49" fmla="*/ 2 h 5029"/>
                  <a:gd name="T50" fmla="*/ 479 w 1414"/>
                  <a:gd name="T51" fmla="*/ 49 h 5029"/>
                  <a:gd name="T52" fmla="*/ 391 w 1414"/>
                  <a:gd name="T53" fmla="*/ 173 h 5029"/>
                  <a:gd name="T54" fmla="*/ 359 w 1414"/>
                  <a:gd name="T55" fmla="*/ 363 h 5029"/>
                  <a:gd name="T56" fmla="*/ 391 w 1414"/>
                  <a:gd name="T57" fmla="*/ 585 h 5029"/>
                  <a:gd name="T58" fmla="*/ 479 w 1414"/>
                  <a:gd name="T59" fmla="*/ 790 h 5029"/>
                  <a:gd name="T60" fmla="*/ 317 w 1414"/>
                  <a:gd name="T61" fmla="*/ 5029 h 5029"/>
                  <a:gd name="T62" fmla="*/ 482 w 1414"/>
                  <a:gd name="T63" fmla="*/ 5029 h 5029"/>
                  <a:gd name="T64" fmla="*/ 583 w 1414"/>
                  <a:gd name="T65" fmla="*/ 5002 h 5029"/>
                  <a:gd name="T66" fmla="*/ 664 w 1414"/>
                  <a:gd name="T67" fmla="*/ 4931 h 5029"/>
                  <a:gd name="T68" fmla="*/ 718 w 1414"/>
                  <a:gd name="T69" fmla="*/ 4826 h 5029"/>
                  <a:gd name="T70" fmla="*/ 738 w 1414"/>
                  <a:gd name="T71" fmla="*/ 4698 h 5029"/>
                  <a:gd name="T72" fmla="*/ 738 w 1414"/>
                  <a:gd name="T73" fmla="*/ 3232 h 5029"/>
                  <a:gd name="T74" fmla="*/ 778 w 1414"/>
                  <a:gd name="T75" fmla="*/ 3239 h 5029"/>
                  <a:gd name="T76" fmla="*/ 778 w 1414"/>
                  <a:gd name="T77" fmla="*/ 4700 h 5029"/>
                  <a:gd name="T78" fmla="*/ 797 w 1414"/>
                  <a:gd name="T79" fmla="*/ 4828 h 5029"/>
                  <a:gd name="T80" fmla="*/ 850 w 1414"/>
                  <a:gd name="T81" fmla="*/ 4933 h 5029"/>
                  <a:gd name="T82" fmla="*/ 927 w 1414"/>
                  <a:gd name="T83" fmla="*/ 5003 h 5029"/>
                  <a:gd name="T84" fmla="*/ 1019 w 1414"/>
                  <a:gd name="T85" fmla="*/ 5029 h 5029"/>
                  <a:gd name="T86" fmla="*/ 1162 w 1414"/>
                  <a:gd name="T87" fmla="*/ 5029 h 5029"/>
                  <a:gd name="T88" fmla="*/ 1162 w 1414"/>
                  <a:gd name="T89" fmla="*/ 1282 h 5029"/>
                  <a:gd name="T90" fmla="*/ 317 w 1414"/>
                  <a:gd name="T91" fmla="*/ 940 h 5029"/>
                  <a:gd name="T92" fmla="*/ 317 w 1414"/>
                  <a:gd name="T93" fmla="*/ 5029 h 5029"/>
                  <a:gd name="T94" fmla="*/ 155 w 1414"/>
                  <a:gd name="T95" fmla="*/ 899 h 5029"/>
                  <a:gd name="T96" fmla="*/ 75 w 1414"/>
                  <a:gd name="T97" fmla="*/ 935 h 5029"/>
                  <a:gd name="T98" fmla="*/ 20 w 1414"/>
                  <a:gd name="T99" fmla="*/ 1014 h 5029"/>
                  <a:gd name="T100" fmla="*/ 0 w 1414"/>
                  <a:gd name="T101" fmla="*/ 1130 h 5029"/>
                  <a:gd name="T102" fmla="*/ 0 w 1414"/>
                  <a:gd name="T103" fmla="*/ 2776 h 5029"/>
                  <a:gd name="T104" fmla="*/ 20 w 1414"/>
                  <a:gd name="T105" fmla="*/ 2904 h 5029"/>
                  <a:gd name="T106" fmla="*/ 75 w 1414"/>
                  <a:gd name="T107" fmla="*/ 3016 h 5029"/>
                  <a:gd name="T108" fmla="*/ 155 w 1414"/>
                  <a:gd name="T109" fmla="*/ 3099 h 5029"/>
                  <a:gd name="T110" fmla="*/ 252 w 1414"/>
                  <a:gd name="T111" fmla="*/ 3141 h 5029"/>
                  <a:gd name="T112" fmla="*/ 283 w 1414"/>
                  <a:gd name="T113" fmla="*/ 3147 h 5029"/>
                  <a:gd name="T114" fmla="*/ 283 w 1414"/>
                  <a:gd name="T115" fmla="*/ 926 h 5029"/>
                  <a:gd name="T116" fmla="*/ 252 w 1414"/>
                  <a:gd name="T117" fmla="*/ 914 h 5029"/>
                  <a:gd name="T118" fmla="*/ 155 w 1414"/>
                  <a:gd name="T119" fmla="*/ 899 h 5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14" h="5029">
                    <a:moveTo>
                      <a:pt x="1414" y="1659"/>
                    </a:moveTo>
                    <a:cubicBezTo>
                      <a:pt x="1414" y="3082"/>
                      <a:pt x="1414" y="3082"/>
                      <a:pt x="1414" y="3082"/>
                    </a:cubicBezTo>
                    <a:cubicBezTo>
                      <a:pt x="1414" y="3120"/>
                      <a:pt x="1409" y="3155"/>
                      <a:pt x="1398" y="3186"/>
                    </a:cubicBezTo>
                    <a:cubicBezTo>
                      <a:pt x="1389" y="3217"/>
                      <a:pt x="1374" y="3244"/>
                      <a:pt x="1357" y="3265"/>
                    </a:cubicBezTo>
                    <a:cubicBezTo>
                      <a:pt x="1339" y="3287"/>
                      <a:pt x="1318" y="3304"/>
                      <a:pt x="1294" y="3313"/>
                    </a:cubicBezTo>
                    <a:cubicBezTo>
                      <a:pt x="1270" y="3323"/>
                      <a:pt x="1244" y="3326"/>
                      <a:pt x="1216" y="3321"/>
                    </a:cubicBezTo>
                    <a:cubicBezTo>
                      <a:pt x="1190" y="3316"/>
                      <a:pt x="1190" y="3316"/>
                      <a:pt x="1190" y="3316"/>
                    </a:cubicBezTo>
                    <a:cubicBezTo>
                      <a:pt x="1190" y="1294"/>
                      <a:pt x="1190" y="1294"/>
                      <a:pt x="1190" y="1294"/>
                    </a:cubicBezTo>
                    <a:cubicBezTo>
                      <a:pt x="1216" y="1304"/>
                      <a:pt x="1216" y="1304"/>
                      <a:pt x="1216" y="1304"/>
                    </a:cubicBezTo>
                    <a:cubicBezTo>
                      <a:pt x="1244" y="1315"/>
                      <a:pt x="1270" y="1334"/>
                      <a:pt x="1294" y="1358"/>
                    </a:cubicBezTo>
                    <a:cubicBezTo>
                      <a:pt x="1318" y="1381"/>
                      <a:pt x="1339" y="1410"/>
                      <a:pt x="1357" y="1442"/>
                    </a:cubicBezTo>
                    <a:cubicBezTo>
                      <a:pt x="1374" y="1475"/>
                      <a:pt x="1389" y="1510"/>
                      <a:pt x="1398" y="1547"/>
                    </a:cubicBezTo>
                    <a:cubicBezTo>
                      <a:pt x="1409" y="1583"/>
                      <a:pt x="1414" y="1621"/>
                      <a:pt x="1414" y="1659"/>
                    </a:cubicBezTo>
                    <a:close/>
                    <a:moveTo>
                      <a:pt x="479" y="790"/>
                    </a:moveTo>
                    <a:cubicBezTo>
                      <a:pt x="516" y="853"/>
                      <a:pt x="559" y="909"/>
                      <a:pt x="606" y="956"/>
                    </a:cubicBezTo>
                    <a:cubicBezTo>
                      <a:pt x="654" y="1001"/>
                      <a:pt x="705" y="1037"/>
                      <a:pt x="758" y="1058"/>
                    </a:cubicBezTo>
                    <a:cubicBezTo>
                      <a:pt x="811" y="1080"/>
                      <a:pt x="860" y="1086"/>
                      <a:pt x="905" y="1079"/>
                    </a:cubicBezTo>
                    <a:cubicBezTo>
                      <a:pt x="950" y="1073"/>
                      <a:pt x="989" y="1053"/>
                      <a:pt x="1022" y="1022"/>
                    </a:cubicBezTo>
                    <a:cubicBezTo>
                      <a:pt x="1055" y="991"/>
                      <a:pt x="1081" y="949"/>
                      <a:pt x="1099" y="899"/>
                    </a:cubicBezTo>
                    <a:cubicBezTo>
                      <a:pt x="1117" y="848"/>
                      <a:pt x="1127" y="788"/>
                      <a:pt x="1127" y="720"/>
                    </a:cubicBezTo>
                    <a:cubicBezTo>
                      <a:pt x="1127" y="652"/>
                      <a:pt x="1117" y="583"/>
                      <a:pt x="1099" y="516"/>
                    </a:cubicBezTo>
                    <a:cubicBezTo>
                      <a:pt x="1081" y="448"/>
                      <a:pt x="1055" y="382"/>
                      <a:pt x="1022" y="321"/>
                    </a:cubicBezTo>
                    <a:cubicBezTo>
                      <a:pt x="989" y="260"/>
                      <a:pt x="950" y="203"/>
                      <a:pt x="905" y="155"/>
                    </a:cubicBezTo>
                    <a:cubicBezTo>
                      <a:pt x="860" y="106"/>
                      <a:pt x="811" y="67"/>
                      <a:pt x="758" y="40"/>
                    </a:cubicBezTo>
                    <a:cubicBezTo>
                      <a:pt x="705" y="12"/>
                      <a:pt x="654" y="0"/>
                      <a:pt x="606" y="2"/>
                    </a:cubicBezTo>
                    <a:cubicBezTo>
                      <a:pt x="559" y="4"/>
                      <a:pt x="516" y="20"/>
                      <a:pt x="479" y="49"/>
                    </a:cubicBezTo>
                    <a:cubicBezTo>
                      <a:pt x="442" y="78"/>
                      <a:pt x="412" y="120"/>
                      <a:pt x="391" y="173"/>
                    </a:cubicBezTo>
                    <a:cubicBezTo>
                      <a:pt x="370" y="226"/>
                      <a:pt x="359" y="291"/>
                      <a:pt x="359" y="363"/>
                    </a:cubicBezTo>
                    <a:cubicBezTo>
                      <a:pt x="359" y="437"/>
                      <a:pt x="370" y="512"/>
                      <a:pt x="391" y="585"/>
                    </a:cubicBezTo>
                    <a:cubicBezTo>
                      <a:pt x="412" y="657"/>
                      <a:pt x="442" y="727"/>
                      <a:pt x="479" y="790"/>
                    </a:cubicBezTo>
                    <a:close/>
                    <a:moveTo>
                      <a:pt x="317" y="5029"/>
                    </a:moveTo>
                    <a:cubicBezTo>
                      <a:pt x="482" y="5029"/>
                      <a:pt x="482" y="5029"/>
                      <a:pt x="482" y="5029"/>
                    </a:cubicBezTo>
                    <a:cubicBezTo>
                      <a:pt x="518" y="5029"/>
                      <a:pt x="552" y="5020"/>
                      <a:pt x="583" y="5002"/>
                    </a:cubicBezTo>
                    <a:cubicBezTo>
                      <a:pt x="614" y="4985"/>
                      <a:pt x="641" y="4961"/>
                      <a:pt x="664" y="4931"/>
                    </a:cubicBezTo>
                    <a:cubicBezTo>
                      <a:pt x="687" y="4901"/>
                      <a:pt x="705" y="4865"/>
                      <a:pt x="718" y="4826"/>
                    </a:cubicBezTo>
                    <a:cubicBezTo>
                      <a:pt x="731" y="4787"/>
                      <a:pt x="738" y="4743"/>
                      <a:pt x="738" y="4698"/>
                    </a:cubicBezTo>
                    <a:cubicBezTo>
                      <a:pt x="738" y="3232"/>
                      <a:pt x="738" y="3232"/>
                      <a:pt x="738" y="3232"/>
                    </a:cubicBezTo>
                    <a:cubicBezTo>
                      <a:pt x="778" y="3239"/>
                      <a:pt x="778" y="3239"/>
                      <a:pt x="778" y="3239"/>
                    </a:cubicBezTo>
                    <a:cubicBezTo>
                      <a:pt x="778" y="4700"/>
                      <a:pt x="778" y="4700"/>
                      <a:pt x="778" y="4700"/>
                    </a:cubicBezTo>
                    <a:cubicBezTo>
                      <a:pt x="778" y="4745"/>
                      <a:pt x="785" y="4788"/>
                      <a:pt x="797" y="4828"/>
                    </a:cubicBezTo>
                    <a:cubicBezTo>
                      <a:pt x="810" y="4867"/>
                      <a:pt x="828" y="4903"/>
                      <a:pt x="850" y="4933"/>
                    </a:cubicBezTo>
                    <a:cubicBezTo>
                      <a:pt x="872" y="4963"/>
                      <a:pt x="898" y="4987"/>
                      <a:pt x="927" y="5003"/>
                    </a:cubicBezTo>
                    <a:cubicBezTo>
                      <a:pt x="956" y="5020"/>
                      <a:pt x="987" y="5029"/>
                      <a:pt x="1019" y="5029"/>
                    </a:cubicBezTo>
                    <a:cubicBezTo>
                      <a:pt x="1162" y="5029"/>
                      <a:pt x="1162" y="5029"/>
                      <a:pt x="1162" y="5029"/>
                    </a:cubicBezTo>
                    <a:cubicBezTo>
                      <a:pt x="1162" y="1282"/>
                      <a:pt x="1162" y="1282"/>
                      <a:pt x="1162" y="1282"/>
                    </a:cubicBezTo>
                    <a:cubicBezTo>
                      <a:pt x="317" y="940"/>
                      <a:pt x="317" y="940"/>
                      <a:pt x="317" y="940"/>
                    </a:cubicBezTo>
                    <a:lnTo>
                      <a:pt x="317" y="5029"/>
                    </a:lnTo>
                    <a:close/>
                    <a:moveTo>
                      <a:pt x="155" y="899"/>
                    </a:moveTo>
                    <a:cubicBezTo>
                      <a:pt x="125" y="903"/>
                      <a:pt x="98" y="916"/>
                      <a:pt x="75" y="935"/>
                    </a:cubicBezTo>
                    <a:cubicBezTo>
                      <a:pt x="52" y="955"/>
                      <a:pt x="33" y="981"/>
                      <a:pt x="20" y="1014"/>
                    </a:cubicBezTo>
                    <a:cubicBezTo>
                      <a:pt x="7" y="1047"/>
                      <a:pt x="0" y="1086"/>
                      <a:pt x="0" y="1130"/>
                    </a:cubicBezTo>
                    <a:cubicBezTo>
                      <a:pt x="0" y="2776"/>
                      <a:pt x="0" y="2776"/>
                      <a:pt x="0" y="2776"/>
                    </a:cubicBezTo>
                    <a:cubicBezTo>
                      <a:pt x="0" y="2820"/>
                      <a:pt x="7" y="2864"/>
                      <a:pt x="20" y="2904"/>
                    </a:cubicBezTo>
                    <a:cubicBezTo>
                      <a:pt x="33" y="2945"/>
                      <a:pt x="52" y="2983"/>
                      <a:pt x="75" y="3016"/>
                    </a:cubicBezTo>
                    <a:cubicBezTo>
                      <a:pt x="98" y="3049"/>
                      <a:pt x="125" y="3077"/>
                      <a:pt x="155" y="3099"/>
                    </a:cubicBezTo>
                    <a:cubicBezTo>
                      <a:pt x="185" y="3120"/>
                      <a:pt x="218" y="3135"/>
                      <a:pt x="252" y="3141"/>
                    </a:cubicBezTo>
                    <a:cubicBezTo>
                      <a:pt x="283" y="3147"/>
                      <a:pt x="283" y="3147"/>
                      <a:pt x="283" y="3147"/>
                    </a:cubicBezTo>
                    <a:cubicBezTo>
                      <a:pt x="283" y="926"/>
                      <a:pt x="283" y="926"/>
                      <a:pt x="283" y="926"/>
                    </a:cubicBezTo>
                    <a:cubicBezTo>
                      <a:pt x="252" y="914"/>
                      <a:pt x="252" y="914"/>
                      <a:pt x="252" y="914"/>
                    </a:cubicBezTo>
                    <a:cubicBezTo>
                      <a:pt x="218" y="900"/>
                      <a:pt x="185" y="896"/>
                      <a:pt x="155" y="899"/>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7" name="Freeform 65">
                <a:extLst>
                  <a:ext uri="{FF2B5EF4-FFF2-40B4-BE49-F238E27FC236}">
                    <a16:creationId xmlns:a16="http://schemas.microsoft.com/office/drawing/2014/main" id="{07732008-9B7E-45C9-A5A1-CD8C46B4D458}"/>
                  </a:ext>
                </a:extLst>
              </p:cNvPr>
              <p:cNvSpPr>
                <a:spLocks/>
              </p:cNvSpPr>
              <p:nvPr/>
            </p:nvSpPr>
            <p:spPr bwMode="auto">
              <a:xfrm>
                <a:off x="1139285" y="2720942"/>
                <a:ext cx="413374" cy="1687483"/>
              </a:xfrm>
              <a:custGeom>
                <a:avLst/>
                <a:gdLst>
                  <a:gd name="T0" fmla="*/ 469 w 566"/>
                  <a:gd name="T1" fmla="*/ 2177 h 2311"/>
                  <a:gd name="T2" fmla="*/ 389 w 566"/>
                  <a:gd name="T3" fmla="*/ 2094 h 2311"/>
                  <a:gd name="T4" fmla="*/ 334 w 566"/>
                  <a:gd name="T5" fmla="*/ 1982 h 2311"/>
                  <a:gd name="T6" fmla="*/ 314 w 566"/>
                  <a:gd name="T7" fmla="*/ 1854 h 2311"/>
                  <a:gd name="T8" fmla="*/ 314 w 566"/>
                  <a:gd name="T9" fmla="*/ 208 h 2311"/>
                  <a:gd name="T10" fmla="*/ 320 w 566"/>
                  <a:gd name="T11" fmla="*/ 139 h 2311"/>
                  <a:gd name="T12" fmla="*/ 339 w 566"/>
                  <a:gd name="T13" fmla="*/ 81 h 2311"/>
                  <a:gd name="T14" fmla="*/ 368 w 566"/>
                  <a:gd name="T15" fmla="*/ 34 h 2311"/>
                  <a:gd name="T16" fmla="*/ 406 w 566"/>
                  <a:gd name="T17" fmla="*/ 0 h 2311"/>
                  <a:gd name="T18" fmla="*/ 324 w 566"/>
                  <a:gd name="T19" fmla="*/ 53 h 2311"/>
                  <a:gd name="T20" fmla="*/ 91 w 566"/>
                  <a:gd name="T21" fmla="*/ 203 h 2311"/>
                  <a:gd name="T22" fmla="*/ 53 w 566"/>
                  <a:gd name="T23" fmla="*/ 235 h 2311"/>
                  <a:gd name="T24" fmla="*/ 25 w 566"/>
                  <a:gd name="T25" fmla="*/ 280 h 2311"/>
                  <a:gd name="T26" fmla="*/ 6 w 566"/>
                  <a:gd name="T27" fmla="*/ 336 h 2311"/>
                  <a:gd name="T28" fmla="*/ 0 w 566"/>
                  <a:gd name="T29" fmla="*/ 401 h 2311"/>
                  <a:gd name="T30" fmla="*/ 0 w 566"/>
                  <a:gd name="T31" fmla="*/ 1966 h 2311"/>
                  <a:gd name="T32" fmla="*/ 20 w 566"/>
                  <a:gd name="T33" fmla="*/ 2087 h 2311"/>
                  <a:gd name="T34" fmla="*/ 74 w 566"/>
                  <a:gd name="T35" fmla="*/ 2193 h 2311"/>
                  <a:gd name="T36" fmla="*/ 153 w 566"/>
                  <a:gd name="T37" fmla="*/ 2271 h 2311"/>
                  <a:gd name="T38" fmla="*/ 247 w 566"/>
                  <a:gd name="T39" fmla="*/ 2311 h 2311"/>
                  <a:gd name="T40" fmla="*/ 566 w 566"/>
                  <a:gd name="T41" fmla="*/ 2219 h 2311"/>
                  <a:gd name="T42" fmla="*/ 469 w 566"/>
                  <a:gd name="T43" fmla="*/ 2177 h 2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6" h="2311">
                    <a:moveTo>
                      <a:pt x="469" y="2177"/>
                    </a:moveTo>
                    <a:cubicBezTo>
                      <a:pt x="439" y="2155"/>
                      <a:pt x="412" y="2127"/>
                      <a:pt x="389" y="2094"/>
                    </a:cubicBezTo>
                    <a:cubicBezTo>
                      <a:pt x="366" y="2061"/>
                      <a:pt x="347" y="2023"/>
                      <a:pt x="334" y="1982"/>
                    </a:cubicBezTo>
                    <a:cubicBezTo>
                      <a:pt x="321" y="1942"/>
                      <a:pt x="314" y="1898"/>
                      <a:pt x="314" y="1854"/>
                    </a:cubicBezTo>
                    <a:cubicBezTo>
                      <a:pt x="314" y="208"/>
                      <a:pt x="314" y="208"/>
                      <a:pt x="314" y="208"/>
                    </a:cubicBezTo>
                    <a:cubicBezTo>
                      <a:pt x="314" y="183"/>
                      <a:pt x="316" y="161"/>
                      <a:pt x="320" y="139"/>
                    </a:cubicBezTo>
                    <a:cubicBezTo>
                      <a:pt x="325" y="118"/>
                      <a:pt x="331" y="98"/>
                      <a:pt x="339" y="81"/>
                    </a:cubicBezTo>
                    <a:cubicBezTo>
                      <a:pt x="347" y="63"/>
                      <a:pt x="357" y="47"/>
                      <a:pt x="368" y="34"/>
                    </a:cubicBezTo>
                    <a:cubicBezTo>
                      <a:pt x="379" y="21"/>
                      <a:pt x="392" y="9"/>
                      <a:pt x="406" y="0"/>
                    </a:cubicBezTo>
                    <a:cubicBezTo>
                      <a:pt x="379" y="18"/>
                      <a:pt x="352" y="35"/>
                      <a:pt x="324" y="53"/>
                    </a:cubicBezTo>
                    <a:cubicBezTo>
                      <a:pt x="246" y="103"/>
                      <a:pt x="168" y="152"/>
                      <a:pt x="91" y="203"/>
                    </a:cubicBezTo>
                    <a:cubicBezTo>
                      <a:pt x="77" y="211"/>
                      <a:pt x="64" y="222"/>
                      <a:pt x="53" y="235"/>
                    </a:cubicBezTo>
                    <a:cubicBezTo>
                      <a:pt x="42" y="248"/>
                      <a:pt x="33" y="263"/>
                      <a:pt x="25" y="280"/>
                    </a:cubicBezTo>
                    <a:cubicBezTo>
                      <a:pt x="17" y="297"/>
                      <a:pt x="11" y="315"/>
                      <a:pt x="6" y="336"/>
                    </a:cubicBezTo>
                    <a:cubicBezTo>
                      <a:pt x="2" y="356"/>
                      <a:pt x="0" y="378"/>
                      <a:pt x="0" y="401"/>
                    </a:cubicBezTo>
                    <a:cubicBezTo>
                      <a:pt x="0" y="1966"/>
                      <a:pt x="0" y="1966"/>
                      <a:pt x="0" y="1966"/>
                    </a:cubicBezTo>
                    <a:cubicBezTo>
                      <a:pt x="0" y="2008"/>
                      <a:pt x="7" y="2049"/>
                      <a:pt x="20" y="2087"/>
                    </a:cubicBezTo>
                    <a:cubicBezTo>
                      <a:pt x="33" y="2126"/>
                      <a:pt x="51" y="2162"/>
                      <a:pt x="74" y="2193"/>
                    </a:cubicBezTo>
                    <a:cubicBezTo>
                      <a:pt x="96" y="2224"/>
                      <a:pt x="123" y="2251"/>
                      <a:pt x="153" y="2271"/>
                    </a:cubicBezTo>
                    <a:cubicBezTo>
                      <a:pt x="182" y="2291"/>
                      <a:pt x="214" y="2305"/>
                      <a:pt x="247" y="2311"/>
                    </a:cubicBezTo>
                    <a:cubicBezTo>
                      <a:pt x="566" y="2219"/>
                      <a:pt x="566" y="2219"/>
                      <a:pt x="566" y="2219"/>
                    </a:cubicBezTo>
                    <a:cubicBezTo>
                      <a:pt x="532" y="2213"/>
                      <a:pt x="499" y="2198"/>
                      <a:pt x="469" y="2177"/>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33" name="TextBox 32">
            <a:extLst>
              <a:ext uri="{FF2B5EF4-FFF2-40B4-BE49-F238E27FC236}">
                <a16:creationId xmlns:a16="http://schemas.microsoft.com/office/drawing/2014/main" id="{98C3B736-F50D-441B-A694-B0D70E3638FA}"/>
              </a:ext>
            </a:extLst>
          </p:cNvPr>
          <p:cNvSpPr txBox="1"/>
          <p:nvPr/>
        </p:nvSpPr>
        <p:spPr>
          <a:xfrm>
            <a:off x="2355282" y="468923"/>
            <a:ext cx="7402059" cy="646313"/>
          </a:xfrm>
          <a:prstGeom prst="rect">
            <a:avLst/>
          </a:prstGeom>
          <a:noFill/>
        </p:spPr>
        <p:txBody>
          <a:bodyPr wrap="square" lIns="91422" tIns="45711" rIns="91422" bIns="45711" rtlCol="0">
            <a:spAutoFit/>
          </a:bodyPr>
          <a:lstStyle/>
          <a:p>
            <a:pPr algn="ctr"/>
            <a:r>
              <a:rPr lang="en-US" sz="3600" b="1" spc="300" dirty="0">
                <a:solidFill>
                  <a:schemeClr val="tx1">
                    <a:lumMod val="95000"/>
                    <a:lumOff val="5000"/>
                  </a:schemeClr>
                </a:solidFill>
                <a:latin typeface="+mj-lt"/>
                <a:cs typeface="Poppins" panose="00000500000000000000" pitchFamily="2" charset="0"/>
              </a:rPr>
              <a:t>MARKET ANALYSIS</a:t>
            </a:r>
          </a:p>
        </p:txBody>
      </p:sp>
      <p:grpSp>
        <p:nvGrpSpPr>
          <p:cNvPr id="3" name="Group 2">
            <a:extLst>
              <a:ext uri="{FF2B5EF4-FFF2-40B4-BE49-F238E27FC236}">
                <a16:creationId xmlns:a16="http://schemas.microsoft.com/office/drawing/2014/main" id="{4D03681C-F986-E414-B6D2-7AB9F1594F63}"/>
              </a:ext>
            </a:extLst>
          </p:cNvPr>
          <p:cNvGrpSpPr/>
          <p:nvPr/>
        </p:nvGrpSpPr>
        <p:grpSpPr>
          <a:xfrm>
            <a:off x="4569991" y="2106171"/>
            <a:ext cx="7434675" cy="2635966"/>
            <a:chOff x="4569991" y="2106171"/>
            <a:chExt cx="7434675" cy="2635966"/>
          </a:xfrm>
        </p:grpSpPr>
        <p:sp>
          <p:nvSpPr>
            <p:cNvPr id="8" name="Freeform: Shape 7">
              <a:extLst>
                <a:ext uri="{FF2B5EF4-FFF2-40B4-BE49-F238E27FC236}">
                  <a16:creationId xmlns:a16="http://schemas.microsoft.com/office/drawing/2014/main" id="{F7D74F0F-5E7A-5748-52E8-35B96B4109D0}"/>
                </a:ext>
              </a:extLst>
            </p:cNvPr>
            <p:cNvSpPr/>
            <p:nvPr/>
          </p:nvSpPr>
          <p:spPr>
            <a:xfrm>
              <a:off x="7463589" y="2106171"/>
              <a:ext cx="1647478" cy="1098319"/>
            </a:xfrm>
            <a:custGeom>
              <a:avLst/>
              <a:gdLst>
                <a:gd name="connsiteX0" fmla="*/ 0 w 1647478"/>
                <a:gd name="connsiteY0" fmla="*/ 109832 h 1098319"/>
                <a:gd name="connsiteX1" fmla="*/ 109832 w 1647478"/>
                <a:gd name="connsiteY1" fmla="*/ 0 h 1098319"/>
                <a:gd name="connsiteX2" fmla="*/ 1537646 w 1647478"/>
                <a:gd name="connsiteY2" fmla="*/ 0 h 1098319"/>
                <a:gd name="connsiteX3" fmla="*/ 1647478 w 1647478"/>
                <a:gd name="connsiteY3" fmla="*/ 109832 h 1098319"/>
                <a:gd name="connsiteX4" fmla="*/ 1647478 w 1647478"/>
                <a:gd name="connsiteY4" fmla="*/ 988487 h 1098319"/>
                <a:gd name="connsiteX5" fmla="*/ 1537646 w 1647478"/>
                <a:gd name="connsiteY5" fmla="*/ 1098319 h 1098319"/>
                <a:gd name="connsiteX6" fmla="*/ 109832 w 1647478"/>
                <a:gd name="connsiteY6" fmla="*/ 1098319 h 1098319"/>
                <a:gd name="connsiteX7" fmla="*/ 0 w 1647478"/>
                <a:gd name="connsiteY7" fmla="*/ 988487 h 1098319"/>
                <a:gd name="connsiteX8" fmla="*/ 0 w 1647478"/>
                <a:gd name="connsiteY8" fmla="*/ 109832 h 109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478" h="1098319">
                  <a:moveTo>
                    <a:pt x="0" y="109832"/>
                  </a:moveTo>
                  <a:cubicBezTo>
                    <a:pt x="0" y="49173"/>
                    <a:pt x="49173" y="0"/>
                    <a:pt x="109832" y="0"/>
                  </a:cubicBezTo>
                  <a:lnTo>
                    <a:pt x="1537646" y="0"/>
                  </a:lnTo>
                  <a:cubicBezTo>
                    <a:pt x="1598305" y="0"/>
                    <a:pt x="1647478" y="49173"/>
                    <a:pt x="1647478" y="109832"/>
                  </a:cubicBezTo>
                  <a:lnTo>
                    <a:pt x="1647478" y="988487"/>
                  </a:lnTo>
                  <a:cubicBezTo>
                    <a:pt x="1647478" y="1049146"/>
                    <a:pt x="1598305" y="1098319"/>
                    <a:pt x="1537646" y="1098319"/>
                  </a:cubicBezTo>
                  <a:lnTo>
                    <a:pt x="109832" y="1098319"/>
                  </a:lnTo>
                  <a:cubicBezTo>
                    <a:pt x="49173" y="1098319"/>
                    <a:pt x="0" y="1049146"/>
                    <a:pt x="0" y="988487"/>
                  </a:cubicBezTo>
                  <a:lnTo>
                    <a:pt x="0" y="109832"/>
                  </a:lnTo>
                  <a:close/>
                </a:path>
              </a:pathLst>
            </a:custGeom>
            <a:solidFill>
              <a:schemeClr val="accent3"/>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35039" tIns="135039" rIns="135039" bIns="135039" numCol="1" spcCol="1270" anchor="ctr" anchorCtr="0">
              <a:noAutofit/>
            </a:bodyPr>
            <a:lstStyle/>
            <a:p>
              <a:pPr marL="0" lvl="0" indent="0" algn="ctr" defTabSz="1200150">
                <a:lnSpc>
                  <a:spcPct val="90000"/>
                </a:lnSpc>
                <a:spcBef>
                  <a:spcPct val="0"/>
                </a:spcBef>
                <a:spcAft>
                  <a:spcPct val="35000"/>
                </a:spcAft>
                <a:buNone/>
              </a:pPr>
              <a:r>
                <a:rPr lang="en-US" sz="2700" kern="1200" dirty="0"/>
                <a:t>Survey</a:t>
              </a:r>
            </a:p>
          </p:txBody>
        </p:sp>
        <p:sp>
          <p:nvSpPr>
            <p:cNvPr id="9" name="Freeform: Shape 8">
              <a:extLst>
                <a:ext uri="{FF2B5EF4-FFF2-40B4-BE49-F238E27FC236}">
                  <a16:creationId xmlns:a16="http://schemas.microsoft.com/office/drawing/2014/main" id="{9061C41C-5A1C-4A5F-A91A-D654630D5CD7}"/>
                </a:ext>
              </a:extLst>
            </p:cNvPr>
            <p:cNvSpPr/>
            <p:nvPr/>
          </p:nvSpPr>
          <p:spPr>
            <a:xfrm>
              <a:off x="6283871" y="3204490"/>
              <a:ext cx="2003457" cy="439327"/>
            </a:xfrm>
            <a:custGeom>
              <a:avLst/>
              <a:gdLst/>
              <a:ahLst/>
              <a:cxnLst/>
              <a:rect l="0" t="0" r="0" b="0"/>
              <a:pathLst>
                <a:path>
                  <a:moveTo>
                    <a:pt x="2003457" y="0"/>
                  </a:moveTo>
                  <a:lnTo>
                    <a:pt x="2003457" y="219663"/>
                  </a:lnTo>
                  <a:lnTo>
                    <a:pt x="0" y="219663"/>
                  </a:lnTo>
                  <a:lnTo>
                    <a:pt x="0" y="43932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Freeform: Shape 9">
              <a:extLst>
                <a:ext uri="{FF2B5EF4-FFF2-40B4-BE49-F238E27FC236}">
                  <a16:creationId xmlns:a16="http://schemas.microsoft.com/office/drawing/2014/main" id="{BFBF9DDD-908A-BE88-D6EA-E8C3F98222B3}"/>
                </a:ext>
              </a:extLst>
            </p:cNvPr>
            <p:cNvSpPr/>
            <p:nvPr/>
          </p:nvSpPr>
          <p:spPr>
            <a:xfrm>
              <a:off x="4569991" y="3643818"/>
              <a:ext cx="3427760" cy="1098319"/>
            </a:xfrm>
            <a:custGeom>
              <a:avLst/>
              <a:gdLst>
                <a:gd name="connsiteX0" fmla="*/ 0 w 3427760"/>
                <a:gd name="connsiteY0" fmla="*/ 109832 h 1098319"/>
                <a:gd name="connsiteX1" fmla="*/ 109832 w 3427760"/>
                <a:gd name="connsiteY1" fmla="*/ 0 h 1098319"/>
                <a:gd name="connsiteX2" fmla="*/ 3317928 w 3427760"/>
                <a:gd name="connsiteY2" fmla="*/ 0 h 1098319"/>
                <a:gd name="connsiteX3" fmla="*/ 3427760 w 3427760"/>
                <a:gd name="connsiteY3" fmla="*/ 109832 h 1098319"/>
                <a:gd name="connsiteX4" fmla="*/ 3427760 w 3427760"/>
                <a:gd name="connsiteY4" fmla="*/ 988487 h 1098319"/>
                <a:gd name="connsiteX5" fmla="*/ 3317928 w 3427760"/>
                <a:gd name="connsiteY5" fmla="*/ 1098319 h 1098319"/>
                <a:gd name="connsiteX6" fmla="*/ 109832 w 3427760"/>
                <a:gd name="connsiteY6" fmla="*/ 1098319 h 1098319"/>
                <a:gd name="connsiteX7" fmla="*/ 0 w 3427760"/>
                <a:gd name="connsiteY7" fmla="*/ 988487 h 1098319"/>
                <a:gd name="connsiteX8" fmla="*/ 0 w 3427760"/>
                <a:gd name="connsiteY8" fmla="*/ 109832 h 109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7760" h="1098319">
                  <a:moveTo>
                    <a:pt x="0" y="109832"/>
                  </a:moveTo>
                  <a:cubicBezTo>
                    <a:pt x="0" y="49173"/>
                    <a:pt x="49173" y="0"/>
                    <a:pt x="109832" y="0"/>
                  </a:cubicBezTo>
                  <a:lnTo>
                    <a:pt x="3317928" y="0"/>
                  </a:lnTo>
                  <a:cubicBezTo>
                    <a:pt x="3378587" y="0"/>
                    <a:pt x="3427760" y="49173"/>
                    <a:pt x="3427760" y="109832"/>
                  </a:cubicBezTo>
                  <a:lnTo>
                    <a:pt x="3427760" y="988487"/>
                  </a:lnTo>
                  <a:cubicBezTo>
                    <a:pt x="3427760" y="1049146"/>
                    <a:pt x="3378587" y="1098319"/>
                    <a:pt x="3317928" y="1098319"/>
                  </a:cubicBezTo>
                  <a:lnTo>
                    <a:pt x="109832" y="1098319"/>
                  </a:lnTo>
                  <a:cubicBezTo>
                    <a:pt x="49173" y="1098319"/>
                    <a:pt x="0" y="1049146"/>
                    <a:pt x="0" y="988487"/>
                  </a:cubicBezTo>
                  <a:lnTo>
                    <a:pt x="0" y="109832"/>
                  </a:lnTo>
                  <a:close/>
                </a:path>
              </a:pathLst>
            </a:custGeom>
            <a:solidFill>
              <a:schemeClr val="accent2"/>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35039" tIns="135039" rIns="135039" bIns="135039" numCol="1" spcCol="1270" anchor="ctr" anchorCtr="0">
              <a:noAutofit/>
            </a:bodyPr>
            <a:lstStyle/>
            <a:p>
              <a:pPr marL="0" lvl="0" indent="0" algn="ctr" defTabSz="1200150">
                <a:lnSpc>
                  <a:spcPct val="90000"/>
                </a:lnSpc>
                <a:spcBef>
                  <a:spcPct val="0"/>
                </a:spcBef>
                <a:spcAft>
                  <a:spcPct val="35000"/>
                </a:spcAft>
                <a:buNone/>
              </a:pPr>
              <a:r>
                <a:rPr lang="en-US" sz="2700" kern="1200" dirty="0"/>
                <a:t>Consumer Survey</a:t>
              </a:r>
            </a:p>
          </p:txBody>
        </p:sp>
        <p:sp>
          <p:nvSpPr>
            <p:cNvPr id="11" name="Freeform: Shape 10">
              <a:extLst>
                <a:ext uri="{FF2B5EF4-FFF2-40B4-BE49-F238E27FC236}">
                  <a16:creationId xmlns:a16="http://schemas.microsoft.com/office/drawing/2014/main" id="{F5CA79E9-9B23-5915-36EC-E529B385CE03}"/>
                </a:ext>
              </a:extLst>
            </p:cNvPr>
            <p:cNvSpPr/>
            <p:nvPr/>
          </p:nvSpPr>
          <p:spPr>
            <a:xfrm>
              <a:off x="8287329" y="3204490"/>
              <a:ext cx="1961002" cy="439327"/>
            </a:xfrm>
            <a:custGeom>
              <a:avLst/>
              <a:gdLst/>
              <a:ahLst/>
              <a:cxnLst/>
              <a:rect l="0" t="0" r="0" b="0"/>
              <a:pathLst>
                <a:path>
                  <a:moveTo>
                    <a:pt x="0" y="0"/>
                  </a:moveTo>
                  <a:lnTo>
                    <a:pt x="0" y="219663"/>
                  </a:lnTo>
                  <a:lnTo>
                    <a:pt x="1961002" y="219663"/>
                  </a:lnTo>
                  <a:lnTo>
                    <a:pt x="1961002" y="43932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3" name="Freeform: Shape 22">
              <a:extLst>
                <a:ext uri="{FF2B5EF4-FFF2-40B4-BE49-F238E27FC236}">
                  <a16:creationId xmlns:a16="http://schemas.microsoft.com/office/drawing/2014/main" id="{9023ABD8-16AE-C6F4-CAC9-5426650D9FAE}"/>
                </a:ext>
              </a:extLst>
            </p:cNvPr>
            <p:cNvSpPr/>
            <p:nvPr/>
          </p:nvSpPr>
          <p:spPr>
            <a:xfrm>
              <a:off x="8491995" y="3643818"/>
              <a:ext cx="3512671" cy="1098319"/>
            </a:xfrm>
            <a:custGeom>
              <a:avLst/>
              <a:gdLst>
                <a:gd name="connsiteX0" fmla="*/ 0 w 3512671"/>
                <a:gd name="connsiteY0" fmla="*/ 109832 h 1098319"/>
                <a:gd name="connsiteX1" fmla="*/ 109832 w 3512671"/>
                <a:gd name="connsiteY1" fmla="*/ 0 h 1098319"/>
                <a:gd name="connsiteX2" fmla="*/ 3402839 w 3512671"/>
                <a:gd name="connsiteY2" fmla="*/ 0 h 1098319"/>
                <a:gd name="connsiteX3" fmla="*/ 3512671 w 3512671"/>
                <a:gd name="connsiteY3" fmla="*/ 109832 h 1098319"/>
                <a:gd name="connsiteX4" fmla="*/ 3512671 w 3512671"/>
                <a:gd name="connsiteY4" fmla="*/ 988487 h 1098319"/>
                <a:gd name="connsiteX5" fmla="*/ 3402839 w 3512671"/>
                <a:gd name="connsiteY5" fmla="*/ 1098319 h 1098319"/>
                <a:gd name="connsiteX6" fmla="*/ 109832 w 3512671"/>
                <a:gd name="connsiteY6" fmla="*/ 1098319 h 1098319"/>
                <a:gd name="connsiteX7" fmla="*/ 0 w 3512671"/>
                <a:gd name="connsiteY7" fmla="*/ 988487 h 1098319"/>
                <a:gd name="connsiteX8" fmla="*/ 0 w 3512671"/>
                <a:gd name="connsiteY8" fmla="*/ 109832 h 109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12671" h="1098319">
                  <a:moveTo>
                    <a:pt x="0" y="109832"/>
                  </a:moveTo>
                  <a:cubicBezTo>
                    <a:pt x="0" y="49173"/>
                    <a:pt x="49173" y="0"/>
                    <a:pt x="109832" y="0"/>
                  </a:cubicBezTo>
                  <a:lnTo>
                    <a:pt x="3402839" y="0"/>
                  </a:lnTo>
                  <a:cubicBezTo>
                    <a:pt x="3463498" y="0"/>
                    <a:pt x="3512671" y="49173"/>
                    <a:pt x="3512671" y="109832"/>
                  </a:cubicBezTo>
                  <a:lnTo>
                    <a:pt x="3512671" y="988487"/>
                  </a:lnTo>
                  <a:cubicBezTo>
                    <a:pt x="3512671" y="1049146"/>
                    <a:pt x="3463498" y="1098319"/>
                    <a:pt x="3402839" y="1098319"/>
                  </a:cubicBezTo>
                  <a:lnTo>
                    <a:pt x="109832" y="1098319"/>
                  </a:lnTo>
                  <a:cubicBezTo>
                    <a:pt x="49173" y="1098319"/>
                    <a:pt x="0" y="1049146"/>
                    <a:pt x="0" y="988487"/>
                  </a:cubicBezTo>
                  <a:lnTo>
                    <a:pt x="0" y="109832"/>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35039" tIns="135039" rIns="135039" bIns="135039" numCol="1" spcCol="1270" anchor="ctr" anchorCtr="0">
              <a:noAutofit/>
            </a:bodyPr>
            <a:lstStyle/>
            <a:p>
              <a:pPr marL="0" lvl="0" indent="0" algn="ctr" defTabSz="1200150">
                <a:lnSpc>
                  <a:spcPct val="90000"/>
                </a:lnSpc>
                <a:spcBef>
                  <a:spcPct val="0"/>
                </a:spcBef>
                <a:spcAft>
                  <a:spcPct val="35000"/>
                </a:spcAft>
                <a:buNone/>
              </a:pPr>
              <a:r>
                <a:rPr lang="en-US" sz="2700" kern="1200" dirty="0"/>
                <a:t>Shop Owner Survey</a:t>
              </a:r>
            </a:p>
          </p:txBody>
        </p:sp>
      </p:grpSp>
    </p:spTree>
    <p:extLst>
      <p:ext uri="{BB962C8B-B14F-4D97-AF65-F5344CB8AC3E}">
        <p14:creationId xmlns:p14="http://schemas.microsoft.com/office/powerpoint/2010/main" val="2895506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98385" y="-57841"/>
            <a:ext cx="1435236" cy="4859100"/>
          </a:xfrm>
          <a:prstGeom prst="rect">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999723" y="-218401"/>
            <a:ext cx="1317571" cy="3703191"/>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sp>
        <p:nvSpPr>
          <p:cNvPr id="7" name="Rectangle 6"/>
          <p:cNvSpPr/>
          <p:nvPr/>
        </p:nvSpPr>
        <p:spPr>
          <a:xfrm>
            <a:off x="4613150" y="4286502"/>
            <a:ext cx="1205706" cy="1652643"/>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6105590" y="3144198"/>
            <a:ext cx="1131880" cy="188370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5F330A1-DFD6-4847-BBF3-2AAD76A019EC}"/>
              </a:ext>
            </a:extLst>
          </p:cNvPr>
          <p:cNvSpPr txBox="1"/>
          <p:nvPr/>
        </p:nvSpPr>
        <p:spPr>
          <a:xfrm>
            <a:off x="4438170" y="1764870"/>
            <a:ext cx="1561553" cy="969496"/>
          </a:xfrm>
          <a:prstGeom prst="rect">
            <a:avLst/>
          </a:prstGeom>
          <a:noFill/>
        </p:spPr>
        <p:txBody>
          <a:bodyPr wrap="square" rtlCol="0">
            <a:spAutoFit/>
          </a:bodyPr>
          <a:lstStyle/>
          <a:p>
            <a:pPr algn="ctr"/>
            <a:r>
              <a:rPr lang="en-US" sz="1900" b="1" dirty="0"/>
              <a:t>Easy Connection </a:t>
            </a:r>
          </a:p>
          <a:p>
            <a:pPr algn="ctr"/>
            <a:endParaRPr lang="en-US" sz="19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extBox 28">
            <a:extLst>
              <a:ext uri="{FF2B5EF4-FFF2-40B4-BE49-F238E27FC236}">
                <a16:creationId xmlns:a16="http://schemas.microsoft.com/office/drawing/2014/main" id="{D5F330A1-DFD6-4847-BBF3-2AAD76A019EC}"/>
              </a:ext>
            </a:extLst>
          </p:cNvPr>
          <p:cNvSpPr txBox="1"/>
          <p:nvPr/>
        </p:nvSpPr>
        <p:spPr>
          <a:xfrm>
            <a:off x="7516127" y="572744"/>
            <a:ext cx="2038351" cy="1569660"/>
          </a:xfrm>
          <a:prstGeom prst="rect">
            <a:avLst/>
          </a:prstGeom>
          <a:noFill/>
        </p:spPr>
        <p:txBody>
          <a:bodyPr wrap="square" rtlCol="0">
            <a:spAutoFit/>
          </a:bodyPr>
          <a:lstStyle/>
          <a:p>
            <a:pPr algn="ctr"/>
            <a:r>
              <a:rPr lang="en-US" sz="2400" b="1" dirty="0">
                <a:solidFill>
                  <a:schemeClr val="bg1"/>
                </a:solidFill>
              </a:rPr>
              <a:t>User-Friendly Design </a:t>
            </a:r>
          </a:p>
          <a:p>
            <a:pPr algn="ct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30" name="TextBox 29">
            <a:extLst>
              <a:ext uri="{FF2B5EF4-FFF2-40B4-BE49-F238E27FC236}">
                <a16:creationId xmlns:a16="http://schemas.microsoft.com/office/drawing/2014/main" id="{D5F330A1-DFD6-4847-BBF3-2AAD76A019EC}"/>
              </a:ext>
            </a:extLst>
          </p:cNvPr>
          <p:cNvSpPr txBox="1"/>
          <p:nvPr/>
        </p:nvSpPr>
        <p:spPr>
          <a:xfrm rot="5400000">
            <a:off x="9290758" y="1853166"/>
            <a:ext cx="2639478" cy="461665"/>
          </a:xfrm>
          <a:prstGeom prst="rect">
            <a:avLst/>
          </a:prstGeom>
          <a:noFill/>
        </p:spPr>
        <p:txBody>
          <a:bodyPr wrap="square" rtlCol="0">
            <a:spAutoFit/>
          </a:bodyPr>
          <a:lstStyle/>
          <a:p>
            <a:pPr algn="ct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Business Idea </a:t>
            </a:r>
          </a:p>
        </p:txBody>
      </p:sp>
      <p:sp>
        <p:nvSpPr>
          <p:cNvPr id="43" name="TextBox 42">
            <a:extLst>
              <a:ext uri="{FF2B5EF4-FFF2-40B4-BE49-F238E27FC236}">
                <a16:creationId xmlns:a16="http://schemas.microsoft.com/office/drawing/2014/main" id="{98C3B736-F50D-441B-A694-B0D70E3638FA}"/>
              </a:ext>
            </a:extLst>
          </p:cNvPr>
          <p:cNvSpPr txBox="1"/>
          <p:nvPr/>
        </p:nvSpPr>
        <p:spPr>
          <a:xfrm>
            <a:off x="226637" y="266965"/>
            <a:ext cx="5856330" cy="1323421"/>
          </a:xfrm>
          <a:prstGeom prst="rect">
            <a:avLst/>
          </a:prstGeom>
          <a:noFill/>
        </p:spPr>
        <p:txBody>
          <a:bodyPr wrap="square" lIns="91422" tIns="45711" rIns="91422" bIns="45711" rtlCol="0">
            <a:spAutoFit/>
          </a:bodyPr>
          <a:lstStyle/>
          <a:p>
            <a:r>
              <a:rPr lang="en-US" sz="4000" b="1" spc="300" dirty="0">
                <a:solidFill>
                  <a:schemeClr val="tx1">
                    <a:lumMod val="95000"/>
                    <a:lumOff val="5000"/>
                  </a:schemeClr>
                </a:solidFill>
                <a:latin typeface="Poppins" panose="00000500000000000000" pitchFamily="2" charset="0"/>
                <a:cs typeface="Poppins" panose="00000500000000000000" pitchFamily="2" charset="0"/>
              </a:rPr>
              <a:t>NEED </a:t>
            </a:r>
          </a:p>
          <a:p>
            <a:r>
              <a:rPr lang="en-US" sz="4000" b="1" spc="300" dirty="0">
                <a:solidFill>
                  <a:schemeClr val="tx1">
                    <a:lumMod val="95000"/>
                    <a:lumOff val="5000"/>
                  </a:schemeClr>
                </a:solidFill>
                <a:latin typeface="Poppins" panose="00000500000000000000" pitchFamily="2" charset="0"/>
                <a:cs typeface="Poppins" panose="00000500000000000000" pitchFamily="2" charset="0"/>
              </a:rPr>
              <a:t>  </a:t>
            </a:r>
            <a:r>
              <a:rPr lang="en-US" sz="4000" b="1" spc="300" dirty="0">
                <a:solidFill>
                  <a:schemeClr val="accent3"/>
                </a:solidFill>
                <a:latin typeface="Poppins" panose="00000500000000000000" pitchFamily="2" charset="0"/>
                <a:cs typeface="Poppins" panose="00000500000000000000" pitchFamily="2" charset="0"/>
              </a:rPr>
              <a:t>STATEMENT</a:t>
            </a:r>
            <a:r>
              <a:rPr lang="en-US" sz="3600" b="1" spc="300" dirty="0">
                <a:solidFill>
                  <a:schemeClr val="tx1">
                    <a:lumMod val="95000"/>
                    <a:lumOff val="5000"/>
                  </a:schemeClr>
                </a:solidFill>
                <a:latin typeface="Poppins" panose="00000500000000000000" pitchFamily="2" charset="0"/>
                <a:cs typeface="Poppins" panose="00000500000000000000" pitchFamily="2" charset="0"/>
              </a:rPr>
              <a:t> </a:t>
            </a:r>
            <a:endParaRPr lang="en-US" sz="3000" b="1" spc="300" dirty="0">
              <a:solidFill>
                <a:schemeClr val="tx1">
                  <a:lumMod val="95000"/>
                  <a:lumOff val="5000"/>
                </a:schemeClr>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68A3EBED-67E8-0AB7-0BB5-F0DDC761F0C0}"/>
              </a:ext>
            </a:extLst>
          </p:cNvPr>
          <p:cNvSpPr txBox="1"/>
          <p:nvPr/>
        </p:nvSpPr>
        <p:spPr>
          <a:xfrm>
            <a:off x="199311" y="1950174"/>
            <a:ext cx="3585288" cy="923330"/>
          </a:xfrm>
          <a:prstGeom prst="rect">
            <a:avLst/>
          </a:prstGeom>
          <a:noFill/>
        </p:spPr>
        <p:txBody>
          <a:bodyPr wrap="square">
            <a:spAutoFit/>
          </a:bodyPr>
          <a:lstStyle/>
          <a:p>
            <a:pPr algn="just"/>
            <a:r>
              <a:rPr lang="en-US" dirty="0">
                <a:effectLst/>
                <a:ea typeface="Calibri" panose="020F0502020204030204" pitchFamily="34" charset="0"/>
                <a:cs typeface="Times New Roman" panose="02020603050405020304" pitchFamily="18" charset="0"/>
              </a:rPr>
              <a:t>To meet the needs of shoppers and store owners, we should follow these guidelines</a:t>
            </a:r>
            <a:endParaRPr lang="en-US" dirty="0"/>
          </a:p>
        </p:txBody>
      </p:sp>
      <p:sp>
        <p:nvSpPr>
          <p:cNvPr id="10" name="Rectangle 9">
            <a:extLst>
              <a:ext uri="{FF2B5EF4-FFF2-40B4-BE49-F238E27FC236}">
                <a16:creationId xmlns:a16="http://schemas.microsoft.com/office/drawing/2014/main" id="{4C617741-B514-990E-2955-060557685605}"/>
              </a:ext>
            </a:extLst>
          </p:cNvPr>
          <p:cNvSpPr/>
          <p:nvPr/>
        </p:nvSpPr>
        <p:spPr>
          <a:xfrm>
            <a:off x="7374174" y="-165521"/>
            <a:ext cx="1435236" cy="4859100"/>
          </a:xfrm>
          <a:prstGeom prst="rect">
            <a:avLst/>
          </a:prstGeom>
          <a:solidFill>
            <a:schemeClr val="accent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b="1" dirty="0">
                <a:solidFill>
                  <a:schemeClr val="tx1"/>
                </a:solidFill>
              </a:rPr>
              <a:t>Affordable Price</a:t>
            </a:r>
          </a:p>
        </p:txBody>
      </p:sp>
      <p:sp>
        <p:nvSpPr>
          <p:cNvPr id="27" name="Rectangle 26">
            <a:extLst>
              <a:ext uri="{FF2B5EF4-FFF2-40B4-BE49-F238E27FC236}">
                <a16:creationId xmlns:a16="http://schemas.microsoft.com/office/drawing/2014/main" id="{586C3009-CBFF-2E59-8ECE-639DD1485CB6}"/>
              </a:ext>
            </a:extLst>
          </p:cNvPr>
          <p:cNvSpPr/>
          <p:nvPr/>
        </p:nvSpPr>
        <p:spPr>
          <a:xfrm>
            <a:off x="10375070" y="-90656"/>
            <a:ext cx="1435236" cy="4859100"/>
          </a:xfrm>
          <a:prstGeom prst="rect">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b="1" dirty="0">
                <a:solidFill>
                  <a:schemeClr val="tx1"/>
                </a:solidFill>
              </a:rPr>
              <a:t> Real-Time Tracking</a:t>
            </a:r>
          </a:p>
        </p:txBody>
      </p:sp>
      <p:sp>
        <p:nvSpPr>
          <p:cNvPr id="28" name="Rectangle 27">
            <a:extLst>
              <a:ext uri="{FF2B5EF4-FFF2-40B4-BE49-F238E27FC236}">
                <a16:creationId xmlns:a16="http://schemas.microsoft.com/office/drawing/2014/main" id="{F0F6F8F9-7360-FE12-3B82-A42ACFA769FD}"/>
              </a:ext>
            </a:extLst>
          </p:cNvPr>
          <p:cNvSpPr/>
          <p:nvPr/>
        </p:nvSpPr>
        <p:spPr>
          <a:xfrm>
            <a:off x="8869626" y="-1372502"/>
            <a:ext cx="1435236" cy="4859100"/>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solidFill>
                <a:schemeClr val="tx1"/>
              </a:solidFill>
            </a:endParaRPr>
          </a:p>
          <a:p>
            <a:pPr lvl="0" algn="ctr"/>
            <a:endParaRPr lang="en-US" b="1" dirty="0">
              <a:solidFill>
                <a:schemeClr val="tx1"/>
              </a:solidFill>
            </a:endParaRPr>
          </a:p>
          <a:p>
            <a:pPr lvl="0" algn="ctr"/>
            <a:r>
              <a:rPr lang="en-US" b="1" dirty="0">
                <a:solidFill>
                  <a:schemeClr val="tx1"/>
                </a:solidFill>
              </a:rPr>
              <a:t>Strong and Light</a:t>
            </a:r>
          </a:p>
        </p:txBody>
      </p:sp>
      <p:sp>
        <p:nvSpPr>
          <p:cNvPr id="44" name="Rectangle 43">
            <a:extLst>
              <a:ext uri="{FF2B5EF4-FFF2-40B4-BE49-F238E27FC236}">
                <a16:creationId xmlns:a16="http://schemas.microsoft.com/office/drawing/2014/main" id="{6149863E-8D21-C7C2-83FE-3D521A5A0F73}"/>
              </a:ext>
            </a:extLst>
          </p:cNvPr>
          <p:cNvSpPr/>
          <p:nvPr/>
        </p:nvSpPr>
        <p:spPr>
          <a:xfrm>
            <a:off x="7499281" y="4070947"/>
            <a:ext cx="1205706" cy="1652643"/>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590DDE18-411E-A27A-AEE8-1633056B30C8}"/>
              </a:ext>
            </a:extLst>
          </p:cNvPr>
          <p:cNvSpPr/>
          <p:nvPr/>
        </p:nvSpPr>
        <p:spPr>
          <a:xfrm>
            <a:off x="8978396" y="3109542"/>
            <a:ext cx="1205706" cy="1652643"/>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A409E214-EE82-27DF-7A8A-576433F59FBC}"/>
              </a:ext>
            </a:extLst>
          </p:cNvPr>
          <p:cNvSpPr/>
          <p:nvPr/>
        </p:nvSpPr>
        <p:spPr>
          <a:xfrm>
            <a:off x="10499809" y="4189255"/>
            <a:ext cx="1205706" cy="1652643"/>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48A9D852-DECC-5737-E1B8-3C1663F6537D}"/>
              </a:ext>
            </a:extLst>
          </p:cNvPr>
          <p:cNvSpPr txBox="1"/>
          <p:nvPr/>
        </p:nvSpPr>
        <p:spPr>
          <a:xfrm>
            <a:off x="5840953" y="749715"/>
            <a:ext cx="1603755" cy="1215717"/>
          </a:xfrm>
          <a:prstGeom prst="rect">
            <a:avLst/>
          </a:prstGeom>
          <a:noFill/>
        </p:spPr>
        <p:txBody>
          <a:bodyPr wrap="square" rtlCol="0">
            <a:spAutoFit/>
          </a:bodyPr>
          <a:lstStyle/>
          <a:p>
            <a:pPr lvl="0" algn="ctr"/>
            <a:r>
              <a:rPr lang="en-US" b="1" dirty="0"/>
              <a:t>User- Friendly Design</a:t>
            </a:r>
          </a:p>
          <a:p>
            <a:pPr algn="ctr"/>
            <a:endParaRPr lang="en-US" sz="19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9" name="Graphic 48" descr="Money with solid fill">
            <a:extLst>
              <a:ext uri="{FF2B5EF4-FFF2-40B4-BE49-F238E27FC236}">
                <a16:creationId xmlns:a16="http://schemas.microsoft.com/office/drawing/2014/main" id="{40C72B11-EA18-DB7A-82D9-807308272C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91553" y="4344059"/>
            <a:ext cx="914400" cy="914400"/>
          </a:xfrm>
          <a:prstGeom prst="rect">
            <a:avLst/>
          </a:prstGeom>
        </p:spPr>
      </p:pic>
      <p:pic>
        <p:nvPicPr>
          <p:cNvPr id="51" name="Graphic 50" descr="Connections with solid fill">
            <a:extLst>
              <a:ext uri="{FF2B5EF4-FFF2-40B4-BE49-F238E27FC236}">
                <a16:creationId xmlns:a16="http://schemas.microsoft.com/office/drawing/2014/main" id="{55F55C8D-1C8C-F98D-D823-C4E54455DD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47921" y="4570702"/>
            <a:ext cx="914400" cy="914400"/>
          </a:xfrm>
          <a:prstGeom prst="rect">
            <a:avLst/>
          </a:prstGeom>
        </p:spPr>
      </p:pic>
      <p:pic>
        <p:nvPicPr>
          <p:cNvPr id="60" name="Graphic 59" descr="Business Growth with solid fill">
            <a:extLst>
              <a:ext uri="{FF2B5EF4-FFF2-40B4-BE49-F238E27FC236}">
                <a16:creationId xmlns:a16="http://schemas.microsoft.com/office/drawing/2014/main" id="{D6D11949-F181-C32B-F1CA-D16008FBF1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87251" y="3478663"/>
            <a:ext cx="914400" cy="914400"/>
          </a:xfrm>
          <a:prstGeom prst="rect">
            <a:avLst/>
          </a:prstGeom>
        </p:spPr>
      </p:pic>
      <p:pic>
        <p:nvPicPr>
          <p:cNvPr id="62" name="Graphic 61" descr="Clock with solid fill">
            <a:extLst>
              <a:ext uri="{FF2B5EF4-FFF2-40B4-BE49-F238E27FC236}">
                <a16:creationId xmlns:a16="http://schemas.microsoft.com/office/drawing/2014/main" id="{DA376A91-BAD2-FD4E-0CDD-C1EAE1AC1E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45462" y="4536397"/>
            <a:ext cx="914400" cy="914400"/>
          </a:xfrm>
          <a:prstGeom prst="rect">
            <a:avLst/>
          </a:prstGeom>
        </p:spPr>
      </p:pic>
      <p:pic>
        <p:nvPicPr>
          <p:cNvPr id="64" name="Graphic 63" descr="Target Audience with solid fill">
            <a:extLst>
              <a:ext uri="{FF2B5EF4-FFF2-40B4-BE49-F238E27FC236}">
                <a16:creationId xmlns:a16="http://schemas.microsoft.com/office/drawing/2014/main" id="{9133AC14-42F0-A498-B17B-5A08F75F045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85630" y="3621997"/>
            <a:ext cx="914400" cy="914400"/>
          </a:xfrm>
          <a:prstGeom prst="rect">
            <a:avLst/>
          </a:prstGeom>
        </p:spPr>
      </p:pic>
    </p:spTree>
    <p:extLst>
      <p:ext uri="{BB962C8B-B14F-4D97-AF65-F5344CB8AC3E}">
        <p14:creationId xmlns:p14="http://schemas.microsoft.com/office/powerpoint/2010/main" val="924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1740838" y="2403463"/>
            <a:ext cx="2198915" cy="2298675"/>
            <a:chOff x="1784380" y="2737292"/>
            <a:chExt cx="2198915" cy="2298675"/>
          </a:xfrm>
          <a:effectLst>
            <a:outerShdw blurRad="50800" dist="38100" dir="5400000" algn="t" rotWithShape="0">
              <a:prstClr val="black">
                <a:alpha val="40000"/>
              </a:prstClr>
            </a:outerShdw>
          </a:effectLst>
        </p:grpSpPr>
        <p:grpSp>
          <p:nvGrpSpPr>
            <p:cNvPr id="6" name="Group 5"/>
            <p:cNvGrpSpPr/>
            <p:nvPr/>
          </p:nvGrpSpPr>
          <p:grpSpPr>
            <a:xfrm rot="5400000">
              <a:off x="2279426" y="2242246"/>
              <a:ext cx="1208823" cy="2198915"/>
              <a:chOff x="3367312" y="2322285"/>
              <a:chExt cx="2155373" cy="2198915"/>
            </a:xfrm>
          </p:grpSpPr>
          <p:sp>
            <p:nvSpPr>
              <p:cNvPr id="5" name="Rounded Rectangle 4"/>
              <p:cNvSpPr/>
              <p:nvPr/>
            </p:nvSpPr>
            <p:spPr>
              <a:xfrm>
                <a:off x="3476170" y="2416629"/>
                <a:ext cx="2046515" cy="2104571"/>
              </a:xfrm>
              <a:prstGeom prst="roundRect">
                <a:avLst>
                  <a:gd name="adj" fmla="val 681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3367312" y="2322285"/>
                <a:ext cx="2046515" cy="2104571"/>
              </a:xfrm>
              <a:prstGeom prst="roundRect">
                <a:avLst>
                  <a:gd name="adj" fmla="val 681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p:cNvGrpSpPr/>
            <p:nvPr/>
          </p:nvGrpSpPr>
          <p:grpSpPr>
            <a:xfrm>
              <a:off x="1935265" y="4199149"/>
              <a:ext cx="1890272" cy="809556"/>
              <a:chOff x="7577854" y="2887738"/>
              <a:chExt cx="2051320" cy="878529"/>
            </a:xfrm>
          </p:grpSpPr>
          <p:sp>
            <p:nvSpPr>
              <p:cNvPr id="24" name="Freeform 240">
                <a:extLst>
                  <a:ext uri="{FF2B5EF4-FFF2-40B4-BE49-F238E27FC236}">
                    <a16:creationId xmlns:a16="http://schemas.microsoft.com/office/drawing/2014/main" id="{55DCA62C-3107-4C80-AEA0-06781866C46D}"/>
                  </a:ext>
                </a:extLst>
              </p:cNvPr>
              <p:cNvSpPr>
                <a:spLocks/>
              </p:cNvSpPr>
              <p:nvPr/>
            </p:nvSpPr>
            <p:spPr bwMode="auto">
              <a:xfrm flipH="1">
                <a:off x="7585317" y="3134025"/>
                <a:ext cx="2043857" cy="632242"/>
              </a:xfrm>
              <a:custGeom>
                <a:avLst/>
                <a:gdLst>
                  <a:gd name="T0" fmla="*/ 0 w 1917"/>
                  <a:gd name="T1" fmla="*/ 0 h 593"/>
                  <a:gd name="T2" fmla="*/ 1917 w 1917"/>
                  <a:gd name="T3" fmla="*/ 0 h 593"/>
                  <a:gd name="T4" fmla="*/ 1917 w 1917"/>
                  <a:gd name="T5" fmla="*/ 6 h 593"/>
                  <a:gd name="T6" fmla="*/ 1917 w 1917"/>
                  <a:gd name="T7" fmla="*/ 22 h 593"/>
                  <a:gd name="T8" fmla="*/ 1917 w 1917"/>
                  <a:gd name="T9" fmla="*/ 47 h 593"/>
                  <a:gd name="T10" fmla="*/ 1917 w 1917"/>
                  <a:gd name="T11" fmla="*/ 111 h 593"/>
                  <a:gd name="T12" fmla="*/ 1917 w 1917"/>
                  <a:gd name="T13" fmla="*/ 147 h 593"/>
                  <a:gd name="T14" fmla="*/ 1917 w 1917"/>
                  <a:gd name="T15" fmla="*/ 183 h 593"/>
                  <a:gd name="T16" fmla="*/ 1917 w 1917"/>
                  <a:gd name="T17" fmla="*/ 214 h 593"/>
                  <a:gd name="T18" fmla="*/ 1917 w 1917"/>
                  <a:gd name="T19" fmla="*/ 259 h 593"/>
                  <a:gd name="T20" fmla="*/ 1912 w 1917"/>
                  <a:gd name="T21" fmla="*/ 297 h 593"/>
                  <a:gd name="T22" fmla="*/ 1896 w 1917"/>
                  <a:gd name="T23" fmla="*/ 331 h 593"/>
                  <a:gd name="T24" fmla="*/ 1868 w 1917"/>
                  <a:gd name="T25" fmla="*/ 366 h 593"/>
                  <a:gd name="T26" fmla="*/ 1832 w 1917"/>
                  <a:gd name="T27" fmla="*/ 398 h 593"/>
                  <a:gd name="T28" fmla="*/ 1787 w 1917"/>
                  <a:gd name="T29" fmla="*/ 428 h 593"/>
                  <a:gd name="T30" fmla="*/ 1733 w 1917"/>
                  <a:gd name="T31" fmla="*/ 457 h 593"/>
                  <a:gd name="T32" fmla="*/ 1670 w 1917"/>
                  <a:gd name="T33" fmla="*/ 483 h 593"/>
                  <a:gd name="T34" fmla="*/ 1600 w 1917"/>
                  <a:gd name="T35" fmla="*/ 508 h 593"/>
                  <a:gd name="T36" fmla="*/ 1525 w 1917"/>
                  <a:gd name="T37" fmla="*/ 529 h 593"/>
                  <a:gd name="T38" fmla="*/ 1443 w 1917"/>
                  <a:gd name="T39" fmla="*/ 547 h 593"/>
                  <a:gd name="T40" fmla="*/ 1355 w 1917"/>
                  <a:gd name="T41" fmla="*/ 564 h 593"/>
                  <a:gd name="T42" fmla="*/ 1262 w 1917"/>
                  <a:gd name="T43" fmla="*/ 577 h 593"/>
                  <a:gd name="T44" fmla="*/ 1164 w 1917"/>
                  <a:gd name="T45" fmla="*/ 585 h 593"/>
                  <a:gd name="T46" fmla="*/ 1062 w 1917"/>
                  <a:gd name="T47" fmla="*/ 591 h 593"/>
                  <a:gd name="T48" fmla="*/ 958 w 1917"/>
                  <a:gd name="T49" fmla="*/ 593 h 593"/>
                  <a:gd name="T50" fmla="*/ 855 w 1917"/>
                  <a:gd name="T51" fmla="*/ 591 h 593"/>
                  <a:gd name="T52" fmla="*/ 753 w 1917"/>
                  <a:gd name="T53" fmla="*/ 585 h 593"/>
                  <a:gd name="T54" fmla="*/ 655 w 1917"/>
                  <a:gd name="T55" fmla="*/ 577 h 593"/>
                  <a:gd name="T56" fmla="*/ 562 w 1917"/>
                  <a:gd name="T57" fmla="*/ 564 h 593"/>
                  <a:gd name="T58" fmla="*/ 474 w 1917"/>
                  <a:gd name="T59" fmla="*/ 547 h 593"/>
                  <a:gd name="T60" fmla="*/ 392 w 1917"/>
                  <a:gd name="T61" fmla="*/ 529 h 593"/>
                  <a:gd name="T62" fmla="*/ 317 w 1917"/>
                  <a:gd name="T63" fmla="*/ 508 h 593"/>
                  <a:gd name="T64" fmla="*/ 247 w 1917"/>
                  <a:gd name="T65" fmla="*/ 483 h 593"/>
                  <a:gd name="T66" fmla="*/ 185 w 1917"/>
                  <a:gd name="T67" fmla="*/ 457 h 593"/>
                  <a:gd name="T68" fmla="*/ 131 w 1917"/>
                  <a:gd name="T69" fmla="*/ 428 h 593"/>
                  <a:gd name="T70" fmla="*/ 85 w 1917"/>
                  <a:gd name="T71" fmla="*/ 398 h 593"/>
                  <a:gd name="T72" fmla="*/ 49 w 1917"/>
                  <a:gd name="T73" fmla="*/ 366 h 593"/>
                  <a:gd name="T74" fmla="*/ 21 w 1917"/>
                  <a:gd name="T75" fmla="*/ 331 h 593"/>
                  <a:gd name="T76" fmla="*/ 5 w 1917"/>
                  <a:gd name="T77" fmla="*/ 297 h 593"/>
                  <a:gd name="T78" fmla="*/ 0 w 1917"/>
                  <a:gd name="T79" fmla="*/ 259 h 593"/>
                  <a:gd name="T80" fmla="*/ 0 w 1917"/>
                  <a:gd name="T81" fmla="*/ 22 h 593"/>
                  <a:gd name="T82" fmla="*/ 0 w 1917"/>
                  <a:gd name="T83" fmla="*/ 6 h 593"/>
                  <a:gd name="T84" fmla="*/ 0 w 1917"/>
                  <a:gd name="T85" fmla="*/ 0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17" h="593">
                    <a:moveTo>
                      <a:pt x="0" y="0"/>
                    </a:moveTo>
                    <a:lnTo>
                      <a:pt x="1917" y="0"/>
                    </a:lnTo>
                    <a:lnTo>
                      <a:pt x="1917" y="6"/>
                    </a:lnTo>
                    <a:lnTo>
                      <a:pt x="1917" y="22"/>
                    </a:lnTo>
                    <a:lnTo>
                      <a:pt x="1917" y="47"/>
                    </a:lnTo>
                    <a:lnTo>
                      <a:pt x="1917" y="111"/>
                    </a:lnTo>
                    <a:lnTo>
                      <a:pt x="1917" y="147"/>
                    </a:lnTo>
                    <a:lnTo>
                      <a:pt x="1917" y="183"/>
                    </a:lnTo>
                    <a:lnTo>
                      <a:pt x="1917" y="214"/>
                    </a:lnTo>
                    <a:lnTo>
                      <a:pt x="1917" y="259"/>
                    </a:lnTo>
                    <a:lnTo>
                      <a:pt x="1912" y="297"/>
                    </a:lnTo>
                    <a:lnTo>
                      <a:pt x="1896" y="331"/>
                    </a:lnTo>
                    <a:lnTo>
                      <a:pt x="1868" y="366"/>
                    </a:lnTo>
                    <a:lnTo>
                      <a:pt x="1832" y="398"/>
                    </a:lnTo>
                    <a:lnTo>
                      <a:pt x="1787" y="428"/>
                    </a:lnTo>
                    <a:lnTo>
                      <a:pt x="1733" y="457"/>
                    </a:lnTo>
                    <a:lnTo>
                      <a:pt x="1670" y="483"/>
                    </a:lnTo>
                    <a:lnTo>
                      <a:pt x="1600" y="508"/>
                    </a:lnTo>
                    <a:lnTo>
                      <a:pt x="1525" y="529"/>
                    </a:lnTo>
                    <a:lnTo>
                      <a:pt x="1443" y="547"/>
                    </a:lnTo>
                    <a:lnTo>
                      <a:pt x="1355" y="564"/>
                    </a:lnTo>
                    <a:lnTo>
                      <a:pt x="1262" y="577"/>
                    </a:lnTo>
                    <a:lnTo>
                      <a:pt x="1164" y="585"/>
                    </a:lnTo>
                    <a:lnTo>
                      <a:pt x="1062" y="591"/>
                    </a:lnTo>
                    <a:lnTo>
                      <a:pt x="958" y="593"/>
                    </a:lnTo>
                    <a:lnTo>
                      <a:pt x="855" y="591"/>
                    </a:lnTo>
                    <a:lnTo>
                      <a:pt x="753" y="585"/>
                    </a:lnTo>
                    <a:lnTo>
                      <a:pt x="655" y="577"/>
                    </a:lnTo>
                    <a:lnTo>
                      <a:pt x="562" y="564"/>
                    </a:lnTo>
                    <a:lnTo>
                      <a:pt x="474" y="547"/>
                    </a:lnTo>
                    <a:lnTo>
                      <a:pt x="392" y="529"/>
                    </a:lnTo>
                    <a:lnTo>
                      <a:pt x="317" y="508"/>
                    </a:lnTo>
                    <a:lnTo>
                      <a:pt x="247" y="483"/>
                    </a:lnTo>
                    <a:lnTo>
                      <a:pt x="185" y="457"/>
                    </a:lnTo>
                    <a:lnTo>
                      <a:pt x="131" y="428"/>
                    </a:lnTo>
                    <a:lnTo>
                      <a:pt x="85" y="398"/>
                    </a:lnTo>
                    <a:lnTo>
                      <a:pt x="49" y="366"/>
                    </a:lnTo>
                    <a:lnTo>
                      <a:pt x="21" y="331"/>
                    </a:lnTo>
                    <a:lnTo>
                      <a:pt x="5" y="297"/>
                    </a:lnTo>
                    <a:lnTo>
                      <a:pt x="0" y="259"/>
                    </a:lnTo>
                    <a:lnTo>
                      <a:pt x="0" y="22"/>
                    </a:lnTo>
                    <a:lnTo>
                      <a:pt x="0" y="6"/>
                    </a:lnTo>
                    <a:lnTo>
                      <a:pt x="0"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241">
                <a:extLst>
                  <a:ext uri="{FF2B5EF4-FFF2-40B4-BE49-F238E27FC236}">
                    <a16:creationId xmlns:a16="http://schemas.microsoft.com/office/drawing/2014/main" id="{E7B92DAC-9A8B-4D9B-B8FA-BEE2AA4C792E}"/>
                  </a:ext>
                </a:extLst>
              </p:cNvPr>
              <p:cNvSpPr>
                <a:spLocks/>
              </p:cNvSpPr>
              <p:nvPr/>
            </p:nvSpPr>
            <p:spPr bwMode="auto">
              <a:xfrm flipH="1">
                <a:off x="7577854" y="2887738"/>
                <a:ext cx="2049188" cy="562940"/>
              </a:xfrm>
              <a:custGeom>
                <a:avLst/>
                <a:gdLst>
                  <a:gd name="T0" fmla="*/ 961 w 1922"/>
                  <a:gd name="T1" fmla="*/ 0 h 528"/>
                  <a:gd name="T2" fmla="*/ 1065 w 1922"/>
                  <a:gd name="T3" fmla="*/ 0 h 528"/>
                  <a:gd name="T4" fmla="*/ 1167 w 1922"/>
                  <a:gd name="T5" fmla="*/ 5 h 528"/>
                  <a:gd name="T6" fmla="*/ 1265 w 1922"/>
                  <a:gd name="T7" fmla="*/ 13 h 528"/>
                  <a:gd name="T8" fmla="*/ 1358 w 1922"/>
                  <a:gd name="T9" fmla="*/ 23 h 528"/>
                  <a:gd name="T10" fmla="*/ 1445 w 1922"/>
                  <a:gd name="T11" fmla="*/ 36 h 528"/>
                  <a:gd name="T12" fmla="*/ 1528 w 1922"/>
                  <a:gd name="T13" fmla="*/ 51 h 528"/>
                  <a:gd name="T14" fmla="*/ 1605 w 1922"/>
                  <a:gd name="T15" fmla="*/ 67 h 528"/>
                  <a:gd name="T16" fmla="*/ 1673 w 1922"/>
                  <a:gd name="T17" fmla="*/ 87 h 528"/>
                  <a:gd name="T18" fmla="*/ 1735 w 1922"/>
                  <a:gd name="T19" fmla="*/ 108 h 528"/>
                  <a:gd name="T20" fmla="*/ 1789 w 1922"/>
                  <a:gd name="T21" fmla="*/ 131 h 528"/>
                  <a:gd name="T22" fmla="*/ 1835 w 1922"/>
                  <a:gd name="T23" fmla="*/ 154 h 528"/>
                  <a:gd name="T24" fmla="*/ 1873 w 1922"/>
                  <a:gd name="T25" fmla="*/ 180 h 528"/>
                  <a:gd name="T26" fmla="*/ 1899 w 1922"/>
                  <a:gd name="T27" fmla="*/ 206 h 528"/>
                  <a:gd name="T28" fmla="*/ 1915 w 1922"/>
                  <a:gd name="T29" fmla="*/ 235 h 528"/>
                  <a:gd name="T30" fmla="*/ 1922 w 1922"/>
                  <a:gd name="T31" fmla="*/ 263 h 528"/>
                  <a:gd name="T32" fmla="*/ 1915 w 1922"/>
                  <a:gd name="T33" fmla="*/ 293 h 528"/>
                  <a:gd name="T34" fmla="*/ 1899 w 1922"/>
                  <a:gd name="T35" fmla="*/ 320 h 528"/>
                  <a:gd name="T36" fmla="*/ 1873 w 1922"/>
                  <a:gd name="T37" fmla="*/ 347 h 528"/>
                  <a:gd name="T38" fmla="*/ 1835 w 1922"/>
                  <a:gd name="T39" fmla="*/ 373 h 528"/>
                  <a:gd name="T40" fmla="*/ 1789 w 1922"/>
                  <a:gd name="T41" fmla="*/ 397 h 528"/>
                  <a:gd name="T42" fmla="*/ 1735 w 1922"/>
                  <a:gd name="T43" fmla="*/ 420 h 528"/>
                  <a:gd name="T44" fmla="*/ 1673 w 1922"/>
                  <a:gd name="T45" fmla="*/ 440 h 528"/>
                  <a:gd name="T46" fmla="*/ 1605 w 1922"/>
                  <a:gd name="T47" fmla="*/ 459 h 528"/>
                  <a:gd name="T48" fmla="*/ 1528 w 1922"/>
                  <a:gd name="T49" fmla="*/ 477 h 528"/>
                  <a:gd name="T50" fmla="*/ 1445 w 1922"/>
                  <a:gd name="T51" fmla="*/ 492 h 528"/>
                  <a:gd name="T52" fmla="*/ 1358 w 1922"/>
                  <a:gd name="T53" fmla="*/ 504 h 528"/>
                  <a:gd name="T54" fmla="*/ 1265 w 1922"/>
                  <a:gd name="T55" fmla="*/ 513 h 528"/>
                  <a:gd name="T56" fmla="*/ 1167 w 1922"/>
                  <a:gd name="T57" fmla="*/ 522 h 528"/>
                  <a:gd name="T58" fmla="*/ 1065 w 1922"/>
                  <a:gd name="T59" fmla="*/ 526 h 528"/>
                  <a:gd name="T60" fmla="*/ 961 w 1922"/>
                  <a:gd name="T61" fmla="*/ 528 h 528"/>
                  <a:gd name="T62" fmla="*/ 856 w 1922"/>
                  <a:gd name="T63" fmla="*/ 526 h 528"/>
                  <a:gd name="T64" fmla="*/ 755 w 1922"/>
                  <a:gd name="T65" fmla="*/ 522 h 528"/>
                  <a:gd name="T66" fmla="*/ 657 w 1922"/>
                  <a:gd name="T67" fmla="*/ 513 h 528"/>
                  <a:gd name="T68" fmla="*/ 564 w 1922"/>
                  <a:gd name="T69" fmla="*/ 504 h 528"/>
                  <a:gd name="T70" fmla="*/ 475 w 1922"/>
                  <a:gd name="T71" fmla="*/ 492 h 528"/>
                  <a:gd name="T72" fmla="*/ 394 w 1922"/>
                  <a:gd name="T73" fmla="*/ 477 h 528"/>
                  <a:gd name="T74" fmla="*/ 317 w 1922"/>
                  <a:gd name="T75" fmla="*/ 459 h 528"/>
                  <a:gd name="T76" fmla="*/ 248 w 1922"/>
                  <a:gd name="T77" fmla="*/ 440 h 528"/>
                  <a:gd name="T78" fmla="*/ 186 w 1922"/>
                  <a:gd name="T79" fmla="*/ 420 h 528"/>
                  <a:gd name="T80" fmla="*/ 130 w 1922"/>
                  <a:gd name="T81" fmla="*/ 397 h 528"/>
                  <a:gd name="T82" fmla="*/ 86 w 1922"/>
                  <a:gd name="T83" fmla="*/ 373 h 528"/>
                  <a:gd name="T84" fmla="*/ 49 w 1922"/>
                  <a:gd name="T85" fmla="*/ 347 h 528"/>
                  <a:gd name="T86" fmla="*/ 22 w 1922"/>
                  <a:gd name="T87" fmla="*/ 320 h 528"/>
                  <a:gd name="T88" fmla="*/ 6 w 1922"/>
                  <a:gd name="T89" fmla="*/ 293 h 528"/>
                  <a:gd name="T90" fmla="*/ 0 w 1922"/>
                  <a:gd name="T91" fmla="*/ 263 h 528"/>
                  <a:gd name="T92" fmla="*/ 6 w 1922"/>
                  <a:gd name="T93" fmla="*/ 235 h 528"/>
                  <a:gd name="T94" fmla="*/ 22 w 1922"/>
                  <a:gd name="T95" fmla="*/ 206 h 528"/>
                  <a:gd name="T96" fmla="*/ 49 w 1922"/>
                  <a:gd name="T97" fmla="*/ 180 h 528"/>
                  <a:gd name="T98" fmla="*/ 86 w 1922"/>
                  <a:gd name="T99" fmla="*/ 154 h 528"/>
                  <a:gd name="T100" fmla="*/ 130 w 1922"/>
                  <a:gd name="T101" fmla="*/ 131 h 528"/>
                  <a:gd name="T102" fmla="*/ 186 w 1922"/>
                  <a:gd name="T103" fmla="*/ 108 h 528"/>
                  <a:gd name="T104" fmla="*/ 248 w 1922"/>
                  <a:gd name="T105" fmla="*/ 87 h 528"/>
                  <a:gd name="T106" fmla="*/ 317 w 1922"/>
                  <a:gd name="T107" fmla="*/ 67 h 528"/>
                  <a:gd name="T108" fmla="*/ 394 w 1922"/>
                  <a:gd name="T109" fmla="*/ 51 h 528"/>
                  <a:gd name="T110" fmla="*/ 475 w 1922"/>
                  <a:gd name="T111" fmla="*/ 36 h 528"/>
                  <a:gd name="T112" fmla="*/ 564 w 1922"/>
                  <a:gd name="T113" fmla="*/ 23 h 528"/>
                  <a:gd name="T114" fmla="*/ 657 w 1922"/>
                  <a:gd name="T115" fmla="*/ 13 h 528"/>
                  <a:gd name="T116" fmla="*/ 755 w 1922"/>
                  <a:gd name="T117" fmla="*/ 5 h 528"/>
                  <a:gd name="T118" fmla="*/ 856 w 1922"/>
                  <a:gd name="T119" fmla="*/ 0 h 528"/>
                  <a:gd name="T120" fmla="*/ 961 w 1922"/>
                  <a:gd name="T121"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22" h="528">
                    <a:moveTo>
                      <a:pt x="961" y="0"/>
                    </a:moveTo>
                    <a:lnTo>
                      <a:pt x="1065" y="0"/>
                    </a:lnTo>
                    <a:lnTo>
                      <a:pt x="1167" y="5"/>
                    </a:lnTo>
                    <a:lnTo>
                      <a:pt x="1265" y="13"/>
                    </a:lnTo>
                    <a:lnTo>
                      <a:pt x="1358" y="23"/>
                    </a:lnTo>
                    <a:lnTo>
                      <a:pt x="1445" y="36"/>
                    </a:lnTo>
                    <a:lnTo>
                      <a:pt x="1528" y="51"/>
                    </a:lnTo>
                    <a:lnTo>
                      <a:pt x="1605" y="67"/>
                    </a:lnTo>
                    <a:lnTo>
                      <a:pt x="1673" y="87"/>
                    </a:lnTo>
                    <a:lnTo>
                      <a:pt x="1735" y="108"/>
                    </a:lnTo>
                    <a:lnTo>
                      <a:pt x="1789" y="131"/>
                    </a:lnTo>
                    <a:lnTo>
                      <a:pt x="1835" y="154"/>
                    </a:lnTo>
                    <a:lnTo>
                      <a:pt x="1873" y="180"/>
                    </a:lnTo>
                    <a:lnTo>
                      <a:pt x="1899" y="206"/>
                    </a:lnTo>
                    <a:lnTo>
                      <a:pt x="1915" y="235"/>
                    </a:lnTo>
                    <a:lnTo>
                      <a:pt x="1922" y="263"/>
                    </a:lnTo>
                    <a:lnTo>
                      <a:pt x="1915" y="293"/>
                    </a:lnTo>
                    <a:lnTo>
                      <a:pt x="1899" y="320"/>
                    </a:lnTo>
                    <a:lnTo>
                      <a:pt x="1873" y="347"/>
                    </a:lnTo>
                    <a:lnTo>
                      <a:pt x="1835" y="373"/>
                    </a:lnTo>
                    <a:lnTo>
                      <a:pt x="1789" y="397"/>
                    </a:lnTo>
                    <a:lnTo>
                      <a:pt x="1735" y="420"/>
                    </a:lnTo>
                    <a:lnTo>
                      <a:pt x="1673" y="440"/>
                    </a:lnTo>
                    <a:lnTo>
                      <a:pt x="1605" y="459"/>
                    </a:lnTo>
                    <a:lnTo>
                      <a:pt x="1528" y="477"/>
                    </a:lnTo>
                    <a:lnTo>
                      <a:pt x="1445" y="492"/>
                    </a:lnTo>
                    <a:lnTo>
                      <a:pt x="1358" y="504"/>
                    </a:lnTo>
                    <a:lnTo>
                      <a:pt x="1265" y="513"/>
                    </a:lnTo>
                    <a:lnTo>
                      <a:pt x="1167" y="522"/>
                    </a:lnTo>
                    <a:lnTo>
                      <a:pt x="1065" y="526"/>
                    </a:lnTo>
                    <a:lnTo>
                      <a:pt x="961" y="528"/>
                    </a:lnTo>
                    <a:lnTo>
                      <a:pt x="856" y="526"/>
                    </a:lnTo>
                    <a:lnTo>
                      <a:pt x="755" y="522"/>
                    </a:lnTo>
                    <a:lnTo>
                      <a:pt x="657" y="513"/>
                    </a:lnTo>
                    <a:lnTo>
                      <a:pt x="564" y="504"/>
                    </a:lnTo>
                    <a:lnTo>
                      <a:pt x="475" y="492"/>
                    </a:lnTo>
                    <a:lnTo>
                      <a:pt x="394" y="477"/>
                    </a:lnTo>
                    <a:lnTo>
                      <a:pt x="317" y="459"/>
                    </a:lnTo>
                    <a:lnTo>
                      <a:pt x="248" y="440"/>
                    </a:lnTo>
                    <a:lnTo>
                      <a:pt x="186" y="420"/>
                    </a:lnTo>
                    <a:lnTo>
                      <a:pt x="130" y="397"/>
                    </a:lnTo>
                    <a:lnTo>
                      <a:pt x="86" y="373"/>
                    </a:lnTo>
                    <a:lnTo>
                      <a:pt x="49" y="347"/>
                    </a:lnTo>
                    <a:lnTo>
                      <a:pt x="22" y="320"/>
                    </a:lnTo>
                    <a:lnTo>
                      <a:pt x="6" y="293"/>
                    </a:lnTo>
                    <a:lnTo>
                      <a:pt x="0" y="263"/>
                    </a:lnTo>
                    <a:lnTo>
                      <a:pt x="6" y="235"/>
                    </a:lnTo>
                    <a:lnTo>
                      <a:pt x="22" y="206"/>
                    </a:lnTo>
                    <a:lnTo>
                      <a:pt x="49" y="180"/>
                    </a:lnTo>
                    <a:lnTo>
                      <a:pt x="86" y="154"/>
                    </a:lnTo>
                    <a:lnTo>
                      <a:pt x="130" y="131"/>
                    </a:lnTo>
                    <a:lnTo>
                      <a:pt x="186" y="108"/>
                    </a:lnTo>
                    <a:lnTo>
                      <a:pt x="248" y="87"/>
                    </a:lnTo>
                    <a:lnTo>
                      <a:pt x="317" y="67"/>
                    </a:lnTo>
                    <a:lnTo>
                      <a:pt x="394" y="51"/>
                    </a:lnTo>
                    <a:lnTo>
                      <a:pt x="475" y="36"/>
                    </a:lnTo>
                    <a:lnTo>
                      <a:pt x="564" y="23"/>
                    </a:lnTo>
                    <a:lnTo>
                      <a:pt x="657" y="13"/>
                    </a:lnTo>
                    <a:lnTo>
                      <a:pt x="755" y="5"/>
                    </a:lnTo>
                    <a:lnTo>
                      <a:pt x="856" y="0"/>
                    </a:lnTo>
                    <a:lnTo>
                      <a:pt x="961" y="0"/>
                    </a:lnTo>
                    <a:close/>
                  </a:path>
                </a:pathLst>
              </a:custGeom>
              <a:gradFill flip="none" rotWithShape="1">
                <a:gsLst>
                  <a:gs pos="0">
                    <a:schemeClr val="accent4">
                      <a:lumMod val="75000"/>
                    </a:schemeClr>
                  </a:gs>
                  <a:gs pos="50000">
                    <a:schemeClr val="accent4"/>
                  </a:gs>
                  <a:gs pos="100000">
                    <a:schemeClr val="accent4"/>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6" name="Rectangle 25">
              <a:extLst>
                <a:ext uri="{FF2B5EF4-FFF2-40B4-BE49-F238E27FC236}">
                  <a16:creationId xmlns:a16="http://schemas.microsoft.com/office/drawing/2014/main" id="{1A6E00B2-020A-4E14-BDF1-AA4A3C728990}"/>
                </a:ext>
              </a:extLst>
            </p:cNvPr>
            <p:cNvSpPr/>
            <p:nvPr/>
          </p:nvSpPr>
          <p:spPr>
            <a:xfrm>
              <a:off x="2574723" y="4666635"/>
              <a:ext cx="601447" cy="369332"/>
            </a:xfrm>
            <a:prstGeom prst="rect">
              <a:avLst/>
            </a:prstGeom>
          </p:spPr>
          <p:txBody>
            <a:bodyPr wrap="none">
              <a:spAutoFit/>
            </a:bodyPr>
            <a:lstStyle/>
            <a:p>
              <a:pPr algn="ctr"/>
              <a:r>
                <a:rPr lang="en-US" b="1" dirty="0">
                  <a:solidFill>
                    <a:schemeClr val="bg1"/>
                  </a:solidFill>
                </a:rPr>
                <a:t>60%</a:t>
              </a:r>
              <a:endParaRPr lang="en-US" dirty="0">
                <a:solidFill>
                  <a:schemeClr val="bg1"/>
                </a:solidFill>
              </a:endParaRPr>
            </a:p>
          </p:txBody>
        </p:sp>
        <p:grpSp>
          <p:nvGrpSpPr>
            <p:cNvPr id="29" name="Group 28"/>
            <p:cNvGrpSpPr/>
            <p:nvPr/>
          </p:nvGrpSpPr>
          <p:grpSpPr>
            <a:xfrm>
              <a:off x="2466565" y="3066682"/>
              <a:ext cx="748091" cy="1428453"/>
              <a:chOff x="9356767" y="2145788"/>
              <a:chExt cx="606819" cy="1124707"/>
            </a:xfrm>
          </p:grpSpPr>
          <p:sp>
            <p:nvSpPr>
              <p:cNvPr id="30" name="Freeform 244">
                <a:extLst>
                  <a:ext uri="{FF2B5EF4-FFF2-40B4-BE49-F238E27FC236}">
                    <a16:creationId xmlns:a16="http://schemas.microsoft.com/office/drawing/2014/main" id="{E60B0662-3F3B-425E-A7C2-AABFF81CCAAE}"/>
                  </a:ext>
                </a:extLst>
              </p:cNvPr>
              <p:cNvSpPr>
                <a:spLocks/>
              </p:cNvSpPr>
              <p:nvPr/>
            </p:nvSpPr>
            <p:spPr bwMode="auto">
              <a:xfrm flipH="1">
                <a:off x="9568632" y="2199408"/>
                <a:ext cx="183091" cy="181784"/>
              </a:xfrm>
              <a:custGeom>
                <a:avLst/>
                <a:gdLst>
                  <a:gd name="T0" fmla="*/ 70 w 140"/>
                  <a:gd name="T1" fmla="*/ 0 h 139"/>
                  <a:gd name="T2" fmla="*/ 93 w 140"/>
                  <a:gd name="T3" fmla="*/ 3 h 139"/>
                  <a:gd name="T4" fmla="*/ 113 w 140"/>
                  <a:gd name="T5" fmla="*/ 13 h 139"/>
                  <a:gd name="T6" fmla="*/ 127 w 140"/>
                  <a:gd name="T7" fmla="*/ 29 h 139"/>
                  <a:gd name="T8" fmla="*/ 137 w 140"/>
                  <a:gd name="T9" fmla="*/ 49 h 139"/>
                  <a:gd name="T10" fmla="*/ 140 w 140"/>
                  <a:gd name="T11" fmla="*/ 70 h 139"/>
                  <a:gd name="T12" fmla="*/ 135 w 140"/>
                  <a:gd name="T13" fmla="*/ 93 h 139"/>
                  <a:gd name="T14" fmla="*/ 126 w 140"/>
                  <a:gd name="T15" fmla="*/ 111 h 139"/>
                  <a:gd name="T16" fmla="*/ 109 w 140"/>
                  <a:gd name="T17" fmla="*/ 127 h 139"/>
                  <a:gd name="T18" fmla="*/ 91 w 140"/>
                  <a:gd name="T19" fmla="*/ 135 h 139"/>
                  <a:gd name="T20" fmla="*/ 68 w 140"/>
                  <a:gd name="T21" fmla="*/ 139 h 139"/>
                  <a:gd name="T22" fmla="*/ 47 w 140"/>
                  <a:gd name="T23" fmla="*/ 135 h 139"/>
                  <a:gd name="T24" fmla="*/ 28 w 140"/>
                  <a:gd name="T25" fmla="*/ 126 h 139"/>
                  <a:gd name="T26" fmla="*/ 13 w 140"/>
                  <a:gd name="T27" fmla="*/ 109 h 139"/>
                  <a:gd name="T28" fmla="*/ 3 w 140"/>
                  <a:gd name="T29" fmla="*/ 90 h 139"/>
                  <a:gd name="T30" fmla="*/ 0 w 140"/>
                  <a:gd name="T31" fmla="*/ 68 h 139"/>
                  <a:gd name="T32" fmla="*/ 3 w 140"/>
                  <a:gd name="T33" fmla="*/ 46 h 139"/>
                  <a:gd name="T34" fmla="*/ 14 w 140"/>
                  <a:gd name="T35" fmla="*/ 28 h 139"/>
                  <a:gd name="T36" fmla="*/ 29 w 140"/>
                  <a:gd name="T37" fmla="*/ 11 h 139"/>
                  <a:gd name="T38" fmla="*/ 49 w 140"/>
                  <a:gd name="T39" fmla="*/ 1 h 139"/>
                  <a:gd name="T40" fmla="*/ 70 w 140"/>
                  <a:gd name="T41"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0" h="139">
                    <a:moveTo>
                      <a:pt x="70" y="0"/>
                    </a:moveTo>
                    <a:lnTo>
                      <a:pt x="93" y="3"/>
                    </a:lnTo>
                    <a:lnTo>
                      <a:pt x="113" y="13"/>
                    </a:lnTo>
                    <a:lnTo>
                      <a:pt x="127" y="29"/>
                    </a:lnTo>
                    <a:lnTo>
                      <a:pt x="137" y="49"/>
                    </a:lnTo>
                    <a:lnTo>
                      <a:pt x="140" y="70"/>
                    </a:lnTo>
                    <a:lnTo>
                      <a:pt x="135" y="93"/>
                    </a:lnTo>
                    <a:lnTo>
                      <a:pt x="126" y="111"/>
                    </a:lnTo>
                    <a:lnTo>
                      <a:pt x="109" y="127"/>
                    </a:lnTo>
                    <a:lnTo>
                      <a:pt x="91" y="135"/>
                    </a:lnTo>
                    <a:lnTo>
                      <a:pt x="68" y="139"/>
                    </a:lnTo>
                    <a:lnTo>
                      <a:pt x="47" y="135"/>
                    </a:lnTo>
                    <a:lnTo>
                      <a:pt x="28" y="126"/>
                    </a:lnTo>
                    <a:lnTo>
                      <a:pt x="13" y="109"/>
                    </a:lnTo>
                    <a:lnTo>
                      <a:pt x="3" y="90"/>
                    </a:lnTo>
                    <a:lnTo>
                      <a:pt x="0" y="68"/>
                    </a:lnTo>
                    <a:lnTo>
                      <a:pt x="3" y="46"/>
                    </a:lnTo>
                    <a:lnTo>
                      <a:pt x="14" y="28"/>
                    </a:lnTo>
                    <a:lnTo>
                      <a:pt x="29" y="11"/>
                    </a:lnTo>
                    <a:lnTo>
                      <a:pt x="49" y="1"/>
                    </a:lnTo>
                    <a:lnTo>
                      <a:pt x="70" y="0"/>
                    </a:lnTo>
                    <a:close/>
                  </a:path>
                </a:pathLst>
              </a:custGeom>
              <a:solidFill>
                <a:schemeClr val="tx1">
                  <a:lumMod val="95000"/>
                  <a:lumOff val="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246">
                <a:extLst>
                  <a:ext uri="{FF2B5EF4-FFF2-40B4-BE49-F238E27FC236}">
                    <a16:creationId xmlns:a16="http://schemas.microsoft.com/office/drawing/2014/main" id="{267E1364-625E-4A56-93C2-C7532F584B44}"/>
                  </a:ext>
                </a:extLst>
              </p:cNvPr>
              <p:cNvSpPr>
                <a:spLocks noEditPoints="1"/>
              </p:cNvSpPr>
              <p:nvPr/>
            </p:nvSpPr>
            <p:spPr bwMode="auto">
              <a:xfrm flipH="1">
                <a:off x="9356767" y="2145788"/>
                <a:ext cx="606819" cy="1124707"/>
              </a:xfrm>
              <a:custGeom>
                <a:avLst/>
                <a:gdLst>
                  <a:gd name="T0" fmla="*/ 204 w 464"/>
                  <a:gd name="T1" fmla="*/ 350 h 860"/>
                  <a:gd name="T2" fmla="*/ 206 w 464"/>
                  <a:gd name="T3" fmla="*/ 358 h 860"/>
                  <a:gd name="T4" fmla="*/ 214 w 464"/>
                  <a:gd name="T5" fmla="*/ 355 h 860"/>
                  <a:gd name="T6" fmla="*/ 212 w 464"/>
                  <a:gd name="T7" fmla="*/ 347 h 860"/>
                  <a:gd name="T8" fmla="*/ 206 w 464"/>
                  <a:gd name="T9" fmla="*/ 320 h 860"/>
                  <a:gd name="T10" fmla="*/ 204 w 464"/>
                  <a:gd name="T11" fmla="*/ 329 h 860"/>
                  <a:gd name="T12" fmla="*/ 212 w 464"/>
                  <a:gd name="T13" fmla="*/ 330 h 860"/>
                  <a:gd name="T14" fmla="*/ 214 w 464"/>
                  <a:gd name="T15" fmla="*/ 322 h 860"/>
                  <a:gd name="T16" fmla="*/ 209 w 464"/>
                  <a:gd name="T17" fmla="*/ 291 h 860"/>
                  <a:gd name="T18" fmla="*/ 203 w 464"/>
                  <a:gd name="T19" fmla="*/ 297 h 860"/>
                  <a:gd name="T20" fmla="*/ 209 w 464"/>
                  <a:gd name="T21" fmla="*/ 304 h 860"/>
                  <a:gd name="T22" fmla="*/ 216 w 464"/>
                  <a:gd name="T23" fmla="*/ 297 h 860"/>
                  <a:gd name="T24" fmla="*/ 209 w 464"/>
                  <a:gd name="T25" fmla="*/ 291 h 860"/>
                  <a:gd name="T26" fmla="*/ 124 w 464"/>
                  <a:gd name="T27" fmla="*/ 13 h 860"/>
                  <a:gd name="T28" fmla="*/ 127 w 464"/>
                  <a:gd name="T29" fmla="*/ 44 h 860"/>
                  <a:gd name="T30" fmla="*/ 80 w 464"/>
                  <a:gd name="T31" fmla="*/ 175 h 860"/>
                  <a:gd name="T32" fmla="*/ 160 w 464"/>
                  <a:gd name="T33" fmla="*/ 190 h 860"/>
                  <a:gd name="T34" fmla="*/ 194 w 464"/>
                  <a:gd name="T35" fmla="*/ 239 h 860"/>
                  <a:gd name="T36" fmla="*/ 219 w 464"/>
                  <a:gd name="T37" fmla="*/ 263 h 860"/>
                  <a:gd name="T38" fmla="*/ 276 w 464"/>
                  <a:gd name="T39" fmla="*/ 203 h 860"/>
                  <a:gd name="T40" fmla="*/ 311 w 464"/>
                  <a:gd name="T41" fmla="*/ 214 h 860"/>
                  <a:gd name="T42" fmla="*/ 464 w 464"/>
                  <a:gd name="T43" fmla="*/ 379 h 860"/>
                  <a:gd name="T44" fmla="*/ 454 w 464"/>
                  <a:gd name="T45" fmla="*/ 407 h 860"/>
                  <a:gd name="T46" fmla="*/ 436 w 464"/>
                  <a:gd name="T47" fmla="*/ 417 h 860"/>
                  <a:gd name="T48" fmla="*/ 402 w 464"/>
                  <a:gd name="T49" fmla="*/ 405 h 860"/>
                  <a:gd name="T50" fmla="*/ 320 w 464"/>
                  <a:gd name="T51" fmla="*/ 324 h 860"/>
                  <a:gd name="T52" fmla="*/ 317 w 464"/>
                  <a:gd name="T53" fmla="*/ 332 h 860"/>
                  <a:gd name="T54" fmla="*/ 306 w 464"/>
                  <a:gd name="T55" fmla="*/ 845 h 860"/>
                  <a:gd name="T56" fmla="*/ 260 w 464"/>
                  <a:gd name="T57" fmla="*/ 858 h 860"/>
                  <a:gd name="T58" fmla="*/ 230 w 464"/>
                  <a:gd name="T59" fmla="*/ 824 h 860"/>
                  <a:gd name="T60" fmla="*/ 230 w 464"/>
                  <a:gd name="T61" fmla="*/ 531 h 860"/>
                  <a:gd name="T62" fmla="*/ 226 w 464"/>
                  <a:gd name="T63" fmla="*/ 515 h 860"/>
                  <a:gd name="T64" fmla="*/ 212 w 464"/>
                  <a:gd name="T65" fmla="*/ 512 h 860"/>
                  <a:gd name="T66" fmla="*/ 201 w 464"/>
                  <a:gd name="T67" fmla="*/ 521 h 860"/>
                  <a:gd name="T68" fmla="*/ 198 w 464"/>
                  <a:gd name="T69" fmla="*/ 536 h 860"/>
                  <a:gd name="T70" fmla="*/ 185 w 464"/>
                  <a:gd name="T71" fmla="*/ 852 h 860"/>
                  <a:gd name="T72" fmla="*/ 132 w 464"/>
                  <a:gd name="T73" fmla="*/ 853 h 860"/>
                  <a:gd name="T74" fmla="*/ 114 w 464"/>
                  <a:gd name="T75" fmla="*/ 804 h 860"/>
                  <a:gd name="T76" fmla="*/ 113 w 464"/>
                  <a:gd name="T77" fmla="*/ 258 h 860"/>
                  <a:gd name="T78" fmla="*/ 101 w 464"/>
                  <a:gd name="T79" fmla="*/ 252 h 860"/>
                  <a:gd name="T80" fmla="*/ 5 w 464"/>
                  <a:gd name="T81" fmla="*/ 214 h 860"/>
                  <a:gd name="T82" fmla="*/ 62 w 464"/>
                  <a:gd name="T83" fmla="*/ 24 h 860"/>
                  <a:gd name="T84" fmla="*/ 98 w 464"/>
                  <a:gd name="T85" fmla="*/ 0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4" h="860">
                    <a:moveTo>
                      <a:pt x="209" y="347"/>
                    </a:moveTo>
                    <a:lnTo>
                      <a:pt x="206" y="347"/>
                    </a:lnTo>
                    <a:lnTo>
                      <a:pt x="204" y="350"/>
                    </a:lnTo>
                    <a:lnTo>
                      <a:pt x="203" y="353"/>
                    </a:lnTo>
                    <a:lnTo>
                      <a:pt x="204" y="355"/>
                    </a:lnTo>
                    <a:lnTo>
                      <a:pt x="206" y="358"/>
                    </a:lnTo>
                    <a:lnTo>
                      <a:pt x="209" y="358"/>
                    </a:lnTo>
                    <a:lnTo>
                      <a:pt x="212" y="358"/>
                    </a:lnTo>
                    <a:lnTo>
                      <a:pt x="214" y="355"/>
                    </a:lnTo>
                    <a:lnTo>
                      <a:pt x="216" y="353"/>
                    </a:lnTo>
                    <a:lnTo>
                      <a:pt x="214" y="350"/>
                    </a:lnTo>
                    <a:lnTo>
                      <a:pt x="212" y="347"/>
                    </a:lnTo>
                    <a:lnTo>
                      <a:pt x="209" y="347"/>
                    </a:lnTo>
                    <a:close/>
                    <a:moveTo>
                      <a:pt x="209" y="319"/>
                    </a:moveTo>
                    <a:lnTo>
                      <a:pt x="206" y="320"/>
                    </a:lnTo>
                    <a:lnTo>
                      <a:pt x="204" y="322"/>
                    </a:lnTo>
                    <a:lnTo>
                      <a:pt x="203" y="325"/>
                    </a:lnTo>
                    <a:lnTo>
                      <a:pt x="204" y="329"/>
                    </a:lnTo>
                    <a:lnTo>
                      <a:pt x="206" y="330"/>
                    </a:lnTo>
                    <a:lnTo>
                      <a:pt x="209" y="332"/>
                    </a:lnTo>
                    <a:lnTo>
                      <a:pt x="212" y="330"/>
                    </a:lnTo>
                    <a:lnTo>
                      <a:pt x="214" y="329"/>
                    </a:lnTo>
                    <a:lnTo>
                      <a:pt x="216" y="325"/>
                    </a:lnTo>
                    <a:lnTo>
                      <a:pt x="214" y="322"/>
                    </a:lnTo>
                    <a:lnTo>
                      <a:pt x="212" y="320"/>
                    </a:lnTo>
                    <a:lnTo>
                      <a:pt x="209" y="319"/>
                    </a:lnTo>
                    <a:close/>
                    <a:moveTo>
                      <a:pt x="209" y="291"/>
                    </a:moveTo>
                    <a:lnTo>
                      <a:pt x="206" y="293"/>
                    </a:lnTo>
                    <a:lnTo>
                      <a:pt x="204" y="294"/>
                    </a:lnTo>
                    <a:lnTo>
                      <a:pt x="203" y="297"/>
                    </a:lnTo>
                    <a:lnTo>
                      <a:pt x="204" y="301"/>
                    </a:lnTo>
                    <a:lnTo>
                      <a:pt x="206" y="304"/>
                    </a:lnTo>
                    <a:lnTo>
                      <a:pt x="209" y="304"/>
                    </a:lnTo>
                    <a:lnTo>
                      <a:pt x="212" y="304"/>
                    </a:lnTo>
                    <a:lnTo>
                      <a:pt x="214" y="301"/>
                    </a:lnTo>
                    <a:lnTo>
                      <a:pt x="216" y="297"/>
                    </a:lnTo>
                    <a:lnTo>
                      <a:pt x="214" y="294"/>
                    </a:lnTo>
                    <a:lnTo>
                      <a:pt x="212" y="293"/>
                    </a:lnTo>
                    <a:lnTo>
                      <a:pt x="209" y="291"/>
                    </a:lnTo>
                    <a:close/>
                    <a:moveTo>
                      <a:pt x="98" y="0"/>
                    </a:moveTo>
                    <a:lnTo>
                      <a:pt x="113" y="3"/>
                    </a:lnTo>
                    <a:lnTo>
                      <a:pt x="124" y="13"/>
                    </a:lnTo>
                    <a:lnTo>
                      <a:pt x="129" y="26"/>
                    </a:lnTo>
                    <a:lnTo>
                      <a:pt x="129" y="34"/>
                    </a:lnTo>
                    <a:lnTo>
                      <a:pt x="127" y="44"/>
                    </a:lnTo>
                    <a:lnTo>
                      <a:pt x="126" y="52"/>
                    </a:lnTo>
                    <a:lnTo>
                      <a:pt x="103" y="113"/>
                    </a:lnTo>
                    <a:lnTo>
                      <a:pt x="80" y="175"/>
                    </a:lnTo>
                    <a:lnTo>
                      <a:pt x="114" y="181"/>
                    </a:lnTo>
                    <a:lnTo>
                      <a:pt x="147" y="186"/>
                    </a:lnTo>
                    <a:lnTo>
                      <a:pt x="160" y="190"/>
                    </a:lnTo>
                    <a:lnTo>
                      <a:pt x="170" y="198"/>
                    </a:lnTo>
                    <a:lnTo>
                      <a:pt x="178" y="208"/>
                    </a:lnTo>
                    <a:lnTo>
                      <a:pt x="194" y="239"/>
                    </a:lnTo>
                    <a:lnTo>
                      <a:pt x="212" y="270"/>
                    </a:lnTo>
                    <a:lnTo>
                      <a:pt x="216" y="266"/>
                    </a:lnTo>
                    <a:lnTo>
                      <a:pt x="219" y="263"/>
                    </a:lnTo>
                    <a:lnTo>
                      <a:pt x="268" y="208"/>
                    </a:lnTo>
                    <a:lnTo>
                      <a:pt x="273" y="204"/>
                    </a:lnTo>
                    <a:lnTo>
                      <a:pt x="276" y="203"/>
                    </a:lnTo>
                    <a:lnTo>
                      <a:pt x="281" y="201"/>
                    </a:lnTo>
                    <a:lnTo>
                      <a:pt x="297" y="204"/>
                    </a:lnTo>
                    <a:lnTo>
                      <a:pt x="311" y="214"/>
                    </a:lnTo>
                    <a:lnTo>
                      <a:pt x="451" y="355"/>
                    </a:lnTo>
                    <a:lnTo>
                      <a:pt x="459" y="366"/>
                    </a:lnTo>
                    <a:lnTo>
                      <a:pt x="464" y="379"/>
                    </a:lnTo>
                    <a:lnTo>
                      <a:pt x="461" y="394"/>
                    </a:lnTo>
                    <a:lnTo>
                      <a:pt x="459" y="400"/>
                    </a:lnTo>
                    <a:lnTo>
                      <a:pt x="454" y="407"/>
                    </a:lnTo>
                    <a:lnTo>
                      <a:pt x="449" y="412"/>
                    </a:lnTo>
                    <a:lnTo>
                      <a:pt x="443" y="415"/>
                    </a:lnTo>
                    <a:lnTo>
                      <a:pt x="436" y="417"/>
                    </a:lnTo>
                    <a:lnTo>
                      <a:pt x="423" y="418"/>
                    </a:lnTo>
                    <a:lnTo>
                      <a:pt x="412" y="414"/>
                    </a:lnTo>
                    <a:lnTo>
                      <a:pt x="402" y="405"/>
                    </a:lnTo>
                    <a:lnTo>
                      <a:pt x="325" y="327"/>
                    </a:lnTo>
                    <a:lnTo>
                      <a:pt x="322" y="325"/>
                    </a:lnTo>
                    <a:lnTo>
                      <a:pt x="320" y="324"/>
                    </a:lnTo>
                    <a:lnTo>
                      <a:pt x="317" y="320"/>
                    </a:lnTo>
                    <a:lnTo>
                      <a:pt x="317" y="327"/>
                    </a:lnTo>
                    <a:lnTo>
                      <a:pt x="317" y="332"/>
                    </a:lnTo>
                    <a:lnTo>
                      <a:pt x="315" y="812"/>
                    </a:lnTo>
                    <a:lnTo>
                      <a:pt x="314" y="830"/>
                    </a:lnTo>
                    <a:lnTo>
                      <a:pt x="306" y="845"/>
                    </a:lnTo>
                    <a:lnTo>
                      <a:pt x="294" y="855"/>
                    </a:lnTo>
                    <a:lnTo>
                      <a:pt x="276" y="860"/>
                    </a:lnTo>
                    <a:lnTo>
                      <a:pt x="260" y="858"/>
                    </a:lnTo>
                    <a:lnTo>
                      <a:pt x="247" y="852"/>
                    </a:lnTo>
                    <a:lnTo>
                      <a:pt x="237" y="840"/>
                    </a:lnTo>
                    <a:lnTo>
                      <a:pt x="230" y="824"/>
                    </a:lnTo>
                    <a:lnTo>
                      <a:pt x="230" y="817"/>
                    </a:lnTo>
                    <a:lnTo>
                      <a:pt x="230" y="809"/>
                    </a:lnTo>
                    <a:lnTo>
                      <a:pt x="230" y="531"/>
                    </a:lnTo>
                    <a:lnTo>
                      <a:pt x="229" y="523"/>
                    </a:lnTo>
                    <a:lnTo>
                      <a:pt x="229" y="518"/>
                    </a:lnTo>
                    <a:lnTo>
                      <a:pt x="226" y="515"/>
                    </a:lnTo>
                    <a:lnTo>
                      <a:pt x="222" y="513"/>
                    </a:lnTo>
                    <a:lnTo>
                      <a:pt x="217" y="512"/>
                    </a:lnTo>
                    <a:lnTo>
                      <a:pt x="212" y="512"/>
                    </a:lnTo>
                    <a:lnTo>
                      <a:pt x="208" y="513"/>
                    </a:lnTo>
                    <a:lnTo>
                      <a:pt x="203" y="517"/>
                    </a:lnTo>
                    <a:lnTo>
                      <a:pt x="201" y="521"/>
                    </a:lnTo>
                    <a:lnTo>
                      <a:pt x="199" y="526"/>
                    </a:lnTo>
                    <a:lnTo>
                      <a:pt x="198" y="531"/>
                    </a:lnTo>
                    <a:lnTo>
                      <a:pt x="198" y="536"/>
                    </a:lnTo>
                    <a:lnTo>
                      <a:pt x="198" y="816"/>
                    </a:lnTo>
                    <a:lnTo>
                      <a:pt x="194" y="837"/>
                    </a:lnTo>
                    <a:lnTo>
                      <a:pt x="185" y="852"/>
                    </a:lnTo>
                    <a:lnTo>
                      <a:pt x="168" y="860"/>
                    </a:lnTo>
                    <a:lnTo>
                      <a:pt x="149" y="860"/>
                    </a:lnTo>
                    <a:lnTo>
                      <a:pt x="132" y="853"/>
                    </a:lnTo>
                    <a:lnTo>
                      <a:pt x="119" y="840"/>
                    </a:lnTo>
                    <a:lnTo>
                      <a:pt x="114" y="821"/>
                    </a:lnTo>
                    <a:lnTo>
                      <a:pt x="114" y="804"/>
                    </a:lnTo>
                    <a:lnTo>
                      <a:pt x="114" y="270"/>
                    </a:lnTo>
                    <a:lnTo>
                      <a:pt x="114" y="263"/>
                    </a:lnTo>
                    <a:lnTo>
                      <a:pt x="113" y="258"/>
                    </a:lnTo>
                    <a:lnTo>
                      <a:pt x="109" y="255"/>
                    </a:lnTo>
                    <a:lnTo>
                      <a:pt x="106" y="253"/>
                    </a:lnTo>
                    <a:lnTo>
                      <a:pt x="101" y="252"/>
                    </a:lnTo>
                    <a:lnTo>
                      <a:pt x="29" y="232"/>
                    </a:lnTo>
                    <a:lnTo>
                      <a:pt x="13" y="224"/>
                    </a:lnTo>
                    <a:lnTo>
                      <a:pt x="5" y="214"/>
                    </a:lnTo>
                    <a:lnTo>
                      <a:pt x="0" y="199"/>
                    </a:lnTo>
                    <a:lnTo>
                      <a:pt x="3" y="183"/>
                    </a:lnTo>
                    <a:lnTo>
                      <a:pt x="62" y="24"/>
                    </a:lnTo>
                    <a:lnTo>
                      <a:pt x="72" y="10"/>
                    </a:lnTo>
                    <a:lnTo>
                      <a:pt x="83" y="2"/>
                    </a:lnTo>
                    <a:lnTo>
                      <a:pt x="98" y="0"/>
                    </a:lnTo>
                    <a:close/>
                  </a:path>
                </a:pathLst>
              </a:custGeom>
              <a:solidFill>
                <a:schemeClr val="tx1">
                  <a:lumMod val="95000"/>
                  <a:lumOff val="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55" name="Group 54"/>
          <p:cNvGrpSpPr/>
          <p:nvPr/>
        </p:nvGrpSpPr>
        <p:grpSpPr>
          <a:xfrm>
            <a:off x="5118208" y="2412069"/>
            <a:ext cx="2198915" cy="2298675"/>
            <a:chOff x="5161750" y="2745898"/>
            <a:chExt cx="2198915" cy="2298675"/>
          </a:xfrm>
          <a:effectLst>
            <a:outerShdw blurRad="50800" dist="38100" dir="5400000" algn="t" rotWithShape="0">
              <a:prstClr val="black">
                <a:alpha val="40000"/>
              </a:prstClr>
            </a:outerShdw>
          </a:effectLst>
        </p:grpSpPr>
        <p:grpSp>
          <p:nvGrpSpPr>
            <p:cNvPr id="35" name="Group 34"/>
            <p:cNvGrpSpPr/>
            <p:nvPr/>
          </p:nvGrpSpPr>
          <p:grpSpPr>
            <a:xfrm rot="5400000">
              <a:off x="5656796" y="2250852"/>
              <a:ext cx="1208823" cy="2198915"/>
              <a:chOff x="3367312" y="2322285"/>
              <a:chExt cx="2155373" cy="2198915"/>
            </a:xfrm>
            <a:solidFill>
              <a:schemeClr val="accent2"/>
            </a:solidFill>
          </p:grpSpPr>
          <p:sp>
            <p:nvSpPr>
              <p:cNvPr id="36" name="Rounded Rectangle 35"/>
              <p:cNvSpPr/>
              <p:nvPr/>
            </p:nvSpPr>
            <p:spPr>
              <a:xfrm>
                <a:off x="3476170" y="2416629"/>
                <a:ext cx="2046515" cy="2104571"/>
              </a:xfrm>
              <a:prstGeom prst="roundRect">
                <a:avLst>
                  <a:gd name="adj" fmla="val 681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p:cNvSpPr/>
              <p:nvPr/>
            </p:nvSpPr>
            <p:spPr>
              <a:xfrm>
                <a:off x="3367312" y="2322285"/>
                <a:ext cx="2046515" cy="2104571"/>
              </a:xfrm>
              <a:prstGeom prst="roundRect">
                <a:avLst>
                  <a:gd name="adj" fmla="val 681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p:cNvGrpSpPr/>
            <p:nvPr/>
          </p:nvGrpSpPr>
          <p:grpSpPr>
            <a:xfrm>
              <a:off x="5319513" y="4207755"/>
              <a:ext cx="1895945" cy="809556"/>
              <a:chOff x="7585317" y="2887738"/>
              <a:chExt cx="2057476" cy="878529"/>
            </a:xfrm>
          </p:grpSpPr>
          <p:sp>
            <p:nvSpPr>
              <p:cNvPr id="39" name="Freeform 240">
                <a:extLst>
                  <a:ext uri="{FF2B5EF4-FFF2-40B4-BE49-F238E27FC236}">
                    <a16:creationId xmlns:a16="http://schemas.microsoft.com/office/drawing/2014/main" id="{55DCA62C-3107-4C80-AEA0-06781866C46D}"/>
                  </a:ext>
                </a:extLst>
              </p:cNvPr>
              <p:cNvSpPr>
                <a:spLocks/>
              </p:cNvSpPr>
              <p:nvPr/>
            </p:nvSpPr>
            <p:spPr bwMode="auto">
              <a:xfrm flipH="1">
                <a:off x="7585317" y="3134025"/>
                <a:ext cx="2043857" cy="632242"/>
              </a:xfrm>
              <a:custGeom>
                <a:avLst/>
                <a:gdLst>
                  <a:gd name="T0" fmla="*/ 0 w 1917"/>
                  <a:gd name="T1" fmla="*/ 0 h 593"/>
                  <a:gd name="T2" fmla="*/ 1917 w 1917"/>
                  <a:gd name="T3" fmla="*/ 0 h 593"/>
                  <a:gd name="T4" fmla="*/ 1917 w 1917"/>
                  <a:gd name="T5" fmla="*/ 6 h 593"/>
                  <a:gd name="T6" fmla="*/ 1917 w 1917"/>
                  <a:gd name="T7" fmla="*/ 22 h 593"/>
                  <a:gd name="T8" fmla="*/ 1917 w 1917"/>
                  <a:gd name="T9" fmla="*/ 47 h 593"/>
                  <a:gd name="T10" fmla="*/ 1917 w 1917"/>
                  <a:gd name="T11" fmla="*/ 111 h 593"/>
                  <a:gd name="T12" fmla="*/ 1917 w 1917"/>
                  <a:gd name="T13" fmla="*/ 147 h 593"/>
                  <a:gd name="T14" fmla="*/ 1917 w 1917"/>
                  <a:gd name="T15" fmla="*/ 183 h 593"/>
                  <a:gd name="T16" fmla="*/ 1917 w 1917"/>
                  <a:gd name="T17" fmla="*/ 214 h 593"/>
                  <a:gd name="T18" fmla="*/ 1917 w 1917"/>
                  <a:gd name="T19" fmla="*/ 259 h 593"/>
                  <a:gd name="T20" fmla="*/ 1912 w 1917"/>
                  <a:gd name="T21" fmla="*/ 297 h 593"/>
                  <a:gd name="T22" fmla="*/ 1896 w 1917"/>
                  <a:gd name="T23" fmla="*/ 331 h 593"/>
                  <a:gd name="T24" fmla="*/ 1868 w 1917"/>
                  <a:gd name="T25" fmla="*/ 366 h 593"/>
                  <a:gd name="T26" fmla="*/ 1832 w 1917"/>
                  <a:gd name="T27" fmla="*/ 398 h 593"/>
                  <a:gd name="T28" fmla="*/ 1787 w 1917"/>
                  <a:gd name="T29" fmla="*/ 428 h 593"/>
                  <a:gd name="T30" fmla="*/ 1733 w 1917"/>
                  <a:gd name="T31" fmla="*/ 457 h 593"/>
                  <a:gd name="T32" fmla="*/ 1670 w 1917"/>
                  <a:gd name="T33" fmla="*/ 483 h 593"/>
                  <a:gd name="T34" fmla="*/ 1600 w 1917"/>
                  <a:gd name="T35" fmla="*/ 508 h 593"/>
                  <a:gd name="T36" fmla="*/ 1525 w 1917"/>
                  <a:gd name="T37" fmla="*/ 529 h 593"/>
                  <a:gd name="T38" fmla="*/ 1443 w 1917"/>
                  <a:gd name="T39" fmla="*/ 547 h 593"/>
                  <a:gd name="T40" fmla="*/ 1355 w 1917"/>
                  <a:gd name="T41" fmla="*/ 564 h 593"/>
                  <a:gd name="T42" fmla="*/ 1262 w 1917"/>
                  <a:gd name="T43" fmla="*/ 577 h 593"/>
                  <a:gd name="T44" fmla="*/ 1164 w 1917"/>
                  <a:gd name="T45" fmla="*/ 585 h 593"/>
                  <a:gd name="T46" fmla="*/ 1062 w 1917"/>
                  <a:gd name="T47" fmla="*/ 591 h 593"/>
                  <a:gd name="T48" fmla="*/ 958 w 1917"/>
                  <a:gd name="T49" fmla="*/ 593 h 593"/>
                  <a:gd name="T50" fmla="*/ 855 w 1917"/>
                  <a:gd name="T51" fmla="*/ 591 h 593"/>
                  <a:gd name="T52" fmla="*/ 753 w 1917"/>
                  <a:gd name="T53" fmla="*/ 585 h 593"/>
                  <a:gd name="T54" fmla="*/ 655 w 1917"/>
                  <a:gd name="T55" fmla="*/ 577 h 593"/>
                  <a:gd name="T56" fmla="*/ 562 w 1917"/>
                  <a:gd name="T57" fmla="*/ 564 h 593"/>
                  <a:gd name="T58" fmla="*/ 474 w 1917"/>
                  <a:gd name="T59" fmla="*/ 547 h 593"/>
                  <a:gd name="T60" fmla="*/ 392 w 1917"/>
                  <a:gd name="T61" fmla="*/ 529 h 593"/>
                  <a:gd name="T62" fmla="*/ 317 w 1917"/>
                  <a:gd name="T63" fmla="*/ 508 h 593"/>
                  <a:gd name="T64" fmla="*/ 247 w 1917"/>
                  <a:gd name="T65" fmla="*/ 483 h 593"/>
                  <a:gd name="T66" fmla="*/ 185 w 1917"/>
                  <a:gd name="T67" fmla="*/ 457 h 593"/>
                  <a:gd name="T68" fmla="*/ 131 w 1917"/>
                  <a:gd name="T69" fmla="*/ 428 h 593"/>
                  <a:gd name="T70" fmla="*/ 85 w 1917"/>
                  <a:gd name="T71" fmla="*/ 398 h 593"/>
                  <a:gd name="T72" fmla="*/ 49 w 1917"/>
                  <a:gd name="T73" fmla="*/ 366 h 593"/>
                  <a:gd name="T74" fmla="*/ 21 w 1917"/>
                  <a:gd name="T75" fmla="*/ 331 h 593"/>
                  <a:gd name="T76" fmla="*/ 5 w 1917"/>
                  <a:gd name="T77" fmla="*/ 297 h 593"/>
                  <a:gd name="T78" fmla="*/ 0 w 1917"/>
                  <a:gd name="T79" fmla="*/ 259 h 593"/>
                  <a:gd name="T80" fmla="*/ 0 w 1917"/>
                  <a:gd name="T81" fmla="*/ 22 h 593"/>
                  <a:gd name="T82" fmla="*/ 0 w 1917"/>
                  <a:gd name="T83" fmla="*/ 6 h 593"/>
                  <a:gd name="T84" fmla="*/ 0 w 1917"/>
                  <a:gd name="T85" fmla="*/ 0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17" h="593">
                    <a:moveTo>
                      <a:pt x="0" y="0"/>
                    </a:moveTo>
                    <a:lnTo>
                      <a:pt x="1917" y="0"/>
                    </a:lnTo>
                    <a:lnTo>
                      <a:pt x="1917" y="6"/>
                    </a:lnTo>
                    <a:lnTo>
                      <a:pt x="1917" y="22"/>
                    </a:lnTo>
                    <a:lnTo>
                      <a:pt x="1917" y="47"/>
                    </a:lnTo>
                    <a:lnTo>
                      <a:pt x="1917" y="111"/>
                    </a:lnTo>
                    <a:lnTo>
                      <a:pt x="1917" y="147"/>
                    </a:lnTo>
                    <a:lnTo>
                      <a:pt x="1917" y="183"/>
                    </a:lnTo>
                    <a:lnTo>
                      <a:pt x="1917" y="214"/>
                    </a:lnTo>
                    <a:lnTo>
                      <a:pt x="1917" y="259"/>
                    </a:lnTo>
                    <a:lnTo>
                      <a:pt x="1912" y="297"/>
                    </a:lnTo>
                    <a:lnTo>
                      <a:pt x="1896" y="331"/>
                    </a:lnTo>
                    <a:lnTo>
                      <a:pt x="1868" y="366"/>
                    </a:lnTo>
                    <a:lnTo>
                      <a:pt x="1832" y="398"/>
                    </a:lnTo>
                    <a:lnTo>
                      <a:pt x="1787" y="428"/>
                    </a:lnTo>
                    <a:lnTo>
                      <a:pt x="1733" y="457"/>
                    </a:lnTo>
                    <a:lnTo>
                      <a:pt x="1670" y="483"/>
                    </a:lnTo>
                    <a:lnTo>
                      <a:pt x="1600" y="508"/>
                    </a:lnTo>
                    <a:lnTo>
                      <a:pt x="1525" y="529"/>
                    </a:lnTo>
                    <a:lnTo>
                      <a:pt x="1443" y="547"/>
                    </a:lnTo>
                    <a:lnTo>
                      <a:pt x="1355" y="564"/>
                    </a:lnTo>
                    <a:lnTo>
                      <a:pt x="1262" y="577"/>
                    </a:lnTo>
                    <a:lnTo>
                      <a:pt x="1164" y="585"/>
                    </a:lnTo>
                    <a:lnTo>
                      <a:pt x="1062" y="591"/>
                    </a:lnTo>
                    <a:lnTo>
                      <a:pt x="958" y="593"/>
                    </a:lnTo>
                    <a:lnTo>
                      <a:pt x="855" y="591"/>
                    </a:lnTo>
                    <a:lnTo>
                      <a:pt x="753" y="585"/>
                    </a:lnTo>
                    <a:lnTo>
                      <a:pt x="655" y="577"/>
                    </a:lnTo>
                    <a:lnTo>
                      <a:pt x="562" y="564"/>
                    </a:lnTo>
                    <a:lnTo>
                      <a:pt x="474" y="547"/>
                    </a:lnTo>
                    <a:lnTo>
                      <a:pt x="392" y="529"/>
                    </a:lnTo>
                    <a:lnTo>
                      <a:pt x="317" y="508"/>
                    </a:lnTo>
                    <a:lnTo>
                      <a:pt x="247" y="483"/>
                    </a:lnTo>
                    <a:lnTo>
                      <a:pt x="185" y="457"/>
                    </a:lnTo>
                    <a:lnTo>
                      <a:pt x="131" y="428"/>
                    </a:lnTo>
                    <a:lnTo>
                      <a:pt x="85" y="398"/>
                    </a:lnTo>
                    <a:lnTo>
                      <a:pt x="49" y="366"/>
                    </a:lnTo>
                    <a:lnTo>
                      <a:pt x="21" y="331"/>
                    </a:lnTo>
                    <a:lnTo>
                      <a:pt x="5" y="297"/>
                    </a:lnTo>
                    <a:lnTo>
                      <a:pt x="0" y="259"/>
                    </a:lnTo>
                    <a:lnTo>
                      <a:pt x="0" y="22"/>
                    </a:lnTo>
                    <a:lnTo>
                      <a:pt x="0" y="6"/>
                    </a:ln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241">
                <a:extLst>
                  <a:ext uri="{FF2B5EF4-FFF2-40B4-BE49-F238E27FC236}">
                    <a16:creationId xmlns:a16="http://schemas.microsoft.com/office/drawing/2014/main" id="{E7B92DAC-9A8B-4D9B-B8FA-BEE2AA4C792E}"/>
                  </a:ext>
                </a:extLst>
              </p:cNvPr>
              <p:cNvSpPr>
                <a:spLocks/>
              </p:cNvSpPr>
              <p:nvPr/>
            </p:nvSpPr>
            <p:spPr bwMode="auto">
              <a:xfrm flipH="1">
                <a:off x="7593605" y="2887738"/>
                <a:ext cx="2049188" cy="562940"/>
              </a:xfrm>
              <a:custGeom>
                <a:avLst/>
                <a:gdLst>
                  <a:gd name="T0" fmla="*/ 961 w 1922"/>
                  <a:gd name="T1" fmla="*/ 0 h 528"/>
                  <a:gd name="T2" fmla="*/ 1065 w 1922"/>
                  <a:gd name="T3" fmla="*/ 0 h 528"/>
                  <a:gd name="T4" fmla="*/ 1167 w 1922"/>
                  <a:gd name="T5" fmla="*/ 5 h 528"/>
                  <a:gd name="T6" fmla="*/ 1265 w 1922"/>
                  <a:gd name="T7" fmla="*/ 13 h 528"/>
                  <a:gd name="T8" fmla="*/ 1358 w 1922"/>
                  <a:gd name="T9" fmla="*/ 23 h 528"/>
                  <a:gd name="T10" fmla="*/ 1445 w 1922"/>
                  <a:gd name="T11" fmla="*/ 36 h 528"/>
                  <a:gd name="T12" fmla="*/ 1528 w 1922"/>
                  <a:gd name="T13" fmla="*/ 51 h 528"/>
                  <a:gd name="T14" fmla="*/ 1605 w 1922"/>
                  <a:gd name="T15" fmla="*/ 67 h 528"/>
                  <a:gd name="T16" fmla="*/ 1673 w 1922"/>
                  <a:gd name="T17" fmla="*/ 87 h 528"/>
                  <a:gd name="T18" fmla="*/ 1735 w 1922"/>
                  <a:gd name="T19" fmla="*/ 108 h 528"/>
                  <a:gd name="T20" fmla="*/ 1789 w 1922"/>
                  <a:gd name="T21" fmla="*/ 131 h 528"/>
                  <a:gd name="T22" fmla="*/ 1835 w 1922"/>
                  <a:gd name="T23" fmla="*/ 154 h 528"/>
                  <a:gd name="T24" fmla="*/ 1873 w 1922"/>
                  <a:gd name="T25" fmla="*/ 180 h 528"/>
                  <a:gd name="T26" fmla="*/ 1899 w 1922"/>
                  <a:gd name="T27" fmla="*/ 206 h 528"/>
                  <a:gd name="T28" fmla="*/ 1915 w 1922"/>
                  <a:gd name="T29" fmla="*/ 235 h 528"/>
                  <a:gd name="T30" fmla="*/ 1922 w 1922"/>
                  <a:gd name="T31" fmla="*/ 263 h 528"/>
                  <a:gd name="T32" fmla="*/ 1915 w 1922"/>
                  <a:gd name="T33" fmla="*/ 293 h 528"/>
                  <a:gd name="T34" fmla="*/ 1899 w 1922"/>
                  <a:gd name="T35" fmla="*/ 320 h 528"/>
                  <a:gd name="T36" fmla="*/ 1873 w 1922"/>
                  <a:gd name="T37" fmla="*/ 347 h 528"/>
                  <a:gd name="T38" fmla="*/ 1835 w 1922"/>
                  <a:gd name="T39" fmla="*/ 373 h 528"/>
                  <a:gd name="T40" fmla="*/ 1789 w 1922"/>
                  <a:gd name="T41" fmla="*/ 397 h 528"/>
                  <a:gd name="T42" fmla="*/ 1735 w 1922"/>
                  <a:gd name="T43" fmla="*/ 420 h 528"/>
                  <a:gd name="T44" fmla="*/ 1673 w 1922"/>
                  <a:gd name="T45" fmla="*/ 440 h 528"/>
                  <a:gd name="T46" fmla="*/ 1605 w 1922"/>
                  <a:gd name="T47" fmla="*/ 459 h 528"/>
                  <a:gd name="T48" fmla="*/ 1528 w 1922"/>
                  <a:gd name="T49" fmla="*/ 477 h 528"/>
                  <a:gd name="T50" fmla="*/ 1445 w 1922"/>
                  <a:gd name="T51" fmla="*/ 492 h 528"/>
                  <a:gd name="T52" fmla="*/ 1358 w 1922"/>
                  <a:gd name="T53" fmla="*/ 504 h 528"/>
                  <a:gd name="T54" fmla="*/ 1265 w 1922"/>
                  <a:gd name="T55" fmla="*/ 513 h 528"/>
                  <a:gd name="T56" fmla="*/ 1167 w 1922"/>
                  <a:gd name="T57" fmla="*/ 522 h 528"/>
                  <a:gd name="T58" fmla="*/ 1065 w 1922"/>
                  <a:gd name="T59" fmla="*/ 526 h 528"/>
                  <a:gd name="T60" fmla="*/ 961 w 1922"/>
                  <a:gd name="T61" fmla="*/ 528 h 528"/>
                  <a:gd name="T62" fmla="*/ 856 w 1922"/>
                  <a:gd name="T63" fmla="*/ 526 h 528"/>
                  <a:gd name="T64" fmla="*/ 755 w 1922"/>
                  <a:gd name="T65" fmla="*/ 522 h 528"/>
                  <a:gd name="T66" fmla="*/ 657 w 1922"/>
                  <a:gd name="T67" fmla="*/ 513 h 528"/>
                  <a:gd name="T68" fmla="*/ 564 w 1922"/>
                  <a:gd name="T69" fmla="*/ 504 h 528"/>
                  <a:gd name="T70" fmla="*/ 475 w 1922"/>
                  <a:gd name="T71" fmla="*/ 492 h 528"/>
                  <a:gd name="T72" fmla="*/ 394 w 1922"/>
                  <a:gd name="T73" fmla="*/ 477 h 528"/>
                  <a:gd name="T74" fmla="*/ 317 w 1922"/>
                  <a:gd name="T75" fmla="*/ 459 h 528"/>
                  <a:gd name="T76" fmla="*/ 248 w 1922"/>
                  <a:gd name="T77" fmla="*/ 440 h 528"/>
                  <a:gd name="T78" fmla="*/ 186 w 1922"/>
                  <a:gd name="T79" fmla="*/ 420 h 528"/>
                  <a:gd name="T80" fmla="*/ 130 w 1922"/>
                  <a:gd name="T81" fmla="*/ 397 h 528"/>
                  <a:gd name="T82" fmla="*/ 86 w 1922"/>
                  <a:gd name="T83" fmla="*/ 373 h 528"/>
                  <a:gd name="T84" fmla="*/ 49 w 1922"/>
                  <a:gd name="T85" fmla="*/ 347 h 528"/>
                  <a:gd name="T86" fmla="*/ 22 w 1922"/>
                  <a:gd name="T87" fmla="*/ 320 h 528"/>
                  <a:gd name="T88" fmla="*/ 6 w 1922"/>
                  <a:gd name="T89" fmla="*/ 293 h 528"/>
                  <a:gd name="T90" fmla="*/ 0 w 1922"/>
                  <a:gd name="T91" fmla="*/ 263 h 528"/>
                  <a:gd name="T92" fmla="*/ 6 w 1922"/>
                  <a:gd name="T93" fmla="*/ 235 h 528"/>
                  <a:gd name="T94" fmla="*/ 22 w 1922"/>
                  <a:gd name="T95" fmla="*/ 206 h 528"/>
                  <a:gd name="T96" fmla="*/ 49 w 1922"/>
                  <a:gd name="T97" fmla="*/ 180 h 528"/>
                  <a:gd name="T98" fmla="*/ 86 w 1922"/>
                  <a:gd name="T99" fmla="*/ 154 h 528"/>
                  <a:gd name="T100" fmla="*/ 130 w 1922"/>
                  <a:gd name="T101" fmla="*/ 131 h 528"/>
                  <a:gd name="T102" fmla="*/ 186 w 1922"/>
                  <a:gd name="T103" fmla="*/ 108 h 528"/>
                  <a:gd name="T104" fmla="*/ 248 w 1922"/>
                  <a:gd name="T105" fmla="*/ 87 h 528"/>
                  <a:gd name="T106" fmla="*/ 317 w 1922"/>
                  <a:gd name="T107" fmla="*/ 67 h 528"/>
                  <a:gd name="T108" fmla="*/ 394 w 1922"/>
                  <a:gd name="T109" fmla="*/ 51 h 528"/>
                  <a:gd name="T110" fmla="*/ 475 w 1922"/>
                  <a:gd name="T111" fmla="*/ 36 h 528"/>
                  <a:gd name="T112" fmla="*/ 564 w 1922"/>
                  <a:gd name="T113" fmla="*/ 23 h 528"/>
                  <a:gd name="T114" fmla="*/ 657 w 1922"/>
                  <a:gd name="T115" fmla="*/ 13 h 528"/>
                  <a:gd name="T116" fmla="*/ 755 w 1922"/>
                  <a:gd name="T117" fmla="*/ 5 h 528"/>
                  <a:gd name="T118" fmla="*/ 856 w 1922"/>
                  <a:gd name="T119" fmla="*/ 0 h 528"/>
                  <a:gd name="T120" fmla="*/ 961 w 1922"/>
                  <a:gd name="T121"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22" h="528">
                    <a:moveTo>
                      <a:pt x="961" y="0"/>
                    </a:moveTo>
                    <a:lnTo>
                      <a:pt x="1065" y="0"/>
                    </a:lnTo>
                    <a:lnTo>
                      <a:pt x="1167" y="5"/>
                    </a:lnTo>
                    <a:lnTo>
                      <a:pt x="1265" y="13"/>
                    </a:lnTo>
                    <a:lnTo>
                      <a:pt x="1358" y="23"/>
                    </a:lnTo>
                    <a:lnTo>
                      <a:pt x="1445" y="36"/>
                    </a:lnTo>
                    <a:lnTo>
                      <a:pt x="1528" y="51"/>
                    </a:lnTo>
                    <a:lnTo>
                      <a:pt x="1605" y="67"/>
                    </a:lnTo>
                    <a:lnTo>
                      <a:pt x="1673" y="87"/>
                    </a:lnTo>
                    <a:lnTo>
                      <a:pt x="1735" y="108"/>
                    </a:lnTo>
                    <a:lnTo>
                      <a:pt x="1789" y="131"/>
                    </a:lnTo>
                    <a:lnTo>
                      <a:pt x="1835" y="154"/>
                    </a:lnTo>
                    <a:lnTo>
                      <a:pt x="1873" y="180"/>
                    </a:lnTo>
                    <a:lnTo>
                      <a:pt x="1899" y="206"/>
                    </a:lnTo>
                    <a:lnTo>
                      <a:pt x="1915" y="235"/>
                    </a:lnTo>
                    <a:lnTo>
                      <a:pt x="1922" y="263"/>
                    </a:lnTo>
                    <a:lnTo>
                      <a:pt x="1915" y="293"/>
                    </a:lnTo>
                    <a:lnTo>
                      <a:pt x="1899" y="320"/>
                    </a:lnTo>
                    <a:lnTo>
                      <a:pt x="1873" y="347"/>
                    </a:lnTo>
                    <a:lnTo>
                      <a:pt x="1835" y="373"/>
                    </a:lnTo>
                    <a:lnTo>
                      <a:pt x="1789" y="397"/>
                    </a:lnTo>
                    <a:lnTo>
                      <a:pt x="1735" y="420"/>
                    </a:lnTo>
                    <a:lnTo>
                      <a:pt x="1673" y="440"/>
                    </a:lnTo>
                    <a:lnTo>
                      <a:pt x="1605" y="459"/>
                    </a:lnTo>
                    <a:lnTo>
                      <a:pt x="1528" y="477"/>
                    </a:lnTo>
                    <a:lnTo>
                      <a:pt x="1445" y="492"/>
                    </a:lnTo>
                    <a:lnTo>
                      <a:pt x="1358" y="504"/>
                    </a:lnTo>
                    <a:lnTo>
                      <a:pt x="1265" y="513"/>
                    </a:lnTo>
                    <a:lnTo>
                      <a:pt x="1167" y="522"/>
                    </a:lnTo>
                    <a:lnTo>
                      <a:pt x="1065" y="526"/>
                    </a:lnTo>
                    <a:lnTo>
                      <a:pt x="961" y="528"/>
                    </a:lnTo>
                    <a:lnTo>
                      <a:pt x="856" y="526"/>
                    </a:lnTo>
                    <a:lnTo>
                      <a:pt x="755" y="522"/>
                    </a:lnTo>
                    <a:lnTo>
                      <a:pt x="657" y="513"/>
                    </a:lnTo>
                    <a:lnTo>
                      <a:pt x="564" y="504"/>
                    </a:lnTo>
                    <a:lnTo>
                      <a:pt x="475" y="492"/>
                    </a:lnTo>
                    <a:lnTo>
                      <a:pt x="394" y="477"/>
                    </a:lnTo>
                    <a:lnTo>
                      <a:pt x="317" y="459"/>
                    </a:lnTo>
                    <a:lnTo>
                      <a:pt x="248" y="440"/>
                    </a:lnTo>
                    <a:lnTo>
                      <a:pt x="186" y="420"/>
                    </a:lnTo>
                    <a:lnTo>
                      <a:pt x="130" y="397"/>
                    </a:lnTo>
                    <a:lnTo>
                      <a:pt x="86" y="373"/>
                    </a:lnTo>
                    <a:lnTo>
                      <a:pt x="49" y="347"/>
                    </a:lnTo>
                    <a:lnTo>
                      <a:pt x="22" y="320"/>
                    </a:lnTo>
                    <a:lnTo>
                      <a:pt x="6" y="293"/>
                    </a:lnTo>
                    <a:lnTo>
                      <a:pt x="0" y="263"/>
                    </a:lnTo>
                    <a:lnTo>
                      <a:pt x="6" y="235"/>
                    </a:lnTo>
                    <a:lnTo>
                      <a:pt x="22" y="206"/>
                    </a:lnTo>
                    <a:lnTo>
                      <a:pt x="49" y="180"/>
                    </a:lnTo>
                    <a:lnTo>
                      <a:pt x="86" y="154"/>
                    </a:lnTo>
                    <a:lnTo>
                      <a:pt x="130" y="131"/>
                    </a:lnTo>
                    <a:lnTo>
                      <a:pt x="186" y="108"/>
                    </a:lnTo>
                    <a:lnTo>
                      <a:pt x="248" y="87"/>
                    </a:lnTo>
                    <a:lnTo>
                      <a:pt x="317" y="67"/>
                    </a:lnTo>
                    <a:lnTo>
                      <a:pt x="394" y="51"/>
                    </a:lnTo>
                    <a:lnTo>
                      <a:pt x="475" y="36"/>
                    </a:lnTo>
                    <a:lnTo>
                      <a:pt x="564" y="23"/>
                    </a:lnTo>
                    <a:lnTo>
                      <a:pt x="657" y="13"/>
                    </a:lnTo>
                    <a:lnTo>
                      <a:pt x="755" y="5"/>
                    </a:lnTo>
                    <a:lnTo>
                      <a:pt x="856" y="0"/>
                    </a:lnTo>
                    <a:lnTo>
                      <a:pt x="961" y="0"/>
                    </a:lnTo>
                    <a:close/>
                  </a:path>
                </a:pathLst>
              </a:custGeom>
              <a:gradFill flip="none" rotWithShape="1">
                <a:gsLst>
                  <a:gs pos="0">
                    <a:schemeClr val="accent1">
                      <a:lumMod val="75000"/>
                    </a:schemeClr>
                  </a:gs>
                  <a:gs pos="50000">
                    <a:schemeClr val="accent1"/>
                  </a:gs>
                  <a:gs pos="100000">
                    <a:schemeClr val="accent1"/>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1" name="Rectangle 40">
              <a:extLst>
                <a:ext uri="{FF2B5EF4-FFF2-40B4-BE49-F238E27FC236}">
                  <a16:creationId xmlns:a16="http://schemas.microsoft.com/office/drawing/2014/main" id="{1A6E00B2-020A-4E14-BDF1-AA4A3C728990}"/>
                </a:ext>
              </a:extLst>
            </p:cNvPr>
            <p:cNvSpPr/>
            <p:nvPr/>
          </p:nvSpPr>
          <p:spPr>
            <a:xfrm>
              <a:off x="5924841" y="4675241"/>
              <a:ext cx="655950" cy="369332"/>
            </a:xfrm>
            <a:prstGeom prst="rect">
              <a:avLst/>
            </a:prstGeom>
          </p:spPr>
          <p:txBody>
            <a:bodyPr wrap="none">
              <a:spAutoFit/>
            </a:bodyPr>
            <a:lstStyle/>
            <a:p>
              <a:pPr algn="ctr"/>
              <a:r>
                <a:rPr lang="en-US" b="1" dirty="0">
                  <a:solidFill>
                    <a:schemeClr val="bg1"/>
                  </a:solidFill>
                </a:rPr>
                <a:t>30%</a:t>
              </a:r>
              <a:endParaRPr lang="en-US" dirty="0">
                <a:solidFill>
                  <a:schemeClr val="bg1"/>
                </a:solidFill>
              </a:endParaRPr>
            </a:p>
          </p:txBody>
        </p:sp>
        <p:grpSp>
          <p:nvGrpSpPr>
            <p:cNvPr id="42" name="Group 41"/>
            <p:cNvGrpSpPr/>
            <p:nvPr/>
          </p:nvGrpSpPr>
          <p:grpSpPr>
            <a:xfrm>
              <a:off x="5843935" y="3075288"/>
              <a:ext cx="748091" cy="1428453"/>
              <a:chOff x="9356767" y="2145788"/>
              <a:chExt cx="606819" cy="1124707"/>
            </a:xfrm>
          </p:grpSpPr>
          <p:sp>
            <p:nvSpPr>
              <p:cNvPr id="43" name="Freeform 244">
                <a:extLst>
                  <a:ext uri="{FF2B5EF4-FFF2-40B4-BE49-F238E27FC236}">
                    <a16:creationId xmlns:a16="http://schemas.microsoft.com/office/drawing/2014/main" id="{E60B0662-3F3B-425E-A7C2-AABFF81CCAAE}"/>
                  </a:ext>
                </a:extLst>
              </p:cNvPr>
              <p:cNvSpPr>
                <a:spLocks/>
              </p:cNvSpPr>
              <p:nvPr/>
            </p:nvSpPr>
            <p:spPr bwMode="auto">
              <a:xfrm flipH="1">
                <a:off x="9568632" y="2199408"/>
                <a:ext cx="183091" cy="181784"/>
              </a:xfrm>
              <a:custGeom>
                <a:avLst/>
                <a:gdLst>
                  <a:gd name="T0" fmla="*/ 70 w 140"/>
                  <a:gd name="T1" fmla="*/ 0 h 139"/>
                  <a:gd name="T2" fmla="*/ 93 w 140"/>
                  <a:gd name="T3" fmla="*/ 3 h 139"/>
                  <a:gd name="T4" fmla="*/ 113 w 140"/>
                  <a:gd name="T5" fmla="*/ 13 h 139"/>
                  <a:gd name="T6" fmla="*/ 127 w 140"/>
                  <a:gd name="T7" fmla="*/ 29 h 139"/>
                  <a:gd name="T8" fmla="*/ 137 w 140"/>
                  <a:gd name="T9" fmla="*/ 49 h 139"/>
                  <a:gd name="T10" fmla="*/ 140 w 140"/>
                  <a:gd name="T11" fmla="*/ 70 h 139"/>
                  <a:gd name="T12" fmla="*/ 135 w 140"/>
                  <a:gd name="T13" fmla="*/ 93 h 139"/>
                  <a:gd name="T14" fmla="*/ 126 w 140"/>
                  <a:gd name="T15" fmla="*/ 111 h 139"/>
                  <a:gd name="T16" fmla="*/ 109 w 140"/>
                  <a:gd name="T17" fmla="*/ 127 h 139"/>
                  <a:gd name="T18" fmla="*/ 91 w 140"/>
                  <a:gd name="T19" fmla="*/ 135 h 139"/>
                  <a:gd name="T20" fmla="*/ 68 w 140"/>
                  <a:gd name="T21" fmla="*/ 139 h 139"/>
                  <a:gd name="T22" fmla="*/ 47 w 140"/>
                  <a:gd name="T23" fmla="*/ 135 h 139"/>
                  <a:gd name="T24" fmla="*/ 28 w 140"/>
                  <a:gd name="T25" fmla="*/ 126 h 139"/>
                  <a:gd name="T26" fmla="*/ 13 w 140"/>
                  <a:gd name="T27" fmla="*/ 109 h 139"/>
                  <a:gd name="T28" fmla="*/ 3 w 140"/>
                  <a:gd name="T29" fmla="*/ 90 h 139"/>
                  <a:gd name="T30" fmla="*/ 0 w 140"/>
                  <a:gd name="T31" fmla="*/ 68 h 139"/>
                  <a:gd name="T32" fmla="*/ 3 w 140"/>
                  <a:gd name="T33" fmla="*/ 46 h 139"/>
                  <a:gd name="T34" fmla="*/ 14 w 140"/>
                  <a:gd name="T35" fmla="*/ 28 h 139"/>
                  <a:gd name="T36" fmla="*/ 29 w 140"/>
                  <a:gd name="T37" fmla="*/ 11 h 139"/>
                  <a:gd name="T38" fmla="*/ 49 w 140"/>
                  <a:gd name="T39" fmla="*/ 1 h 139"/>
                  <a:gd name="T40" fmla="*/ 70 w 140"/>
                  <a:gd name="T41"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0" h="139">
                    <a:moveTo>
                      <a:pt x="70" y="0"/>
                    </a:moveTo>
                    <a:lnTo>
                      <a:pt x="93" y="3"/>
                    </a:lnTo>
                    <a:lnTo>
                      <a:pt x="113" y="13"/>
                    </a:lnTo>
                    <a:lnTo>
                      <a:pt x="127" y="29"/>
                    </a:lnTo>
                    <a:lnTo>
                      <a:pt x="137" y="49"/>
                    </a:lnTo>
                    <a:lnTo>
                      <a:pt x="140" y="70"/>
                    </a:lnTo>
                    <a:lnTo>
                      <a:pt x="135" y="93"/>
                    </a:lnTo>
                    <a:lnTo>
                      <a:pt x="126" y="111"/>
                    </a:lnTo>
                    <a:lnTo>
                      <a:pt x="109" y="127"/>
                    </a:lnTo>
                    <a:lnTo>
                      <a:pt x="91" y="135"/>
                    </a:lnTo>
                    <a:lnTo>
                      <a:pt x="68" y="139"/>
                    </a:lnTo>
                    <a:lnTo>
                      <a:pt x="47" y="135"/>
                    </a:lnTo>
                    <a:lnTo>
                      <a:pt x="28" y="126"/>
                    </a:lnTo>
                    <a:lnTo>
                      <a:pt x="13" y="109"/>
                    </a:lnTo>
                    <a:lnTo>
                      <a:pt x="3" y="90"/>
                    </a:lnTo>
                    <a:lnTo>
                      <a:pt x="0" y="68"/>
                    </a:lnTo>
                    <a:lnTo>
                      <a:pt x="3" y="46"/>
                    </a:lnTo>
                    <a:lnTo>
                      <a:pt x="14" y="28"/>
                    </a:lnTo>
                    <a:lnTo>
                      <a:pt x="29" y="11"/>
                    </a:lnTo>
                    <a:lnTo>
                      <a:pt x="49" y="1"/>
                    </a:lnTo>
                    <a:lnTo>
                      <a:pt x="70" y="0"/>
                    </a:lnTo>
                    <a:close/>
                  </a:path>
                </a:pathLst>
              </a:custGeom>
              <a:solidFill>
                <a:schemeClr val="tx1">
                  <a:lumMod val="95000"/>
                  <a:lumOff val="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246">
                <a:extLst>
                  <a:ext uri="{FF2B5EF4-FFF2-40B4-BE49-F238E27FC236}">
                    <a16:creationId xmlns:a16="http://schemas.microsoft.com/office/drawing/2014/main" id="{267E1364-625E-4A56-93C2-C7532F584B44}"/>
                  </a:ext>
                </a:extLst>
              </p:cNvPr>
              <p:cNvSpPr>
                <a:spLocks noEditPoints="1"/>
              </p:cNvSpPr>
              <p:nvPr/>
            </p:nvSpPr>
            <p:spPr bwMode="auto">
              <a:xfrm flipH="1">
                <a:off x="9356767" y="2145788"/>
                <a:ext cx="606819" cy="1124707"/>
              </a:xfrm>
              <a:custGeom>
                <a:avLst/>
                <a:gdLst>
                  <a:gd name="T0" fmla="*/ 204 w 464"/>
                  <a:gd name="T1" fmla="*/ 350 h 860"/>
                  <a:gd name="T2" fmla="*/ 206 w 464"/>
                  <a:gd name="T3" fmla="*/ 358 h 860"/>
                  <a:gd name="T4" fmla="*/ 214 w 464"/>
                  <a:gd name="T5" fmla="*/ 355 h 860"/>
                  <a:gd name="T6" fmla="*/ 212 w 464"/>
                  <a:gd name="T7" fmla="*/ 347 h 860"/>
                  <a:gd name="T8" fmla="*/ 206 w 464"/>
                  <a:gd name="T9" fmla="*/ 320 h 860"/>
                  <a:gd name="T10" fmla="*/ 204 w 464"/>
                  <a:gd name="T11" fmla="*/ 329 h 860"/>
                  <a:gd name="T12" fmla="*/ 212 w 464"/>
                  <a:gd name="T13" fmla="*/ 330 h 860"/>
                  <a:gd name="T14" fmla="*/ 214 w 464"/>
                  <a:gd name="T15" fmla="*/ 322 h 860"/>
                  <a:gd name="T16" fmla="*/ 209 w 464"/>
                  <a:gd name="T17" fmla="*/ 291 h 860"/>
                  <a:gd name="T18" fmla="*/ 203 w 464"/>
                  <a:gd name="T19" fmla="*/ 297 h 860"/>
                  <a:gd name="T20" fmla="*/ 209 w 464"/>
                  <a:gd name="T21" fmla="*/ 304 h 860"/>
                  <a:gd name="T22" fmla="*/ 216 w 464"/>
                  <a:gd name="T23" fmla="*/ 297 h 860"/>
                  <a:gd name="T24" fmla="*/ 209 w 464"/>
                  <a:gd name="T25" fmla="*/ 291 h 860"/>
                  <a:gd name="T26" fmla="*/ 124 w 464"/>
                  <a:gd name="T27" fmla="*/ 13 h 860"/>
                  <a:gd name="T28" fmla="*/ 127 w 464"/>
                  <a:gd name="T29" fmla="*/ 44 h 860"/>
                  <a:gd name="T30" fmla="*/ 80 w 464"/>
                  <a:gd name="T31" fmla="*/ 175 h 860"/>
                  <a:gd name="T32" fmla="*/ 160 w 464"/>
                  <a:gd name="T33" fmla="*/ 190 h 860"/>
                  <a:gd name="T34" fmla="*/ 194 w 464"/>
                  <a:gd name="T35" fmla="*/ 239 h 860"/>
                  <a:gd name="T36" fmla="*/ 219 w 464"/>
                  <a:gd name="T37" fmla="*/ 263 h 860"/>
                  <a:gd name="T38" fmla="*/ 276 w 464"/>
                  <a:gd name="T39" fmla="*/ 203 h 860"/>
                  <a:gd name="T40" fmla="*/ 311 w 464"/>
                  <a:gd name="T41" fmla="*/ 214 h 860"/>
                  <a:gd name="T42" fmla="*/ 464 w 464"/>
                  <a:gd name="T43" fmla="*/ 379 h 860"/>
                  <a:gd name="T44" fmla="*/ 454 w 464"/>
                  <a:gd name="T45" fmla="*/ 407 h 860"/>
                  <a:gd name="T46" fmla="*/ 436 w 464"/>
                  <a:gd name="T47" fmla="*/ 417 h 860"/>
                  <a:gd name="T48" fmla="*/ 402 w 464"/>
                  <a:gd name="T49" fmla="*/ 405 h 860"/>
                  <a:gd name="T50" fmla="*/ 320 w 464"/>
                  <a:gd name="T51" fmla="*/ 324 h 860"/>
                  <a:gd name="T52" fmla="*/ 317 w 464"/>
                  <a:gd name="T53" fmla="*/ 332 h 860"/>
                  <a:gd name="T54" fmla="*/ 306 w 464"/>
                  <a:gd name="T55" fmla="*/ 845 h 860"/>
                  <a:gd name="T56" fmla="*/ 260 w 464"/>
                  <a:gd name="T57" fmla="*/ 858 h 860"/>
                  <a:gd name="T58" fmla="*/ 230 w 464"/>
                  <a:gd name="T59" fmla="*/ 824 h 860"/>
                  <a:gd name="T60" fmla="*/ 230 w 464"/>
                  <a:gd name="T61" fmla="*/ 531 h 860"/>
                  <a:gd name="T62" fmla="*/ 226 w 464"/>
                  <a:gd name="T63" fmla="*/ 515 h 860"/>
                  <a:gd name="T64" fmla="*/ 212 w 464"/>
                  <a:gd name="T65" fmla="*/ 512 h 860"/>
                  <a:gd name="T66" fmla="*/ 201 w 464"/>
                  <a:gd name="T67" fmla="*/ 521 h 860"/>
                  <a:gd name="T68" fmla="*/ 198 w 464"/>
                  <a:gd name="T69" fmla="*/ 536 h 860"/>
                  <a:gd name="T70" fmla="*/ 185 w 464"/>
                  <a:gd name="T71" fmla="*/ 852 h 860"/>
                  <a:gd name="T72" fmla="*/ 132 w 464"/>
                  <a:gd name="T73" fmla="*/ 853 h 860"/>
                  <a:gd name="T74" fmla="*/ 114 w 464"/>
                  <a:gd name="T75" fmla="*/ 804 h 860"/>
                  <a:gd name="T76" fmla="*/ 113 w 464"/>
                  <a:gd name="T77" fmla="*/ 258 h 860"/>
                  <a:gd name="T78" fmla="*/ 101 w 464"/>
                  <a:gd name="T79" fmla="*/ 252 h 860"/>
                  <a:gd name="T80" fmla="*/ 5 w 464"/>
                  <a:gd name="T81" fmla="*/ 214 h 860"/>
                  <a:gd name="T82" fmla="*/ 62 w 464"/>
                  <a:gd name="T83" fmla="*/ 24 h 860"/>
                  <a:gd name="T84" fmla="*/ 98 w 464"/>
                  <a:gd name="T85" fmla="*/ 0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4" h="860">
                    <a:moveTo>
                      <a:pt x="209" y="347"/>
                    </a:moveTo>
                    <a:lnTo>
                      <a:pt x="206" y="347"/>
                    </a:lnTo>
                    <a:lnTo>
                      <a:pt x="204" y="350"/>
                    </a:lnTo>
                    <a:lnTo>
                      <a:pt x="203" y="353"/>
                    </a:lnTo>
                    <a:lnTo>
                      <a:pt x="204" y="355"/>
                    </a:lnTo>
                    <a:lnTo>
                      <a:pt x="206" y="358"/>
                    </a:lnTo>
                    <a:lnTo>
                      <a:pt x="209" y="358"/>
                    </a:lnTo>
                    <a:lnTo>
                      <a:pt x="212" y="358"/>
                    </a:lnTo>
                    <a:lnTo>
                      <a:pt x="214" y="355"/>
                    </a:lnTo>
                    <a:lnTo>
                      <a:pt x="216" y="353"/>
                    </a:lnTo>
                    <a:lnTo>
                      <a:pt x="214" y="350"/>
                    </a:lnTo>
                    <a:lnTo>
                      <a:pt x="212" y="347"/>
                    </a:lnTo>
                    <a:lnTo>
                      <a:pt x="209" y="347"/>
                    </a:lnTo>
                    <a:close/>
                    <a:moveTo>
                      <a:pt x="209" y="319"/>
                    </a:moveTo>
                    <a:lnTo>
                      <a:pt x="206" y="320"/>
                    </a:lnTo>
                    <a:lnTo>
                      <a:pt x="204" y="322"/>
                    </a:lnTo>
                    <a:lnTo>
                      <a:pt x="203" y="325"/>
                    </a:lnTo>
                    <a:lnTo>
                      <a:pt x="204" y="329"/>
                    </a:lnTo>
                    <a:lnTo>
                      <a:pt x="206" y="330"/>
                    </a:lnTo>
                    <a:lnTo>
                      <a:pt x="209" y="332"/>
                    </a:lnTo>
                    <a:lnTo>
                      <a:pt x="212" y="330"/>
                    </a:lnTo>
                    <a:lnTo>
                      <a:pt x="214" y="329"/>
                    </a:lnTo>
                    <a:lnTo>
                      <a:pt x="216" y="325"/>
                    </a:lnTo>
                    <a:lnTo>
                      <a:pt x="214" y="322"/>
                    </a:lnTo>
                    <a:lnTo>
                      <a:pt x="212" y="320"/>
                    </a:lnTo>
                    <a:lnTo>
                      <a:pt x="209" y="319"/>
                    </a:lnTo>
                    <a:close/>
                    <a:moveTo>
                      <a:pt x="209" y="291"/>
                    </a:moveTo>
                    <a:lnTo>
                      <a:pt x="206" y="293"/>
                    </a:lnTo>
                    <a:lnTo>
                      <a:pt x="204" y="294"/>
                    </a:lnTo>
                    <a:lnTo>
                      <a:pt x="203" y="297"/>
                    </a:lnTo>
                    <a:lnTo>
                      <a:pt x="204" y="301"/>
                    </a:lnTo>
                    <a:lnTo>
                      <a:pt x="206" y="304"/>
                    </a:lnTo>
                    <a:lnTo>
                      <a:pt x="209" y="304"/>
                    </a:lnTo>
                    <a:lnTo>
                      <a:pt x="212" y="304"/>
                    </a:lnTo>
                    <a:lnTo>
                      <a:pt x="214" y="301"/>
                    </a:lnTo>
                    <a:lnTo>
                      <a:pt x="216" y="297"/>
                    </a:lnTo>
                    <a:lnTo>
                      <a:pt x="214" y="294"/>
                    </a:lnTo>
                    <a:lnTo>
                      <a:pt x="212" y="293"/>
                    </a:lnTo>
                    <a:lnTo>
                      <a:pt x="209" y="291"/>
                    </a:lnTo>
                    <a:close/>
                    <a:moveTo>
                      <a:pt x="98" y="0"/>
                    </a:moveTo>
                    <a:lnTo>
                      <a:pt x="113" y="3"/>
                    </a:lnTo>
                    <a:lnTo>
                      <a:pt x="124" y="13"/>
                    </a:lnTo>
                    <a:lnTo>
                      <a:pt x="129" y="26"/>
                    </a:lnTo>
                    <a:lnTo>
                      <a:pt x="129" y="34"/>
                    </a:lnTo>
                    <a:lnTo>
                      <a:pt x="127" y="44"/>
                    </a:lnTo>
                    <a:lnTo>
                      <a:pt x="126" y="52"/>
                    </a:lnTo>
                    <a:lnTo>
                      <a:pt x="103" y="113"/>
                    </a:lnTo>
                    <a:lnTo>
                      <a:pt x="80" y="175"/>
                    </a:lnTo>
                    <a:lnTo>
                      <a:pt x="114" y="181"/>
                    </a:lnTo>
                    <a:lnTo>
                      <a:pt x="147" y="186"/>
                    </a:lnTo>
                    <a:lnTo>
                      <a:pt x="160" y="190"/>
                    </a:lnTo>
                    <a:lnTo>
                      <a:pt x="170" y="198"/>
                    </a:lnTo>
                    <a:lnTo>
                      <a:pt x="178" y="208"/>
                    </a:lnTo>
                    <a:lnTo>
                      <a:pt x="194" y="239"/>
                    </a:lnTo>
                    <a:lnTo>
                      <a:pt x="212" y="270"/>
                    </a:lnTo>
                    <a:lnTo>
                      <a:pt x="216" y="266"/>
                    </a:lnTo>
                    <a:lnTo>
                      <a:pt x="219" y="263"/>
                    </a:lnTo>
                    <a:lnTo>
                      <a:pt x="268" y="208"/>
                    </a:lnTo>
                    <a:lnTo>
                      <a:pt x="273" y="204"/>
                    </a:lnTo>
                    <a:lnTo>
                      <a:pt x="276" y="203"/>
                    </a:lnTo>
                    <a:lnTo>
                      <a:pt x="281" y="201"/>
                    </a:lnTo>
                    <a:lnTo>
                      <a:pt x="297" y="204"/>
                    </a:lnTo>
                    <a:lnTo>
                      <a:pt x="311" y="214"/>
                    </a:lnTo>
                    <a:lnTo>
                      <a:pt x="451" y="355"/>
                    </a:lnTo>
                    <a:lnTo>
                      <a:pt x="459" y="366"/>
                    </a:lnTo>
                    <a:lnTo>
                      <a:pt x="464" y="379"/>
                    </a:lnTo>
                    <a:lnTo>
                      <a:pt x="461" y="394"/>
                    </a:lnTo>
                    <a:lnTo>
                      <a:pt x="459" y="400"/>
                    </a:lnTo>
                    <a:lnTo>
                      <a:pt x="454" y="407"/>
                    </a:lnTo>
                    <a:lnTo>
                      <a:pt x="449" y="412"/>
                    </a:lnTo>
                    <a:lnTo>
                      <a:pt x="443" y="415"/>
                    </a:lnTo>
                    <a:lnTo>
                      <a:pt x="436" y="417"/>
                    </a:lnTo>
                    <a:lnTo>
                      <a:pt x="423" y="418"/>
                    </a:lnTo>
                    <a:lnTo>
                      <a:pt x="412" y="414"/>
                    </a:lnTo>
                    <a:lnTo>
                      <a:pt x="402" y="405"/>
                    </a:lnTo>
                    <a:lnTo>
                      <a:pt x="325" y="327"/>
                    </a:lnTo>
                    <a:lnTo>
                      <a:pt x="322" y="325"/>
                    </a:lnTo>
                    <a:lnTo>
                      <a:pt x="320" y="324"/>
                    </a:lnTo>
                    <a:lnTo>
                      <a:pt x="317" y="320"/>
                    </a:lnTo>
                    <a:lnTo>
                      <a:pt x="317" y="327"/>
                    </a:lnTo>
                    <a:lnTo>
                      <a:pt x="317" y="332"/>
                    </a:lnTo>
                    <a:lnTo>
                      <a:pt x="315" y="812"/>
                    </a:lnTo>
                    <a:lnTo>
                      <a:pt x="314" y="830"/>
                    </a:lnTo>
                    <a:lnTo>
                      <a:pt x="306" y="845"/>
                    </a:lnTo>
                    <a:lnTo>
                      <a:pt x="294" y="855"/>
                    </a:lnTo>
                    <a:lnTo>
                      <a:pt x="276" y="860"/>
                    </a:lnTo>
                    <a:lnTo>
                      <a:pt x="260" y="858"/>
                    </a:lnTo>
                    <a:lnTo>
                      <a:pt x="247" y="852"/>
                    </a:lnTo>
                    <a:lnTo>
                      <a:pt x="237" y="840"/>
                    </a:lnTo>
                    <a:lnTo>
                      <a:pt x="230" y="824"/>
                    </a:lnTo>
                    <a:lnTo>
                      <a:pt x="230" y="817"/>
                    </a:lnTo>
                    <a:lnTo>
                      <a:pt x="230" y="809"/>
                    </a:lnTo>
                    <a:lnTo>
                      <a:pt x="230" y="531"/>
                    </a:lnTo>
                    <a:lnTo>
                      <a:pt x="229" y="523"/>
                    </a:lnTo>
                    <a:lnTo>
                      <a:pt x="229" y="518"/>
                    </a:lnTo>
                    <a:lnTo>
                      <a:pt x="226" y="515"/>
                    </a:lnTo>
                    <a:lnTo>
                      <a:pt x="222" y="513"/>
                    </a:lnTo>
                    <a:lnTo>
                      <a:pt x="217" y="512"/>
                    </a:lnTo>
                    <a:lnTo>
                      <a:pt x="212" y="512"/>
                    </a:lnTo>
                    <a:lnTo>
                      <a:pt x="208" y="513"/>
                    </a:lnTo>
                    <a:lnTo>
                      <a:pt x="203" y="517"/>
                    </a:lnTo>
                    <a:lnTo>
                      <a:pt x="201" y="521"/>
                    </a:lnTo>
                    <a:lnTo>
                      <a:pt x="199" y="526"/>
                    </a:lnTo>
                    <a:lnTo>
                      <a:pt x="198" y="531"/>
                    </a:lnTo>
                    <a:lnTo>
                      <a:pt x="198" y="536"/>
                    </a:lnTo>
                    <a:lnTo>
                      <a:pt x="198" y="816"/>
                    </a:lnTo>
                    <a:lnTo>
                      <a:pt x="194" y="837"/>
                    </a:lnTo>
                    <a:lnTo>
                      <a:pt x="185" y="852"/>
                    </a:lnTo>
                    <a:lnTo>
                      <a:pt x="168" y="860"/>
                    </a:lnTo>
                    <a:lnTo>
                      <a:pt x="149" y="860"/>
                    </a:lnTo>
                    <a:lnTo>
                      <a:pt x="132" y="853"/>
                    </a:lnTo>
                    <a:lnTo>
                      <a:pt x="119" y="840"/>
                    </a:lnTo>
                    <a:lnTo>
                      <a:pt x="114" y="821"/>
                    </a:lnTo>
                    <a:lnTo>
                      <a:pt x="114" y="804"/>
                    </a:lnTo>
                    <a:lnTo>
                      <a:pt x="114" y="270"/>
                    </a:lnTo>
                    <a:lnTo>
                      <a:pt x="114" y="263"/>
                    </a:lnTo>
                    <a:lnTo>
                      <a:pt x="113" y="258"/>
                    </a:lnTo>
                    <a:lnTo>
                      <a:pt x="109" y="255"/>
                    </a:lnTo>
                    <a:lnTo>
                      <a:pt x="106" y="253"/>
                    </a:lnTo>
                    <a:lnTo>
                      <a:pt x="101" y="252"/>
                    </a:lnTo>
                    <a:lnTo>
                      <a:pt x="29" y="232"/>
                    </a:lnTo>
                    <a:lnTo>
                      <a:pt x="13" y="224"/>
                    </a:lnTo>
                    <a:lnTo>
                      <a:pt x="5" y="214"/>
                    </a:lnTo>
                    <a:lnTo>
                      <a:pt x="0" y="199"/>
                    </a:lnTo>
                    <a:lnTo>
                      <a:pt x="3" y="183"/>
                    </a:lnTo>
                    <a:lnTo>
                      <a:pt x="62" y="24"/>
                    </a:lnTo>
                    <a:lnTo>
                      <a:pt x="72" y="10"/>
                    </a:lnTo>
                    <a:lnTo>
                      <a:pt x="83" y="2"/>
                    </a:lnTo>
                    <a:lnTo>
                      <a:pt x="98" y="0"/>
                    </a:lnTo>
                    <a:close/>
                  </a:path>
                </a:pathLst>
              </a:custGeom>
              <a:solidFill>
                <a:schemeClr val="tx1">
                  <a:lumMod val="95000"/>
                  <a:lumOff val="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2" name="Group 1">
            <a:extLst>
              <a:ext uri="{FF2B5EF4-FFF2-40B4-BE49-F238E27FC236}">
                <a16:creationId xmlns:a16="http://schemas.microsoft.com/office/drawing/2014/main" id="{41B2F184-1143-8F14-2F51-A3CB205971AD}"/>
              </a:ext>
            </a:extLst>
          </p:cNvPr>
          <p:cNvGrpSpPr/>
          <p:nvPr/>
        </p:nvGrpSpPr>
        <p:grpSpPr>
          <a:xfrm>
            <a:off x="8323981" y="2382112"/>
            <a:ext cx="2198915" cy="2298675"/>
            <a:chOff x="8323981" y="2382112"/>
            <a:chExt cx="2198915" cy="2298675"/>
          </a:xfrm>
        </p:grpSpPr>
        <p:grpSp>
          <p:nvGrpSpPr>
            <p:cNvPr id="45" name="Group 44"/>
            <p:cNvGrpSpPr/>
            <p:nvPr/>
          </p:nvGrpSpPr>
          <p:grpSpPr>
            <a:xfrm rot="5400000">
              <a:off x="8819027" y="1887066"/>
              <a:ext cx="1208823" cy="2198915"/>
              <a:chOff x="3367312" y="2322285"/>
              <a:chExt cx="2155373" cy="2198915"/>
            </a:xfrm>
          </p:grpSpPr>
          <p:sp>
            <p:nvSpPr>
              <p:cNvPr id="46" name="Rounded Rectangle 45"/>
              <p:cNvSpPr/>
              <p:nvPr/>
            </p:nvSpPr>
            <p:spPr>
              <a:xfrm>
                <a:off x="3476170" y="2416629"/>
                <a:ext cx="2046515" cy="2104571"/>
              </a:xfrm>
              <a:prstGeom prst="roundRect">
                <a:avLst>
                  <a:gd name="adj" fmla="val 681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p:cNvSpPr/>
              <p:nvPr/>
            </p:nvSpPr>
            <p:spPr>
              <a:xfrm>
                <a:off x="3367312" y="2322285"/>
                <a:ext cx="2046515" cy="2104571"/>
              </a:xfrm>
              <a:prstGeom prst="roundRect">
                <a:avLst>
                  <a:gd name="adj" fmla="val 681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8481744" y="3843969"/>
              <a:ext cx="1895945" cy="809556"/>
              <a:chOff x="7585317" y="2887738"/>
              <a:chExt cx="2057476" cy="878529"/>
            </a:xfrm>
          </p:grpSpPr>
          <p:sp>
            <p:nvSpPr>
              <p:cNvPr id="49" name="Freeform 240">
                <a:extLst>
                  <a:ext uri="{FF2B5EF4-FFF2-40B4-BE49-F238E27FC236}">
                    <a16:creationId xmlns:a16="http://schemas.microsoft.com/office/drawing/2014/main" id="{55DCA62C-3107-4C80-AEA0-06781866C46D}"/>
                  </a:ext>
                </a:extLst>
              </p:cNvPr>
              <p:cNvSpPr>
                <a:spLocks/>
              </p:cNvSpPr>
              <p:nvPr/>
            </p:nvSpPr>
            <p:spPr bwMode="auto">
              <a:xfrm flipH="1">
                <a:off x="7585317" y="3134025"/>
                <a:ext cx="2043857" cy="632242"/>
              </a:xfrm>
              <a:custGeom>
                <a:avLst/>
                <a:gdLst>
                  <a:gd name="T0" fmla="*/ 0 w 1917"/>
                  <a:gd name="T1" fmla="*/ 0 h 593"/>
                  <a:gd name="T2" fmla="*/ 1917 w 1917"/>
                  <a:gd name="T3" fmla="*/ 0 h 593"/>
                  <a:gd name="T4" fmla="*/ 1917 w 1917"/>
                  <a:gd name="T5" fmla="*/ 6 h 593"/>
                  <a:gd name="T6" fmla="*/ 1917 w 1917"/>
                  <a:gd name="T7" fmla="*/ 22 h 593"/>
                  <a:gd name="T8" fmla="*/ 1917 w 1917"/>
                  <a:gd name="T9" fmla="*/ 47 h 593"/>
                  <a:gd name="T10" fmla="*/ 1917 w 1917"/>
                  <a:gd name="T11" fmla="*/ 111 h 593"/>
                  <a:gd name="T12" fmla="*/ 1917 w 1917"/>
                  <a:gd name="T13" fmla="*/ 147 h 593"/>
                  <a:gd name="T14" fmla="*/ 1917 w 1917"/>
                  <a:gd name="T15" fmla="*/ 183 h 593"/>
                  <a:gd name="T16" fmla="*/ 1917 w 1917"/>
                  <a:gd name="T17" fmla="*/ 214 h 593"/>
                  <a:gd name="T18" fmla="*/ 1917 w 1917"/>
                  <a:gd name="T19" fmla="*/ 259 h 593"/>
                  <a:gd name="T20" fmla="*/ 1912 w 1917"/>
                  <a:gd name="T21" fmla="*/ 297 h 593"/>
                  <a:gd name="T22" fmla="*/ 1896 w 1917"/>
                  <a:gd name="T23" fmla="*/ 331 h 593"/>
                  <a:gd name="T24" fmla="*/ 1868 w 1917"/>
                  <a:gd name="T25" fmla="*/ 366 h 593"/>
                  <a:gd name="T26" fmla="*/ 1832 w 1917"/>
                  <a:gd name="T27" fmla="*/ 398 h 593"/>
                  <a:gd name="T28" fmla="*/ 1787 w 1917"/>
                  <a:gd name="T29" fmla="*/ 428 h 593"/>
                  <a:gd name="T30" fmla="*/ 1733 w 1917"/>
                  <a:gd name="T31" fmla="*/ 457 h 593"/>
                  <a:gd name="T32" fmla="*/ 1670 w 1917"/>
                  <a:gd name="T33" fmla="*/ 483 h 593"/>
                  <a:gd name="T34" fmla="*/ 1600 w 1917"/>
                  <a:gd name="T35" fmla="*/ 508 h 593"/>
                  <a:gd name="T36" fmla="*/ 1525 w 1917"/>
                  <a:gd name="T37" fmla="*/ 529 h 593"/>
                  <a:gd name="T38" fmla="*/ 1443 w 1917"/>
                  <a:gd name="T39" fmla="*/ 547 h 593"/>
                  <a:gd name="T40" fmla="*/ 1355 w 1917"/>
                  <a:gd name="T41" fmla="*/ 564 h 593"/>
                  <a:gd name="T42" fmla="*/ 1262 w 1917"/>
                  <a:gd name="T43" fmla="*/ 577 h 593"/>
                  <a:gd name="T44" fmla="*/ 1164 w 1917"/>
                  <a:gd name="T45" fmla="*/ 585 h 593"/>
                  <a:gd name="T46" fmla="*/ 1062 w 1917"/>
                  <a:gd name="T47" fmla="*/ 591 h 593"/>
                  <a:gd name="T48" fmla="*/ 958 w 1917"/>
                  <a:gd name="T49" fmla="*/ 593 h 593"/>
                  <a:gd name="T50" fmla="*/ 855 w 1917"/>
                  <a:gd name="T51" fmla="*/ 591 h 593"/>
                  <a:gd name="T52" fmla="*/ 753 w 1917"/>
                  <a:gd name="T53" fmla="*/ 585 h 593"/>
                  <a:gd name="T54" fmla="*/ 655 w 1917"/>
                  <a:gd name="T55" fmla="*/ 577 h 593"/>
                  <a:gd name="T56" fmla="*/ 562 w 1917"/>
                  <a:gd name="T57" fmla="*/ 564 h 593"/>
                  <a:gd name="T58" fmla="*/ 474 w 1917"/>
                  <a:gd name="T59" fmla="*/ 547 h 593"/>
                  <a:gd name="T60" fmla="*/ 392 w 1917"/>
                  <a:gd name="T61" fmla="*/ 529 h 593"/>
                  <a:gd name="T62" fmla="*/ 317 w 1917"/>
                  <a:gd name="T63" fmla="*/ 508 h 593"/>
                  <a:gd name="T64" fmla="*/ 247 w 1917"/>
                  <a:gd name="T65" fmla="*/ 483 h 593"/>
                  <a:gd name="T66" fmla="*/ 185 w 1917"/>
                  <a:gd name="T67" fmla="*/ 457 h 593"/>
                  <a:gd name="T68" fmla="*/ 131 w 1917"/>
                  <a:gd name="T69" fmla="*/ 428 h 593"/>
                  <a:gd name="T70" fmla="*/ 85 w 1917"/>
                  <a:gd name="T71" fmla="*/ 398 h 593"/>
                  <a:gd name="T72" fmla="*/ 49 w 1917"/>
                  <a:gd name="T73" fmla="*/ 366 h 593"/>
                  <a:gd name="T74" fmla="*/ 21 w 1917"/>
                  <a:gd name="T75" fmla="*/ 331 h 593"/>
                  <a:gd name="T76" fmla="*/ 5 w 1917"/>
                  <a:gd name="T77" fmla="*/ 297 h 593"/>
                  <a:gd name="T78" fmla="*/ 0 w 1917"/>
                  <a:gd name="T79" fmla="*/ 259 h 593"/>
                  <a:gd name="T80" fmla="*/ 0 w 1917"/>
                  <a:gd name="T81" fmla="*/ 22 h 593"/>
                  <a:gd name="T82" fmla="*/ 0 w 1917"/>
                  <a:gd name="T83" fmla="*/ 6 h 593"/>
                  <a:gd name="T84" fmla="*/ 0 w 1917"/>
                  <a:gd name="T85" fmla="*/ 0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17" h="593">
                    <a:moveTo>
                      <a:pt x="0" y="0"/>
                    </a:moveTo>
                    <a:lnTo>
                      <a:pt x="1917" y="0"/>
                    </a:lnTo>
                    <a:lnTo>
                      <a:pt x="1917" y="6"/>
                    </a:lnTo>
                    <a:lnTo>
                      <a:pt x="1917" y="22"/>
                    </a:lnTo>
                    <a:lnTo>
                      <a:pt x="1917" y="47"/>
                    </a:lnTo>
                    <a:lnTo>
                      <a:pt x="1917" y="111"/>
                    </a:lnTo>
                    <a:lnTo>
                      <a:pt x="1917" y="147"/>
                    </a:lnTo>
                    <a:lnTo>
                      <a:pt x="1917" y="183"/>
                    </a:lnTo>
                    <a:lnTo>
                      <a:pt x="1917" y="214"/>
                    </a:lnTo>
                    <a:lnTo>
                      <a:pt x="1917" y="259"/>
                    </a:lnTo>
                    <a:lnTo>
                      <a:pt x="1912" y="297"/>
                    </a:lnTo>
                    <a:lnTo>
                      <a:pt x="1896" y="331"/>
                    </a:lnTo>
                    <a:lnTo>
                      <a:pt x="1868" y="366"/>
                    </a:lnTo>
                    <a:lnTo>
                      <a:pt x="1832" y="398"/>
                    </a:lnTo>
                    <a:lnTo>
                      <a:pt x="1787" y="428"/>
                    </a:lnTo>
                    <a:lnTo>
                      <a:pt x="1733" y="457"/>
                    </a:lnTo>
                    <a:lnTo>
                      <a:pt x="1670" y="483"/>
                    </a:lnTo>
                    <a:lnTo>
                      <a:pt x="1600" y="508"/>
                    </a:lnTo>
                    <a:lnTo>
                      <a:pt x="1525" y="529"/>
                    </a:lnTo>
                    <a:lnTo>
                      <a:pt x="1443" y="547"/>
                    </a:lnTo>
                    <a:lnTo>
                      <a:pt x="1355" y="564"/>
                    </a:lnTo>
                    <a:lnTo>
                      <a:pt x="1262" y="577"/>
                    </a:lnTo>
                    <a:lnTo>
                      <a:pt x="1164" y="585"/>
                    </a:lnTo>
                    <a:lnTo>
                      <a:pt x="1062" y="591"/>
                    </a:lnTo>
                    <a:lnTo>
                      <a:pt x="958" y="593"/>
                    </a:lnTo>
                    <a:lnTo>
                      <a:pt x="855" y="591"/>
                    </a:lnTo>
                    <a:lnTo>
                      <a:pt x="753" y="585"/>
                    </a:lnTo>
                    <a:lnTo>
                      <a:pt x="655" y="577"/>
                    </a:lnTo>
                    <a:lnTo>
                      <a:pt x="562" y="564"/>
                    </a:lnTo>
                    <a:lnTo>
                      <a:pt x="474" y="547"/>
                    </a:lnTo>
                    <a:lnTo>
                      <a:pt x="392" y="529"/>
                    </a:lnTo>
                    <a:lnTo>
                      <a:pt x="317" y="508"/>
                    </a:lnTo>
                    <a:lnTo>
                      <a:pt x="247" y="483"/>
                    </a:lnTo>
                    <a:lnTo>
                      <a:pt x="185" y="457"/>
                    </a:lnTo>
                    <a:lnTo>
                      <a:pt x="131" y="428"/>
                    </a:lnTo>
                    <a:lnTo>
                      <a:pt x="85" y="398"/>
                    </a:lnTo>
                    <a:lnTo>
                      <a:pt x="49" y="366"/>
                    </a:lnTo>
                    <a:lnTo>
                      <a:pt x="21" y="331"/>
                    </a:lnTo>
                    <a:lnTo>
                      <a:pt x="5" y="297"/>
                    </a:lnTo>
                    <a:lnTo>
                      <a:pt x="0" y="259"/>
                    </a:lnTo>
                    <a:lnTo>
                      <a:pt x="0" y="22"/>
                    </a:lnTo>
                    <a:lnTo>
                      <a:pt x="0" y="6"/>
                    </a:lnTo>
                    <a:lnTo>
                      <a:pt x="0"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241">
                <a:extLst>
                  <a:ext uri="{FF2B5EF4-FFF2-40B4-BE49-F238E27FC236}">
                    <a16:creationId xmlns:a16="http://schemas.microsoft.com/office/drawing/2014/main" id="{E7B92DAC-9A8B-4D9B-B8FA-BEE2AA4C792E}"/>
                  </a:ext>
                </a:extLst>
              </p:cNvPr>
              <p:cNvSpPr>
                <a:spLocks/>
              </p:cNvSpPr>
              <p:nvPr/>
            </p:nvSpPr>
            <p:spPr bwMode="auto">
              <a:xfrm flipH="1">
                <a:off x="7593605" y="2887738"/>
                <a:ext cx="2049188" cy="562940"/>
              </a:xfrm>
              <a:custGeom>
                <a:avLst/>
                <a:gdLst>
                  <a:gd name="T0" fmla="*/ 961 w 1922"/>
                  <a:gd name="T1" fmla="*/ 0 h 528"/>
                  <a:gd name="T2" fmla="*/ 1065 w 1922"/>
                  <a:gd name="T3" fmla="*/ 0 h 528"/>
                  <a:gd name="T4" fmla="*/ 1167 w 1922"/>
                  <a:gd name="T5" fmla="*/ 5 h 528"/>
                  <a:gd name="T6" fmla="*/ 1265 w 1922"/>
                  <a:gd name="T7" fmla="*/ 13 h 528"/>
                  <a:gd name="T8" fmla="*/ 1358 w 1922"/>
                  <a:gd name="T9" fmla="*/ 23 h 528"/>
                  <a:gd name="T10" fmla="*/ 1445 w 1922"/>
                  <a:gd name="T11" fmla="*/ 36 h 528"/>
                  <a:gd name="T12" fmla="*/ 1528 w 1922"/>
                  <a:gd name="T13" fmla="*/ 51 h 528"/>
                  <a:gd name="T14" fmla="*/ 1605 w 1922"/>
                  <a:gd name="T15" fmla="*/ 67 h 528"/>
                  <a:gd name="T16" fmla="*/ 1673 w 1922"/>
                  <a:gd name="T17" fmla="*/ 87 h 528"/>
                  <a:gd name="T18" fmla="*/ 1735 w 1922"/>
                  <a:gd name="T19" fmla="*/ 108 h 528"/>
                  <a:gd name="T20" fmla="*/ 1789 w 1922"/>
                  <a:gd name="T21" fmla="*/ 131 h 528"/>
                  <a:gd name="T22" fmla="*/ 1835 w 1922"/>
                  <a:gd name="T23" fmla="*/ 154 h 528"/>
                  <a:gd name="T24" fmla="*/ 1873 w 1922"/>
                  <a:gd name="T25" fmla="*/ 180 h 528"/>
                  <a:gd name="T26" fmla="*/ 1899 w 1922"/>
                  <a:gd name="T27" fmla="*/ 206 h 528"/>
                  <a:gd name="T28" fmla="*/ 1915 w 1922"/>
                  <a:gd name="T29" fmla="*/ 235 h 528"/>
                  <a:gd name="T30" fmla="*/ 1922 w 1922"/>
                  <a:gd name="T31" fmla="*/ 263 h 528"/>
                  <a:gd name="T32" fmla="*/ 1915 w 1922"/>
                  <a:gd name="T33" fmla="*/ 293 h 528"/>
                  <a:gd name="T34" fmla="*/ 1899 w 1922"/>
                  <a:gd name="T35" fmla="*/ 320 h 528"/>
                  <a:gd name="T36" fmla="*/ 1873 w 1922"/>
                  <a:gd name="T37" fmla="*/ 347 h 528"/>
                  <a:gd name="T38" fmla="*/ 1835 w 1922"/>
                  <a:gd name="T39" fmla="*/ 373 h 528"/>
                  <a:gd name="T40" fmla="*/ 1789 w 1922"/>
                  <a:gd name="T41" fmla="*/ 397 h 528"/>
                  <a:gd name="T42" fmla="*/ 1735 w 1922"/>
                  <a:gd name="T43" fmla="*/ 420 h 528"/>
                  <a:gd name="T44" fmla="*/ 1673 w 1922"/>
                  <a:gd name="T45" fmla="*/ 440 h 528"/>
                  <a:gd name="T46" fmla="*/ 1605 w 1922"/>
                  <a:gd name="T47" fmla="*/ 459 h 528"/>
                  <a:gd name="T48" fmla="*/ 1528 w 1922"/>
                  <a:gd name="T49" fmla="*/ 477 h 528"/>
                  <a:gd name="T50" fmla="*/ 1445 w 1922"/>
                  <a:gd name="T51" fmla="*/ 492 h 528"/>
                  <a:gd name="T52" fmla="*/ 1358 w 1922"/>
                  <a:gd name="T53" fmla="*/ 504 h 528"/>
                  <a:gd name="T54" fmla="*/ 1265 w 1922"/>
                  <a:gd name="T55" fmla="*/ 513 h 528"/>
                  <a:gd name="T56" fmla="*/ 1167 w 1922"/>
                  <a:gd name="T57" fmla="*/ 522 h 528"/>
                  <a:gd name="T58" fmla="*/ 1065 w 1922"/>
                  <a:gd name="T59" fmla="*/ 526 h 528"/>
                  <a:gd name="T60" fmla="*/ 961 w 1922"/>
                  <a:gd name="T61" fmla="*/ 528 h 528"/>
                  <a:gd name="T62" fmla="*/ 856 w 1922"/>
                  <a:gd name="T63" fmla="*/ 526 h 528"/>
                  <a:gd name="T64" fmla="*/ 755 w 1922"/>
                  <a:gd name="T65" fmla="*/ 522 h 528"/>
                  <a:gd name="T66" fmla="*/ 657 w 1922"/>
                  <a:gd name="T67" fmla="*/ 513 h 528"/>
                  <a:gd name="T68" fmla="*/ 564 w 1922"/>
                  <a:gd name="T69" fmla="*/ 504 h 528"/>
                  <a:gd name="T70" fmla="*/ 475 w 1922"/>
                  <a:gd name="T71" fmla="*/ 492 h 528"/>
                  <a:gd name="T72" fmla="*/ 394 w 1922"/>
                  <a:gd name="T73" fmla="*/ 477 h 528"/>
                  <a:gd name="T74" fmla="*/ 317 w 1922"/>
                  <a:gd name="T75" fmla="*/ 459 h 528"/>
                  <a:gd name="T76" fmla="*/ 248 w 1922"/>
                  <a:gd name="T77" fmla="*/ 440 h 528"/>
                  <a:gd name="T78" fmla="*/ 186 w 1922"/>
                  <a:gd name="T79" fmla="*/ 420 h 528"/>
                  <a:gd name="T80" fmla="*/ 130 w 1922"/>
                  <a:gd name="T81" fmla="*/ 397 h 528"/>
                  <a:gd name="T82" fmla="*/ 86 w 1922"/>
                  <a:gd name="T83" fmla="*/ 373 h 528"/>
                  <a:gd name="T84" fmla="*/ 49 w 1922"/>
                  <a:gd name="T85" fmla="*/ 347 h 528"/>
                  <a:gd name="T86" fmla="*/ 22 w 1922"/>
                  <a:gd name="T87" fmla="*/ 320 h 528"/>
                  <a:gd name="T88" fmla="*/ 6 w 1922"/>
                  <a:gd name="T89" fmla="*/ 293 h 528"/>
                  <a:gd name="T90" fmla="*/ 0 w 1922"/>
                  <a:gd name="T91" fmla="*/ 263 h 528"/>
                  <a:gd name="T92" fmla="*/ 6 w 1922"/>
                  <a:gd name="T93" fmla="*/ 235 h 528"/>
                  <a:gd name="T94" fmla="*/ 22 w 1922"/>
                  <a:gd name="T95" fmla="*/ 206 h 528"/>
                  <a:gd name="T96" fmla="*/ 49 w 1922"/>
                  <a:gd name="T97" fmla="*/ 180 h 528"/>
                  <a:gd name="T98" fmla="*/ 86 w 1922"/>
                  <a:gd name="T99" fmla="*/ 154 h 528"/>
                  <a:gd name="T100" fmla="*/ 130 w 1922"/>
                  <a:gd name="T101" fmla="*/ 131 h 528"/>
                  <a:gd name="T102" fmla="*/ 186 w 1922"/>
                  <a:gd name="T103" fmla="*/ 108 h 528"/>
                  <a:gd name="T104" fmla="*/ 248 w 1922"/>
                  <a:gd name="T105" fmla="*/ 87 h 528"/>
                  <a:gd name="T106" fmla="*/ 317 w 1922"/>
                  <a:gd name="T107" fmla="*/ 67 h 528"/>
                  <a:gd name="T108" fmla="*/ 394 w 1922"/>
                  <a:gd name="T109" fmla="*/ 51 h 528"/>
                  <a:gd name="T110" fmla="*/ 475 w 1922"/>
                  <a:gd name="T111" fmla="*/ 36 h 528"/>
                  <a:gd name="T112" fmla="*/ 564 w 1922"/>
                  <a:gd name="T113" fmla="*/ 23 h 528"/>
                  <a:gd name="T114" fmla="*/ 657 w 1922"/>
                  <a:gd name="T115" fmla="*/ 13 h 528"/>
                  <a:gd name="T116" fmla="*/ 755 w 1922"/>
                  <a:gd name="T117" fmla="*/ 5 h 528"/>
                  <a:gd name="T118" fmla="*/ 856 w 1922"/>
                  <a:gd name="T119" fmla="*/ 0 h 528"/>
                  <a:gd name="T120" fmla="*/ 961 w 1922"/>
                  <a:gd name="T121"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22" h="528">
                    <a:moveTo>
                      <a:pt x="961" y="0"/>
                    </a:moveTo>
                    <a:lnTo>
                      <a:pt x="1065" y="0"/>
                    </a:lnTo>
                    <a:lnTo>
                      <a:pt x="1167" y="5"/>
                    </a:lnTo>
                    <a:lnTo>
                      <a:pt x="1265" y="13"/>
                    </a:lnTo>
                    <a:lnTo>
                      <a:pt x="1358" y="23"/>
                    </a:lnTo>
                    <a:lnTo>
                      <a:pt x="1445" y="36"/>
                    </a:lnTo>
                    <a:lnTo>
                      <a:pt x="1528" y="51"/>
                    </a:lnTo>
                    <a:lnTo>
                      <a:pt x="1605" y="67"/>
                    </a:lnTo>
                    <a:lnTo>
                      <a:pt x="1673" y="87"/>
                    </a:lnTo>
                    <a:lnTo>
                      <a:pt x="1735" y="108"/>
                    </a:lnTo>
                    <a:lnTo>
                      <a:pt x="1789" y="131"/>
                    </a:lnTo>
                    <a:lnTo>
                      <a:pt x="1835" y="154"/>
                    </a:lnTo>
                    <a:lnTo>
                      <a:pt x="1873" y="180"/>
                    </a:lnTo>
                    <a:lnTo>
                      <a:pt x="1899" y="206"/>
                    </a:lnTo>
                    <a:lnTo>
                      <a:pt x="1915" y="235"/>
                    </a:lnTo>
                    <a:lnTo>
                      <a:pt x="1922" y="263"/>
                    </a:lnTo>
                    <a:lnTo>
                      <a:pt x="1915" y="293"/>
                    </a:lnTo>
                    <a:lnTo>
                      <a:pt x="1899" y="320"/>
                    </a:lnTo>
                    <a:lnTo>
                      <a:pt x="1873" y="347"/>
                    </a:lnTo>
                    <a:lnTo>
                      <a:pt x="1835" y="373"/>
                    </a:lnTo>
                    <a:lnTo>
                      <a:pt x="1789" y="397"/>
                    </a:lnTo>
                    <a:lnTo>
                      <a:pt x="1735" y="420"/>
                    </a:lnTo>
                    <a:lnTo>
                      <a:pt x="1673" y="440"/>
                    </a:lnTo>
                    <a:lnTo>
                      <a:pt x="1605" y="459"/>
                    </a:lnTo>
                    <a:lnTo>
                      <a:pt x="1528" y="477"/>
                    </a:lnTo>
                    <a:lnTo>
                      <a:pt x="1445" y="492"/>
                    </a:lnTo>
                    <a:lnTo>
                      <a:pt x="1358" y="504"/>
                    </a:lnTo>
                    <a:lnTo>
                      <a:pt x="1265" y="513"/>
                    </a:lnTo>
                    <a:lnTo>
                      <a:pt x="1167" y="522"/>
                    </a:lnTo>
                    <a:lnTo>
                      <a:pt x="1065" y="526"/>
                    </a:lnTo>
                    <a:lnTo>
                      <a:pt x="961" y="528"/>
                    </a:lnTo>
                    <a:lnTo>
                      <a:pt x="856" y="526"/>
                    </a:lnTo>
                    <a:lnTo>
                      <a:pt x="755" y="522"/>
                    </a:lnTo>
                    <a:lnTo>
                      <a:pt x="657" y="513"/>
                    </a:lnTo>
                    <a:lnTo>
                      <a:pt x="564" y="504"/>
                    </a:lnTo>
                    <a:lnTo>
                      <a:pt x="475" y="492"/>
                    </a:lnTo>
                    <a:lnTo>
                      <a:pt x="394" y="477"/>
                    </a:lnTo>
                    <a:lnTo>
                      <a:pt x="317" y="459"/>
                    </a:lnTo>
                    <a:lnTo>
                      <a:pt x="248" y="440"/>
                    </a:lnTo>
                    <a:lnTo>
                      <a:pt x="186" y="420"/>
                    </a:lnTo>
                    <a:lnTo>
                      <a:pt x="130" y="397"/>
                    </a:lnTo>
                    <a:lnTo>
                      <a:pt x="86" y="373"/>
                    </a:lnTo>
                    <a:lnTo>
                      <a:pt x="49" y="347"/>
                    </a:lnTo>
                    <a:lnTo>
                      <a:pt x="22" y="320"/>
                    </a:lnTo>
                    <a:lnTo>
                      <a:pt x="6" y="293"/>
                    </a:lnTo>
                    <a:lnTo>
                      <a:pt x="0" y="263"/>
                    </a:lnTo>
                    <a:lnTo>
                      <a:pt x="6" y="235"/>
                    </a:lnTo>
                    <a:lnTo>
                      <a:pt x="22" y="206"/>
                    </a:lnTo>
                    <a:lnTo>
                      <a:pt x="49" y="180"/>
                    </a:lnTo>
                    <a:lnTo>
                      <a:pt x="86" y="154"/>
                    </a:lnTo>
                    <a:lnTo>
                      <a:pt x="130" y="131"/>
                    </a:lnTo>
                    <a:lnTo>
                      <a:pt x="186" y="108"/>
                    </a:lnTo>
                    <a:lnTo>
                      <a:pt x="248" y="87"/>
                    </a:lnTo>
                    <a:lnTo>
                      <a:pt x="317" y="67"/>
                    </a:lnTo>
                    <a:lnTo>
                      <a:pt x="394" y="51"/>
                    </a:lnTo>
                    <a:lnTo>
                      <a:pt x="475" y="36"/>
                    </a:lnTo>
                    <a:lnTo>
                      <a:pt x="564" y="23"/>
                    </a:lnTo>
                    <a:lnTo>
                      <a:pt x="657" y="13"/>
                    </a:lnTo>
                    <a:lnTo>
                      <a:pt x="755" y="5"/>
                    </a:lnTo>
                    <a:lnTo>
                      <a:pt x="856" y="0"/>
                    </a:lnTo>
                    <a:lnTo>
                      <a:pt x="961" y="0"/>
                    </a:lnTo>
                    <a:close/>
                  </a:path>
                </a:pathLst>
              </a:custGeom>
              <a:gradFill flip="none" rotWithShape="1">
                <a:gsLst>
                  <a:gs pos="0">
                    <a:schemeClr val="accent2">
                      <a:lumMod val="75000"/>
                    </a:schemeClr>
                  </a:gs>
                  <a:gs pos="50000">
                    <a:schemeClr val="accent2"/>
                  </a:gs>
                  <a:gs pos="100000">
                    <a:schemeClr val="accent2"/>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1" name="Rectangle 50">
              <a:extLst>
                <a:ext uri="{FF2B5EF4-FFF2-40B4-BE49-F238E27FC236}">
                  <a16:creationId xmlns:a16="http://schemas.microsoft.com/office/drawing/2014/main" id="{1A6E00B2-020A-4E14-BDF1-AA4A3C728990}"/>
                </a:ext>
              </a:extLst>
            </p:cNvPr>
            <p:cNvSpPr/>
            <p:nvPr/>
          </p:nvSpPr>
          <p:spPr>
            <a:xfrm>
              <a:off x="9087072" y="4311455"/>
              <a:ext cx="655950" cy="369332"/>
            </a:xfrm>
            <a:prstGeom prst="rect">
              <a:avLst/>
            </a:prstGeom>
          </p:spPr>
          <p:txBody>
            <a:bodyPr wrap="none">
              <a:spAutoFit/>
            </a:bodyPr>
            <a:lstStyle/>
            <a:p>
              <a:pPr algn="ctr"/>
              <a:r>
                <a:rPr lang="en-US" b="1" dirty="0">
                  <a:solidFill>
                    <a:schemeClr val="bg1"/>
                  </a:solidFill>
                </a:rPr>
                <a:t>10%</a:t>
              </a:r>
              <a:endParaRPr lang="en-US" dirty="0">
                <a:solidFill>
                  <a:schemeClr val="bg1"/>
                </a:solidFill>
              </a:endParaRPr>
            </a:p>
          </p:txBody>
        </p:sp>
        <p:grpSp>
          <p:nvGrpSpPr>
            <p:cNvPr id="52" name="Group 51"/>
            <p:cNvGrpSpPr/>
            <p:nvPr/>
          </p:nvGrpSpPr>
          <p:grpSpPr>
            <a:xfrm>
              <a:off x="9006166" y="2711502"/>
              <a:ext cx="748091" cy="1428453"/>
              <a:chOff x="9356767" y="2145788"/>
              <a:chExt cx="606819" cy="1124707"/>
            </a:xfrm>
          </p:grpSpPr>
          <p:sp>
            <p:nvSpPr>
              <p:cNvPr id="53" name="Freeform 244">
                <a:extLst>
                  <a:ext uri="{FF2B5EF4-FFF2-40B4-BE49-F238E27FC236}">
                    <a16:creationId xmlns:a16="http://schemas.microsoft.com/office/drawing/2014/main" id="{E60B0662-3F3B-425E-A7C2-AABFF81CCAAE}"/>
                  </a:ext>
                </a:extLst>
              </p:cNvPr>
              <p:cNvSpPr>
                <a:spLocks/>
              </p:cNvSpPr>
              <p:nvPr/>
            </p:nvSpPr>
            <p:spPr bwMode="auto">
              <a:xfrm flipH="1">
                <a:off x="9568632" y="2199408"/>
                <a:ext cx="183091" cy="181784"/>
              </a:xfrm>
              <a:custGeom>
                <a:avLst/>
                <a:gdLst>
                  <a:gd name="T0" fmla="*/ 70 w 140"/>
                  <a:gd name="T1" fmla="*/ 0 h 139"/>
                  <a:gd name="T2" fmla="*/ 93 w 140"/>
                  <a:gd name="T3" fmla="*/ 3 h 139"/>
                  <a:gd name="T4" fmla="*/ 113 w 140"/>
                  <a:gd name="T5" fmla="*/ 13 h 139"/>
                  <a:gd name="T6" fmla="*/ 127 w 140"/>
                  <a:gd name="T7" fmla="*/ 29 h 139"/>
                  <a:gd name="T8" fmla="*/ 137 w 140"/>
                  <a:gd name="T9" fmla="*/ 49 h 139"/>
                  <a:gd name="T10" fmla="*/ 140 w 140"/>
                  <a:gd name="T11" fmla="*/ 70 h 139"/>
                  <a:gd name="T12" fmla="*/ 135 w 140"/>
                  <a:gd name="T13" fmla="*/ 93 h 139"/>
                  <a:gd name="T14" fmla="*/ 126 w 140"/>
                  <a:gd name="T15" fmla="*/ 111 h 139"/>
                  <a:gd name="T16" fmla="*/ 109 w 140"/>
                  <a:gd name="T17" fmla="*/ 127 h 139"/>
                  <a:gd name="T18" fmla="*/ 91 w 140"/>
                  <a:gd name="T19" fmla="*/ 135 h 139"/>
                  <a:gd name="T20" fmla="*/ 68 w 140"/>
                  <a:gd name="T21" fmla="*/ 139 h 139"/>
                  <a:gd name="T22" fmla="*/ 47 w 140"/>
                  <a:gd name="T23" fmla="*/ 135 h 139"/>
                  <a:gd name="T24" fmla="*/ 28 w 140"/>
                  <a:gd name="T25" fmla="*/ 126 h 139"/>
                  <a:gd name="T26" fmla="*/ 13 w 140"/>
                  <a:gd name="T27" fmla="*/ 109 h 139"/>
                  <a:gd name="T28" fmla="*/ 3 w 140"/>
                  <a:gd name="T29" fmla="*/ 90 h 139"/>
                  <a:gd name="T30" fmla="*/ 0 w 140"/>
                  <a:gd name="T31" fmla="*/ 68 h 139"/>
                  <a:gd name="T32" fmla="*/ 3 w 140"/>
                  <a:gd name="T33" fmla="*/ 46 h 139"/>
                  <a:gd name="T34" fmla="*/ 14 w 140"/>
                  <a:gd name="T35" fmla="*/ 28 h 139"/>
                  <a:gd name="T36" fmla="*/ 29 w 140"/>
                  <a:gd name="T37" fmla="*/ 11 h 139"/>
                  <a:gd name="T38" fmla="*/ 49 w 140"/>
                  <a:gd name="T39" fmla="*/ 1 h 139"/>
                  <a:gd name="T40" fmla="*/ 70 w 140"/>
                  <a:gd name="T41"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0" h="139">
                    <a:moveTo>
                      <a:pt x="70" y="0"/>
                    </a:moveTo>
                    <a:lnTo>
                      <a:pt x="93" y="3"/>
                    </a:lnTo>
                    <a:lnTo>
                      <a:pt x="113" y="13"/>
                    </a:lnTo>
                    <a:lnTo>
                      <a:pt x="127" y="29"/>
                    </a:lnTo>
                    <a:lnTo>
                      <a:pt x="137" y="49"/>
                    </a:lnTo>
                    <a:lnTo>
                      <a:pt x="140" y="70"/>
                    </a:lnTo>
                    <a:lnTo>
                      <a:pt x="135" y="93"/>
                    </a:lnTo>
                    <a:lnTo>
                      <a:pt x="126" y="111"/>
                    </a:lnTo>
                    <a:lnTo>
                      <a:pt x="109" y="127"/>
                    </a:lnTo>
                    <a:lnTo>
                      <a:pt x="91" y="135"/>
                    </a:lnTo>
                    <a:lnTo>
                      <a:pt x="68" y="139"/>
                    </a:lnTo>
                    <a:lnTo>
                      <a:pt x="47" y="135"/>
                    </a:lnTo>
                    <a:lnTo>
                      <a:pt x="28" y="126"/>
                    </a:lnTo>
                    <a:lnTo>
                      <a:pt x="13" y="109"/>
                    </a:lnTo>
                    <a:lnTo>
                      <a:pt x="3" y="90"/>
                    </a:lnTo>
                    <a:lnTo>
                      <a:pt x="0" y="68"/>
                    </a:lnTo>
                    <a:lnTo>
                      <a:pt x="3" y="46"/>
                    </a:lnTo>
                    <a:lnTo>
                      <a:pt x="14" y="28"/>
                    </a:lnTo>
                    <a:lnTo>
                      <a:pt x="29" y="11"/>
                    </a:lnTo>
                    <a:lnTo>
                      <a:pt x="49" y="1"/>
                    </a:lnTo>
                    <a:lnTo>
                      <a:pt x="70" y="0"/>
                    </a:lnTo>
                    <a:close/>
                  </a:path>
                </a:pathLst>
              </a:custGeom>
              <a:solidFill>
                <a:schemeClr val="tx1">
                  <a:lumMod val="95000"/>
                  <a:lumOff val="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246">
                <a:extLst>
                  <a:ext uri="{FF2B5EF4-FFF2-40B4-BE49-F238E27FC236}">
                    <a16:creationId xmlns:a16="http://schemas.microsoft.com/office/drawing/2014/main" id="{267E1364-625E-4A56-93C2-C7532F584B44}"/>
                  </a:ext>
                </a:extLst>
              </p:cNvPr>
              <p:cNvSpPr>
                <a:spLocks noEditPoints="1"/>
              </p:cNvSpPr>
              <p:nvPr/>
            </p:nvSpPr>
            <p:spPr bwMode="auto">
              <a:xfrm flipH="1">
                <a:off x="9356767" y="2145788"/>
                <a:ext cx="606819" cy="1124707"/>
              </a:xfrm>
              <a:custGeom>
                <a:avLst/>
                <a:gdLst>
                  <a:gd name="T0" fmla="*/ 204 w 464"/>
                  <a:gd name="T1" fmla="*/ 350 h 860"/>
                  <a:gd name="T2" fmla="*/ 206 w 464"/>
                  <a:gd name="T3" fmla="*/ 358 h 860"/>
                  <a:gd name="T4" fmla="*/ 214 w 464"/>
                  <a:gd name="T5" fmla="*/ 355 h 860"/>
                  <a:gd name="T6" fmla="*/ 212 w 464"/>
                  <a:gd name="T7" fmla="*/ 347 h 860"/>
                  <a:gd name="T8" fmla="*/ 206 w 464"/>
                  <a:gd name="T9" fmla="*/ 320 h 860"/>
                  <a:gd name="T10" fmla="*/ 204 w 464"/>
                  <a:gd name="T11" fmla="*/ 329 h 860"/>
                  <a:gd name="T12" fmla="*/ 212 w 464"/>
                  <a:gd name="T13" fmla="*/ 330 h 860"/>
                  <a:gd name="T14" fmla="*/ 214 w 464"/>
                  <a:gd name="T15" fmla="*/ 322 h 860"/>
                  <a:gd name="T16" fmla="*/ 209 w 464"/>
                  <a:gd name="T17" fmla="*/ 291 h 860"/>
                  <a:gd name="T18" fmla="*/ 203 w 464"/>
                  <a:gd name="T19" fmla="*/ 297 h 860"/>
                  <a:gd name="T20" fmla="*/ 209 w 464"/>
                  <a:gd name="T21" fmla="*/ 304 h 860"/>
                  <a:gd name="T22" fmla="*/ 216 w 464"/>
                  <a:gd name="T23" fmla="*/ 297 h 860"/>
                  <a:gd name="T24" fmla="*/ 209 w 464"/>
                  <a:gd name="T25" fmla="*/ 291 h 860"/>
                  <a:gd name="T26" fmla="*/ 124 w 464"/>
                  <a:gd name="T27" fmla="*/ 13 h 860"/>
                  <a:gd name="T28" fmla="*/ 127 w 464"/>
                  <a:gd name="T29" fmla="*/ 44 h 860"/>
                  <a:gd name="T30" fmla="*/ 80 w 464"/>
                  <a:gd name="T31" fmla="*/ 175 h 860"/>
                  <a:gd name="T32" fmla="*/ 160 w 464"/>
                  <a:gd name="T33" fmla="*/ 190 h 860"/>
                  <a:gd name="T34" fmla="*/ 194 w 464"/>
                  <a:gd name="T35" fmla="*/ 239 h 860"/>
                  <a:gd name="T36" fmla="*/ 219 w 464"/>
                  <a:gd name="T37" fmla="*/ 263 h 860"/>
                  <a:gd name="T38" fmla="*/ 276 w 464"/>
                  <a:gd name="T39" fmla="*/ 203 h 860"/>
                  <a:gd name="T40" fmla="*/ 311 w 464"/>
                  <a:gd name="T41" fmla="*/ 214 h 860"/>
                  <a:gd name="T42" fmla="*/ 464 w 464"/>
                  <a:gd name="T43" fmla="*/ 379 h 860"/>
                  <a:gd name="T44" fmla="*/ 454 w 464"/>
                  <a:gd name="T45" fmla="*/ 407 h 860"/>
                  <a:gd name="T46" fmla="*/ 436 w 464"/>
                  <a:gd name="T47" fmla="*/ 417 h 860"/>
                  <a:gd name="T48" fmla="*/ 402 w 464"/>
                  <a:gd name="T49" fmla="*/ 405 h 860"/>
                  <a:gd name="T50" fmla="*/ 320 w 464"/>
                  <a:gd name="T51" fmla="*/ 324 h 860"/>
                  <a:gd name="T52" fmla="*/ 317 w 464"/>
                  <a:gd name="T53" fmla="*/ 332 h 860"/>
                  <a:gd name="T54" fmla="*/ 306 w 464"/>
                  <a:gd name="T55" fmla="*/ 845 h 860"/>
                  <a:gd name="T56" fmla="*/ 260 w 464"/>
                  <a:gd name="T57" fmla="*/ 858 h 860"/>
                  <a:gd name="T58" fmla="*/ 230 w 464"/>
                  <a:gd name="T59" fmla="*/ 824 h 860"/>
                  <a:gd name="T60" fmla="*/ 230 w 464"/>
                  <a:gd name="T61" fmla="*/ 531 h 860"/>
                  <a:gd name="T62" fmla="*/ 226 w 464"/>
                  <a:gd name="T63" fmla="*/ 515 h 860"/>
                  <a:gd name="T64" fmla="*/ 212 w 464"/>
                  <a:gd name="T65" fmla="*/ 512 h 860"/>
                  <a:gd name="T66" fmla="*/ 201 w 464"/>
                  <a:gd name="T67" fmla="*/ 521 h 860"/>
                  <a:gd name="T68" fmla="*/ 198 w 464"/>
                  <a:gd name="T69" fmla="*/ 536 h 860"/>
                  <a:gd name="T70" fmla="*/ 185 w 464"/>
                  <a:gd name="T71" fmla="*/ 852 h 860"/>
                  <a:gd name="T72" fmla="*/ 132 w 464"/>
                  <a:gd name="T73" fmla="*/ 853 h 860"/>
                  <a:gd name="T74" fmla="*/ 114 w 464"/>
                  <a:gd name="T75" fmla="*/ 804 h 860"/>
                  <a:gd name="T76" fmla="*/ 113 w 464"/>
                  <a:gd name="T77" fmla="*/ 258 h 860"/>
                  <a:gd name="T78" fmla="*/ 101 w 464"/>
                  <a:gd name="T79" fmla="*/ 252 h 860"/>
                  <a:gd name="T80" fmla="*/ 5 w 464"/>
                  <a:gd name="T81" fmla="*/ 214 h 860"/>
                  <a:gd name="T82" fmla="*/ 62 w 464"/>
                  <a:gd name="T83" fmla="*/ 24 h 860"/>
                  <a:gd name="T84" fmla="*/ 98 w 464"/>
                  <a:gd name="T85" fmla="*/ 0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4" h="860">
                    <a:moveTo>
                      <a:pt x="209" y="347"/>
                    </a:moveTo>
                    <a:lnTo>
                      <a:pt x="206" y="347"/>
                    </a:lnTo>
                    <a:lnTo>
                      <a:pt x="204" y="350"/>
                    </a:lnTo>
                    <a:lnTo>
                      <a:pt x="203" y="353"/>
                    </a:lnTo>
                    <a:lnTo>
                      <a:pt x="204" y="355"/>
                    </a:lnTo>
                    <a:lnTo>
                      <a:pt x="206" y="358"/>
                    </a:lnTo>
                    <a:lnTo>
                      <a:pt x="209" y="358"/>
                    </a:lnTo>
                    <a:lnTo>
                      <a:pt x="212" y="358"/>
                    </a:lnTo>
                    <a:lnTo>
                      <a:pt x="214" y="355"/>
                    </a:lnTo>
                    <a:lnTo>
                      <a:pt x="216" y="353"/>
                    </a:lnTo>
                    <a:lnTo>
                      <a:pt x="214" y="350"/>
                    </a:lnTo>
                    <a:lnTo>
                      <a:pt x="212" y="347"/>
                    </a:lnTo>
                    <a:lnTo>
                      <a:pt x="209" y="347"/>
                    </a:lnTo>
                    <a:close/>
                    <a:moveTo>
                      <a:pt x="209" y="319"/>
                    </a:moveTo>
                    <a:lnTo>
                      <a:pt x="206" y="320"/>
                    </a:lnTo>
                    <a:lnTo>
                      <a:pt x="204" y="322"/>
                    </a:lnTo>
                    <a:lnTo>
                      <a:pt x="203" y="325"/>
                    </a:lnTo>
                    <a:lnTo>
                      <a:pt x="204" y="329"/>
                    </a:lnTo>
                    <a:lnTo>
                      <a:pt x="206" y="330"/>
                    </a:lnTo>
                    <a:lnTo>
                      <a:pt x="209" y="332"/>
                    </a:lnTo>
                    <a:lnTo>
                      <a:pt x="212" y="330"/>
                    </a:lnTo>
                    <a:lnTo>
                      <a:pt x="214" y="329"/>
                    </a:lnTo>
                    <a:lnTo>
                      <a:pt x="216" y="325"/>
                    </a:lnTo>
                    <a:lnTo>
                      <a:pt x="214" y="322"/>
                    </a:lnTo>
                    <a:lnTo>
                      <a:pt x="212" y="320"/>
                    </a:lnTo>
                    <a:lnTo>
                      <a:pt x="209" y="319"/>
                    </a:lnTo>
                    <a:close/>
                    <a:moveTo>
                      <a:pt x="209" y="291"/>
                    </a:moveTo>
                    <a:lnTo>
                      <a:pt x="206" y="293"/>
                    </a:lnTo>
                    <a:lnTo>
                      <a:pt x="204" y="294"/>
                    </a:lnTo>
                    <a:lnTo>
                      <a:pt x="203" y="297"/>
                    </a:lnTo>
                    <a:lnTo>
                      <a:pt x="204" y="301"/>
                    </a:lnTo>
                    <a:lnTo>
                      <a:pt x="206" y="304"/>
                    </a:lnTo>
                    <a:lnTo>
                      <a:pt x="209" y="304"/>
                    </a:lnTo>
                    <a:lnTo>
                      <a:pt x="212" y="304"/>
                    </a:lnTo>
                    <a:lnTo>
                      <a:pt x="214" y="301"/>
                    </a:lnTo>
                    <a:lnTo>
                      <a:pt x="216" y="297"/>
                    </a:lnTo>
                    <a:lnTo>
                      <a:pt x="214" y="294"/>
                    </a:lnTo>
                    <a:lnTo>
                      <a:pt x="212" y="293"/>
                    </a:lnTo>
                    <a:lnTo>
                      <a:pt x="209" y="291"/>
                    </a:lnTo>
                    <a:close/>
                    <a:moveTo>
                      <a:pt x="98" y="0"/>
                    </a:moveTo>
                    <a:lnTo>
                      <a:pt x="113" y="3"/>
                    </a:lnTo>
                    <a:lnTo>
                      <a:pt x="124" y="13"/>
                    </a:lnTo>
                    <a:lnTo>
                      <a:pt x="129" y="26"/>
                    </a:lnTo>
                    <a:lnTo>
                      <a:pt x="129" y="34"/>
                    </a:lnTo>
                    <a:lnTo>
                      <a:pt x="127" y="44"/>
                    </a:lnTo>
                    <a:lnTo>
                      <a:pt x="126" y="52"/>
                    </a:lnTo>
                    <a:lnTo>
                      <a:pt x="103" y="113"/>
                    </a:lnTo>
                    <a:lnTo>
                      <a:pt x="80" y="175"/>
                    </a:lnTo>
                    <a:lnTo>
                      <a:pt x="114" y="181"/>
                    </a:lnTo>
                    <a:lnTo>
                      <a:pt x="147" y="186"/>
                    </a:lnTo>
                    <a:lnTo>
                      <a:pt x="160" y="190"/>
                    </a:lnTo>
                    <a:lnTo>
                      <a:pt x="170" y="198"/>
                    </a:lnTo>
                    <a:lnTo>
                      <a:pt x="178" y="208"/>
                    </a:lnTo>
                    <a:lnTo>
                      <a:pt x="194" y="239"/>
                    </a:lnTo>
                    <a:lnTo>
                      <a:pt x="212" y="270"/>
                    </a:lnTo>
                    <a:lnTo>
                      <a:pt x="216" y="266"/>
                    </a:lnTo>
                    <a:lnTo>
                      <a:pt x="219" y="263"/>
                    </a:lnTo>
                    <a:lnTo>
                      <a:pt x="268" y="208"/>
                    </a:lnTo>
                    <a:lnTo>
                      <a:pt x="273" y="204"/>
                    </a:lnTo>
                    <a:lnTo>
                      <a:pt x="276" y="203"/>
                    </a:lnTo>
                    <a:lnTo>
                      <a:pt x="281" y="201"/>
                    </a:lnTo>
                    <a:lnTo>
                      <a:pt x="297" y="204"/>
                    </a:lnTo>
                    <a:lnTo>
                      <a:pt x="311" y="214"/>
                    </a:lnTo>
                    <a:lnTo>
                      <a:pt x="451" y="355"/>
                    </a:lnTo>
                    <a:lnTo>
                      <a:pt x="459" y="366"/>
                    </a:lnTo>
                    <a:lnTo>
                      <a:pt x="464" y="379"/>
                    </a:lnTo>
                    <a:lnTo>
                      <a:pt x="461" y="394"/>
                    </a:lnTo>
                    <a:lnTo>
                      <a:pt x="459" y="400"/>
                    </a:lnTo>
                    <a:lnTo>
                      <a:pt x="454" y="407"/>
                    </a:lnTo>
                    <a:lnTo>
                      <a:pt x="449" y="412"/>
                    </a:lnTo>
                    <a:lnTo>
                      <a:pt x="443" y="415"/>
                    </a:lnTo>
                    <a:lnTo>
                      <a:pt x="436" y="417"/>
                    </a:lnTo>
                    <a:lnTo>
                      <a:pt x="423" y="418"/>
                    </a:lnTo>
                    <a:lnTo>
                      <a:pt x="412" y="414"/>
                    </a:lnTo>
                    <a:lnTo>
                      <a:pt x="402" y="405"/>
                    </a:lnTo>
                    <a:lnTo>
                      <a:pt x="325" y="327"/>
                    </a:lnTo>
                    <a:lnTo>
                      <a:pt x="322" y="325"/>
                    </a:lnTo>
                    <a:lnTo>
                      <a:pt x="320" y="324"/>
                    </a:lnTo>
                    <a:lnTo>
                      <a:pt x="317" y="320"/>
                    </a:lnTo>
                    <a:lnTo>
                      <a:pt x="317" y="327"/>
                    </a:lnTo>
                    <a:lnTo>
                      <a:pt x="317" y="332"/>
                    </a:lnTo>
                    <a:lnTo>
                      <a:pt x="315" y="812"/>
                    </a:lnTo>
                    <a:lnTo>
                      <a:pt x="314" y="830"/>
                    </a:lnTo>
                    <a:lnTo>
                      <a:pt x="306" y="845"/>
                    </a:lnTo>
                    <a:lnTo>
                      <a:pt x="294" y="855"/>
                    </a:lnTo>
                    <a:lnTo>
                      <a:pt x="276" y="860"/>
                    </a:lnTo>
                    <a:lnTo>
                      <a:pt x="260" y="858"/>
                    </a:lnTo>
                    <a:lnTo>
                      <a:pt x="247" y="852"/>
                    </a:lnTo>
                    <a:lnTo>
                      <a:pt x="237" y="840"/>
                    </a:lnTo>
                    <a:lnTo>
                      <a:pt x="230" y="824"/>
                    </a:lnTo>
                    <a:lnTo>
                      <a:pt x="230" y="817"/>
                    </a:lnTo>
                    <a:lnTo>
                      <a:pt x="230" y="809"/>
                    </a:lnTo>
                    <a:lnTo>
                      <a:pt x="230" y="531"/>
                    </a:lnTo>
                    <a:lnTo>
                      <a:pt x="229" y="523"/>
                    </a:lnTo>
                    <a:lnTo>
                      <a:pt x="229" y="518"/>
                    </a:lnTo>
                    <a:lnTo>
                      <a:pt x="226" y="515"/>
                    </a:lnTo>
                    <a:lnTo>
                      <a:pt x="222" y="513"/>
                    </a:lnTo>
                    <a:lnTo>
                      <a:pt x="217" y="512"/>
                    </a:lnTo>
                    <a:lnTo>
                      <a:pt x="212" y="512"/>
                    </a:lnTo>
                    <a:lnTo>
                      <a:pt x="208" y="513"/>
                    </a:lnTo>
                    <a:lnTo>
                      <a:pt x="203" y="517"/>
                    </a:lnTo>
                    <a:lnTo>
                      <a:pt x="201" y="521"/>
                    </a:lnTo>
                    <a:lnTo>
                      <a:pt x="199" y="526"/>
                    </a:lnTo>
                    <a:lnTo>
                      <a:pt x="198" y="531"/>
                    </a:lnTo>
                    <a:lnTo>
                      <a:pt x="198" y="536"/>
                    </a:lnTo>
                    <a:lnTo>
                      <a:pt x="198" y="816"/>
                    </a:lnTo>
                    <a:lnTo>
                      <a:pt x="194" y="837"/>
                    </a:lnTo>
                    <a:lnTo>
                      <a:pt x="185" y="852"/>
                    </a:lnTo>
                    <a:lnTo>
                      <a:pt x="168" y="860"/>
                    </a:lnTo>
                    <a:lnTo>
                      <a:pt x="149" y="860"/>
                    </a:lnTo>
                    <a:lnTo>
                      <a:pt x="132" y="853"/>
                    </a:lnTo>
                    <a:lnTo>
                      <a:pt x="119" y="840"/>
                    </a:lnTo>
                    <a:lnTo>
                      <a:pt x="114" y="821"/>
                    </a:lnTo>
                    <a:lnTo>
                      <a:pt x="114" y="804"/>
                    </a:lnTo>
                    <a:lnTo>
                      <a:pt x="114" y="270"/>
                    </a:lnTo>
                    <a:lnTo>
                      <a:pt x="114" y="263"/>
                    </a:lnTo>
                    <a:lnTo>
                      <a:pt x="113" y="258"/>
                    </a:lnTo>
                    <a:lnTo>
                      <a:pt x="109" y="255"/>
                    </a:lnTo>
                    <a:lnTo>
                      <a:pt x="106" y="253"/>
                    </a:lnTo>
                    <a:lnTo>
                      <a:pt x="101" y="252"/>
                    </a:lnTo>
                    <a:lnTo>
                      <a:pt x="29" y="232"/>
                    </a:lnTo>
                    <a:lnTo>
                      <a:pt x="13" y="224"/>
                    </a:lnTo>
                    <a:lnTo>
                      <a:pt x="5" y="214"/>
                    </a:lnTo>
                    <a:lnTo>
                      <a:pt x="0" y="199"/>
                    </a:lnTo>
                    <a:lnTo>
                      <a:pt x="3" y="183"/>
                    </a:lnTo>
                    <a:lnTo>
                      <a:pt x="62" y="24"/>
                    </a:lnTo>
                    <a:lnTo>
                      <a:pt x="72" y="10"/>
                    </a:lnTo>
                    <a:lnTo>
                      <a:pt x="83" y="2"/>
                    </a:lnTo>
                    <a:lnTo>
                      <a:pt x="98" y="0"/>
                    </a:lnTo>
                    <a:close/>
                  </a:path>
                </a:pathLst>
              </a:custGeom>
              <a:solidFill>
                <a:schemeClr val="tx1">
                  <a:lumMod val="95000"/>
                  <a:lumOff val="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61" name="TextBox 60">
            <a:extLst>
              <a:ext uri="{FF2B5EF4-FFF2-40B4-BE49-F238E27FC236}">
                <a16:creationId xmlns:a16="http://schemas.microsoft.com/office/drawing/2014/main" id="{D5F330A1-DFD6-4847-BBF3-2AAD76A019EC}"/>
              </a:ext>
            </a:extLst>
          </p:cNvPr>
          <p:cNvSpPr txBox="1"/>
          <p:nvPr/>
        </p:nvSpPr>
        <p:spPr>
          <a:xfrm>
            <a:off x="1949859" y="5055745"/>
            <a:ext cx="2104571" cy="584775"/>
          </a:xfrm>
          <a:prstGeom prst="rect">
            <a:avLst/>
          </a:prstGeom>
          <a:noFill/>
        </p:spPr>
        <p:txBody>
          <a:bodyPr wrap="square" rtlCol="0">
            <a:spAutoFit/>
          </a:bodyPr>
          <a:lstStyle/>
          <a:p>
            <a:pPr lvl="0" algn="ctr"/>
            <a:r>
              <a:rPr lang="en-US" sz="1600" b="1" dirty="0"/>
              <a:t>Large and Medium </a:t>
            </a:r>
            <a:r>
              <a:rPr lang="en-US" sz="1600" b="1" dirty="0">
                <a:solidFill>
                  <a:schemeClr val="accent3"/>
                </a:solidFill>
              </a:rPr>
              <a:t>Supermarkets</a:t>
            </a:r>
          </a:p>
        </p:txBody>
      </p:sp>
      <p:sp>
        <p:nvSpPr>
          <p:cNvPr id="63" name="TextBox 62">
            <a:extLst>
              <a:ext uri="{FF2B5EF4-FFF2-40B4-BE49-F238E27FC236}">
                <a16:creationId xmlns:a16="http://schemas.microsoft.com/office/drawing/2014/main" id="{D5F330A1-DFD6-4847-BBF3-2AAD76A019EC}"/>
              </a:ext>
            </a:extLst>
          </p:cNvPr>
          <p:cNvSpPr txBox="1"/>
          <p:nvPr/>
        </p:nvSpPr>
        <p:spPr>
          <a:xfrm>
            <a:off x="5212552" y="5055745"/>
            <a:ext cx="2669070" cy="830997"/>
          </a:xfrm>
          <a:prstGeom prst="rect">
            <a:avLst/>
          </a:prstGeom>
          <a:noFill/>
        </p:spPr>
        <p:txBody>
          <a:bodyPr wrap="square" rtlCol="0">
            <a:spAutoFit/>
          </a:bodyPr>
          <a:lstStyle/>
          <a:p>
            <a:pPr algn="ctr"/>
            <a:r>
              <a:rPr lang="en-US" sz="1600" b="1" dirty="0"/>
              <a:t>Wholesale Retailers and </a:t>
            </a:r>
            <a:r>
              <a:rPr lang="en-US" sz="1600" b="1" dirty="0">
                <a:solidFill>
                  <a:schemeClr val="accent2"/>
                </a:solidFill>
              </a:rPr>
              <a:t>Big Stores</a:t>
            </a:r>
          </a:p>
          <a:p>
            <a:pPr algn="ctr"/>
            <a:endPar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5" name="TextBox 64">
            <a:extLst>
              <a:ext uri="{FF2B5EF4-FFF2-40B4-BE49-F238E27FC236}">
                <a16:creationId xmlns:a16="http://schemas.microsoft.com/office/drawing/2014/main" id="{D5F330A1-DFD6-4847-BBF3-2AAD76A019EC}"/>
              </a:ext>
            </a:extLst>
          </p:cNvPr>
          <p:cNvSpPr txBox="1"/>
          <p:nvPr/>
        </p:nvSpPr>
        <p:spPr>
          <a:xfrm>
            <a:off x="8569335" y="5055745"/>
            <a:ext cx="1987540" cy="584775"/>
          </a:xfrm>
          <a:prstGeom prst="rect">
            <a:avLst/>
          </a:prstGeom>
          <a:noFill/>
        </p:spPr>
        <p:txBody>
          <a:bodyPr wrap="square" rtlCol="0">
            <a:spAutoFit/>
          </a:bodyPr>
          <a:lstStyle/>
          <a:p>
            <a:pPr lvl="0" algn="ctr"/>
            <a:r>
              <a:rPr lang="en-US" sz="1600" b="1" dirty="0"/>
              <a:t>New Retail Stores  in </a:t>
            </a:r>
            <a:r>
              <a:rPr lang="en-US" sz="1600" b="1" dirty="0">
                <a:solidFill>
                  <a:schemeClr val="accent4"/>
                </a:solidFill>
              </a:rPr>
              <a:t>Cities</a:t>
            </a:r>
          </a:p>
        </p:txBody>
      </p:sp>
      <p:sp>
        <p:nvSpPr>
          <p:cNvPr id="56" name="TextBox 55">
            <a:extLst>
              <a:ext uri="{FF2B5EF4-FFF2-40B4-BE49-F238E27FC236}">
                <a16:creationId xmlns:a16="http://schemas.microsoft.com/office/drawing/2014/main" id="{98C3B736-F50D-441B-A694-B0D70E3638FA}"/>
              </a:ext>
            </a:extLst>
          </p:cNvPr>
          <p:cNvSpPr txBox="1"/>
          <p:nvPr/>
        </p:nvSpPr>
        <p:spPr>
          <a:xfrm>
            <a:off x="2394970" y="722902"/>
            <a:ext cx="7402059" cy="646313"/>
          </a:xfrm>
          <a:prstGeom prst="rect">
            <a:avLst/>
          </a:prstGeom>
          <a:noFill/>
        </p:spPr>
        <p:txBody>
          <a:bodyPr wrap="square" lIns="91422" tIns="45711" rIns="91422" bIns="45711" rtlCol="0">
            <a:spAutoFit/>
          </a:bodyPr>
          <a:lstStyle/>
          <a:p>
            <a:pPr algn="ctr"/>
            <a:r>
              <a:rPr lang="en-US" sz="3600" b="1" spc="300" dirty="0">
                <a:solidFill>
                  <a:schemeClr val="tx1">
                    <a:lumMod val="95000"/>
                    <a:lumOff val="5000"/>
                  </a:schemeClr>
                </a:solidFill>
                <a:latin typeface="Poppins" panose="00000500000000000000" pitchFamily="2" charset="0"/>
                <a:cs typeface="Poppins" panose="00000500000000000000" pitchFamily="2" charset="0"/>
              </a:rPr>
              <a:t>TARGET </a:t>
            </a:r>
            <a:r>
              <a:rPr lang="en-US" sz="3600" b="1" spc="300" dirty="0">
                <a:solidFill>
                  <a:schemeClr val="accent3"/>
                </a:solidFill>
                <a:latin typeface="Poppins" panose="00000500000000000000" pitchFamily="2" charset="0"/>
                <a:cs typeface="Poppins" panose="00000500000000000000" pitchFamily="2" charset="0"/>
              </a:rPr>
              <a:t>CUSTOMER</a:t>
            </a:r>
          </a:p>
        </p:txBody>
      </p:sp>
    </p:spTree>
    <p:extLst>
      <p:ext uri="{BB962C8B-B14F-4D97-AF65-F5344CB8AC3E}">
        <p14:creationId xmlns:p14="http://schemas.microsoft.com/office/powerpoint/2010/main" val="283879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ppt_x"/>
                                          </p:val>
                                        </p:tav>
                                        <p:tav tm="100000">
                                          <p:val>
                                            <p:strVal val="#ppt_x"/>
                                          </p:val>
                                        </p:tav>
                                      </p:tavLst>
                                    </p:anim>
                                    <p:anim calcmode="lin" valueType="num">
                                      <p:cBhvr additive="base">
                                        <p:cTn id="1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anim calcmode="lin" valueType="num">
                                      <p:cBhvr additive="base">
                                        <p:cTn id="19" dur="500" fill="hold"/>
                                        <p:tgtEl>
                                          <p:spTgt spid="55"/>
                                        </p:tgtEl>
                                        <p:attrNameLst>
                                          <p:attrName>ppt_x</p:attrName>
                                        </p:attrNameLst>
                                      </p:cBhvr>
                                      <p:tavLst>
                                        <p:tav tm="0">
                                          <p:val>
                                            <p:strVal val="#ppt_x"/>
                                          </p:val>
                                        </p:tav>
                                        <p:tav tm="100000">
                                          <p:val>
                                            <p:strVal val="#ppt_x"/>
                                          </p:val>
                                        </p:tav>
                                      </p:tavLst>
                                    </p:anim>
                                    <p:anim calcmode="lin" valueType="num">
                                      <p:cBhvr additive="base">
                                        <p:cTn id="20"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anim calcmode="lin" valueType="num">
                                      <p:cBhvr additive="base">
                                        <p:cTn id="25" dur="500" fill="hold"/>
                                        <p:tgtEl>
                                          <p:spTgt spid="63"/>
                                        </p:tgtEl>
                                        <p:attrNameLst>
                                          <p:attrName>ppt_x</p:attrName>
                                        </p:attrNameLst>
                                      </p:cBhvr>
                                      <p:tavLst>
                                        <p:tav tm="0">
                                          <p:val>
                                            <p:strVal val="#ppt_x"/>
                                          </p:val>
                                        </p:tav>
                                        <p:tav tm="100000">
                                          <p:val>
                                            <p:strVal val="#ppt_x"/>
                                          </p:val>
                                        </p:tav>
                                      </p:tavLst>
                                    </p:anim>
                                    <p:anim calcmode="lin" valueType="num">
                                      <p:cBhvr additive="base">
                                        <p:cTn id="26"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5"/>
                                        </p:tgtEl>
                                        <p:attrNameLst>
                                          <p:attrName>style.visibility</p:attrName>
                                        </p:attrNameLst>
                                      </p:cBhvr>
                                      <p:to>
                                        <p:strVal val="visible"/>
                                      </p:to>
                                    </p:set>
                                    <p:anim calcmode="lin" valueType="num">
                                      <p:cBhvr additive="base">
                                        <p:cTn id="37" dur="500" fill="hold"/>
                                        <p:tgtEl>
                                          <p:spTgt spid="65"/>
                                        </p:tgtEl>
                                        <p:attrNameLst>
                                          <p:attrName>ppt_x</p:attrName>
                                        </p:attrNameLst>
                                      </p:cBhvr>
                                      <p:tavLst>
                                        <p:tav tm="0">
                                          <p:val>
                                            <p:strVal val="#ppt_x"/>
                                          </p:val>
                                        </p:tav>
                                        <p:tav tm="100000">
                                          <p:val>
                                            <p:strVal val="#ppt_x"/>
                                          </p:val>
                                        </p:tav>
                                      </p:tavLst>
                                    </p:anim>
                                    <p:anim calcmode="lin" valueType="num">
                                      <p:cBhvr additive="base">
                                        <p:cTn id="38"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3" grpId="0"/>
      <p:bldP spid="6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76E7635-632B-4A62-A2D0-118CE8EBFE46}"/>
              </a:ext>
            </a:extLst>
          </p:cNvPr>
          <p:cNvSpPr/>
          <p:nvPr/>
        </p:nvSpPr>
        <p:spPr>
          <a:xfrm>
            <a:off x="4081857" y="5570052"/>
            <a:ext cx="2838679" cy="1569660"/>
          </a:xfrm>
          <a:prstGeom prst="rect">
            <a:avLst/>
          </a:prstGeom>
        </p:spPr>
        <p:txBody>
          <a:bodyPr wrap="square" anchor="b">
            <a:spAutoFit/>
          </a:bodyPr>
          <a:lstStyle/>
          <a:p>
            <a:pPr algn="ctr"/>
            <a:r>
              <a:rPr lang="en-US" sz="3200" b="1" dirty="0" err="1"/>
              <a:t>Rafiul</a:t>
            </a:r>
            <a:r>
              <a:rPr lang="en-US" sz="3200" b="1" dirty="0"/>
              <a:t> Islam</a:t>
            </a:r>
          </a:p>
          <a:p>
            <a:pPr algn="ctr"/>
            <a:r>
              <a:rPr lang="en-US" sz="3200" b="1" dirty="0"/>
              <a:t>2005004</a:t>
            </a:r>
          </a:p>
          <a:p>
            <a:pPr algn="ctr"/>
            <a:endParaRPr lang="en-US" sz="1600" b="1" dirty="0"/>
          </a:p>
          <a:p>
            <a:pPr algn="ctr"/>
            <a:endParaRPr lang="en-US" sz="1600" b="1" dirty="0">
              <a:solidFill>
                <a:schemeClr val="bg1"/>
              </a:solidFill>
              <a:latin typeface="Open Sans" panose="020B0606030504020204" pitchFamily="34" charset="0"/>
            </a:endParaRPr>
          </a:p>
        </p:txBody>
      </p:sp>
      <p:pic>
        <p:nvPicPr>
          <p:cNvPr id="2" name="Picture 1">
            <a:extLst>
              <a:ext uri="{FF2B5EF4-FFF2-40B4-BE49-F238E27FC236}">
                <a16:creationId xmlns:a16="http://schemas.microsoft.com/office/drawing/2014/main" id="{3F4E3167-1240-D9C9-5FDD-FE33C795866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2500" b="12500"/>
          <a:stretch/>
        </p:blipFill>
        <p:spPr>
          <a:xfrm>
            <a:off x="4232896" y="2248621"/>
            <a:ext cx="2536602" cy="2536602"/>
          </a:xfrm>
          <a:prstGeom prst="ellipse">
            <a:avLst/>
          </a:prstGeom>
          <a:ln w="38100">
            <a:solidFill>
              <a:schemeClr val="accent2"/>
            </a:solidFill>
          </a:ln>
        </p:spPr>
      </p:pic>
      <p:sp>
        <p:nvSpPr>
          <p:cNvPr id="4" name="Rectangle 3">
            <a:extLst>
              <a:ext uri="{FF2B5EF4-FFF2-40B4-BE49-F238E27FC236}">
                <a16:creationId xmlns:a16="http://schemas.microsoft.com/office/drawing/2014/main" id="{9413A159-022A-B0EE-8A8C-EFD28F60B90C}"/>
              </a:ext>
            </a:extLst>
          </p:cNvPr>
          <p:cNvSpPr/>
          <p:nvPr/>
        </p:nvSpPr>
        <p:spPr>
          <a:xfrm>
            <a:off x="1738783" y="503118"/>
            <a:ext cx="8459575" cy="1569660"/>
          </a:xfrm>
          <a:prstGeom prst="rect">
            <a:avLst/>
          </a:prstGeom>
          <a:noFill/>
        </p:spPr>
        <p:txBody>
          <a:bodyPr wrap="square" lIns="91440" tIns="45720" rIns="91440" bIns="45720">
            <a:spAutoFit/>
          </a:bodyPr>
          <a:lstStyle/>
          <a:p>
            <a:pPr algn="ct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Data </a:t>
            </a:r>
            <a:r>
              <a:rPr lang="en-US" sz="3200" b="1" cap="none" spc="0" dirty="0">
                <a:ln w="9525">
                  <a:solidFill>
                    <a:schemeClr val="bg1"/>
                  </a:solidFill>
                  <a:prstDash val="solid"/>
                </a:ln>
                <a:solidFill>
                  <a:schemeClr val="accent3"/>
                </a:solidFill>
                <a:effectLst>
                  <a:outerShdw blurRad="12700" dist="38100" dir="2700000" algn="tl" rotWithShape="0">
                    <a:schemeClr val="bg1">
                      <a:lumMod val="50000"/>
                    </a:schemeClr>
                  </a:outerShdw>
                </a:effectLst>
              </a:rPr>
              <a:t>Analysis</a:t>
            </a:r>
          </a:p>
          <a:p>
            <a:pPr algn="ct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Objective Tree, </a:t>
            </a:r>
            <a:r>
              <a:rPr lang="en-US" sz="3200" b="1" cap="none" spc="0" dirty="0">
                <a:ln w="9525">
                  <a:solidFill>
                    <a:schemeClr val="bg1"/>
                  </a:solidFill>
                  <a:prstDash val="solid"/>
                </a:ln>
                <a:solidFill>
                  <a:schemeClr val="accent1">
                    <a:lumMod val="75000"/>
                  </a:schemeClr>
                </a:solidFill>
                <a:effectLst>
                  <a:outerShdw blurRad="12700" dist="38100" dir="2700000" algn="tl" rotWithShape="0">
                    <a:schemeClr val="bg1">
                      <a:lumMod val="50000"/>
                    </a:schemeClr>
                  </a:outerShdw>
                </a:effectLst>
              </a:rPr>
              <a:t>Kano Model</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rPr>
              <a:t>Function Tree</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a:ln w="9525">
                  <a:solidFill>
                    <a:schemeClr val="bg1"/>
                  </a:solidFill>
                  <a:prstDash val="solid"/>
                </a:ln>
                <a:solidFill>
                  <a:schemeClr val="accent3"/>
                </a:solidFill>
                <a:effectLst>
                  <a:outerShdw blurRad="12700" dist="38100" dir="2700000" algn="tl" rotWithShape="0">
                    <a:schemeClr val="bg1">
                      <a:lumMod val="50000"/>
                    </a:schemeClr>
                  </a:outerShdw>
                </a:effectLst>
              </a:rPr>
              <a:t>Function Tree Diagram</a:t>
            </a:r>
          </a:p>
        </p:txBody>
      </p:sp>
      <p:sp>
        <p:nvSpPr>
          <p:cNvPr id="3" name="Rectangle 2">
            <a:extLst>
              <a:ext uri="{FF2B5EF4-FFF2-40B4-BE49-F238E27FC236}">
                <a16:creationId xmlns:a16="http://schemas.microsoft.com/office/drawing/2014/main" id="{8B67DD30-9133-FE4E-66FE-26D0921A9D97}"/>
              </a:ext>
            </a:extLst>
          </p:cNvPr>
          <p:cNvSpPr/>
          <p:nvPr/>
        </p:nvSpPr>
        <p:spPr>
          <a:xfrm rot="19289892">
            <a:off x="-1387949" y="-450449"/>
            <a:ext cx="4025830" cy="151476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83786D6-2187-7F6C-9E26-DDE0C50D37D4}"/>
              </a:ext>
            </a:extLst>
          </p:cNvPr>
          <p:cNvSpPr txBox="1"/>
          <p:nvPr/>
        </p:nvSpPr>
        <p:spPr>
          <a:xfrm>
            <a:off x="4392701" y="4961066"/>
            <a:ext cx="2216989" cy="461665"/>
          </a:xfrm>
          <a:prstGeom prst="rect">
            <a:avLst/>
          </a:prstGeom>
          <a:noFill/>
        </p:spPr>
        <p:txBody>
          <a:bodyPr wrap="square" rtlCol="0">
            <a:spAutoFit/>
          </a:bodyPr>
          <a:lstStyle/>
          <a:p>
            <a:r>
              <a:rPr lang="en-US" sz="2400" b="1" dirty="0"/>
              <a:t>Presented By</a:t>
            </a:r>
          </a:p>
        </p:txBody>
      </p:sp>
    </p:spTree>
    <p:extLst>
      <p:ext uri="{BB962C8B-B14F-4D97-AF65-F5344CB8AC3E}">
        <p14:creationId xmlns:p14="http://schemas.microsoft.com/office/powerpoint/2010/main" val="3425540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E852666B-48E1-B65C-88D6-03336418C229}"/>
              </a:ext>
            </a:extLst>
          </p:cNvPr>
          <p:cNvGrpSpPr/>
          <p:nvPr/>
        </p:nvGrpSpPr>
        <p:grpSpPr>
          <a:xfrm>
            <a:off x="103004" y="1276168"/>
            <a:ext cx="5865090" cy="3761196"/>
            <a:chOff x="1915475" y="761818"/>
            <a:chExt cx="6189806" cy="3690476"/>
          </a:xfrm>
        </p:grpSpPr>
        <p:cxnSp>
          <p:nvCxnSpPr>
            <p:cNvPr id="17" name="Straight Connector 16">
              <a:extLst>
                <a:ext uri="{FF2B5EF4-FFF2-40B4-BE49-F238E27FC236}">
                  <a16:creationId xmlns:a16="http://schemas.microsoft.com/office/drawing/2014/main" id="{9974A39D-3B19-12D6-9009-4C43259C151D}"/>
                </a:ext>
              </a:extLst>
            </p:cNvPr>
            <p:cNvCxnSpPr>
              <a:cxnSpLocks/>
            </p:cNvCxnSpPr>
            <p:nvPr/>
          </p:nvCxnSpPr>
          <p:spPr>
            <a:xfrm flipV="1">
              <a:off x="2404068" y="946476"/>
              <a:ext cx="5701213" cy="8"/>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9E7789C0-5A8C-7EE2-1101-489A2338F357}"/>
                </a:ext>
              </a:extLst>
            </p:cNvPr>
            <p:cNvCxnSpPr>
              <a:cxnSpLocks/>
            </p:cNvCxnSpPr>
            <p:nvPr/>
          </p:nvCxnSpPr>
          <p:spPr>
            <a:xfrm>
              <a:off x="2446420" y="1824137"/>
              <a:ext cx="5658860"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3E39A95E-1EE6-D7E9-507D-D780FB9BE0CB}"/>
                </a:ext>
              </a:extLst>
            </p:cNvPr>
            <p:cNvCxnSpPr>
              <a:cxnSpLocks/>
            </p:cNvCxnSpPr>
            <p:nvPr/>
          </p:nvCxnSpPr>
          <p:spPr>
            <a:xfrm>
              <a:off x="2404067" y="2746554"/>
              <a:ext cx="5701213" cy="0"/>
            </a:xfrm>
            <a:prstGeom prst="line">
              <a:avLst/>
            </a:prstGeom>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4FAE5DB8-C933-9FDE-6BBB-19B1C4A344AD}"/>
                </a:ext>
              </a:extLst>
            </p:cNvPr>
            <p:cNvSpPr/>
            <p:nvPr/>
          </p:nvSpPr>
          <p:spPr>
            <a:xfrm>
              <a:off x="2413934" y="946476"/>
              <a:ext cx="745958" cy="2671003"/>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355FE1AB-0957-0B01-D042-71EFFD06EBB2}"/>
                </a:ext>
              </a:extLst>
            </p:cNvPr>
            <p:cNvSpPr/>
            <p:nvPr/>
          </p:nvSpPr>
          <p:spPr>
            <a:xfrm>
              <a:off x="3840444" y="2376748"/>
              <a:ext cx="745958" cy="1246613"/>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F59DDA84-CA88-80FC-DB0A-66C226FE4D18}"/>
                </a:ext>
              </a:extLst>
            </p:cNvPr>
            <p:cNvSpPr/>
            <p:nvPr/>
          </p:nvSpPr>
          <p:spPr>
            <a:xfrm>
              <a:off x="5266954" y="2425089"/>
              <a:ext cx="745958" cy="119046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701FC231-13DF-9C30-DF4D-9F1E58C09A87}"/>
                </a:ext>
              </a:extLst>
            </p:cNvPr>
            <p:cNvCxnSpPr>
              <a:cxnSpLocks/>
            </p:cNvCxnSpPr>
            <p:nvPr/>
          </p:nvCxnSpPr>
          <p:spPr>
            <a:xfrm flipV="1">
              <a:off x="2404067" y="3615555"/>
              <a:ext cx="5701213" cy="7806"/>
            </a:xfrm>
            <a:prstGeom prst="line">
              <a:avLst/>
            </a:prstGeom>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E20483A2-51AF-4307-5F99-29442697544B}"/>
                </a:ext>
              </a:extLst>
            </p:cNvPr>
            <p:cNvSpPr/>
            <p:nvPr/>
          </p:nvSpPr>
          <p:spPr>
            <a:xfrm>
              <a:off x="6693464" y="3086902"/>
              <a:ext cx="745958" cy="532739"/>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48A476A-D7F7-53F2-438F-880DE38399DF}"/>
                </a:ext>
              </a:extLst>
            </p:cNvPr>
            <p:cNvSpPr txBox="1"/>
            <p:nvPr/>
          </p:nvSpPr>
          <p:spPr>
            <a:xfrm>
              <a:off x="5195855" y="3733263"/>
              <a:ext cx="937436" cy="52322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Variety Of</a:t>
              </a:r>
            </a:p>
            <a:p>
              <a:r>
                <a:rPr lang="en-US" sz="1400" dirty="0">
                  <a:latin typeface="Times New Roman" panose="02020603050405020304" pitchFamily="18" charset="0"/>
                  <a:cs typeface="Times New Roman" panose="02020603050405020304" pitchFamily="18" charset="0"/>
                </a:rPr>
                <a:t> Products</a:t>
              </a:r>
            </a:p>
          </p:txBody>
        </p:sp>
        <p:sp>
          <p:nvSpPr>
            <p:cNvPr id="26" name="TextBox 25">
              <a:extLst>
                <a:ext uri="{FF2B5EF4-FFF2-40B4-BE49-F238E27FC236}">
                  <a16:creationId xmlns:a16="http://schemas.microsoft.com/office/drawing/2014/main" id="{29445B55-B0E4-0ADD-CC55-51BB7A5325C2}"/>
                </a:ext>
              </a:extLst>
            </p:cNvPr>
            <p:cNvSpPr txBox="1"/>
            <p:nvPr/>
          </p:nvSpPr>
          <p:spPr>
            <a:xfrm>
              <a:off x="2194579" y="3713630"/>
              <a:ext cx="1651158" cy="73866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Well Organized </a:t>
              </a:r>
            </a:p>
            <a:p>
              <a:r>
                <a:rPr lang="en-US" sz="1400" dirty="0">
                  <a:latin typeface="Times New Roman" panose="02020603050405020304" pitchFamily="18" charset="0"/>
                  <a:cs typeface="Times New Roman" panose="02020603050405020304" pitchFamily="18" charset="0"/>
                </a:rPr>
                <a:t>And Easy To </a:t>
              </a:r>
            </a:p>
            <a:p>
              <a:r>
                <a:rPr lang="en-US" sz="1400" dirty="0">
                  <a:latin typeface="Times New Roman" panose="02020603050405020304" pitchFamily="18" charset="0"/>
                  <a:cs typeface="Times New Roman" panose="02020603050405020304" pitchFamily="18" charset="0"/>
                </a:rPr>
                <a:t>Find Products</a:t>
              </a:r>
            </a:p>
          </p:txBody>
        </p:sp>
        <p:sp>
          <p:nvSpPr>
            <p:cNvPr id="27" name="TextBox 26">
              <a:extLst>
                <a:ext uri="{FF2B5EF4-FFF2-40B4-BE49-F238E27FC236}">
                  <a16:creationId xmlns:a16="http://schemas.microsoft.com/office/drawing/2014/main" id="{BBBB38CB-49E4-77FD-D954-C747B284BC6B}"/>
                </a:ext>
              </a:extLst>
            </p:cNvPr>
            <p:cNvSpPr txBox="1"/>
            <p:nvPr/>
          </p:nvSpPr>
          <p:spPr>
            <a:xfrm>
              <a:off x="3778944" y="3733263"/>
              <a:ext cx="1244187"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No Bargaining</a:t>
              </a:r>
            </a:p>
          </p:txBody>
        </p:sp>
        <p:sp>
          <p:nvSpPr>
            <p:cNvPr id="28" name="TextBox 27">
              <a:extLst>
                <a:ext uri="{FF2B5EF4-FFF2-40B4-BE49-F238E27FC236}">
                  <a16:creationId xmlns:a16="http://schemas.microsoft.com/office/drawing/2014/main" id="{ABA626A5-1DE0-DDB4-5BAE-303319AF988A}"/>
                </a:ext>
              </a:extLst>
            </p:cNvPr>
            <p:cNvSpPr txBox="1"/>
            <p:nvPr/>
          </p:nvSpPr>
          <p:spPr>
            <a:xfrm>
              <a:off x="6607496" y="3713630"/>
              <a:ext cx="1244251" cy="52322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Near Home </a:t>
              </a:r>
            </a:p>
            <a:p>
              <a:r>
                <a:rPr lang="en-US" sz="1400" dirty="0">
                  <a:latin typeface="Times New Roman" panose="02020603050405020304" pitchFamily="18" charset="0"/>
                  <a:cs typeface="Times New Roman" panose="02020603050405020304" pitchFamily="18" charset="0"/>
                </a:rPr>
                <a:t>Or Work Place</a:t>
              </a:r>
            </a:p>
          </p:txBody>
        </p:sp>
        <p:sp>
          <p:nvSpPr>
            <p:cNvPr id="29" name="TextBox 28">
              <a:extLst>
                <a:ext uri="{FF2B5EF4-FFF2-40B4-BE49-F238E27FC236}">
                  <a16:creationId xmlns:a16="http://schemas.microsoft.com/office/drawing/2014/main" id="{634362BB-6E8E-A59D-597E-B33F72DD91BB}"/>
                </a:ext>
              </a:extLst>
            </p:cNvPr>
            <p:cNvSpPr txBox="1"/>
            <p:nvPr/>
          </p:nvSpPr>
          <p:spPr>
            <a:xfrm>
              <a:off x="1915475" y="761818"/>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60</a:t>
              </a:r>
            </a:p>
          </p:txBody>
        </p:sp>
        <p:sp>
          <p:nvSpPr>
            <p:cNvPr id="30" name="TextBox 29">
              <a:extLst>
                <a:ext uri="{FF2B5EF4-FFF2-40B4-BE49-F238E27FC236}">
                  <a16:creationId xmlns:a16="http://schemas.microsoft.com/office/drawing/2014/main" id="{5F21FC4C-46DF-F0B0-A929-BC876BBB9D00}"/>
                </a:ext>
              </a:extLst>
            </p:cNvPr>
            <p:cNvSpPr txBox="1"/>
            <p:nvPr/>
          </p:nvSpPr>
          <p:spPr>
            <a:xfrm>
              <a:off x="1915475" y="1596633"/>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40</a:t>
              </a:r>
            </a:p>
          </p:txBody>
        </p:sp>
        <p:sp>
          <p:nvSpPr>
            <p:cNvPr id="31" name="TextBox 30">
              <a:extLst>
                <a:ext uri="{FF2B5EF4-FFF2-40B4-BE49-F238E27FC236}">
                  <a16:creationId xmlns:a16="http://schemas.microsoft.com/office/drawing/2014/main" id="{FD182857-1465-99EE-0269-9DF8A0250A56}"/>
                </a:ext>
              </a:extLst>
            </p:cNvPr>
            <p:cNvSpPr txBox="1"/>
            <p:nvPr/>
          </p:nvSpPr>
          <p:spPr>
            <a:xfrm>
              <a:off x="1963575" y="2561888"/>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20</a:t>
              </a:r>
            </a:p>
          </p:txBody>
        </p:sp>
        <p:sp>
          <p:nvSpPr>
            <p:cNvPr id="32" name="TextBox 31">
              <a:extLst>
                <a:ext uri="{FF2B5EF4-FFF2-40B4-BE49-F238E27FC236}">
                  <a16:creationId xmlns:a16="http://schemas.microsoft.com/office/drawing/2014/main" id="{75D742C6-E0D5-B65B-A941-7F1ADAF804AE}"/>
                </a:ext>
              </a:extLst>
            </p:cNvPr>
            <p:cNvSpPr txBox="1"/>
            <p:nvPr/>
          </p:nvSpPr>
          <p:spPr>
            <a:xfrm>
              <a:off x="2039657" y="3396703"/>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0</a:t>
              </a:r>
            </a:p>
          </p:txBody>
        </p:sp>
      </p:grpSp>
      <p:grpSp>
        <p:nvGrpSpPr>
          <p:cNvPr id="2" name="Group 1">
            <a:extLst>
              <a:ext uri="{FF2B5EF4-FFF2-40B4-BE49-F238E27FC236}">
                <a16:creationId xmlns:a16="http://schemas.microsoft.com/office/drawing/2014/main" id="{5040972B-C8C6-0498-01EF-8EDF2407BFDC}"/>
              </a:ext>
            </a:extLst>
          </p:cNvPr>
          <p:cNvGrpSpPr/>
          <p:nvPr/>
        </p:nvGrpSpPr>
        <p:grpSpPr>
          <a:xfrm>
            <a:off x="6582466" y="1276168"/>
            <a:ext cx="4890584" cy="3095837"/>
            <a:chOff x="6582466" y="1276168"/>
            <a:chExt cx="4890584" cy="3095837"/>
          </a:xfrm>
        </p:grpSpPr>
        <p:grpSp>
          <p:nvGrpSpPr>
            <p:cNvPr id="39" name="Group 38">
              <a:extLst>
                <a:ext uri="{FF2B5EF4-FFF2-40B4-BE49-F238E27FC236}">
                  <a16:creationId xmlns:a16="http://schemas.microsoft.com/office/drawing/2014/main" id="{68883346-5044-C92B-607A-B731F93A9619}"/>
                </a:ext>
              </a:extLst>
            </p:cNvPr>
            <p:cNvGrpSpPr/>
            <p:nvPr/>
          </p:nvGrpSpPr>
          <p:grpSpPr>
            <a:xfrm>
              <a:off x="7533569" y="1276168"/>
              <a:ext cx="3116640" cy="3095837"/>
              <a:chOff x="2382099" y="506705"/>
              <a:chExt cx="2999232" cy="2999233"/>
            </a:xfrm>
          </p:grpSpPr>
          <p:sp>
            <p:nvSpPr>
              <p:cNvPr id="40" name="Block Arc 39">
                <a:extLst>
                  <a:ext uri="{FF2B5EF4-FFF2-40B4-BE49-F238E27FC236}">
                    <a16:creationId xmlns:a16="http://schemas.microsoft.com/office/drawing/2014/main" id="{30E7145D-E1CC-C9A8-D81F-D76BD73ACDF6}"/>
                  </a:ext>
                </a:extLst>
              </p:cNvPr>
              <p:cNvSpPr/>
              <p:nvPr/>
            </p:nvSpPr>
            <p:spPr>
              <a:xfrm>
                <a:off x="2382099" y="506706"/>
                <a:ext cx="2999232" cy="2999232"/>
              </a:xfrm>
              <a:prstGeom prst="blockArc">
                <a:avLst>
                  <a:gd name="adj1" fmla="val 8315563"/>
                  <a:gd name="adj2" fmla="val 18512560"/>
                  <a:gd name="adj3" fmla="val 15508"/>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Block Arc 40">
                <a:extLst>
                  <a:ext uri="{FF2B5EF4-FFF2-40B4-BE49-F238E27FC236}">
                    <a16:creationId xmlns:a16="http://schemas.microsoft.com/office/drawing/2014/main" id="{56D38329-DBC7-8D1C-4C47-FD90CD9C1232}"/>
                  </a:ext>
                </a:extLst>
              </p:cNvPr>
              <p:cNvSpPr/>
              <p:nvPr/>
            </p:nvSpPr>
            <p:spPr>
              <a:xfrm rot="6771080">
                <a:off x="2382099" y="506705"/>
                <a:ext cx="2999232" cy="2999232"/>
              </a:xfrm>
              <a:prstGeom prst="blockArc">
                <a:avLst>
                  <a:gd name="adj1" fmla="val 10987501"/>
                  <a:gd name="adj2" fmla="val 1604013"/>
                  <a:gd name="adj3" fmla="val 1568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2" name="TextBox 41">
              <a:extLst>
                <a:ext uri="{FF2B5EF4-FFF2-40B4-BE49-F238E27FC236}">
                  <a16:creationId xmlns:a16="http://schemas.microsoft.com/office/drawing/2014/main" id="{1C06F1AD-0980-E46C-D069-DAAF422916B1}"/>
                </a:ext>
              </a:extLst>
            </p:cNvPr>
            <p:cNvSpPr txBox="1"/>
            <p:nvPr/>
          </p:nvSpPr>
          <p:spPr>
            <a:xfrm rot="5814011">
              <a:off x="9973625" y="2864895"/>
              <a:ext cx="754668" cy="369332"/>
            </a:xfrm>
            <a:prstGeom prst="rect">
              <a:avLst/>
            </a:prstGeom>
            <a:noFill/>
          </p:spPr>
          <p:txBody>
            <a:bodyPr wrap="square" rtlCol="0">
              <a:spAutoFit/>
            </a:bodyPr>
            <a:lstStyle/>
            <a:p>
              <a:r>
                <a:rPr lang="en-US" dirty="0"/>
                <a:t>54%</a:t>
              </a:r>
            </a:p>
          </p:txBody>
        </p:sp>
        <p:sp>
          <p:nvSpPr>
            <p:cNvPr id="43" name="TextBox 42">
              <a:extLst>
                <a:ext uri="{FF2B5EF4-FFF2-40B4-BE49-F238E27FC236}">
                  <a16:creationId xmlns:a16="http://schemas.microsoft.com/office/drawing/2014/main" id="{547C7352-57EC-86D2-F7B1-64AB563DA1B5}"/>
                </a:ext>
              </a:extLst>
            </p:cNvPr>
            <p:cNvSpPr txBox="1"/>
            <p:nvPr/>
          </p:nvSpPr>
          <p:spPr>
            <a:xfrm rot="5882959">
              <a:off x="7336250" y="2473988"/>
              <a:ext cx="782973" cy="383790"/>
            </a:xfrm>
            <a:prstGeom prst="rect">
              <a:avLst/>
            </a:prstGeom>
            <a:noFill/>
          </p:spPr>
          <p:txBody>
            <a:bodyPr wrap="square" rtlCol="0">
              <a:spAutoFit/>
            </a:bodyPr>
            <a:lstStyle/>
            <a:p>
              <a:r>
                <a:rPr lang="en-US" dirty="0"/>
                <a:t>46%</a:t>
              </a:r>
            </a:p>
          </p:txBody>
        </p:sp>
        <p:sp>
          <p:nvSpPr>
            <p:cNvPr id="45" name="TextBox 44">
              <a:extLst>
                <a:ext uri="{FF2B5EF4-FFF2-40B4-BE49-F238E27FC236}">
                  <a16:creationId xmlns:a16="http://schemas.microsoft.com/office/drawing/2014/main" id="{49660826-1DD7-5603-470F-9CE522E473D3}"/>
                </a:ext>
              </a:extLst>
            </p:cNvPr>
            <p:cNvSpPr txBox="1"/>
            <p:nvPr/>
          </p:nvSpPr>
          <p:spPr>
            <a:xfrm>
              <a:off x="10614136" y="2481217"/>
              <a:ext cx="858914" cy="369332"/>
            </a:xfrm>
            <a:prstGeom prst="rect">
              <a:avLst/>
            </a:prstGeom>
            <a:noFill/>
          </p:spPr>
          <p:txBody>
            <a:bodyPr wrap="square" rtlCol="0">
              <a:spAutoFit/>
            </a:bodyPr>
            <a:lstStyle/>
            <a:p>
              <a:r>
                <a:rPr lang="en-US" dirty="0"/>
                <a:t>Male</a:t>
              </a:r>
            </a:p>
          </p:txBody>
        </p:sp>
        <p:sp>
          <p:nvSpPr>
            <p:cNvPr id="47" name="TextBox 46">
              <a:extLst>
                <a:ext uri="{FF2B5EF4-FFF2-40B4-BE49-F238E27FC236}">
                  <a16:creationId xmlns:a16="http://schemas.microsoft.com/office/drawing/2014/main" id="{0635AF6C-696E-738B-48CC-036C19A959CC}"/>
                </a:ext>
              </a:extLst>
            </p:cNvPr>
            <p:cNvSpPr txBox="1"/>
            <p:nvPr/>
          </p:nvSpPr>
          <p:spPr>
            <a:xfrm>
              <a:off x="6582466" y="2481217"/>
              <a:ext cx="980198" cy="369332"/>
            </a:xfrm>
            <a:prstGeom prst="rect">
              <a:avLst/>
            </a:prstGeom>
            <a:noFill/>
          </p:spPr>
          <p:txBody>
            <a:bodyPr wrap="square" rtlCol="0">
              <a:spAutoFit/>
            </a:bodyPr>
            <a:lstStyle/>
            <a:p>
              <a:r>
                <a:rPr lang="en-US" dirty="0"/>
                <a:t>Female</a:t>
              </a:r>
            </a:p>
          </p:txBody>
        </p:sp>
      </p:grpSp>
      <p:sp>
        <p:nvSpPr>
          <p:cNvPr id="52" name="TextBox 51">
            <a:extLst>
              <a:ext uri="{FF2B5EF4-FFF2-40B4-BE49-F238E27FC236}">
                <a16:creationId xmlns:a16="http://schemas.microsoft.com/office/drawing/2014/main" id="{95D8A0C5-EAF2-0104-6111-A5F46BD3D7D4}"/>
              </a:ext>
            </a:extLst>
          </p:cNvPr>
          <p:cNvSpPr txBox="1"/>
          <p:nvPr/>
        </p:nvSpPr>
        <p:spPr>
          <a:xfrm>
            <a:off x="697156" y="5558948"/>
            <a:ext cx="4441216"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Reasons for selecting supermarkets for shopping</a:t>
            </a:r>
          </a:p>
        </p:txBody>
      </p:sp>
      <p:sp>
        <p:nvSpPr>
          <p:cNvPr id="53" name="TextBox 52">
            <a:extLst>
              <a:ext uri="{FF2B5EF4-FFF2-40B4-BE49-F238E27FC236}">
                <a16:creationId xmlns:a16="http://schemas.microsoft.com/office/drawing/2014/main" id="{CD052BCB-5F84-4C03-BBB4-1E27747F0EB7}"/>
              </a:ext>
            </a:extLst>
          </p:cNvPr>
          <p:cNvSpPr txBox="1"/>
          <p:nvPr/>
        </p:nvSpPr>
        <p:spPr>
          <a:xfrm>
            <a:off x="7202885" y="5420158"/>
            <a:ext cx="4441216"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Gender distribution of people going </a:t>
            </a:r>
            <a:r>
              <a:rPr lang="en-US" sz="1600" b="1" dirty="0" err="1">
                <a:latin typeface="Times New Roman" panose="02020603050405020304" pitchFamily="18" charset="0"/>
                <a:cs typeface="Times New Roman" panose="02020603050405020304" pitchFamily="18" charset="0"/>
              </a:rPr>
              <a:t>supershops</a:t>
            </a:r>
            <a:r>
              <a:rPr lang="en-US" sz="1600" b="1" dirty="0">
                <a:latin typeface="Times New Roman" panose="02020603050405020304" pitchFamily="18" charset="0"/>
                <a:cs typeface="Times New Roman" panose="02020603050405020304" pitchFamily="18" charset="0"/>
              </a:rPr>
              <a:t> for shopping</a:t>
            </a:r>
          </a:p>
        </p:txBody>
      </p:sp>
    </p:spTree>
    <p:extLst>
      <p:ext uri="{BB962C8B-B14F-4D97-AF65-F5344CB8AC3E}">
        <p14:creationId xmlns:p14="http://schemas.microsoft.com/office/powerpoint/2010/main" val="160646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
                                        </p:tgtEl>
                                        <p:attrNameLst>
                                          <p:attrName>style.visibility</p:attrName>
                                        </p:attrNameLst>
                                      </p:cBhvr>
                                      <p:to>
                                        <p:strVal val="visible"/>
                                      </p:to>
                                    </p:set>
                                    <p:anim calcmode="lin" valueType="num">
                                      <p:cBhvr additive="base">
                                        <p:cTn id="13" dur="500" fill="hold"/>
                                        <p:tgtEl>
                                          <p:spTgt spid="52"/>
                                        </p:tgtEl>
                                        <p:attrNameLst>
                                          <p:attrName>ppt_x</p:attrName>
                                        </p:attrNameLst>
                                      </p:cBhvr>
                                      <p:tavLst>
                                        <p:tav tm="0">
                                          <p:val>
                                            <p:strVal val="#ppt_x"/>
                                          </p:val>
                                        </p:tav>
                                        <p:tav tm="100000">
                                          <p:val>
                                            <p:strVal val="#ppt_x"/>
                                          </p:val>
                                        </p:tav>
                                      </p:tavLst>
                                    </p:anim>
                                    <p:anim calcmode="lin" valueType="num">
                                      <p:cBhvr additive="base">
                                        <p:cTn id="1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additive="base">
                                        <p:cTn id="25" dur="500" fill="hold"/>
                                        <p:tgtEl>
                                          <p:spTgt spid="53"/>
                                        </p:tgtEl>
                                        <p:attrNameLst>
                                          <p:attrName>ppt_x</p:attrName>
                                        </p:attrNameLst>
                                      </p:cBhvr>
                                      <p:tavLst>
                                        <p:tav tm="0">
                                          <p:val>
                                            <p:strVal val="#ppt_x"/>
                                          </p:val>
                                        </p:tav>
                                        <p:tav tm="100000">
                                          <p:val>
                                            <p:strVal val="#ppt_x"/>
                                          </p:val>
                                        </p:tav>
                                      </p:tavLst>
                                    </p:anim>
                                    <p:anim calcmode="lin" valueType="num">
                                      <p:cBhvr additive="base">
                                        <p:cTn id="2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8DAB0E77-C964-6539-2A85-7C27AFD5C008}"/>
              </a:ext>
            </a:extLst>
          </p:cNvPr>
          <p:cNvGrpSpPr/>
          <p:nvPr/>
        </p:nvGrpSpPr>
        <p:grpSpPr>
          <a:xfrm>
            <a:off x="182646" y="1093162"/>
            <a:ext cx="5566401" cy="3936038"/>
            <a:chOff x="1758526" y="295494"/>
            <a:chExt cx="6685895" cy="4049744"/>
          </a:xfrm>
        </p:grpSpPr>
        <p:cxnSp>
          <p:nvCxnSpPr>
            <p:cNvPr id="64" name="Straight Connector 63">
              <a:extLst>
                <a:ext uri="{FF2B5EF4-FFF2-40B4-BE49-F238E27FC236}">
                  <a16:creationId xmlns:a16="http://schemas.microsoft.com/office/drawing/2014/main" id="{9B647780-4DA2-00B4-675E-C67E715A0EE0}"/>
                </a:ext>
              </a:extLst>
            </p:cNvPr>
            <p:cNvCxnSpPr>
              <a:cxnSpLocks/>
            </p:cNvCxnSpPr>
            <p:nvPr/>
          </p:nvCxnSpPr>
          <p:spPr>
            <a:xfrm>
              <a:off x="2380155" y="3985969"/>
              <a:ext cx="6064266" cy="0"/>
            </a:xfrm>
            <a:prstGeom prst="line">
              <a:avLst/>
            </a:prstGeom>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EA4B99B6-DED1-0F86-ECEE-0429F8BDA334}"/>
                </a:ext>
              </a:extLst>
            </p:cNvPr>
            <p:cNvCxnSpPr>
              <a:cxnSpLocks/>
            </p:cNvCxnSpPr>
            <p:nvPr/>
          </p:nvCxnSpPr>
          <p:spPr>
            <a:xfrm>
              <a:off x="2390260" y="1314974"/>
              <a:ext cx="6044056" cy="0"/>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EFD6F5A-6480-9059-537A-518A416D0F5B}"/>
                </a:ext>
              </a:extLst>
            </p:cNvPr>
            <p:cNvCxnSpPr>
              <a:cxnSpLocks/>
              <a:stCxn id="81" idx="1"/>
            </p:cNvCxnSpPr>
            <p:nvPr/>
          </p:nvCxnSpPr>
          <p:spPr>
            <a:xfrm flipV="1">
              <a:off x="2390260" y="2167959"/>
              <a:ext cx="6054161" cy="32785"/>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A18A7296-264E-C145-7D60-19794692E2BC}"/>
                </a:ext>
              </a:extLst>
            </p:cNvPr>
            <p:cNvCxnSpPr>
              <a:cxnSpLocks/>
            </p:cNvCxnSpPr>
            <p:nvPr/>
          </p:nvCxnSpPr>
          <p:spPr>
            <a:xfrm>
              <a:off x="2390260" y="3115044"/>
              <a:ext cx="6054161" cy="0"/>
            </a:xfrm>
            <a:prstGeom prst="line">
              <a:avLst/>
            </a:prstGeom>
          </p:spPr>
          <p:style>
            <a:lnRef idx="1">
              <a:schemeClr val="dk1"/>
            </a:lnRef>
            <a:fillRef idx="0">
              <a:schemeClr val="dk1"/>
            </a:fillRef>
            <a:effectRef idx="0">
              <a:schemeClr val="dk1"/>
            </a:effectRef>
            <a:fontRef idx="minor">
              <a:schemeClr val="tx1"/>
            </a:fontRef>
          </p:style>
        </p:cxnSp>
        <p:sp>
          <p:nvSpPr>
            <p:cNvPr id="68" name="Rectangle 67">
              <a:extLst>
                <a:ext uri="{FF2B5EF4-FFF2-40B4-BE49-F238E27FC236}">
                  <a16:creationId xmlns:a16="http://schemas.microsoft.com/office/drawing/2014/main" id="{9806744A-5B2E-B52C-1160-28FD279582F6}"/>
                </a:ext>
              </a:extLst>
            </p:cNvPr>
            <p:cNvSpPr/>
            <p:nvPr/>
          </p:nvSpPr>
          <p:spPr>
            <a:xfrm>
              <a:off x="3634601" y="3058894"/>
              <a:ext cx="745958" cy="92707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7D4C137F-CE32-198F-4D7C-6D858D31E768}"/>
                </a:ext>
              </a:extLst>
            </p:cNvPr>
            <p:cNvSpPr/>
            <p:nvPr/>
          </p:nvSpPr>
          <p:spPr>
            <a:xfrm>
              <a:off x="5104998" y="3750719"/>
              <a:ext cx="745958" cy="232163"/>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933C94EB-BC9E-E6DC-698C-83CA99593B46}"/>
                </a:ext>
              </a:extLst>
            </p:cNvPr>
            <p:cNvSpPr/>
            <p:nvPr/>
          </p:nvSpPr>
          <p:spPr>
            <a:xfrm>
              <a:off x="6576229" y="3934315"/>
              <a:ext cx="745958" cy="54743"/>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A9599A2A-C127-F29B-62B6-A86CC8E52EF4}"/>
                </a:ext>
              </a:extLst>
            </p:cNvPr>
            <p:cNvSpPr txBox="1"/>
            <p:nvPr/>
          </p:nvSpPr>
          <p:spPr>
            <a:xfrm>
              <a:off x="5055687" y="3982877"/>
              <a:ext cx="82426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Disagree</a:t>
              </a:r>
            </a:p>
          </p:txBody>
        </p:sp>
        <p:sp>
          <p:nvSpPr>
            <p:cNvPr id="72" name="TextBox 71">
              <a:extLst>
                <a:ext uri="{FF2B5EF4-FFF2-40B4-BE49-F238E27FC236}">
                  <a16:creationId xmlns:a16="http://schemas.microsoft.com/office/drawing/2014/main" id="{A16382F4-9AAF-7926-46DF-F4135C1440B0}"/>
                </a:ext>
              </a:extLst>
            </p:cNvPr>
            <p:cNvSpPr txBox="1"/>
            <p:nvPr/>
          </p:nvSpPr>
          <p:spPr>
            <a:xfrm>
              <a:off x="2473411" y="3975789"/>
              <a:ext cx="844087"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Agree</a:t>
              </a:r>
            </a:p>
          </p:txBody>
        </p:sp>
        <p:sp>
          <p:nvSpPr>
            <p:cNvPr id="73" name="TextBox 72">
              <a:extLst>
                <a:ext uri="{FF2B5EF4-FFF2-40B4-BE49-F238E27FC236}">
                  <a16:creationId xmlns:a16="http://schemas.microsoft.com/office/drawing/2014/main" id="{7DB4AF8E-E84F-AAF6-1A19-1E1841E65B3E}"/>
                </a:ext>
              </a:extLst>
            </p:cNvPr>
            <p:cNvSpPr txBox="1"/>
            <p:nvPr/>
          </p:nvSpPr>
          <p:spPr>
            <a:xfrm>
              <a:off x="3428863" y="3996028"/>
              <a:ext cx="1157433"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Highly Agree</a:t>
              </a:r>
            </a:p>
          </p:txBody>
        </p:sp>
        <p:sp>
          <p:nvSpPr>
            <p:cNvPr id="74" name="TextBox 73">
              <a:extLst>
                <a:ext uri="{FF2B5EF4-FFF2-40B4-BE49-F238E27FC236}">
                  <a16:creationId xmlns:a16="http://schemas.microsoft.com/office/drawing/2014/main" id="{BAA3F7DC-99BA-C556-B008-42A65E500002}"/>
                </a:ext>
              </a:extLst>
            </p:cNvPr>
            <p:cNvSpPr txBox="1"/>
            <p:nvPr/>
          </p:nvSpPr>
          <p:spPr>
            <a:xfrm>
              <a:off x="6429425" y="4037461"/>
              <a:ext cx="136768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Highly Disagree</a:t>
              </a:r>
            </a:p>
          </p:txBody>
        </p:sp>
        <p:sp>
          <p:nvSpPr>
            <p:cNvPr id="75" name="TextBox 74">
              <a:extLst>
                <a:ext uri="{FF2B5EF4-FFF2-40B4-BE49-F238E27FC236}">
                  <a16:creationId xmlns:a16="http://schemas.microsoft.com/office/drawing/2014/main" id="{58C6705C-F2DA-0491-7242-FEA793A53935}"/>
                </a:ext>
              </a:extLst>
            </p:cNvPr>
            <p:cNvSpPr txBox="1"/>
            <p:nvPr/>
          </p:nvSpPr>
          <p:spPr>
            <a:xfrm>
              <a:off x="1758526" y="1130308"/>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60</a:t>
              </a:r>
            </a:p>
          </p:txBody>
        </p:sp>
        <p:sp>
          <p:nvSpPr>
            <p:cNvPr id="76" name="TextBox 75">
              <a:extLst>
                <a:ext uri="{FF2B5EF4-FFF2-40B4-BE49-F238E27FC236}">
                  <a16:creationId xmlns:a16="http://schemas.microsoft.com/office/drawing/2014/main" id="{67C531A2-4BBF-E9B3-A1AD-0D9950C78FE1}"/>
                </a:ext>
              </a:extLst>
            </p:cNvPr>
            <p:cNvSpPr txBox="1"/>
            <p:nvPr/>
          </p:nvSpPr>
          <p:spPr>
            <a:xfrm>
              <a:off x="1758526" y="1965123"/>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40</a:t>
              </a:r>
            </a:p>
          </p:txBody>
        </p:sp>
        <p:sp>
          <p:nvSpPr>
            <p:cNvPr id="77" name="TextBox 76">
              <a:extLst>
                <a:ext uri="{FF2B5EF4-FFF2-40B4-BE49-F238E27FC236}">
                  <a16:creationId xmlns:a16="http://schemas.microsoft.com/office/drawing/2014/main" id="{38A67EA6-A66E-C7B6-471F-ADA0CCFDF41F}"/>
                </a:ext>
              </a:extLst>
            </p:cNvPr>
            <p:cNvSpPr txBox="1"/>
            <p:nvPr/>
          </p:nvSpPr>
          <p:spPr>
            <a:xfrm>
              <a:off x="1806626" y="2930378"/>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20</a:t>
              </a:r>
            </a:p>
          </p:txBody>
        </p:sp>
        <p:cxnSp>
          <p:nvCxnSpPr>
            <p:cNvPr id="78" name="Straight Connector 77">
              <a:extLst>
                <a:ext uri="{FF2B5EF4-FFF2-40B4-BE49-F238E27FC236}">
                  <a16:creationId xmlns:a16="http://schemas.microsoft.com/office/drawing/2014/main" id="{339B053A-8DEB-D72B-50E3-994BD6760F32}"/>
                </a:ext>
              </a:extLst>
            </p:cNvPr>
            <p:cNvCxnSpPr>
              <a:cxnSpLocks/>
            </p:cNvCxnSpPr>
            <p:nvPr/>
          </p:nvCxnSpPr>
          <p:spPr>
            <a:xfrm>
              <a:off x="2380155" y="461989"/>
              <a:ext cx="6054161" cy="0"/>
            </a:xfrm>
            <a:prstGeom prst="line">
              <a:avLst/>
            </a:prstGeom>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F6DF6B6D-6CC4-19CC-02AB-8138C9A3E7EA}"/>
                </a:ext>
              </a:extLst>
            </p:cNvPr>
            <p:cNvSpPr txBox="1"/>
            <p:nvPr/>
          </p:nvSpPr>
          <p:spPr>
            <a:xfrm>
              <a:off x="1882708" y="3765193"/>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0</a:t>
              </a:r>
            </a:p>
          </p:txBody>
        </p:sp>
        <p:sp>
          <p:nvSpPr>
            <p:cNvPr id="80" name="TextBox 79">
              <a:extLst>
                <a:ext uri="{FF2B5EF4-FFF2-40B4-BE49-F238E27FC236}">
                  <a16:creationId xmlns:a16="http://schemas.microsoft.com/office/drawing/2014/main" id="{B3FC1025-0914-21FB-9F5B-1E27ED373E1D}"/>
                </a:ext>
              </a:extLst>
            </p:cNvPr>
            <p:cNvSpPr txBox="1"/>
            <p:nvPr/>
          </p:nvSpPr>
          <p:spPr>
            <a:xfrm>
              <a:off x="1766748" y="295494"/>
              <a:ext cx="458581"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70</a:t>
              </a:r>
            </a:p>
          </p:txBody>
        </p:sp>
        <p:sp>
          <p:nvSpPr>
            <p:cNvPr id="81" name="Rectangle 80">
              <a:extLst>
                <a:ext uri="{FF2B5EF4-FFF2-40B4-BE49-F238E27FC236}">
                  <a16:creationId xmlns:a16="http://schemas.microsoft.com/office/drawing/2014/main" id="{97311DD4-176D-18EA-4F70-1E2B299D5865}"/>
                </a:ext>
              </a:extLst>
            </p:cNvPr>
            <p:cNvSpPr/>
            <p:nvPr/>
          </p:nvSpPr>
          <p:spPr>
            <a:xfrm>
              <a:off x="2390260" y="418610"/>
              <a:ext cx="822298" cy="3564267"/>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TextBox 93">
            <a:extLst>
              <a:ext uri="{FF2B5EF4-FFF2-40B4-BE49-F238E27FC236}">
                <a16:creationId xmlns:a16="http://schemas.microsoft.com/office/drawing/2014/main" id="{0DC3920D-6B38-267F-C664-A4E93DD01C43}"/>
              </a:ext>
            </a:extLst>
          </p:cNvPr>
          <p:cNvSpPr txBox="1"/>
          <p:nvPr/>
        </p:nvSpPr>
        <p:spPr>
          <a:xfrm>
            <a:off x="400276" y="5418757"/>
            <a:ext cx="5873308"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Counts what people think that standing in line and scanning each product code is a waste of time</a:t>
            </a:r>
          </a:p>
        </p:txBody>
      </p:sp>
      <p:sp>
        <p:nvSpPr>
          <p:cNvPr id="95" name="TextBox 94">
            <a:extLst>
              <a:ext uri="{FF2B5EF4-FFF2-40B4-BE49-F238E27FC236}">
                <a16:creationId xmlns:a16="http://schemas.microsoft.com/office/drawing/2014/main" id="{27B7FC5F-F523-F826-3998-98359241F8A7}"/>
              </a:ext>
            </a:extLst>
          </p:cNvPr>
          <p:cNvSpPr txBox="1"/>
          <p:nvPr/>
        </p:nvSpPr>
        <p:spPr>
          <a:xfrm>
            <a:off x="7437117" y="5356288"/>
            <a:ext cx="4754883"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Age range of people go to super shops for shopping</a:t>
            </a:r>
          </a:p>
        </p:txBody>
      </p:sp>
      <p:sp>
        <p:nvSpPr>
          <p:cNvPr id="7" name="TextBox 6">
            <a:extLst>
              <a:ext uri="{FF2B5EF4-FFF2-40B4-BE49-F238E27FC236}">
                <a16:creationId xmlns:a16="http://schemas.microsoft.com/office/drawing/2014/main" id="{7F488452-1834-77E1-F4C9-B295E8C762C9}"/>
              </a:ext>
            </a:extLst>
          </p:cNvPr>
          <p:cNvSpPr txBox="1"/>
          <p:nvPr/>
        </p:nvSpPr>
        <p:spPr>
          <a:xfrm>
            <a:off x="11613744" y="2666606"/>
            <a:ext cx="184731" cy="369332"/>
          </a:xfrm>
          <a:prstGeom prst="rect">
            <a:avLst/>
          </a:prstGeom>
          <a:noFill/>
        </p:spPr>
        <p:txBody>
          <a:bodyPr wrap="none" rtlCol="0">
            <a:spAutoFit/>
          </a:bodyPr>
          <a:lstStyle/>
          <a:p>
            <a:endParaRPr lang="en-US" dirty="0"/>
          </a:p>
        </p:txBody>
      </p:sp>
      <p:grpSp>
        <p:nvGrpSpPr>
          <p:cNvPr id="12" name="Group 11">
            <a:extLst>
              <a:ext uri="{FF2B5EF4-FFF2-40B4-BE49-F238E27FC236}">
                <a16:creationId xmlns:a16="http://schemas.microsoft.com/office/drawing/2014/main" id="{97C184C0-3904-8A33-77D6-8258A78A01B9}"/>
              </a:ext>
            </a:extLst>
          </p:cNvPr>
          <p:cNvGrpSpPr/>
          <p:nvPr/>
        </p:nvGrpSpPr>
        <p:grpSpPr>
          <a:xfrm>
            <a:off x="7349530" y="941670"/>
            <a:ext cx="4204854" cy="3924673"/>
            <a:chOff x="7349530" y="941670"/>
            <a:chExt cx="4204854" cy="3924673"/>
          </a:xfrm>
        </p:grpSpPr>
        <p:grpSp>
          <p:nvGrpSpPr>
            <p:cNvPr id="2" name="Group 1">
              <a:extLst>
                <a:ext uri="{FF2B5EF4-FFF2-40B4-BE49-F238E27FC236}">
                  <a16:creationId xmlns:a16="http://schemas.microsoft.com/office/drawing/2014/main" id="{C481FA1B-3169-D45C-F7FE-B18C82B61D4D}"/>
                </a:ext>
              </a:extLst>
            </p:cNvPr>
            <p:cNvGrpSpPr/>
            <p:nvPr/>
          </p:nvGrpSpPr>
          <p:grpSpPr>
            <a:xfrm>
              <a:off x="7699616" y="1212471"/>
              <a:ext cx="3723658" cy="3653872"/>
              <a:chOff x="7743585" y="1245467"/>
              <a:chExt cx="3695637" cy="3598472"/>
            </a:xfrm>
          </p:grpSpPr>
          <p:sp>
            <p:nvSpPr>
              <p:cNvPr id="84" name="Circle: Hollow 83">
                <a:extLst>
                  <a:ext uri="{FF2B5EF4-FFF2-40B4-BE49-F238E27FC236}">
                    <a16:creationId xmlns:a16="http://schemas.microsoft.com/office/drawing/2014/main" id="{2B89FE89-75E0-BBAE-0CFC-B9FBB2B1504A}"/>
                  </a:ext>
                </a:extLst>
              </p:cNvPr>
              <p:cNvSpPr/>
              <p:nvPr/>
            </p:nvSpPr>
            <p:spPr>
              <a:xfrm>
                <a:off x="7764539" y="1254986"/>
                <a:ext cx="3649631" cy="3584349"/>
              </a:xfrm>
              <a:prstGeom prst="donut">
                <a:avLst>
                  <a:gd name="adj" fmla="val 16234"/>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85" name="Group 84">
                <a:extLst>
                  <a:ext uri="{FF2B5EF4-FFF2-40B4-BE49-F238E27FC236}">
                    <a16:creationId xmlns:a16="http://schemas.microsoft.com/office/drawing/2014/main" id="{9DADF21E-B58B-43A6-680C-A30D5CEB445D}"/>
                  </a:ext>
                </a:extLst>
              </p:cNvPr>
              <p:cNvGrpSpPr/>
              <p:nvPr/>
            </p:nvGrpSpPr>
            <p:grpSpPr>
              <a:xfrm>
                <a:off x="7743585" y="1245467"/>
                <a:ext cx="3695637" cy="3598472"/>
                <a:chOff x="2364644" y="498742"/>
                <a:chExt cx="3037278" cy="3011049"/>
              </a:xfrm>
            </p:grpSpPr>
            <p:sp>
              <p:nvSpPr>
                <p:cNvPr id="90" name="Block Arc 89">
                  <a:extLst>
                    <a:ext uri="{FF2B5EF4-FFF2-40B4-BE49-F238E27FC236}">
                      <a16:creationId xmlns:a16="http://schemas.microsoft.com/office/drawing/2014/main" id="{9004D79D-84F7-468C-FF34-E587441D23ED}"/>
                    </a:ext>
                  </a:extLst>
                </p:cNvPr>
                <p:cNvSpPr/>
                <p:nvPr/>
              </p:nvSpPr>
              <p:spPr>
                <a:xfrm>
                  <a:off x="2382099" y="506706"/>
                  <a:ext cx="2999232" cy="2999232"/>
                </a:xfrm>
                <a:prstGeom prst="blockArc">
                  <a:avLst>
                    <a:gd name="adj1" fmla="val 11062357"/>
                    <a:gd name="adj2" fmla="val 18653089"/>
                    <a:gd name="adj3" fmla="val 16122"/>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p:sp>
              <p:nvSpPr>
                <p:cNvPr id="91" name="Block Arc 90">
                  <a:extLst>
                    <a:ext uri="{FF2B5EF4-FFF2-40B4-BE49-F238E27FC236}">
                      <a16:creationId xmlns:a16="http://schemas.microsoft.com/office/drawing/2014/main" id="{64CBAD99-CF22-67CD-124E-C918C39C11AE}"/>
                    </a:ext>
                  </a:extLst>
                </p:cNvPr>
                <p:cNvSpPr/>
                <p:nvPr/>
              </p:nvSpPr>
              <p:spPr>
                <a:xfrm rot="6771080">
                  <a:off x="2386683" y="494553"/>
                  <a:ext cx="3011049" cy="3019428"/>
                </a:xfrm>
                <a:prstGeom prst="blockArc">
                  <a:avLst>
                    <a:gd name="adj1" fmla="val 11842667"/>
                    <a:gd name="adj2" fmla="val 21560523"/>
                    <a:gd name="adj3" fmla="val 16717"/>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p:sp>
              <p:nvSpPr>
                <p:cNvPr id="92" name="Block Arc 91">
                  <a:extLst>
                    <a:ext uri="{FF2B5EF4-FFF2-40B4-BE49-F238E27FC236}">
                      <a16:creationId xmlns:a16="http://schemas.microsoft.com/office/drawing/2014/main" id="{527A1E2D-7FF5-70E3-2671-E85502B354B7}"/>
                    </a:ext>
                  </a:extLst>
                </p:cNvPr>
                <p:cNvSpPr/>
                <p:nvPr/>
              </p:nvSpPr>
              <p:spPr>
                <a:xfrm rot="12026027">
                  <a:off x="2364644" y="503525"/>
                  <a:ext cx="3017872" cy="2995766"/>
                </a:xfrm>
                <a:prstGeom prst="blockArc">
                  <a:avLst>
                    <a:gd name="adj1" fmla="val 16205094"/>
                    <a:gd name="adj2" fmla="val 19022621"/>
                    <a:gd name="adj3" fmla="val 1614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p:grpSp>
          <p:grpSp>
            <p:nvGrpSpPr>
              <p:cNvPr id="93" name="Group 92">
                <a:extLst>
                  <a:ext uri="{FF2B5EF4-FFF2-40B4-BE49-F238E27FC236}">
                    <a16:creationId xmlns:a16="http://schemas.microsoft.com/office/drawing/2014/main" id="{39DEFB80-18C7-E095-43C8-D1B496AF4DB5}"/>
                  </a:ext>
                </a:extLst>
              </p:cNvPr>
              <p:cNvGrpSpPr/>
              <p:nvPr/>
            </p:nvGrpSpPr>
            <p:grpSpPr>
              <a:xfrm>
                <a:off x="7854371" y="1419104"/>
                <a:ext cx="2171392" cy="2937501"/>
                <a:chOff x="7854371" y="1419104"/>
                <a:chExt cx="2171392" cy="2937501"/>
              </a:xfrm>
            </p:grpSpPr>
            <p:sp>
              <p:nvSpPr>
                <p:cNvPr id="86" name="TextBox 85">
                  <a:extLst>
                    <a:ext uri="{FF2B5EF4-FFF2-40B4-BE49-F238E27FC236}">
                      <a16:creationId xmlns:a16="http://schemas.microsoft.com/office/drawing/2014/main" id="{A54E0C75-C4B5-E25A-C1B5-829354E347D5}"/>
                    </a:ext>
                  </a:extLst>
                </p:cNvPr>
                <p:cNvSpPr txBox="1"/>
                <p:nvPr/>
              </p:nvSpPr>
              <p:spPr>
                <a:xfrm rot="2589588">
                  <a:off x="7928564" y="4043958"/>
                  <a:ext cx="1376404" cy="31264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51 years up</a:t>
                  </a:r>
                </a:p>
              </p:txBody>
            </p:sp>
            <p:sp>
              <p:nvSpPr>
                <p:cNvPr id="87" name="TextBox 86">
                  <a:extLst>
                    <a:ext uri="{FF2B5EF4-FFF2-40B4-BE49-F238E27FC236}">
                      <a16:creationId xmlns:a16="http://schemas.microsoft.com/office/drawing/2014/main" id="{04E942C8-FB66-9DC1-C969-5498FD79CD4C}"/>
                    </a:ext>
                  </a:extLst>
                </p:cNvPr>
                <p:cNvSpPr txBox="1"/>
                <p:nvPr/>
              </p:nvSpPr>
              <p:spPr>
                <a:xfrm rot="20103556">
                  <a:off x="8618250" y="1419104"/>
                  <a:ext cx="1407513"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26-35 years</a:t>
                  </a:r>
                </a:p>
              </p:txBody>
            </p:sp>
            <p:sp>
              <p:nvSpPr>
                <p:cNvPr id="88" name="TextBox 87">
                  <a:extLst>
                    <a:ext uri="{FF2B5EF4-FFF2-40B4-BE49-F238E27FC236}">
                      <a16:creationId xmlns:a16="http://schemas.microsoft.com/office/drawing/2014/main" id="{6D33C257-56A5-8EC5-DF9F-84B5EC8CF68A}"/>
                    </a:ext>
                  </a:extLst>
                </p:cNvPr>
                <p:cNvSpPr txBox="1"/>
                <p:nvPr/>
              </p:nvSpPr>
              <p:spPr>
                <a:xfrm rot="4968090">
                  <a:off x="7680331" y="3147957"/>
                  <a:ext cx="872365" cy="524286"/>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18-25 years</a:t>
                  </a:r>
                </a:p>
              </p:txBody>
            </p:sp>
          </p:grpSp>
          <p:sp>
            <p:nvSpPr>
              <p:cNvPr id="89" name="TextBox 88">
                <a:extLst>
                  <a:ext uri="{FF2B5EF4-FFF2-40B4-BE49-F238E27FC236}">
                    <a16:creationId xmlns:a16="http://schemas.microsoft.com/office/drawing/2014/main" id="{D4A7A939-FF88-56B9-7F33-317DE37457CE}"/>
                  </a:ext>
                </a:extLst>
              </p:cNvPr>
              <p:cNvSpPr txBox="1"/>
              <p:nvPr/>
            </p:nvSpPr>
            <p:spPr>
              <a:xfrm rot="7140926">
                <a:off x="10103646" y="3843292"/>
                <a:ext cx="1379947" cy="31831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36-50 years</a:t>
                </a:r>
              </a:p>
            </p:txBody>
          </p:sp>
        </p:grpSp>
        <p:sp>
          <p:nvSpPr>
            <p:cNvPr id="8" name="TextBox 7">
              <a:extLst>
                <a:ext uri="{FF2B5EF4-FFF2-40B4-BE49-F238E27FC236}">
                  <a16:creationId xmlns:a16="http://schemas.microsoft.com/office/drawing/2014/main" id="{1290F14E-4A69-6FB0-4DAB-1A6AAEDF9F48}"/>
                </a:ext>
              </a:extLst>
            </p:cNvPr>
            <p:cNvSpPr txBox="1"/>
            <p:nvPr/>
          </p:nvSpPr>
          <p:spPr>
            <a:xfrm rot="20919382">
              <a:off x="8486792" y="941670"/>
              <a:ext cx="976369" cy="338554"/>
            </a:xfrm>
            <a:prstGeom prst="rect">
              <a:avLst/>
            </a:prstGeom>
            <a:noFill/>
          </p:spPr>
          <p:txBody>
            <a:bodyPr wrap="square" rtlCol="0">
              <a:spAutoFit/>
            </a:bodyPr>
            <a:lstStyle/>
            <a:p>
              <a:r>
                <a:rPr lang="en-US" sz="1600" dirty="0"/>
                <a:t>28.2%</a:t>
              </a:r>
            </a:p>
          </p:txBody>
        </p:sp>
        <p:sp>
          <p:nvSpPr>
            <p:cNvPr id="9" name="TextBox 8">
              <a:extLst>
                <a:ext uri="{FF2B5EF4-FFF2-40B4-BE49-F238E27FC236}">
                  <a16:creationId xmlns:a16="http://schemas.microsoft.com/office/drawing/2014/main" id="{DB7E1766-DDBA-CBB5-DDA0-916E6C02837A}"/>
                </a:ext>
              </a:extLst>
            </p:cNvPr>
            <p:cNvSpPr txBox="1"/>
            <p:nvPr/>
          </p:nvSpPr>
          <p:spPr>
            <a:xfrm rot="15635316">
              <a:off x="7198046" y="3152174"/>
              <a:ext cx="641522" cy="338554"/>
            </a:xfrm>
            <a:prstGeom prst="rect">
              <a:avLst/>
            </a:prstGeom>
            <a:noFill/>
          </p:spPr>
          <p:txBody>
            <a:bodyPr wrap="none" rtlCol="0">
              <a:spAutoFit/>
            </a:bodyPr>
            <a:lstStyle/>
            <a:p>
              <a:r>
                <a:rPr lang="en-US" sz="1600" dirty="0"/>
                <a:t>6.5%</a:t>
              </a:r>
            </a:p>
          </p:txBody>
        </p:sp>
        <p:sp>
          <p:nvSpPr>
            <p:cNvPr id="10" name="TextBox 9">
              <a:extLst>
                <a:ext uri="{FF2B5EF4-FFF2-40B4-BE49-F238E27FC236}">
                  <a16:creationId xmlns:a16="http://schemas.microsoft.com/office/drawing/2014/main" id="{EA34FEB0-11A5-8CEB-F061-3D5CF72E85C7}"/>
                </a:ext>
              </a:extLst>
            </p:cNvPr>
            <p:cNvSpPr txBox="1"/>
            <p:nvPr/>
          </p:nvSpPr>
          <p:spPr>
            <a:xfrm rot="13053795">
              <a:off x="7901199" y="4356408"/>
              <a:ext cx="641522" cy="338554"/>
            </a:xfrm>
            <a:prstGeom prst="rect">
              <a:avLst/>
            </a:prstGeom>
            <a:noFill/>
          </p:spPr>
          <p:txBody>
            <a:bodyPr wrap="none" rtlCol="0">
              <a:spAutoFit/>
            </a:bodyPr>
            <a:lstStyle/>
            <a:p>
              <a:r>
                <a:rPr lang="en-US" sz="1600" dirty="0"/>
                <a:t>7.3%</a:t>
              </a:r>
            </a:p>
          </p:txBody>
        </p:sp>
        <p:sp>
          <p:nvSpPr>
            <p:cNvPr id="11" name="TextBox 10">
              <a:extLst>
                <a:ext uri="{FF2B5EF4-FFF2-40B4-BE49-F238E27FC236}">
                  <a16:creationId xmlns:a16="http://schemas.microsoft.com/office/drawing/2014/main" id="{A61B6CF8-0288-FDC9-66EF-9E20227F99A1}"/>
                </a:ext>
              </a:extLst>
            </p:cNvPr>
            <p:cNvSpPr txBox="1"/>
            <p:nvPr/>
          </p:nvSpPr>
          <p:spPr>
            <a:xfrm rot="7013669">
              <a:off x="11005836" y="3901516"/>
              <a:ext cx="758541" cy="338554"/>
            </a:xfrm>
            <a:prstGeom prst="rect">
              <a:avLst/>
            </a:prstGeom>
            <a:noFill/>
          </p:spPr>
          <p:txBody>
            <a:bodyPr wrap="none" rtlCol="0">
              <a:spAutoFit/>
            </a:bodyPr>
            <a:lstStyle/>
            <a:p>
              <a:r>
                <a:rPr lang="en-US" sz="1600" dirty="0"/>
                <a:t>58.1%</a:t>
              </a:r>
            </a:p>
          </p:txBody>
        </p:sp>
      </p:grpSp>
    </p:spTree>
    <p:extLst>
      <p:ext uri="{BB962C8B-B14F-4D97-AF65-F5344CB8AC3E}">
        <p14:creationId xmlns:p14="http://schemas.microsoft.com/office/powerpoint/2010/main" val="3859796400"/>
      </p:ext>
    </p:extLst>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500" fill="hold"/>
                                        <p:tgtEl>
                                          <p:spTgt spid="82"/>
                                        </p:tgtEl>
                                        <p:attrNameLst>
                                          <p:attrName>ppt_x</p:attrName>
                                        </p:attrNameLst>
                                      </p:cBhvr>
                                      <p:tavLst>
                                        <p:tav tm="0">
                                          <p:val>
                                            <p:strVal val="#ppt_x"/>
                                          </p:val>
                                        </p:tav>
                                        <p:tav tm="100000">
                                          <p:val>
                                            <p:strVal val="#ppt_x"/>
                                          </p:val>
                                        </p:tav>
                                      </p:tavLst>
                                    </p:anim>
                                    <p:anim calcmode="lin" valueType="num">
                                      <p:cBhvr additive="base">
                                        <p:cTn id="8"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4"/>
                                        </p:tgtEl>
                                        <p:attrNameLst>
                                          <p:attrName>style.visibility</p:attrName>
                                        </p:attrNameLst>
                                      </p:cBhvr>
                                      <p:to>
                                        <p:strVal val="visible"/>
                                      </p:to>
                                    </p:set>
                                    <p:anim calcmode="lin" valueType="num">
                                      <p:cBhvr additive="base">
                                        <p:cTn id="13" dur="500" fill="hold"/>
                                        <p:tgtEl>
                                          <p:spTgt spid="94"/>
                                        </p:tgtEl>
                                        <p:attrNameLst>
                                          <p:attrName>ppt_x</p:attrName>
                                        </p:attrNameLst>
                                      </p:cBhvr>
                                      <p:tavLst>
                                        <p:tav tm="0">
                                          <p:val>
                                            <p:strVal val="#ppt_x"/>
                                          </p:val>
                                        </p:tav>
                                        <p:tav tm="100000">
                                          <p:val>
                                            <p:strVal val="#ppt_x"/>
                                          </p:val>
                                        </p:tav>
                                      </p:tavLst>
                                    </p:anim>
                                    <p:anim calcmode="lin" valueType="num">
                                      <p:cBhvr additive="base">
                                        <p:cTn id="14"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fade">
                                      <p:cBhvr>
                                        <p:cTn id="19" dur="1000"/>
                                        <p:tgtEl>
                                          <p:spTgt spid="95"/>
                                        </p:tgtEl>
                                      </p:cBhvr>
                                    </p:animEffect>
                                    <p:anim calcmode="lin" valueType="num">
                                      <p:cBhvr>
                                        <p:cTn id="20" dur="1000" fill="hold"/>
                                        <p:tgtEl>
                                          <p:spTgt spid="95"/>
                                        </p:tgtEl>
                                        <p:attrNameLst>
                                          <p:attrName>ppt_x</p:attrName>
                                        </p:attrNameLst>
                                      </p:cBhvr>
                                      <p:tavLst>
                                        <p:tav tm="0">
                                          <p:val>
                                            <p:strVal val="#ppt_x"/>
                                          </p:val>
                                        </p:tav>
                                        <p:tav tm="100000">
                                          <p:val>
                                            <p:strVal val="#ppt_x"/>
                                          </p:val>
                                        </p:tav>
                                      </p:tavLst>
                                    </p:anim>
                                    <p:anim calcmode="lin" valueType="num">
                                      <p:cBhvr>
                                        <p:cTn id="21" dur="1000" fill="hold"/>
                                        <p:tgtEl>
                                          <p:spTgt spid="9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9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CC513E75-81A6-9790-867B-AEEB009D9329}"/>
              </a:ext>
            </a:extLst>
          </p:cNvPr>
          <p:cNvGrpSpPr/>
          <p:nvPr/>
        </p:nvGrpSpPr>
        <p:grpSpPr>
          <a:xfrm>
            <a:off x="0" y="1179561"/>
            <a:ext cx="5167933" cy="3450059"/>
            <a:chOff x="1387717" y="1302026"/>
            <a:chExt cx="5167933" cy="3450059"/>
          </a:xfrm>
        </p:grpSpPr>
        <p:cxnSp>
          <p:nvCxnSpPr>
            <p:cNvPr id="19" name="Straight Connector 18">
              <a:extLst>
                <a:ext uri="{FF2B5EF4-FFF2-40B4-BE49-F238E27FC236}">
                  <a16:creationId xmlns:a16="http://schemas.microsoft.com/office/drawing/2014/main" id="{7CBE1CA6-BA38-4DE5-7971-066EAEC81E8D}"/>
                </a:ext>
              </a:extLst>
            </p:cNvPr>
            <p:cNvCxnSpPr>
              <a:cxnSpLocks/>
            </p:cNvCxnSpPr>
            <p:nvPr/>
          </p:nvCxnSpPr>
          <p:spPr>
            <a:xfrm>
              <a:off x="3001617" y="1302026"/>
              <a:ext cx="0" cy="3180522"/>
            </a:xfrm>
            <a:prstGeom prst="line">
              <a:avLst/>
            </a:prstGeom>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52269EDB-C3A0-702F-3FEA-66BE2A8554B7}"/>
                </a:ext>
              </a:extLst>
            </p:cNvPr>
            <p:cNvCxnSpPr/>
            <p:nvPr/>
          </p:nvCxnSpPr>
          <p:spPr>
            <a:xfrm>
              <a:off x="3637722" y="1302026"/>
              <a:ext cx="0" cy="3170583"/>
            </a:xfrm>
            <a:prstGeom prst="line">
              <a:avLst/>
            </a:prstGeom>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BDF1AF0-9914-7982-DFF7-EC93CBB3FBC7}"/>
                </a:ext>
              </a:extLst>
            </p:cNvPr>
            <p:cNvCxnSpPr/>
            <p:nvPr/>
          </p:nvCxnSpPr>
          <p:spPr>
            <a:xfrm>
              <a:off x="4293705" y="1311965"/>
              <a:ext cx="0" cy="3170583"/>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97B24978-127C-B9D9-111C-E6D689732CE5}"/>
                </a:ext>
              </a:extLst>
            </p:cNvPr>
            <p:cNvCxnSpPr/>
            <p:nvPr/>
          </p:nvCxnSpPr>
          <p:spPr>
            <a:xfrm>
              <a:off x="4979505" y="1311965"/>
              <a:ext cx="0" cy="3170583"/>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6C961CC-F544-32EF-B753-F96352715991}"/>
                </a:ext>
              </a:extLst>
            </p:cNvPr>
            <p:cNvCxnSpPr/>
            <p:nvPr/>
          </p:nvCxnSpPr>
          <p:spPr>
            <a:xfrm>
              <a:off x="5705061" y="1311965"/>
              <a:ext cx="0" cy="3170583"/>
            </a:xfrm>
            <a:prstGeom prst="line">
              <a:avLst/>
            </a:prstGeom>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6381CE1F-7B02-0D09-5D1B-97547127367B}"/>
                </a:ext>
              </a:extLst>
            </p:cNvPr>
            <p:cNvCxnSpPr/>
            <p:nvPr/>
          </p:nvCxnSpPr>
          <p:spPr>
            <a:xfrm>
              <a:off x="6400800" y="1311965"/>
              <a:ext cx="0" cy="3170583"/>
            </a:xfrm>
            <a:prstGeom prst="line">
              <a:avLst/>
            </a:prstGeom>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1590DD65-98F3-3426-4807-8E087D69CB94}"/>
                </a:ext>
              </a:extLst>
            </p:cNvPr>
            <p:cNvSpPr/>
            <p:nvPr/>
          </p:nvSpPr>
          <p:spPr>
            <a:xfrm>
              <a:off x="3001617" y="4018547"/>
              <a:ext cx="132527" cy="47394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94AC381C-5134-D80A-5BFB-DF67826F8F2B}"/>
                </a:ext>
              </a:extLst>
            </p:cNvPr>
            <p:cNvSpPr/>
            <p:nvPr/>
          </p:nvSpPr>
          <p:spPr>
            <a:xfrm>
              <a:off x="3001617" y="3240505"/>
              <a:ext cx="1089120" cy="47392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2F715F5D-686B-7EA7-DFEB-B01B84DADAD4}"/>
                </a:ext>
              </a:extLst>
            </p:cNvPr>
            <p:cNvSpPr/>
            <p:nvPr/>
          </p:nvSpPr>
          <p:spPr>
            <a:xfrm>
              <a:off x="3001617" y="2467422"/>
              <a:ext cx="2440844" cy="47392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7B7E3BC7-7DF4-B455-21AF-E658DA1E1BDA}"/>
                </a:ext>
              </a:extLst>
            </p:cNvPr>
            <p:cNvSpPr/>
            <p:nvPr/>
          </p:nvSpPr>
          <p:spPr>
            <a:xfrm>
              <a:off x="3001617" y="1694340"/>
              <a:ext cx="2984615" cy="473920"/>
            </a:xfrm>
            <a:prstGeom prst="rect">
              <a:avLst/>
            </a:prstGeom>
            <a:solidFill>
              <a:schemeClr val="accent5">
                <a:lumMod val="75000"/>
              </a:schemeClr>
            </a:solidFill>
            <a:ln w="9525">
              <a:solidFill>
                <a:schemeClr val="accent1">
                  <a:shade val="15000"/>
                  <a:alpha val="9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60245789-DB33-B503-B31E-4D3E2031CE5B}"/>
                </a:ext>
              </a:extLst>
            </p:cNvPr>
            <p:cNvSpPr txBox="1"/>
            <p:nvPr/>
          </p:nvSpPr>
          <p:spPr>
            <a:xfrm>
              <a:off x="2844567" y="4434493"/>
              <a:ext cx="274434"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0</a:t>
              </a:r>
            </a:p>
          </p:txBody>
        </p:sp>
        <p:sp>
          <p:nvSpPr>
            <p:cNvPr id="31" name="TextBox 30">
              <a:extLst>
                <a:ext uri="{FF2B5EF4-FFF2-40B4-BE49-F238E27FC236}">
                  <a16:creationId xmlns:a16="http://schemas.microsoft.com/office/drawing/2014/main" id="{ED951A52-0DCA-62C4-1FA2-F92444B2A6E8}"/>
                </a:ext>
              </a:extLst>
            </p:cNvPr>
            <p:cNvSpPr txBox="1"/>
            <p:nvPr/>
          </p:nvSpPr>
          <p:spPr>
            <a:xfrm>
              <a:off x="1617472" y="1786959"/>
              <a:ext cx="1034257"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Dissatisfied</a:t>
              </a:r>
            </a:p>
          </p:txBody>
        </p:sp>
        <p:sp>
          <p:nvSpPr>
            <p:cNvPr id="32" name="TextBox 31">
              <a:extLst>
                <a:ext uri="{FF2B5EF4-FFF2-40B4-BE49-F238E27FC236}">
                  <a16:creationId xmlns:a16="http://schemas.microsoft.com/office/drawing/2014/main" id="{ED8FB011-35EF-961B-F2D1-5527D97F6D3E}"/>
                </a:ext>
              </a:extLst>
            </p:cNvPr>
            <p:cNvSpPr txBox="1"/>
            <p:nvPr/>
          </p:nvSpPr>
          <p:spPr>
            <a:xfrm>
              <a:off x="1758917" y="2542279"/>
              <a:ext cx="813043"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Satisfied</a:t>
              </a:r>
            </a:p>
          </p:txBody>
        </p:sp>
        <p:sp>
          <p:nvSpPr>
            <p:cNvPr id="33" name="TextBox 32">
              <a:extLst>
                <a:ext uri="{FF2B5EF4-FFF2-40B4-BE49-F238E27FC236}">
                  <a16:creationId xmlns:a16="http://schemas.microsoft.com/office/drawing/2014/main" id="{2605E23F-3A95-D4C8-BDEC-D7B56B2D9ACB}"/>
                </a:ext>
              </a:extLst>
            </p:cNvPr>
            <p:cNvSpPr txBox="1"/>
            <p:nvPr/>
          </p:nvSpPr>
          <p:spPr>
            <a:xfrm>
              <a:off x="1779217" y="3314256"/>
              <a:ext cx="72327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Neutral</a:t>
              </a:r>
            </a:p>
          </p:txBody>
        </p:sp>
        <p:sp>
          <p:nvSpPr>
            <p:cNvPr id="34" name="TextBox 33">
              <a:extLst>
                <a:ext uri="{FF2B5EF4-FFF2-40B4-BE49-F238E27FC236}">
                  <a16:creationId xmlns:a16="http://schemas.microsoft.com/office/drawing/2014/main" id="{B6832752-8EBB-EA58-ADDC-AFD4A858A1BB}"/>
                </a:ext>
              </a:extLst>
            </p:cNvPr>
            <p:cNvSpPr txBox="1"/>
            <p:nvPr/>
          </p:nvSpPr>
          <p:spPr>
            <a:xfrm>
              <a:off x="1387717" y="4058117"/>
              <a:ext cx="1197123"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Very Satisfied</a:t>
              </a:r>
            </a:p>
          </p:txBody>
        </p:sp>
        <p:sp>
          <p:nvSpPr>
            <p:cNvPr id="35" name="TextBox 34">
              <a:extLst>
                <a:ext uri="{FF2B5EF4-FFF2-40B4-BE49-F238E27FC236}">
                  <a16:creationId xmlns:a16="http://schemas.microsoft.com/office/drawing/2014/main" id="{8B35EBFB-BD17-AE15-2368-0579F11E5473}"/>
                </a:ext>
              </a:extLst>
            </p:cNvPr>
            <p:cNvSpPr txBox="1"/>
            <p:nvPr/>
          </p:nvSpPr>
          <p:spPr>
            <a:xfrm>
              <a:off x="3458365" y="4444308"/>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10</a:t>
              </a:r>
            </a:p>
          </p:txBody>
        </p:sp>
        <p:sp>
          <p:nvSpPr>
            <p:cNvPr id="36" name="TextBox 35">
              <a:extLst>
                <a:ext uri="{FF2B5EF4-FFF2-40B4-BE49-F238E27FC236}">
                  <a16:creationId xmlns:a16="http://schemas.microsoft.com/office/drawing/2014/main" id="{012B2F50-DA27-71F2-9C65-B6CE01881B50}"/>
                </a:ext>
              </a:extLst>
            </p:cNvPr>
            <p:cNvSpPr txBox="1"/>
            <p:nvPr/>
          </p:nvSpPr>
          <p:spPr>
            <a:xfrm>
              <a:off x="4090737" y="4427449"/>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20</a:t>
              </a:r>
            </a:p>
          </p:txBody>
        </p:sp>
        <p:sp>
          <p:nvSpPr>
            <p:cNvPr id="37" name="TextBox 36">
              <a:extLst>
                <a:ext uri="{FF2B5EF4-FFF2-40B4-BE49-F238E27FC236}">
                  <a16:creationId xmlns:a16="http://schemas.microsoft.com/office/drawing/2014/main" id="{6CB7B603-1E4B-8CAE-7242-686DFABC59A8}"/>
                </a:ext>
              </a:extLst>
            </p:cNvPr>
            <p:cNvSpPr txBox="1"/>
            <p:nvPr/>
          </p:nvSpPr>
          <p:spPr>
            <a:xfrm>
              <a:off x="4782799" y="4434493"/>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30</a:t>
              </a:r>
            </a:p>
          </p:txBody>
        </p:sp>
        <p:sp>
          <p:nvSpPr>
            <p:cNvPr id="38" name="TextBox 37">
              <a:extLst>
                <a:ext uri="{FF2B5EF4-FFF2-40B4-BE49-F238E27FC236}">
                  <a16:creationId xmlns:a16="http://schemas.microsoft.com/office/drawing/2014/main" id="{B11048CC-5549-7BC8-6975-D42A6882C571}"/>
                </a:ext>
              </a:extLst>
            </p:cNvPr>
            <p:cNvSpPr txBox="1"/>
            <p:nvPr/>
          </p:nvSpPr>
          <p:spPr>
            <a:xfrm>
              <a:off x="5495709" y="4417634"/>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40</a:t>
              </a:r>
            </a:p>
          </p:txBody>
        </p:sp>
        <p:sp>
          <p:nvSpPr>
            <p:cNvPr id="39" name="TextBox 38">
              <a:extLst>
                <a:ext uri="{FF2B5EF4-FFF2-40B4-BE49-F238E27FC236}">
                  <a16:creationId xmlns:a16="http://schemas.microsoft.com/office/drawing/2014/main" id="{1DE7BF17-BDE2-F1D0-6A8D-C08D71AE89BC}"/>
                </a:ext>
              </a:extLst>
            </p:cNvPr>
            <p:cNvSpPr txBox="1"/>
            <p:nvPr/>
          </p:nvSpPr>
          <p:spPr>
            <a:xfrm>
              <a:off x="6191448" y="4411438"/>
              <a:ext cx="3642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50</a:t>
              </a:r>
            </a:p>
          </p:txBody>
        </p:sp>
      </p:grpSp>
      <p:sp>
        <p:nvSpPr>
          <p:cNvPr id="49" name="TextBox 48">
            <a:extLst>
              <a:ext uri="{FF2B5EF4-FFF2-40B4-BE49-F238E27FC236}">
                <a16:creationId xmlns:a16="http://schemas.microsoft.com/office/drawing/2014/main" id="{21418FAE-3B42-A251-4FFA-95334B33986C}"/>
              </a:ext>
            </a:extLst>
          </p:cNvPr>
          <p:cNvSpPr txBox="1"/>
          <p:nvPr/>
        </p:nvSpPr>
        <p:spPr>
          <a:xfrm>
            <a:off x="371200" y="4807517"/>
            <a:ext cx="4796733" cy="830997"/>
          </a:xfrm>
          <a:prstGeom prst="rect">
            <a:avLst/>
          </a:prstGeom>
          <a:noFill/>
        </p:spPr>
        <p:txBody>
          <a:bodyPr wrap="square" rtlCol="0">
            <a:spAutoFit/>
          </a:bodyPr>
          <a:lstStyle/>
          <a:p>
            <a:pPr algn="l"/>
            <a:endParaRPr lang="en-US" sz="1600" b="1" i="0" u="none" strike="noStrike" baseline="0" dirty="0">
              <a:solidFill>
                <a:srgbClr val="000000"/>
              </a:solidFill>
              <a:latin typeface="Times New Roman" panose="02020603050405020304" pitchFamily="18" charset="0"/>
            </a:endParaRPr>
          </a:p>
          <a:p>
            <a:r>
              <a:rPr lang="en-US" sz="1600" b="1" i="0" u="none" strike="noStrike" baseline="0" dirty="0">
                <a:solidFill>
                  <a:srgbClr val="000000"/>
                </a:solidFill>
                <a:latin typeface="Times New Roman" panose="02020603050405020304" pitchFamily="18" charset="0"/>
              </a:rPr>
              <a:t> Satisfaction levels of consumers on current shopping experiences</a:t>
            </a:r>
            <a:endParaRPr lang="en-US" sz="1600" b="1" dirty="0"/>
          </a:p>
        </p:txBody>
      </p:sp>
      <p:sp>
        <p:nvSpPr>
          <p:cNvPr id="50" name="TextBox 49">
            <a:extLst>
              <a:ext uri="{FF2B5EF4-FFF2-40B4-BE49-F238E27FC236}">
                <a16:creationId xmlns:a16="http://schemas.microsoft.com/office/drawing/2014/main" id="{30B2F7C1-A182-C3A8-C7A9-F33F54C985D4}"/>
              </a:ext>
            </a:extLst>
          </p:cNvPr>
          <p:cNvSpPr txBox="1"/>
          <p:nvPr/>
        </p:nvSpPr>
        <p:spPr>
          <a:xfrm>
            <a:off x="7148895" y="4816431"/>
            <a:ext cx="4796733" cy="830997"/>
          </a:xfrm>
          <a:prstGeom prst="rect">
            <a:avLst/>
          </a:prstGeom>
          <a:noFill/>
        </p:spPr>
        <p:txBody>
          <a:bodyPr wrap="square" rtlCol="0">
            <a:spAutoFit/>
          </a:bodyPr>
          <a:lstStyle/>
          <a:p>
            <a:r>
              <a:rPr lang="en-US" sz="1600" b="1" dirty="0">
                <a:solidFill>
                  <a:srgbClr val="000000"/>
                </a:solidFill>
                <a:latin typeface="Times New Roman" panose="02020603050405020304" pitchFamily="18" charset="0"/>
              </a:rPr>
              <a:t>P</a:t>
            </a:r>
            <a:r>
              <a:rPr lang="en-US" sz="1600" b="1" i="0" u="none" strike="noStrike" baseline="0" dirty="0">
                <a:solidFill>
                  <a:srgbClr val="000000"/>
                </a:solidFill>
                <a:latin typeface="Times New Roman" panose="02020603050405020304" pitchFamily="18" charset="0"/>
              </a:rPr>
              <a:t>ercentage of people think that it is time consuming to pay the bill in departmental shops after standing in line to scan each product</a:t>
            </a:r>
            <a:endParaRPr lang="en-US" sz="1600" b="1" dirty="0"/>
          </a:p>
        </p:txBody>
      </p:sp>
      <p:grpSp>
        <p:nvGrpSpPr>
          <p:cNvPr id="2" name="Group 1">
            <a:extLst>
              <a:ext uri="{FF2B5EF4-FFF2-40B4-BE49-F238E27FC236}">
                <a16:creationId xmlns:a16="http://schemas.microsoft.com/office/drawing/2014/main" id="{590E23AA-9B56-6FFA-0564-600A7FF73A1B}"/>
              </a:ext>
            </a:extLst>
          </p:cNvPr>
          <p:cNvGrpSpPr/>
          <p:nvPr/>
        </p:nvGrpSpPr>
        <p:grpSpPr>
          <a:xfrm>
            <a:off x="7280682" y="1346373"/>
            <a:ext cx="3531895" cy="2549709"/>
            <a:chOff x="7280682" y="1346373"/>
            <a:chExt cx="3531895" cy="2549709"/>
          </a:xfrm>
        </p:grpSpPr>
        <p:grpSp>
          <p:nvGrpSpPr>
            <p:cNvPr id="41" name="Group 40">
              <a:extLst>
                <a:ext uri="{FF2B5EF4-FFF2-40B4-BE49-F238E27FC236}">
                  <a16:creationId xmlns:a16="http://schemas.microsoft.com/office/drawing/2014/main" id="{9119EC0F-BEFE-AC75-29FE-52DFEA1F2A17}"/>
                </a:ext>
              </a:extLst>
            </p:cNvPr>
            <p:cNvGrpSpPr/>
            <p:nvPr/>
          </p:nvGrpSpPr>
          <p:grpSpPr>
            <a:xfrm>
              <a:off x="7280682" y="1346373"/>
              <a:ext cx="2658179" cy="2471087"/>
              <a:chOff x="1146411" y="1111449"/>
              <a:chExt cx="2658179" cy="2471087"/>
            </a:xfrm>
          </p:grpSpPr>
          <p:sp>
            <p:nvSpPr>
              <p:cNvPr id="42" name="TextBox 41">
                <a:extLst>
                  <a:ext uri="{FF2B5EF4-FFF2-40B4-BE49-F238E27FC236}">
                    <a16:creationId xmlns:a16="http://schemas.microsoft.com/office/drawing/2014/main" id="{154129AC-71B0-2731-9310-EC24A4E9A237}"/>
                  </a:ext>
                </a:extLst>
              </p:cNvPr>
              <p:cNvSpPr txBox="1"/>
              <p:nvPr/>
            </p:nvSpPr>
            <p:spPr>
              <a:xfrm>
                <a:off x="2281330" y="1111449"/>
                <a:ext cx="485518" cy="369332"/>
              </a:xfrm>
              <a:prstGeom prst="rect">
                <a:avLst/>
              </a:prstGeom>
              <a:noFill/>
            </p:spPr>
            <p:txBody>
              <a:bodyPr wrap="none" rtlCol="0">
                <a:spAutoFit/>
              </a:bodyPr>
              <a:lstStyle/>
              <a:p>
                <a:r>
                  <a:rPr lang="en-US" dirty="0"/>
                  <a:t>Yes</a:t>
                </a:r>
              </a:p>
            </p:txBody>
          </p:sp>
          <p:sp>
            <p:nvSpPr>
              <p:cNvPr id="43" name="TextBox 42">
                <a:extLst>
                  <a:ext uri="{FF2B5EF4-FFF2-40B4-BE49-F238E27FC236}">
                    <a16:creationId xmlns:a16="http://schemas.microsoft.com/office/drawing/2014/main" id="{BBF74B11-DD38-DD18-ED92-ACEF3CD05E9D}"/>
                  </a:ext>
                </a:extLst>
              </p:cNvPr>
              <p:cNvSpPr txBox="1"/>
              <p:nvPr/>
            </p:nvSpPr>
            <p:spPr>
              <a:xfrm>
                <a:off x="2144818" y="2205249"/>
                <a:ext cx="758541" cy="369332"/>
              </a:xfrm>
              <a:prstGeom prst="rect">
                <a:avLst/>
              </a:prstGeom>
              <a:noFill/>
            </p:spPr>
            <p:txBody>
              <a:bodyPr wrap="none" rtlCol="0">
                <a:spAutoFit/>
              </a:bodyPr>
              <a:lstStyle/>
              <a:p>
                <a:r>
                  <a:rPr lang="en-US" dirty="0"/>
                  <a:t>88.8%</a:t>
                </a:r>
              </a:p>
            </p:txBody>
          </p:sp>
          <p:grpSp>
            <p:nvGrpSpPr>
              <p:cNvPr id="44" name="Group 43">
                <a:extLst>
                  <a:ext uri="{FF2B5EF4-FFF2-40B4-BE49-F238E27FC236}">
                    <a16:creationId xmlns:a16="http://schemas.microsoft.com/office/drawing/2014/main" id="{0E6C1E8B-B5CF-F392-F940-FF63C23C5EC8}"/>
                  </a:ext>
                </a:extLst>
              </p:cNvPr>
              <p:cNvGrpSpPr/>
              <p:nvPr/>
            </p:nvGrpSpPr>
            <p:grpSpPr>
              <a:xfrm>
                <a:off x="1146411" y="1480781"/>
                <a:ext cx="2658179" cy="2101755"/>
                <a:chOff x="1146411" y="1480781"/>
                <a:chExt cx="2658179" cy="2101755"/>
              </a:xfrm>
              <a:solidFill>
                <a:schemeClr val="accent1"/>
              </a:solidFill>
            </p:grpSpPr>
            <p:sp>
              <p:nvSpPr>
                <p:cNvPr id="46" name="Block Arc 45">
                  <a:extLst>
                    <a:ext uri="{FF2B5EF4-FFF2-40B4-BE49-F238E27FC236}">
                      <a16:creationId xmlns:a16="http://schemas.microsoft.com/office/drawing/2014/main" id="{0FA1FD1B-CCB1-6BFD-EE5A-C271119F368D}"/>
                    </a:ext>
                  </a:extLst>
                </p:cNvPr>
                <p:cNvSpPr/>
                <p:nvPr/>
              </p:nvSpPr>
              <p:spPr>
                <a:xfrm>
                  <a:off x="1146412" y="1480781"/>
                  <a:ext cx="2658178" cy="2101755"/>
                </a:xfrm>
                <a:prstGeom prst="blockArc">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lowchart: Delay 46">
                  <a:extLst>
                    <a:ext uri="{FF2B5EF4-FFF2-40B4-BE49-F238E27FC236}">
                      <a16:creationId xmlns:a16="http://schemas.microsoft.com/office/drawing/2014/main" id="{8EEBA5A8-A5C3-35C2-19AD-58C8B618085E}"/>
                    </a:ext>
                  </a:extLst>
                </p:cNvPr>
                <p:cNvSpPr/>
                <p:nvPr/>
              </p:nvSpPr>
              <p:spPr>
                <a:xfrm rot="5400000">
                  <a:off x="3296995" y="2469012"/>
                  <a:ext cx="488631" cy="526554"/>
                </a:xfrm>
                <a:prstGeom prst="flowChartDelay">
                  <a:avLst/>
                </a:prstGeom>
                <a:solidFill>
                  <a:srgbClr val="2D54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lowchart: Delay 47">
                  <a:extLst>
                    <a:ext uri="{FF2B5EF4-FFF2-40B4-BE49-F238E27FC236}">
                      <a16:creationId xmlns:a16="http://schemas.microsoft.com/office/drawing/2014/main" id="{962EE86F-5413-8429-23E8-C60C738C2358}"/>
                    </a:ext>
                  </a:extLst>
                </p:cNvPr>
                <p:cNvSpPr/>
                <p:nvPr/>
              </p:nvSpPr>
              <p:spPr>
                <a:xfrm rot="5400000">
                  <a:off x="1165373" y="2446850"/>
                  <a:ext cx="488631" cy="526555"/>
                </a:xfrm>
                <a:prstGeom prst="flowChartDelay">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lowchart: Delay 44">
                <a:extLst>
                  <a:ext uri="{FF2B5EF4-FFF2-40B4-BE49-F238E27FC236}">
                    <a16:creationId xmlns:a16="http://schemas.microsoft.com/office/drawing/2014/main" id="{89F82C79-FFA6-E541-8483-F7EB1E7529E1}"/>
                  </a:ext>
                </a:extLst>
              </p:cNvPr>
              <p:cNvSpPr/>
              <p:nvPr/>
            </p:nvSpPr>
            <p:spPr>
              <a:xfrm rot="5400000">
                <a:off x="3399605" y="2615308"/>
                <a:ext cx="283414" cy="526556"/>
              </a:xfrm>
              <a:prstGeom prst="flowChartDelay">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TextBox 50">
              <a:extLst>
                <a:ext uri="{FF2B5EF4-FFF2-40B4-BE49-F238E27FC236}">
                  <a16:creationId xmlns:a16="http://schemas.microsoft.com/office/drawing/2014/main" id="{58CC6475-3754-5307-561E-493DED1F3CE9}"/>
                </a:ext>
              </a:extLst>
            </p:cNvPr>
            <p:cNvSpPr txBox="1"/>
            <p:nvPr/>
          </p:nvSpPr>
          <p:spPr>
            <a:xfrm>
              <a:off x="9814496" y="2972752"/>
              <a:ext cx="998081" cy="923330"/>
            </a:xfrm>
            <a:prstGeom prst="rect">
              <a:avLst/>
            </a:prstGeom>
            <a:noFill/>
          </p:spPr>
          <p:txBody>
            <a:bodyPr wrap="square" rtlCol="0">
              <a:spAutoFit/>
            </a:bodyPr>
            <a:lstStyle/>
            <a:p>
              <a:pPr algn="ctr"/>
              <a:r>
                <a:rPr lang="en-US" dirty="0"/>
                <a:t>No</a:t>
              </a:r>
            </a:p>
            <a:p>
              <a:pPr algn="ctr"/>
              <a:endParaRPr lang="en-US" dirty="0"/>
            </a:p>
            <a:p>
              <a:endParaRPr lang="en-US" dirty="0"/>
            </a:p>
          </p:txBody>
        </p:sp>
        <p:sp>
          <p:nvSpPr>
            <p:cNvPr id="52" name="TextBox 51">
              <a:extLst>
                <a:ext uri="{FF2B5EF4-FFF2-40B4-BE49-F238E27FC236}">
                  <a16:creationId xmlns:a16="http://schemas.microsoft.com/office/drawing/2014/main" id="{CDEA0E01-D33A-B38A-6994-73213787E3D0}"/>
                </a:ext>
              </a:extLst>
            </p:cNvPr>
            <p:cNvSpPr txBox="1"/>
            <p:nvPr/>
          </p:nvSpPr>
          <p:spPr>
            <a:xfrm>
              <a:off x="9239951" y="3314902"/>
              <a:ext cx="931879" cy="369332"/>
            </a:xfrm>
            <a:prstGeom prst="rect">
              <a:avLst/>
            </a:prstGeom>
            <a:noFill/>
          </p:spPr>
          <p:txBody>
            <a:bodyPr wrap="square" rtlCol="0">
              <a:spAutoFit/>
            </a:bodyPr>
            <a:lstStyle/>
            <a:p>
              <a:r>
                <a:rPr lang="en-US" dirty="0"/>
                <a:t>11.2%</a:t>
              </a:r>
            </a:p>
          </p:txBody>
        </p:sp>
      </p:grpSp>
    </p:spTree>
    <p:extLst>
      <p:ext uri="{BB962C8B-B14F-4D97-AF65-F5344CB8AC3E}">
        <p14:creationId xmlns:p14="http://schemas.microsoft.com/office/powerpoint/2010/main" val="154316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anim calcmode="lin" valueType="num">
                                      <p:cBhvr additive="base">
                                        <p:cTn id="13" dur="500" fill="hold"/>
                                        <p:tgtEl>
                                          <p:spTgt spid="50"/>
                                        </p:tgtEl>
                                        <p:attrNameLst>
                                          <p:attrName>ppt_x</p:attrName>
                                        </p:attrNameLst>
                                      </p:cBhvr>
                                      <p:tavLst>
                                        <p:tav tm="0">
                                          <p:val>
                                            <p:strVal val="#ppt_x"/>
                                          </p:val>
                                        </p:tav>
                                        <p:tav tm="100000">
                                          <p:val>
                                            <p:strVal val="#ppt_x"/>
                                          </p:val>
                                        </p:tav>
                                      </p:tavLst>
                                    </p:anim>
                                    <p:anim calcmode="lin" valueType="num">
                                      <p:cBhvr additive="base">
                                        <p:cTn id="14"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ADC92AE-F6AB-FFD3-C80D-6DEA96A4226A}"/>
              </a:ext>
            </a:extLst>
          </p:cNvPr>
          <p:cNvGrpSpPr/>
          <p:nvPr/>
        </p:nvGrpSpPr>
        <p:grpSpPr>
          <a:xfrm>
            <a:off x="5592335" y="404705"/>
            <a:ext cx="6786094" cy="2859966"/>
            <a:chOff x="1418055" y="1003993"/>
            <a:chExt cx="7412060" cy="3018779"/>
          </a:xfrm>
        </p:grpSpPr>
        <p:grpSp>
          <p:nvGrpSpPr>
            <p:cNvPr id="2" name="Group 1">
              <a:extLst>
                <a:ext uri="{FF2B5EF4-FFF2-40B4-BE49-F238E27FC236}">
                  <a16:creationId xmlns:a16="http://schemas.microsoft.com/office/drawing/2014/main" id="{FC72A2A0-33A6-1E10-5224-FBF3C3FEB6B2}"/>
                </a:ext>
              </a:extLst>
            </p:cNvPr>
            <p:cNvGrpSpPr/>
            <p:nvPr/>
          </p:nvGrpSpPr>
          <p:grpSpPr>
            <a:xfrm>
              <a:off x="3604430" y="1003993"/>
              <a:ext cx="3001402" cy="3018779"/>
              <a:chOff x="2379929" y="487158"/>
              <a:chExt cx="3001402" cy="3018779"/>
            </a:xfrm>
          </p:grpSpPr>
          <p:sp>
            <p:nvSpPr>
              <p:cNvPr id="3" name="Block Arc 2">
                <a:extLst>
                  <a:ext uri="{FF2B5EF4-FFF2-40B4-BE49-F238E27FC236}">
                    <a16:creationId xmlns:a16="http://schemas.microsoft.com/office/drawing/2014/main" id="{D7529F46-90E7-7ADD-A031-F2D6C6539750}"/>
                  </a:ext>
                </a:extLst>
              </p:cNvPr>
              <p:cNvSpPr/>
              <p:nvPr/>
            </p:nvSpPr>
            <p:spPr>
              <a:xfrm>
                <a:off x="2382099" y="506705"/>
                <a:ext cx="2999232" cy="2999232"/>
              </a:xfrm>
              <a:prstGeom prst="blockArc">
                <a:avLst>
                  <a:gd name="adj1" fmla="val 8378470"/>
                  <a:gd name="adj2" fmla="val 18477958"/>
                  <a:gd name="adj3" fmla="val 15340"/>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Block Arc 3">
                <a:extLst>
                  <a:ext uri="{FF2B5EF4-FFF2-40B4-BE49-F238E27FC236}">
                    <a16:creationId xmlns:a16="http://schemas.microsoft.com/office/drawing/2014/main" id="{4D70780C-CF57-0993-E918-BD166E963C88}"/>
                  </a:ext>
                </a:extLst>
              </p:cNvPr>
              <p:cNvSpPr/>
              <p:nvPr/>
            </p:nvSpPr>
            <p:spPr>
              <a:xfrm rot="6771080">
                <a:off x="2366530" y="500557"/>
                <a:ext cx="2945595" cy="2918798"/>
              </a:xfrm>
              <a:prstGeom prst="blockArc">
                <a:avLst>
                  <a:gd name="adj1" fmla="val 7953685"/>
                  <a:gd name="adj2" fmla="val 1613801"/>
                  <a:gd name="adj3" fmla="val 1577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5" name="TextBox 4">
              <a:extLst>
                <a:ext uri="{FF2B5EF4-FFF2-40B4-BE49-F238E27FC236}">
                  <a16:creationId xmlns:a16="http://schemas.microsoft.com/office/drawing/2014/main" id="{04C75A39-08F8-1528-774D-B3788ABEDFD6}"/>
                </a:ext>
              </a:extLst>
            </p:cNvPr>
            <p:cNvSpPr txBox="1"/>
            <p:nvPr/>
          </p:nvSpPr>
          <p:spPr>
            <a:xfrm rot="5595854">
              <a:off x="5922692" y="2468144"/>
              <a:ext cx="758541" cy="369332"/>
            </a:xfrm>
            <a:prstGeom prst="rect">
              <a:avLst/>
            </a:prstGeom>
            <a:noFill/>
          </p:spPr>
          <p:txBody>
            <a:bodyPr wrap="none" rtlCol="0">
              <a:spAutoFit/>
            </a:bodyPr>
            <a:lstStyle/>
            <a:p>
              <a:r>
                <a:rPr lang="en-US" dirty="0"/>
                <a:t>71.2%</a:t>
              </a:r>
            </a:p>
          </p:txBody>
        </p:sp>
        <p:sp>
          <p:nvSpPr>
            <p:cNvPr id="6" name="TextBox 5">
              <a:extLst>
                <a:ext uri="{FF2B5EF4-FFF2-40B4-BE49-F238E27FC236}">
                  <a16:creationId xmlns:a16="http://schemas.microsoft.com/office/drawing/2014/main" id="{B9D64A37-DC07-4BC9-721A-C47250020924}"/>
                </a:ext>
              </a:extLst>
            </p:cNvPr>
            <p:cNvSpPr txBox="1"/>
            <p:nvPr/>
          </p:nvSpPr>
          <p:spPr>
            <a:xfrm rot="5774381">
              <a:off x="3394987" y="2283478"/>
              <a:ext cx="920582" cy="369332"/>
            </a:xfrm>
            <a:prstGeom prst="rect">
              <a:avLst/>
            </a:prstGeom>
            <a:noFill/>
          </p:spPr>
          <p:txBody>
            <a:bodyPr wrap="square" rtlCol="0">
              <a:spAutoFit/>
            </a:bodyPr>
            <a:lstStyle/>
            <a:p>
              <a:r>
                <a:rPr lang="en-US" dirty="0"/>
                <a:t>28.8%</a:t>
              </a:r>
            </a:p>
          </p:txBody>
        </p:sp>
        <p:cxnSp>
          <p:nvCxnSpPr>
            <p:cNvPr id="7" name="Straight Arrow Connector 6">
              <a:extLst>
                <a:ext uri="{FF2B5EF4-FFF2-40B4-BE49-F238E27FC236}">
                  <a16:creationId xmlns:a16="http://schemas.microsoft.com/office/drawing/2014/main" id="{093A5E9A-D6C8-2930-532B-DD3F390C6E35}"/>
                </a:ext>
              </a:extLst>
            </p:cNvPr>
            <p:cNvCxnSpPr>
              <a:cxnSpLocks/>
            </p:cNvCxnSpPr>
            <p:nvPr/>
          </p:nvCxnSpPr>
          <p:spPr>
            <a:xfrm>
              <a:off x="6605832" y="2652810"/>
              <a:ext cx="4849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EEFDA361-8306-3728-371D-1992DAC3CDC4}"/>
                </a:ext>
              </a:extLst>
            </p:cNvPr>
            <p:cNvSpPr txBox="1"/>
            <p:nvPr/>
          </p:nvSpPr>
          <p:spPr>
            <a:xfrm>
              <a:off x="7055422" y="2311699"/>
              <a:ext cx="1774693" cy="974602"/>
            </a:xfrm>
            <a:prstGeom prst="rect">
              <a:avLst/>
            </a:prstGeom>
            <a:noFill/>
          </p:spPr>
          <p:txBody>
            <a:bodyPr wrap="square" rtlCol="0">
              <a:spAutoFit/>
            </a:bodyPr>
            <a:lstStyle/>
            <a:p>
              <a:r>
                <a:rPr lang="en-US" dirty="0"/>
                <a:t>Automatic Billing With Payment</a:t>
              </a:r>
            </a:p>
          </p:txBody>
        </p:sp>
        <p:cxnSp>
          <p:nvCxnSpPr>
            <p:cNvPr id="9" name="Straight Arrow Connector 8">
              <a:extLst>
                <a:ext uri="{FF2B5EF4-FFF2-40B4-BE49-F238E27FC236}">
                  <a16:creationId xmlns:a16="http://schemas.microsoft.com/office/drawing/2014/main" id="{AB327602-95C4-810C-FB98-3FA4A8DC4890}"/>
                </a:ext>
              </a:extLst>
            </p:cNvPr>
            <p:cNvCxnSpPr>
              <a:cxnSpLocks/>
              <a:endCxn id="10" idx="3"/>
            </p:cNvCxnSpPr>
            <p:nvPr/>
          </p:nvCxnSpPr>
          <p:spPr>
            <a:xfrm flipH="1">
              <a:off x="3157011" y="2468144"/>
              <a:ext cx="4495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09DA9470-3365-4306-9F63-35832D727016}"/>
                </a:ext>
              </a:extLst>
            </p:cNvPr>
            <p:cNvSpPr txBox="1"/>
            <p:nvPr/>
          </p:nvSpPr>
          <p:spPr>
            <a:xfrm>
              <a:off x="1418055" y="2144978"/>
              <a:ext cx="1738956" cy="646331"/>
            </a:xfrm>
            <a:prstGeom prst="rect">
              <a:avLst/>
            </a:prstGeom>
            <a:noFill/>
          </p:spPr>
          <p:txBody>
            <a:bodyPr wrap="square" rtlCol="0">
              <a:spAutoFit/>
            </a:bodyPr>
            <a:lstStyle/>
            <a:p>
              <a:r>
                <a:rPr lang="en-US" dirty="0"/>
                <a:t>Automatic Billing Only</a:t>
              </a:r>
            </a:p>
          </p:txBody>
        </p:sp>
      </p:grpSp>
      <p:grpSp>
        <p:nvGrpSpPr>
          <p:cNvPr id="14" name="Group 13">
            <a:extLst>
              <a:ext uri="{FF2B5EF4-FFF2-40B4-BE49-F238E27FC236}">
                <a16:creationId xmlns:a16="http://schemas.microsoft.com/office/drawing/2014/main" id="{076A435E-85B0-CE6C-46D1-5389F23B18D7}"/>
              </a:ext>
            </a:extLst>
          </p:cNvPr>
          <p:cNvGrpSpPr/>
          <p:nvPr/>
        </p:nvGrpSpPr>
        <p:grpSpPr>
          <a:xfrm>
            <a:off x="49724" y="2810990"/>
            <a:ext cx="6594494" cy="3408156"/>
            <a:chOff x="1786686" y="561605"/>
            <a:chExt cx="6657735" cy="4063273"/>
          </a:xfrm>
        </p:grpSpPr>
        <p:cxnSp>
          <p:nvCxnSpPr>
            <p:cNvPr id="15" name="Straight Connector 14">
              <a:extLst>
                <a:ext uri="{FF2B5EF4-FFF2-40B4-BE49-F238E27FC236}">
                  <a16:creationId xmlns:a16="http://schemas.microsoft.com/office/drawing/2014/main" id="{170B5626-0042-1E65-5EBB-A96160D273FB}"/>
                </a:ext>
              </a:extLst>
            </p:cNvPr>
            <p:cNvCxnSpPr>
              <a:cxnSpLocks/>
            </p:cNvCxnSpPr>
            <p:nvPr/>
          </p:nvCxnSpPr>
          <p:spPr>
            <a:xfrm>
              <a:off x="2380155" y="3985969"/>
              <a:ext cx="6064266"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BEA261E-F58A-85BC-2566-A9BCEBEB35D3}"/>
                </a:ext>
              </a:extLst>
            </p:cNvPr>
            <p:cNvCxnSpPr>
              <a:cxnSpLocks/>
            </p:cNvCxnSpPr>
            <p:nvPr/>
          </p:nvCxnSpPr>
          <p:spPr>
            <a:xfrm>
              <a:off x="2380155" y="2876208"/>
              <a:ext cx="6054161"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1AA916DD-6846-28D4-C767-6EC16A141875}"/>
                </a:ext>
              </a:extLst>
            </p:cNvPr>
            <p:cNvSpPr txBox="1"/>
            <p:nvPr/>
          </p:nvSpPr>
          <p:spPr>
            <a:xfrm>
              <a:off x="4724690" y="4040102"/>
              <a:ext cx="931436" cy="584776"/>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Businessman</a:t>
              </a:r>
            </a:p>
          </p:txBody>
        </p:sp>
        <p:sp>
          <p:nvSpPr>
            <p:cNvPr id="18" name="TextBox 17">
              <a:extLst>
                <a:ext uri="{FF2B5EF4-FFF2-40B4-BE49-F238E27FC236}">
                  <a16:creationId xmlns:a16="http://schemas.microsoft.com/office/drawing/2014/main" id="{EF13C343-E67B-4776-3D32-6A8ACD9A7187}"/>
                </a:ext>
              </a:extLst>
            </p:cNvPr>
            <p:cNvSpPr txBox="1"/>
            <p:nvPr/>
          </p:nvSpPr>
          <p:spPr>
            <a:xfrm>
              <a:off x="2221050" y="3991277"/>
              <a:ext cx="920478"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Service Holder</a:t>
              </a:r>
            </a:p>
          </p:txBody>
        </p:sp>
        <p:sp>
          <p:nvSpPr>
            <p:cNvPr id="19" name="TextBox 18">
              <a:extLst>
                <a:ext uri="{FF2B5EF4-FFF2-40B4-BE49-F238E27FC236}">
                  <a16:creationId xmlns:a16="http://schemas.microsoft.com/office/drawing/2014/main" id="{A88085D7-36CB-3C64-8628-0E510BE9F9C6}"/>
                </a:ext>
              </a:extLst>
            </p:cNvPr>
            <p:cNvSpPr txBox="1"/>
            <p:nvPr/>
          </p:nvSpPr>
          <p:spPr>
            <a:xfrm>
              <a:off x="3007396" y="4033079"/>
              <a:ext cx="982961"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Engineer</a:t>
              </a:r>
            </a:p>
          </p:txBody>
        </p:sp>
        <p:sp>
          <p:nvSpPr>
            <p:cNvPr id="20" name="TextBox 19">
              <a:extLst>
                <a:ext uri="{FF2B5EF4-FFF2-40B4-BE49-F238E27FC236}">
                  <a16:creationId xmlns:a16="http://schemas.microsoft.com/office/drawing/2014/main" id="{E1497C3C-3CE5-1789-07EB-9BD7FBF9E53D}"/>
                </a:ext>
              </a:extLst>
            </p:cNvPr>
            <p:cNvSpPr txBox="1"/>
            <p:nvPr/>
          </p:nvSpPr>
          <p:spPr>
            <a:xfrm>
              <a:off x="5556536" y="4060344"/>
              <a:ext cx="869149"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Student</a:t>
              </a:r>
            </a:p>
          </p:txBody>
        </p:sp>
        <p:cxnSp>
          <p:nvCxnSpPr>
            <p:cNvPr id="21" name="Straight Connector 20">
              <a:extLst>
                <a:ext uri="{FF2B5EF4-FFF2-40B4-BE49-F238E27FC236}">
                  <a16:creationId xmlns:a16="http://schemas.microsoft.com/office/drawing/2014/main" id="{2C2D4C82-68D6-4197-159E-210CDD0FA71D}"/>
                </a:ext>
              </a:extLst>
            </p:cNvPr>
            <p:cNvCxnSpPr>
              <a:cxnSpLocks/>
            </p:cNvCxnSpPr>
            <p:nvPr/>
          </p:nvCxnSpPr>
          <p:spPr>
            <a:xfrm>
              <a:off x="2390260" y="1838978"/>
              <a:ext cx="6054161" cy="0"/>
            </a:xfrm>
            <a:prstGeom prst="line">
              <a:avLst/>
            </a:prstGeom>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98F9580B-C274-8C0E-5149-501E9A4300A6}"/>
                </a:ext>
              </a:extLst>
            </p:cNvPr>
            <p:cNvSpPr/>
            <p:nvPr/>
          </p:nvSpPr>
          <p:spPr>
            <a:xfrm>
              <a:off x="3236421" y="1439838"/>
              <a:ext cx="489418" cy="2550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0484BAC9-9A22-0DD0-6DAC-D48BC42D759F}"/>
                </a:ext>
              </a:extLst>
            </p:cNvPr>
            <p:cNvSpPr/>
            <p:nvPr/>
          </p:nvSpPr>
          <p:spPr>
            <a:xfrm>
              <a:off x="4110354" y="1843161"/>
              <a:ext cx="489418" cy="2138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D498AFB5-8C4C-AD1C-40AE-6918E5C5D91A}"/>
                </a:ext>
              </a:extLst>
            </p:cNvPr>
            <p:cNvSpPr/>
            <p:nvPr/>
          </p:nvSpPr>
          <p:spPr>
            <a:xfrm>
              <a:off x="4928378" y="1944808"/>
              <a:ext cx="489418" cy="20453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17D440F9-E333-AD02-557D-57E7A4080FF6}"/>
                </a:ext>
              </a:extLst>
            </p:cNvPr>
            <p:cNvSpPr/>
            <p:nvPr/>
          </p:nvSpPr>
          <p:spPr>
            <a:xfrm>
              <a:off x="6564426" y="2732315"/>
              <a:ext cx="489418" cy="12454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687E59B2-E067-AC7C-E9A2-CEF5728FA61F}"/>
                </a:ext>
              </a:extLst>
            </p:cNvPr>
            <p:cNvSpPr/>
            <p:nvPr/>
          </p:nvSpPr>
          <p:spPr>
            <a:xfrm>
              <a:off x="7382450" y="3765193"/>
              <a:ext cx="489418" cy="216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2B7E23A8-9715-1CB0-8DA3-A65F06323F8E}"/>
                </a:ext>
              </a:extLst>
            </p:cNvPr>
            <p:cNvSpPr/>
            <p:nvPr/>
          </p:nvSpPr>
          <p:spPr>
            <a:xfrm>
              <a:off x="5746402" y="2088107"/>
              <a:ext cx="489418" cy="19061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1E71F3EC-CD65-9866-2594-2BE3FA9CE593}"/>
                </a:ext>
              </a:extLst>
            </p:cNvPr>
            <p:cNvSpPr txBox="1"/>
            <p:nvPr/>
          </p:nvSpPr>
          <p:spPr>
            <a:xfrm>
              <a:off x="3990357" y="4040102"/>
              <a:ext cx="788999"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Doctor</a:t>
              </a:r>
            </a:p>
          </p:txBody>
        </p:sp>
        <p:sp>
          <p:nvSpPr>
            <p:cNvPr id="29" name="TextBox 28">
              <a:extLst>
                <a:ext uri="{FF2B5EF4-FFF2-40B4-BE49-F238E27FC236}">
                  <a16:creationId xmlns:a16="http://schemas.microsoft.com/office/drawing/2014/main" id="{AA0DB263-5472-7397-5850-45E8479EDF33}"/>
                </a:ext>
              </a:extLst>
            </p:cNvPr>
            <p:cNvSpPr txBox="1"/>
            <p:nvPr/>
          </p:nvSpPr>
          <p:spPr>
            <a:xfrm>
              <a:off x="6421487" y="4052100"/>
              <a:ext cx="931537"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Teacher </a:t>
              </a:r>
            </a:p>
          </p:txBody>
        </p:sp>
        <p:sp>
          <p:nvSpPr>
            <p:cNvPr id="30" name="TextBox 29">
              <a:extLst>
                <a:ext uri="{FF2B5EF4-FFF2-40B4-BE49-F238E27FC236}">
                  <a16:creationId xmlns:a16="http://schemas.microsoft.com/office/drawing/2014/main" id="{993A965A-D8EF-75E7-972A-70A2F310DACD}"/>
                </a:ext>
              </a:extLst>
            </p:cNvPr>
            <p:cNvSpPr txBox="1"/>
            <p:nvPr/>
          </p:nvSpPr>
          <p:spPr>
            <a:xfrm>
              <a:off x="7274249" y="4052100"/>
              <a:ext cx="1098378"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Housewife</a:t>
              </a:r>
            </a:p>
          </p:txBody>
        </p:sp>
        <p:sp>
          <p:nvSpPr>
            <p:cNvPr id="31" name="TextBox 30">
              <a:extLst>
                <a:ext uri="{FF2B5EF4-FFF2-40B4-BE49-F238E27FC236}">
                  <a16:creationId xmlns:a16="http://schemas.microsoft.com/office/drawing/2014/main" id="{8AAFE880-5675-6BED-8CA6-66577D58F115}"/>
                </a:ext>
              </a:extLst>
            </p:cNvPr>
            <p:cNvSpPr txBox="1"/>
            <p:nvPr/>
          </p:nvSpPr>
          <p:spPr>
            <a:xfrm>
              <a:off x="1795745" y="561605"/>
              <a:ext cx="393056"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30</a:t>
              </a:r>
            </a:p>
          </p:txBody>
        </p:sp>
        <p:sp>
          <p:nvSpPr>
            <p:cNvPr id="32" name="TextBox 31">
              <a:extLst>
                <a:ext uri="{FF2B5EF4-FFF2-40B4-BE49-F238E27FC236}">
                  <a16:creationId xmlns:a16="http://schemas.microsoft.com/office/drawing/2014/main" id="{89A78DE3-7321-5BE8-0179-D324EEA366C5}"/>
                </a:ext>
              </a:extLst>
            </p:cNvPr>
            <p:cNvSpPr txBox="1"/>
            <p:nvPr/>
          </p:nvSpPr>
          <p:spPr>
            <a:xfrm>
              <a:off x="1786686" y="1650250"/>
              <a:ext cx="393056"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20</a:t>
              </a:r>
            </a:p>
          </p:txBody>
        </p:sp>
        <p:sp>
          <p:nvSpPr>
            <p:cNvPr id="33" name="TextBox 32">
              <a:extLst>
                <a:ext uri="{FF2B5EF4-FFF2-40B4-BE49-F238E27FC236}">
                  <a16:creationId xmlns:a16="http://schemas.microsoft.com/office/drawing/2014/main" id="{24AADA8C-878A-A74B-93CD-0D3506811444}"/>
                </a:ext>
              </a:extLst>
            </p:cNvPr>
            <p:cNvSpPr txBox="1"/>
            <p:nvPr/>
          </p:nvSpPr>
          <p:spPr>
            <a:xfrm>
              <a:off x="1826830" y="2674785"/>
              <a:ext cx="393056"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10</a:t>
              </a:r>
            </a:p>
          </p:txBody>
        </p:sp>
        <p:cxnSp>
          <p:nvCxnSpPr>
            <p:cNvPr id="34" name="Straight Connector 33">
              <a:extLst>
                <a:ext uri="{FF2B5EF4-FFF2-40B4-BE49-F238E27FC236}">
                  <a16:creationId xmlns:a16="http://schemas.microsoft.com/office/drawing/2014/main" id="{C6B83ED5-C094-4657-5723-73661B3C643C}"/>
                </a:ext>
              </a:extLst>
            </p:cNvPr>
            <p:cNvCxnSpPr>
              <a:cxnSpLocks/>
            </p:cNvCxnSpPr>
            <p:nvPr/>
          </p:nvCxnSpPr>
          <p:spPr>
            <a:xfrm>
              <a:off x="2390260" y="730882"/>
              <a:ext cx="6054161" cy="0"/>
            </a:xfrm>
            <a:prstGeom prst="line">
              <a:avLst/>
            </a:prstGeom>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3ACE6C57-6261-5FE0-E677-CF5BBD9525FA}"/>
                </a:ext>
              </a:extLst>
            </p:cNvPr>
            <p:cNvSpPr txBox="1"/>
            <p:nvPr/>
          </p:nvSpPr>
          <p:spPr>
            <a:xfrm>
              <a:off x="1882708" y="3761132"/>
              <a:ext cx="288862"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0</a:t>
              </a:r>
            </a:p>
          </p:txBody>
        </p:sp>
        <p:sp>
          <p:nvSpPr>
            <p:cNvPr id="36" name="Rectangle 35">
              <a:extLst>
                <a:ext uri="{FF2B5EF4-FFF2-40B4-BE49-F238E27FC236}">
                  <a16:creationId xmlns:a16="http://schemas.microsoft.com/office/drawing/2014/main" id="{F78F9361-C933-49DC-CB89-39BEB22F0DC5}"/>
                </a:ext>
              </a:extLst>
            </p:cNvPr>
            <p:cNvSpPr/>
            <p:nvPr/>
          </p:nvSpPr>
          <p:spPr>
            <a:xfrm>
              <a:off x="2390260" y="828451"/>
              <a:ext cx="489418" cy="31492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latin typeface="Times New Roman" panose="02020603050405020304" pitchFamily="18" charset="0"/>
                <a:cs typeface="Times New Roman" panose="02020603050405020304" pitchFamily="18" charset="0"/>
              </a:endParaRPr>
            </a:p>
          </p:txBody>
        </p:sp>
      </p:grpSp>
      <p:sp>
        <p:nvSpPr>
          <p:cNvPr id="37" name="TextBox 36">
            <a:extLst>
              <a:ext uri="{FF2B5EF4-FFF2-40B4-BE49-F238E27FC236}">
                <a16:creationId xmlns:a16="http://schemas.microsoft.com/office/drawing/2014/main" id="{2FF012B4-49B0-BA48-673D-3799FA031880}"/>
              </a:ext>
            </a:extLst>
          </p:cNvPr>
          <p:cNvSpPr txBox="1"/>
          <p:nvPr/>
        </p:nvSpPr>
        <p:spPr>
          <a:xfrm>
            <a:off x="265901" y="2335740"/>
            <a:ext cx="5254772" cy="338554"/>
          </a:xfrm>
          <a:prstGeom prst="rect">
            <a:avLst/>
          </a:prstGeom>
          <a:noFill/>
        </p:spPr>
        <p:txBody>
          <a:bodyPr wrap="none" rtlCol="0">
            <a:spAutoFit/>
          </a:bodyPr>
          <a:lstStyle/>
          <a:p>
            <a:r>
              <a:rPr lang="en-US" sz="1600" b="1" dirty="0"/>
              <a:t>Different professions of people go to super shops </a:t>
            </a:r>
          </a:p>
        </p:txBody>
      </p:sp>
      <p:sp>
        <p:nvSpPr>
          <p:cNvPr id="38" name="TextBox 37">
            <a:extLst>
              <a:ext uri="{FF2B5EF4-FFF2-40B4-BE49-F238E27FC236}">
                <a16:creationId xmlns:a16="http://schemas.microsoft.com/office/drawing/2014/main" id="{EFA0DCFC-C1A7-81D8-B688-824C170F40FE}"/>
              </a:ext>
            </a:extLst>
          </p:cNvPr>
          <p:cNvSpPr txBox="1"/>
          <p:nvPr/>
        </p:nvSpPr>
        <p:spPr>
          <a:xfrm>
            <a:off x="7709717" y="3328840"/>
            <a:ext cx="3076245"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Counts what features consumers find most useful in a smart cart?</a:t>
            </a:r>
          </a:p>
        </p:txBody>
      </p:sp>
    </p:spTree>
    <p:extLst>
      <p:ext uri="{BB962C8B-B14F-4D97-AF65-F5344CB8AC3E}">
        <p14:creationId xmlns:p14="http://schemas.microsoft.com/office/powerpoint/2010/main" val="109638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500" fill="hold"/>
                                        <p:tgtEl>
                                          <p:spTgt spid="37"/>
                                        </p:tgtEl>
                                        <p:attrNameLst>
                                          <p:attrName>ppt_x</p:attrName>
                                        </p:attrNameLst>
                                      </p:cBhvr>
                                      <p:tavLst>
                                        <p:tav tm="0">
                                          <p:val>
                                            <p:strVal val="#ppt_x"/>
                                          </p:val>
                                        </p:tav>
                                        <p:tav tm="100000">
                                          <p:val>
                                            <p:strVal val="#ppt_x"/>
                                          </p:val>
                                        </p:tav>
                                      </p:tavLst>
                                    </p:anim>
                                    <p:anim calcmode="lin" valueType="num">
                                      <p:cBhvr additive="base">
                                        <p:cTn id="1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additive="base">
                                        <p:cTn id="25" dur="500" fill="hold"/>
                                        <p:tgtEl>
                                          <p:spTgt spid="38"/>
                                        </p:tgtEl>
                                        <p:attrNameLst>
                                          <p:attrName>ppt_x</p:attrName>
                                        </p:attrNameLst>
                                      </p:cBhvr>
                                      <p:tavLst>
                                        <p:tav tm="0">
                                          <p:val>
                                            <p:strVal val="#ppt_x"/>
                                          </p:val>
                                        </p:tav>
                                        <p:tav tm="100000">
                                          <p:val>
                                            <p:strVal val="#ppt_x"/>
                                          </p:val>
                                        </p:tav>
                                      </p:tavLst>
                                    </p:anim>
                                    <p:anim calcmode="lin" valueType="num">
                                      <p:cBhvr additive="base">
                                        <p:cTn id="2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98C3B736-F50D-441B-A694-B0D70E3638FA}"/>
              </a:ext>
            </a:extLst>
          </p:cNvPr>
          <p:cNvSpPr txBox="1"/>
          <p:nvPr/>
        </p:nvSpPr>
        <p:spPr>
          <a:xfrm>
            <a:off x="2289228" y="454747"/>
            <a:ext cx="7402059" cy="646313"/>
          </a:xfrm>
          <a:prstGeom prst="rect">
            <a:avLst/>
          </a:prstGeom>
          <a:noFill/>
        </p:spPr>
        <p:txBody>
          <a:bodyPr wrap="square" lIns="91422" tIns="45711" rIns="91422" bIns="45711" rtlCol="0">
            <a:spAutoFit/>
          </a:bodyPr>
          <a:lstStyle/>
          <a:p>
            <a:pPr algn="ctr"/>
            <a:r>
              <a:rPr lang="en-US" sz="3600" b="1" spc="300" dirty="0">
                <a:solidFill>
                  <a:schemeClr val="tx1">
                    <a:lumMod val="95000"/>
                    <a:lumOff val="5000"/>
                  </a:schemeClr>
                </a:solidFill>
                <a:latin typeface="Poppins" panose="00000500000000000000" pitchFamily="2" charset="0"/>
                <a:cs typeface="Poppins" panose="00000500000000000000" pitchFamily="2" charset="0"/>
              </a:rPr>
              <a:t>KANO </a:t>
            </a:r>
            <a:r>
              <a:rPr lang="en-US" sz="3600" b="1" spc="300" dirty="0">
                <a:solidFill>
                  <a:schemeClr val="accent3"/>
                </a:solidFill>
                <a:latin typeface="Poppins" panose="00000500000000000000" pitchFamily="2" charset="0"/>
                <a:cs typeface="Poppins" panose="00000500000000000000" pitchFamily="2" charset="0"/>
              </a:rPr>
              <a:t>MODEL</a:t>
            </a:r>
            <a:r>
              <a:rPr lang="en-US" sz="3600" b="1" spc="300" dirty="0">
                <a:solidFill>
                  <a:schemeClr val="tx1">
                    <a:lumMod val="95000"/>
                    <a:lumOff val="5000"/>
                  </a:schemeClr>
                </a:solidFill>
                <a:latin typeface="Poppins" panose="00000500000000000000" pitchFamily="2" charset="0"/>
                <a:cs typeface="Poppins" panose="00000500000000000000" pitchFamily="2" charset="0"/>
              </a:rPr>
              <a:t> </a:t>
            </a:r>
          </a:p>
        </p:txBody>
      </p:sp>
      <p:graphicFrame>
        <p:nvGraphicFramePr>
          <p:cNvPr id="3" name="Table 2">
            <a:extLst>
              <a:ext uri="{FF2B5EF4-FFF2-40B4-BE49-F238E27FC236}">
                <a16:creationId xmlns:a16="http://schemas.microsoft.com/office/drawing/2014/main" id="{7AEED4F7-0707-13AA-85A6-4B25E53524EA}"/>
              </a:ext>
            </a:extLst>
          </p:cNvPr>
          <p:cNvGraphicFramePr>
            <a:graphicFrameLocks noGrp="1"/>
          </p:cNvGraphicFramePr>
          <p:nvPr>
            <p:extLst>
              <p:ext uri="{D42A27DB-BD31-4B8C-83A1-F6EECF244321}">
                <p14:modId xmlns:p14="http://schemas.microsoft.com/office/powerpoint/2010/main" val="2327556717"/>
              </p:ext>
            </p:extLst>
          </p:nvPr>
        </p:nvGraphicFramePr>
        <p:xfrm>
          <a:off x="641376" y="1488234"/>
          <a:ext cx="11092074" cy="3694745"/>
        </p:xfrm>
        <a:graphic>
          <a:graphicData uri="http://schemas.openxmlformats.org/drawingml/2006/table">
            <a:tbl>
              <a:tblPr firstRow="1" bandRow="1">
                <a:tableStyleId>{21E4AEA4-8DFA-4A89-87EB-49C32662AFE0}</a:tableStyleId>
              </a:tblPr>
              <a:tblGrid>
                <a:gridCol w="2082883">
                  <a:extLst>
                    <a:ext uri="{9D8B030D-6E8A-4147-A177-3AD203B41FA5}">
                      <a16:colId xmlns:a16="http://schemas.microsoft.com/office/drawing/2014/main" val="2651975923"/>
                    </a:ext>
                  </a:extLst>
                </a:gridCol>
                <a:gridCol w="1147336">
                  <a:extLst>
                    <a:ext uri="{9D8B030D-6E8A-4147-A177-3AD203B41FA5}">
                      <a16:colId xmlns:a16="http://schemas.microsoft.com/office/drawing/2014/main" val="1054470916"/>
                    </a:ext>
                  </a:extLst>
                </a:gridCol>
                <a:gridCol w="1093305">
                  <a:extLst>
                    <a:ext uri="{9D8B030D-6E8A-4147-A177-3AD203B41FA5}">
                      <a16:colId xmlns:a16="http://schemas.microsoft.com/office/drawing/2014/main" val="1373595720"/>
                    </a:ext>
                  </a:extLst>
                </a:gridCol>
                <a:gridCol w="1262269">
                  <a:extLst>
                    <a:ext uri="{9D8B030D-6E8A-4147-A177-3AD203B41FA5}">
                      <a16:colId xmlns:a16="http://schemas.microsoft.com/office/drawing/2014/main" val="762134256"/>
                    </a:ext>
                  </a:extLst>
                </a:gridCol>
                <a:gridCol w="1263111">
                  <a:extLst>
                    <a:ext uri="{9D8B030D-6E8A-4147-A177-3AD203B41FA5}">
                      <a16:colId xmlns:a16="http://schemas.microsoft.com/office/drawing/2014/main" val="3316242550"/>
                    </a:ext>
                  </a:extLst>
                </a:gridCol>
                <a:gridCol w="1321063">
                  <a:extLst>
                    <a:ext uri="{9D8B030D-6E8A-4147-A177-3AD203B41FA5}">
                      <a16:colId xmlns:a16="http://schemas.microsoft.com/office/drawing/2014/main" val="985916903"/>
                    </a:ext>
                  </a:extLst>
                </a:gridCol>
                <a:gridCol w="1272209">
                  <a:extLst>
                    <a:ext uri="{9D8B030D-6E8A-4147-A177-3AD203B41FA5}">
                      <a16:colId xmlns:a16="http://schemas.microsoft.com/office/drawing/2014/main" val="1895139452"/>
                    </a:ext>
                  </a:extLst>
                </a:gridCol>
                <a:gridCol w="1649898">
                  <a:extLst>
                    <a:ext uri="{9D8B030D-6E8A-4147-A177-3AD203B41FA5}">
                      <a16:colId xmlns:a16="http://schemas.microsoft.com/office/drawing/2014/main" val="868139343"/>
                    </a:ext>
                  </a:extLst>
                </a:gridCol>
              </a:tblGrid>
              <a:tr h="230444">
                <a:tc gridSpan="8">
                  <a:txBody>
                    <a:bodyPr/>
                    <a:lstStyle/>
                    <a:p>
                      <a:pPr algn="ctr"/>
                      <a:r>
                        <a:rPr lang="en-US" sz="2000" dirty="0">
                          <a:latin typeface="+mn-lt"/>
                        </a:rPr>
                        <a:t>Discrete Analysis</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dirty="0"/>
                    </a:p>
                  </a:txBody>
                  <a:tcPr/>
                </a:tc>
                <a:tc hMerge="1">
                  <a:txBody>
                    <a:bodyPr/>
                    <a:lstStyle/>
                    <a:p>
                      <a:endParaRPr lang="en-ID" dirty="0"/>
                    </a:p>
                  </a:txBody>
                  <a:tcPr/>
                </a:tc>
                <a:tc hMerge="1">
                  <a:txBody>
                    <a:bodyPr/>
                    <a:lstStyle/>
                    <a:p>
                      <a:endParaRPr lang="en-ID" dirty="0"/>
                    </a:p>
                  </a:txBody>
                  <a:tcPr/>
                </a:tc>
                <a:tc hMerge="1">
                  <a:txBody>
                    <a:bodyPr/>
                    <a:lstStyle/>
                    <a:p>
                      <a:endParaRPr lang="en-ID" dirty="0"/>
                    </a:p>
                  </a:txBody>
                  <a:tcPr/>
                </a:tc>
                <a:tc hMerge="1">
                  <a:txBody>
                    <a:bodyPr/>
                    <a:lstStyle/>
                    <a:p>
                      <a:endParaRPr lang="en-ID" dirty="0"/>
                    </a:p>
                  </a:txBody>
                  <a:tcPr/>
                </a:tc>
                <a:tc hMerge="1">
                  <a:txBody>
                    <a:bodyPr/>
                    <a:lstStyle/>
                    <a:p>
                      <a:endParaRPr lang="en-ID" dirty="0"/>
                    </a:p>
                  </a:txBody>
                  <a:tcPr/>
                </a:tc>
                <a:tc hMerge="1">
                  <a:txBody>
                    <a:bodyPr/>
                    <a:lstStyle/>
                    <a:p>
                      <a:endParaRPr lang="en-ID" dirty="0"/>
                    </a:p>
                  </a:txBody>
                  <a:tcPr/>
                </a:tc>
                <a:extLst>
                  <a:ext uri="{0D108BD9-81ED-4DB2-BD59-A6C34878D82A}">
                    <a16:rowId xmlns:a16="http://schemas.microsoft.com/office/drawing/2014/main" val="2236182778"/>
                  </a:ext>
                </a:extLst>
              </a:tr>
              <a:tr h="554265">
                <a:tc>
                  <a:txBody>
                    <a:bodyPr/>
                    <a:lstStyle/>
                    <a:p>
                      <a:pPr algn="ctr"/>
                      <a:r>
                        <a:rPr lang="en-US" sz="2000" dirty="0">
                          <a:latin typeface="+mn-lt"/>
                        </a:rPr>
                        <a:t>Feature Name</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M</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O</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A</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I</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R</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Q</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Evaluation</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339031"/>
                  </a:ext>
                </a:extLst>
              </a:tr>
              <a:tr h="518680">
                <a:tc>
                  <a:txBody>
                    <a:bodyPr/>
                    <a:lstStyle/>
                    <a:p>
                      <a:pPr algn="ctr"/>
                      <a:r>
                        <a:rPr lang="en-US" sz="2000" dirty="0">
                          <a:latin typeface="+mn-lt"/>
                        </a:rPr>
                        <a:t>Built in scanner</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53.60%</a:t>
                      </a:r>
                      <a:endParaRPr lang="en-US"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12.00%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6.40%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23.20%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3.20%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1.60%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mn-lt"/>
                        </a:rPr>
                        <a:t>Must Be</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5558325"/>
                  </a:ext>
                </a:extLst>
              </a:tr>
              <a:tr h="619592">
                <a:tc>
                  <a:txBody>
                    <a:bodyPr/>
                    <a:lstStyle/>
                    <a:p>
                      <a:pPr algn="ctr"/>
                      <a:r>
                        <a:rPr lang="en-US" sz="2000" dirty="0">
                          <a:latin typeface="+mn-lt"/>
                        </a:rPr>
                        <a:t>Wheel rotation of 360 degree</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48.80%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10.40%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7.20%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28.00%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4.80%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0.80%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mn-lt"/>
                        </a:rPr>
                        <a:t>Must Be</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9849538"/>
                  </a:ext>
                </a:extLst>
              </a:tr>
              <a:tr h="619592">
                <a:tc>
                  <a:txBody>
                    <a:bodyPr/>
                    <a:lstStyle/>
                    <a:p>
                      <a:pPr algn="ctr"/>
                      <a:r>
                        <a:rPr lang="en-US" sz="2000" dirty="0">
                          <a:latin typeface="+mn-lt"/>
                        </a:rPr>
                        <a:t>Automatic billing with payment</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42.40%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16.00%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8.00%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31.20%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0.80%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1.60%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Must Be</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873830"/>
                  </a:ext>
                </a:extLst>
              </a:tr>
              <a:tr h="518680">
                <a:tc>
                  <a:txBody>
                    <a:bodyPr/>
                    <a:lstStyle/>
                    <a:p>
                      <a:pPr algn="ctr"/>
                      <a:r>
                        <a:rPr lang="en-US" sz="2000" dirty="0">
                          <a:latin typeface="+mn-lt"/>
                        </a:rPr>
                        <a:t>Digital display</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16.00%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13.60%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36.80%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27.20%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4.00%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2.40%</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mn-lt"/>
                        </a:rPr>
                        <a:t>Indifferent</a:t>
                      </a:r>
                      <a:endParaRPr lang="en-ID" sz="20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9225356"/>
                  </a:ext>
                </a:extLst>
              </a:tr>
            </a:tbl>
          </a:graphicData>
        </a:graphic>
      </p:graphicFrame>
      <p:sp>
        <p:nvSpPr>
          <p:cNvPr id="6" name="Rectangle 5">
            <a:extLst>
              <a:ext uri="{FF2B5EF4-FFF2-40B4-BE49-F238E27FC236}">
                <a16:creationId xmlns:a16="http://schemas.microsoft.com/office/drawing/2014/main" id="{DF8CFEB1-8494-6752-EB5D-B3DA490046CE}"/>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DDEDF25-C353-C34F-8486-38B04126F088}"/>
              </a:ext>
            </a:extLst>
          </p:cNvPr>
          <p:cNvSpPr/>
          <p:nvPr/>
        </p:nvSpPr>
        <p:spPr>
          <a:xfrm>
            <a:off x="10805201" y="6282223"/>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5028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98C3B736-F50D-441B-A694-B0D70E3638FA}"/>
              </a:ext>
            </a:extLst>
          </p:cNvPr>
          <p:cNvSpPr txBox="1"/>
          <p:nvPr/>
        </p:nvSpPr>
        <p:spPr>
          <a:xfrm>
            <a:off x="2317219" y="240143"/>
            <a:ext cx="7402059" cy="646313"/>
          </a:xfrm>
          <a:prstGeom prst="rect">
            <a:avLst/>
          </a:prstGeom>
          <a:noFill/>
        </p:spPr>
        <p:txBody>
          <a:bodyPr wrap="square" lIns="91422" tIns="45711" rIns="91422" bIns="45711" rtlCol="0">
            <a:spAutoFit/>
          </a:bodyPr>
          <a:lstStyle/>
          <a:p>
            <a:pPr algn="ctr"/>
            <a:r>
              <a:rPr lang="en-US" sz="3600" b="1" spc="300" dirty="0">
                <a:solidFill>
                  <a:schemeClr val="tx1">
                    <a:lumMod val="95000"/>
                    <a:lumOff val="5000"/>
                  </a:schemeClr>
                </a:solidFill>
                <a:latin typeface="Poppins" panose="00000500000000000000" pitchFamily="2" charset="0"/>
                <a:cs typeface="Poppins" panose="00000500000000000000" pitchFamily="2" charset="0"/>
              </a:rPr>
              <a:t>KANO </a:t>
            </a:r>
            <a:r>
              <a:rPr lang="en-US" sz="3600" b="1" spc="300" dirty="0">
                <a:solidFill>
                  <a:schemeClr val="accent3"/>
                </a:solidFill>
                <a:latin typeface="Poppins" panose="00000500000000000000" pitchFamily="2" charset="0"/>
                <a:cs typeface="Poppins" panose="00000500000000000000" pitchFamily="2" charset="0"/>
              </a:rPr>
              <a:t>MODEL</a:t>
            </a:r>
            <a:r>
              <a:rPr lang="en-US" sz="3600" b="1" spc="300" dirty="0">
                <a:solidFill>
                  <a:schemeClr val="tx1">
                    <a:lumMod val="95000"/>
                    <a:lumOff val="5000"/>
                  </a:schemeClr>
                </a:solidFill>
                <a:latin typeface="Poppins" panose="00000500000000000000" pitchFamily="2" charset="0"/>
                <a:cs typeface="Poppins" panose="00000500000000000000" pitchFamily="2" charset="0"/>
              </a:rPr>
              <a:t> </a:t>
            </a:r>
          </a:p>
        </p:txBody>
      </p:sp>
      <p:graphicFrame>
        <p:nvGraphicFramePr>
          <p:cNvPr id="4" name="Table 3">
            <a:extLst>
              <a:ext uri="{FF2B5EF4-FFF2-40B4-BE49-F238E27FC236}">
                <a16:creationId xmlns:a16="http://schemas.microsoft.com/office/drawing/2014/main" id="{836B6C64-E91B-9E2B-D5BD-9BF052B8ADDD}"/>
              </a:ext>
            </a:extLst>
          </p:cNvPr>
          <p:cNvGraphicFramePr>
            <a:graphicFrameLocks noGrp="1"/>
          </p:cNvGraphicFramePr>
          <p:nvPr>
            <p:extLst>
              <p:ext uri="{D42A27DB-BD31-4B8C-83A1-F6EECF244321}">
                <p14:modId xmlns:p14="http://schemas.microsoft.com/office/powerpoint/2010/main" val="3608763547"/>
              </p:ext>
            </p:extLst>
          </p:nvPr>
        </p:nvGraphicFramePr>
        <p:xfrm>
          <a:off x="245366" y="1101365"/>
          <a:ext cx="5645120" cy="3942908"/>
        </p:xfrm>
        <a:graphic>
          <a:graphicData uri="http://schemas.openxmlformats.org/drawingml/2006/table">
            <a:tbl>
              <a:tblPr firstRow="1" bandRow="1">
                <a:tableStyleId>{21E4AEA4-8DFA-4A89-87EB-49C32662AFE0}</a:tableStyleId>
              </a:tblPr>
              <a:tblGrid>
                <a:gridCol w="1688168">
                  <a:extLst>
                    <a:ext uri="{9D8B030D-6E8A-4147-A177-3AD203B41FA5}">
                      <a16:colId xmlns:a16="http://schemas.microsoft.com/office/drawing/2014/main" val="3828685373"/>
                    </a:ext>
                  </a:extLst>
                </a:gridCol>
                <a:gridCol w="1515790">
                  <a:extLst>
                    <a:ext uri="{9D8B030D-6E8A-4147-A177-3AD203B41FA5}">
                      <a16:colId xmlns:a16="http://schemas.microsoft.com/office/drawing/2014/main" val="1926205677"/>
                    </a:ext>
                  </a:extLst>
                </a:gridCol>
                <a:gridCol w="1209205">
                  <a:extLst>
                    <a:ext uri="{9D8B030D-6E8A-4147-A177-3AD203B41FA5}">
                      <a16:colId xmlns:a16="http://schemas.microsoft.com/office/drawing/2014/main" val="2819139972"/>
                    </a:ext>
                  </a:extLst>
                </a:gridCol>
                <a:gridCol w="1231957">
                  <a:extLst>
                    <a:ext uri="{9D8B030D-6E8A-4147-A177-3AD203B41FA5}">
                      <a16:colId xmlns:a16="http://schemas.microsoft.com/office/drawing/2014/main" val="2816395163"/>
                    </a:ext>
                  </a:extLst>
                </a:gridCol>
              </a:tblGrid>
              <a:tr h="378674">
                <a:tc gridSpan="4">
                  <a:txBody>
                    <a:bodyPr/>
                    <a:lstStyle/>
                    <a:p>
                      <a:pPr algn="ctr"/>
                      <a:r>
                        <a:rPr lang="en-US" dirty="0"/>
                        <a:t>Continuous Analysis</a:t>
                      </a:r>
                      <a:endParaRPr lang="en-ID"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dirty="0"/>
                    </a:p>
                  </a:txBody>
                  <a:tcPr/>
                </a:tc>
                <a:tc hMerge="1">
                  <a:txBody>
                    <a:bodyPr/>
                    <a:lstStyle/>
                    <a:p>
                      <a:endParaRPr lang="en-ID" dirty="0"/>
                    </a:p>
                  </a:txBody>
                  <a:tcPr/>
                </a:tc>
                <a:tc hMerge="1">
                  <a:txBody>
                    <a:bodyPr/>
                    <a:lstStyle/>
                    <a:p>
                      <a:endParaRPr lang="en-ID" dirty="0"/>
                    </a:p>
                  </a:txBody>
                  <a:tcPr/>
                </a:tc>
                <a:extLst>
                  <a:ext uri="{0D108BD9-81ED-4DB2-BD59-A6C34878D82A}">
                    <a16:rowId xmlns:a16="http://schemas.microsoft.com/office/drawing/2014/main" val="1502096648"/>
                  </a:ext>
                </a:extLst>
              </a:tr>
              <a:tr h="659477">
                <a:tc>
                  <a:txBody>
                    <a:bodyPr/>
                    <a:lstStyle/>
                    <a:p>
                      <a:pPr algn="ctr"/>
                      <a:r>
                        <a:rPr lang="en-US" sz="1500" b="1" dirty="0"/>
                        <a:t>Feature Name</a:t>
                      </a:r>
                      <a:endParaRPr lang="en-ID" sz="15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b="1" dirty="0" err="1"/>
                        <a:t>Disfunctional</a:t>
                      </a:r>
                      <a:r>
                        <a:rPr lang="en-US" sz="1500" b="1" dirty="0"/>
                        <a:t>     (X)</a:t>
                      </a:r>
                      <a:endParaRPr lang="en-ID" sz="15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b="1" dirty="0"/>
                        <a:t>Functional(Y)</a:t>
                      </a:r>
                      <a:endParaRPr lang="en-ID" sz="15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b="1" dirty="0"/>
                        <a:t>Category</a:t>
                      </a:r>
                      <a:endParaRPr lang="en-ID" sz="15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3664240"/>
                  </a:ext>
                </a:extLst>
              </a:tr>
              <a:tr h="652978">
                <a:tc>
                  <a:txBody>
                    <a:bodyPr/>
                    <a:lstStyle/>
                    <a:p>
                      <a:pPr algn="ctr"/>
                      <a:r>
                        <a:rPr lang="en-US" sz="1500" dirty="0"/>
                        <a:t>Built in Scanner</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2.8</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0.256</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Must Be</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2209455"/>
                  </a:ext>
                </a:extLst>
              </a:tr>
              <a:tr h="932826">
                <a:tc>
                  <a:txBody>
                    <a:bodyPr/>
                    <a:lstStyle/>
                    <a:p>
                      <a:pPr algn="ctr"/>
                      <a:r>
                        <a:rPr lang="en-US" sz="1500" dirty="0"/>
                        <a:t>Wheel rotation of 360 degree</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2.552</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0.048</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Must Be</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9813116"/>
                  </a:ext>
                </a:extLst>
              </a:tr>
              <a:tr h="942109">
                <a:tc>
                  <a:txBody>
                    <a:bodyPr/>
                    <a:lstStyle/>
                    <a:p>
                      <a:pPr algn="ctr"/>
                      <a:r>
                        <a:rPr lang="en-US" sz="1500" dirty="0"/>
                        <a:t>Automatic billing with payment</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2.744</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-0.024</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Must Be</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58992"/>
                  </a:ext>
                </a:extLst>
              </a:tr>
              <a:tr h="376844">
                <a:tc>
                  <a:txBody>
                    <a:bodyPr/>
                    <a:lstStyle/>
                    <a:p>
                      <a:pPr algn="ctr"/>
                      <a:r>
                        <a:rPr lang="en-US" sz="1500" dirty="0"/>
                        <a:t>Digital display</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1.528</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-1.736</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t>Indifferent</a:t>
                      </a:r>
                      <a:endParaRPr lang="en-ID" sz="1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7954089"/>
                  </a:ext>
                </a:extLst>
              </a:tr>
            </a:tbl>
          </a:graphicData>
        </a:graphic>
      </p:graphicFrame>
      <p:sp>
        <p:nvSpPr>
          <p:cNvPr id="7" name="Rectangle 6">
            <a:extLst>
              <a:ext uri="{FF2B5EF4-FFF2-40B4-BE49-F238E27FC236}">
                <a16:creationId xmlns:a16="http://schemas.microsoft.com/office/drawing/2014/main" id="{92341575-DE73-267E-00EA-A5696E207274}"/>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F1C18FD-17B1-EAED-AEEA-95D8565EA03F}"/>
              </a:ext>
            </a:extLst>
          </p:cNvPr>
          <p:cNvSpPr/>
          <p:nvPr/>
        </p:nvSpPr>
        <p:spPr>
          <a:xfrm>
            <a:off x="10874475" y="6282223"/>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7AB638D-200F-0F40-90CF-0CD0CB31E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2180" y="1101365"/>
            <a:ext cx="5424019" cy="3942908"/>
          </a:xfrm>
          <a:prstGeom prst="rect">
            <a:avLst/>
          </a:prstGeom>
          <a:solidFill>
            <a:schemeClr val="accent2"/>
          </a:solidFill>
          <a:ln w="28575">
            <a:solidFill>
              <a:schemeClr val="accent2"/>
            </a:solidFill>
          </a:ln>
        </p:spPr>
      </p:pic>
      <p:graphicFrame>
        <p:nvGraphicFramePr>
          <p:cNvPr id="11" name="Table 10">
            <a:extLst>
              <a:ext uri="{FF2B5EF4-FFF2-40B4-BE49-F238E27FC236}">
                <a16:creationId xmlns:a16="http://schemas.microsoft.com/office/drawing/2014/main" id="{52F09E75-7293-F3ED-71D2-D8C805677CFC}"/>
              </a:ext>
            </a:extLst>
          </p:cNvPr>
          <p:cNvGraphicFramePr>
            <a:graphicFrameLocks noGrp="1"/>
          </p:cNvGraphicFramePr>
          <p:nvPr>
            <p:extLst>
              <p:ext uri="{D42A27DB-BD31-4B8C-83A1-F6EECF244321}">
                <p14:modId xmlns:p14="http://schemas.microsoft.com/office/powerpoint/2010/main" val="3801891"/>
              </p:ext>
            </p:extLst>
          </p:nvPr>
        </p:nvGraphicFramePr>
        <p:xfrm>
          <a:off x="3482101" y="5511156"/>
          <a:ext cx="5900158" cy="895884"/>
        </p:xfrm>
        <a:graphic>
          <a:graphicData uri="http://schemas.openxmlformats.org/drawingml/2006/table">
            <a:tbl>
              <a:tblPr firstRow="1" bandRow="1">
                <a:tableStyleId>{C4B1156A-380E-4F78-BDF5-A606A8083BF9}</a:tableStyleId>
              </a:tblPr>
              <a:tblGrid>
                <a:gridCol w="2950079">
                  <a:extLst>
                    <a:ext uri="{9D8B030D-6E8A-4147-A177-3AD203B41FA5}">
                      <a16:colId xmlns:a16="http://schemas.microsoft.com/office/drawing/2014/main" val="2542410396"/>
                    </a:ext>
                  </a:extLst>
                </a:gridCol>
                <a:gridCol w="2950079">
                  <a:extLst>
                    <a:ext uri="{9D8B030D-6E8A-4147-A177-3AD203B41FA5}">
                      <a16:colId xmlns:a16="http://schemas.microsoft.com/office/drawing/2014/main" val="2543620946"/>
                    </a:ext>
                  </a:extLst>
                </a:gridCol>
              </a:tblGrid>
              <a:tr h="447942">
                <a:tc>
                  <a:txBody>
                    <a:bodyPr/>
                    <a:lstStyle/>
                    <a:p>
                      <a:pPr algn="ctr"/>
                      <a:r>
                        <a:rPr lang="en-US" dirty="0"/>
                        <a:t>X-axis</a:t>
                      </a:r>
                      <a:endParaRPr lang="en-ID"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Y-axis</a:t>
                      </a:r>
                      <a:endParaRPr lang="en-ID"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6996135"/>
                  </a:ext>
                </a:extLst>
              </a:tr>
              <a:tr h="447942">
                <a:tc>
                  <a:txBody>
                    <a:bodyPr/>
                    <a:lstStyle/>
                    <a:p>
                      <a:pPr algn="ctr"/>
                      <a:r>
                        <a:rPr lang="en-US" dirty="0"/>
                        <a:t>2</a:t>
                      </a:r>
                      <a:endParaRPr lang="en-ID"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endParaRPr lang="en-ID"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68311"/>
                  </a:ext>
                </a:extLst>
              </a:tr>
            </a:tbl>
          </a:graphicData>
        </a:graphic>
      </p:graphicFrame>
    </p:spTree>
    <p:extLst>
      <p:ext uri="{BB962C8B-B14F-4D97-AF65-F5344CB8AC3E}">
        <p14:creationId xmlns:p14="http://schemas.microsoft.com/office/powerpoint/2010/main" val="4060113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98C3B736-F50D-441B-A694-B0D70E3638FA}"/>
              </a:ext>
            </a:extLst>
          </p:cNvPr>
          <p:cNvSpPr txBox="1"/>
          <p:nvPr/>
        </p:nvSpPr>
        <p:spPr>
          <a:xfrm>
            <a:off x="2375882" y="383951"/>
            <a:ext cx="7402059" cy="646313"/>
          </a:xfrm>
          <a:prstGeom prst="rect">
            <a:avLst/>
          </a:prstGeom>
          <a:noFill/>
        </p:spPr>
        <p:txBody>
          <a:bodyPr wrap="square" lIns="91422" tIns="45711" rIns="91422" bIns="45711" rtlCol="0">
            <a:spAutoFit/>
          </a:bodyPr>
          <a:lstStyle/>
          <a:p>
            <a:pPr algn="ctr"/>
            <a:r>
              <a:rPr lang="en-US" sz="3600" b="1" spc="300" dirty="0">
                <a:solidFill>
                  <a:schemeClr val="tx1">
                    <a:lumMod val="95000"/>
                    <a:lumOff val="5000"/>
                  </a:schemeClr>
                </a:solidFill>
                <a:latin typeface="Poppins" panose="00000500000000000000" pitchFamily="2" charset="0"/>
                <a:cs typeface="Poppins" panose="00000500000000000000" pitchFamily="2" charset="0"/>
              </a:rPr>
              <a:t>OBJECTIVE </a:t>
            </a:r>
            <a:r>
              <a:rPr lang="en-US" sz="3600" b="1" spc="300" dirty="0">
                <a:solidFill>
                  <a:schemeClr val="accent3"/>
                </a:solidFill>
                <a:latin typeface="Poppins" panose="00000500000000000000" pitchFamily="2" charset="0"/>
                <a:cs typeface="Poppins" panose="00000500000000000000" pitchFamily="2" charset="0"/>
              </a:rPr>
              <a:t>TREE</a:t>
            </a:r>
            <a:r>
              <a:rPr lang="en-US" sz="3600" b="1" spc="300" dirty="0">
                <a:solidFill>
                  <a:schemeClr val="tx1">
                    <a:lumMod val="95000"/>
                    <a:lumOff val="5000"/>
                  </a:schemeClr>
                </a:solidFill>
                <a:latin typeface="Poppins" panose="00000500000000000000" pitchFamily="2" charset="0"/>
                <a:cs typeface="Poppins" panose="00000500000000000000" pitchFamily="2" charset="0"/>
              </a:rPr>
              <a:t> </a:t>
            </a:r>
          </a:p>
        </p:txBody>
      </p:sp>
      <p:grpSp>
        <p:nvGrpSpPr>
          <p:cNvPr id="8" name="Group 7">
            <a:extLst>
              <a:ext uri="{FF2B5EF4-FFF2-40B4-BE49-F238E27FC236}">
                <a16:creationId xmlns:a16="http://schemas.microsoft.com/office/drawing/2014/main" id="{F9054456-E5D2-8204-7B55-9C8D90EA5714}"/>
              </a:ext>
            </a:extLst>
          </p:cNvPr>
          <p:cNvGrpSpPr/>
          <p:nvPr/>
        </p:nvGrpSpPr>
        <p:grpSpPr>
          <a:xfrm>
            <a:off x="595177" y="1307263"/>
            <a:ext cx="11429676" cy="4710080"/>
            <a:chOff x="182221" y="569843"/>
            <a:chExt cx="12006461" cy="4853173"/>
          </a:xfrm>
          <a:solidFill>
            <a:schemeClr val="accent4">
              <a:lumMod val="40000"/>
              <a:lumOff val="60000"/>
            </a:schemeClr>
          </a:solidFill>
        </p:grpSpPr>
        <p:sp>
          <p:nvSpPr>
            <p:cNvPr id="10" name="Rectangle 9">
              <a:extLst>
                <a:ext uri="{FF2B5EF4-FFF2-40B4-BE49-F238E27FC236}">
                  <a16:creationId xmlns:a16="http://schemas.microsoft.com/office/drawing/2014/main" id="{2D76927C-C804-C21D-8C52-DF12B693112C}"/>
                </a:ext>
              </a:extLst>
            </p:cNvPr>
            <p:cNvSpPr/>
            <p:nvPr/>
          </p:nvSpPr>
          <p:spPr>
            <a:xfrm>
              <a:off x="3909395" y="569843"/>
              <a:ext cx="3518452" cy="1212574"/>
            </a:xfrm>
            <a:prstGeom prst="rect">
              <a:avLst/>
            </a:prstGeom>
            <a:grp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en-US" sz="1800" kern="100" dirty="0">
                <a:solidFill>
                  <a:schemeClr val="accent3"/>
                </a:solidFill>
                <a:latin typeface="Times New Roman" panose="02020603050405020304" pitchFamily="18" charset="0"/>
                <a:ea typeface="Times New Roman" panose="02020603050405020304" pitchFamily="18" charset="0"/>
              </a:endParaRPr>
            </a:p>
            <a:p>
              <a:pPr algn="ctr"/>
              <a:endParaRPr lang="en-US" kern="100" dirty="0">
                <a:solidFill>
                  <a:schemeClr val="accent3"/>
                </a:solidFill>
                <a:latin typeface="Times New Roman" panose="02020603050405020304" pitchFamily="18" charset="0"/>
                <a:ea typeface="Times New Roman" panose="02020603050405020304" pitchFamily="18" charset="0"/>
              </a:endParaRPr>
            </a:p>
            <a:p>
              <a:pPr algn="ctr"/>
              <a:r>
                <a:rPr lang="en-US" sz="1600" b="1" kern="100" dirty="0">
                  <a:solidFill>
                    <a:schemeClr val="tx1"/>
                  </a:solidFill>
                  <a:latin typeface="+mj-lt"/>
                  <a:ea typeface="Times New Roman" panose="02020603050405020304" pitchFamily="18" charset="0"/>
                </a:rPr>
                <a:t>Enhance The Shopping Experiences In Bangladesh</a:t>
              </a:r>
            </a:p>
            <a:p>
              <a:pPr algn="ctr"/>
              <a:endParaRPr lang="en-US" sz="1800" kern="100" dirty="0">
                <a:solidFill>
                  <a:schemeClr val="accent3"/>
                </a:solidFill>
                <a:latin typeface="Times New Roman" panose="02020603050405020304" pitchFamily="18" charset="0"/>
                <a:ea typeface="Times New Roman" panose="02020603050405020304" pitchFamily="18" charset="0"/>
              </a:endParaRPr>
            </a:p>
            <a:p>
              <a:pPr algn="ctr"/>
              <a:endParaRPr lang="en-US" dirty="0">
                <a:solidFill>
                  <a:schemeClr val="accent3"/>
                </a:solidFill>
              </a:endParaRPr>
            </a:p>
          </p:txBody>
        </p:sp>
        <p:cxnSp>
          <p:nvCxnSpPr>
            <p:cNvPr id="13" name="Straight Connector 12">
              <a:extLst>
                <a:ext uri="{FF2B5EF4-FFF2-40B4-BE49-F238E27FC236}">
                  <a16:creationId xmlns:a16="http://schemas.microsoft.com/office/drawing/2014/main" id="{8B9DE4CC-51BC-2B80-142E-4E02D9C71E08}"/>
                </a:ext>
              </a:extLst>
            </p:cNvPr>
            <p:cNvCxnSpPr/>
            <p:nvPr/>
          </p:nvCxnSpPr>
          <p:spPr>
            <a:xfrm>
              <a:off x="5658682" y="1782417"/>
              <a:ext cx="0" cy="586409"/>
            </a:xfrm>
            <a:prstGeom prst="line">
              <a:avLst/>
            </a:prstGeom>
            <a:grpFill/>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B35292B-80F5-AD72-0FF5-CB488ABECD0A}"/>
                </a:ext>
              </a:extLst>
            </p:cNvPr>
            <p:cNvCxnSpPr/>
            <p:nvPr/>
          </p:nvCxnSpPr>
          <p:spPr>
            <a:xfrm>
              <a:off x="1106560" y="2368826"/>
              <a:ext cx="9611140" cy="0"/>
            </a:xfrm>
            <a:prstGeom prst="line">
              <a:avLst/>
            </a:prstGeom>
            <a:grpFill/>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DCCA0EC-36EE-8C95-1A47-D4DC054EA814}"/>
                </a:ext>
              </a:extLst>
            </p:cNvPr>
            <p:cNvCxnSpPr/>
            <p:nvPr/>
          </p:nvCxnSpPr>
          <p:spPr>
            <a:xfrm>
              <a:off x="1106560" y="2368826"/>
              <a:ext cx="0" cy="447261"/>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A594B97C-7D1D-5922-AC37-C1BC4B49175C}"/>
                </a:ext>
              </a:extLst>
            </p:cNvPr>
            <p:cNvCxnSpPr/>
            <p:nvPr/>
          </p:nvCxnSpPr>
          <p:spPr>
            <a:xfrm>
              <a:off x="4326839" y="2368826"/>
              <a:ext cx="0" cy="447261"/>
            </a:xfrm>
            <a:prstGeom prst="line">
              <a:avLst/>
            </a:prstGeom>
            <a:grpFill/>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DF804EF4-1A56-F157-4707-D1C61E65EBB2}"/>
                </a:ext>
              </a:extLst>
            </p:cNvPr>
            <p:cNvCxnSpPr/>
            <p:nvPr/>
          </p:nvCxnSpPr>
          <p:spPr>
            <a:xfrm>
              <a:off x="6990525" y="2368826"/>
              <a:ext cx="0" cy="447261"/>
            </a:xfrm>
            <a:prstGeom prst="line">
              <a:avLst/>
            </a:prstGeom>
            <a:grpFill/>
            <a:ln w="3810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1C54B3A-72FF-49E4-1AA7-CC324E5D1AEF}"/>
                </a:ext>
              </a:extLst>
            </p:cNvPr>
            <p:cNvCxnSpPr/>
            <p:nvPr/>
          </p:nvCxnSpPr>
          <p:spPr>
            <a:xfrm>
              <a:off x="10717700" y="2368826"/>
              <a:ext cx="0" cy="447261"/>
            </a:xfrm>
            <a:prstGeom prst="line">
              <a:avLst/>
            </a:prstGeom>
            <a:grpFill/>
            <a:ln w="381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913D654B-0CC2-A7C9-D167-566A8692A520}"/>
                </a:ext>
              </a:extLst>
            </p:cNvPr>
            <p:cNvSpPr/>
            <p:nvPr/>
          </p:nvSpPr>
          <p:spPr>
            <a:xfrm>
              <a:off x="182221" y="2816087"/>
              <a:ext cx="1928190" cy="834880"/>
            </a:xfrm>
            <a:prstGeom prst="rect">
              <a:avLst/>
            </a:prstGeom>
            <a:grp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latin typeface="+mj-lt"/>
                  <a:cs typeface="Times New Roman" panose="02020603050405020304" pitchFamily="18" charset="0"/>
                </a:rPr>
                <a:t>Increase Efficiency</a:t>
              </a:r>
            </a:p>
          </p:txBody>
        </p:sp>
        <p:sp>
          <p:nvSpPr>
            <p:cNvPr id="21" name="Rectangle 20">
              <a:extLst>
                <a:ext uri="{FF2B5EF4-FFF2-40B4-BE49-F238E27FC236}">
                  <a16:creationId xmlns:a16="http://schemas.microsoft.com/office/drawing/2014/main" id="{89315ED0-4931-660D-8842-231E2758F77D}"/>
                </a:ext>
              </a:extLst>
            </p:cNvPr>
            <p:cNvSpPr/>
            <p:nvPr/>
          </p:nvSpPr>
          <p:spPr>
            <a:xfrm>
              <a:off x="3362744" y="2806148"/>
              <a:ext cx="1928190" cy="834880"/>
            </a:xfrm>
            <a:prstGeom prst="rect">
              <a:avLst/>
            </a:prstGeom>
            <a:grp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kern="100" dirty="0">
                  <a:solidFill>
                    <a:schemeClr val="tx1"/>
                  </a:solidFill>
                  <a:latin typeface="+mj-lt"/>
                  <a:ea typeface="Times New Roman" panose="02020603050405020304" pitchFamily="18" charset="0"/>
                </a:rPr>
                <a:t>Improve </a:t>
              </a:r>
            </a:p>
            <a:p>
              <a:pPr algn="ctr"/>
              <a:r>
                <a:rPr lang="en-US" sz="1600" dirty="0">
                  <a:solidFill>
                    <a:schemeClr val="tx1"/>
                  </a:solidFill>
                  <a:latin typeface="+mj-lt"/>
                  <a:ea typeface="Times New Roman" panose="02020603050405020304" pitchFamily="18" charset="0"/>
                </a:rPr>
                <a:t>Customer </a:t>
              </a:r>
            </a:p>
            <a:p>
              <a:pPr algn="ctr"/>
              <a:r>
                <a:rPr lang="en-US" sz="1600" dirty="0">
                  <a:solidFill>
                    <a:schemeClr val="tx1"/>
                  </a:solidFill>
                  <a:latin typeface="+mj-lt"/>
                </a:rPr>
                <a:t>Satisfaction</a:t>
              </a:r>
            </a:p>
          </p:txBody>
        </p:sp>
        <p:sp>
          <p:nvSpPr>
            <p:cNvPr id="26" name="Rectangle 25">
              <a:extLst>
                <a:ext uri="{FF2B5EF4-FFF2-40B4-BE49-F238E27FC236}">
                  <a16:creationId xmlns:a16="http://schemas.microsoft.com/office/drawing/2014/main" id="{6C368074-0C2A-288B-7CCD-36B878A77B3C}"/>
                </a:ext>
              </a:extLst>
            </p:cNvPr>
            <p:cNvSpPr/>
            <p:nvPr/>
          </p:nvSpPr>
          <p:spPr>
            <a:xfrm>
              <a:off x="6026430" y="2816087"/>
              <a:ext cx="1928190" cy="834880"/>
            </a:xfrm>
            <a:prstGeom prst="rect">
              <a:avLst/>
            </a:prstGeom>
            <a:grp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Optimize Store Operations</a:t>
              </a:r>
            </a:p>
          </p:txBody>
        </p:sp>
        <p:sp>
          <p:nvSpPr>
            <p:cNvPr id="27" name="Rectangle 26">
              <a:extLst>
                <a:ext uri="{FF2B5EF4-FFF2-40B4-BE49-F238E27FC236}">
                  <a16:creationId xmlns:a16="http://schemas.microsoft.com/office/drawing/2014/main" id="{A07CE6C6-B58E-9ED3-2E04-E44FAA416B07}"/>
                </a:ext>
              </a:extLst>
            </p:cNvPr>
            <p:cNvSpPr/>
            <p:nvPr/>
          </p:nvSpPr>
          <p:spPr>
            <a:xfrm>
              <a:off x="9655870" y="2806148"/>
              <a:ext cx="1928190" cy="834880"/>
            </a:xfrm>
            <a:prstGeom prst="rect">
              <a:avLst/>
            </a:prstGeom>
            <a:grp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Enhance Data Collection and Analysis</a:t>
              </a:r>
            </a:p>
          </p:txBody>
        </p:sp>
        <p:cxnSp>
          <p:nvCxnSpPr>
            <p:cNvPr id="28" name="Straight Connector 27">
              <a:extLst>
                <a:ext uri="{FF2B5EF4-FFF2-40B4-BE49-F238E27FC236}">
                  <a16:creationId xmlns:a16="http://schemas.microsoft.com/office/drawing/2014/main" id="{A20B75F8-34D5-7993-6F06-E9E5FA2071F7}"/>
                </a:ext>
              </a:extLst>
            </p:cNvPr>
            <p:cNvCxnSpPr/>
            <p:nvPr/>
          </p:nvCxnSpPr>
          <p:spPr>
            <a:xfrm>
              <a:off x="390943" y="3641028"/>
              <a:ext cx="0" cy="1341789"/>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69EA231-C829-DDE5-8235-0EAB618E91FF}"/>
                </a:ext>
              </a:extLst>
            </p:cNvPr>
            <p:cNvCxnSpPr/>
            <p:nvPr/>
          </p:nvCxnSpPr>
          <p:spPr>
            <a:xfrm>
              <a:off x="390943" y="3959087"/>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FAE5CE9C-1989-E656-8F3F-22DD558F2A9B}"/>
                </a:ext>
              </a:extLst>
            </p:cNvPr>
            <p:cNvCxnSpPr/>
            <p:nvPr/>
          </p:nvCxnSpPr>
          <p:spPr>
            <a:xfrm>
              <a:off x="376034" y="4982816"/>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01D90CDB-45DB-68A3-9AFE-F76DCF7D44AD}"/>
                </a:ext>
              </a:extLst>
            </p:cNvPr>
            <p:cNvCxnSpPr/>
            <p:nvPr/>
          </p:nvCxnSpPr>
          <p:spPr>
            <a:xfrm>
              <a:off x="3571465" y="3641027"/>
              <a:ext cx="0" cy="1341789"/>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FE35507-980B-2728-D3B2-46A3D0A585A3}"/>
                </a:ext>
              </a:extLst>
            </p:cNvPr>
            <p:cNvCxnSpPr/>
            <p:nvPr/>
          </p:nvCxnSpPr>
          <p:spPr>
            <a:xfrm>
              <a:off x="3571465" y="3959086"/>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AA367B64-D86D-3274-9589-CE17C8016D24}"/>
                </a:ext>
              </a:extLst>
            </p:cNvPr>
            <p:cNvCxnSpPr/>
            <p:nvPr/>
          </p:nvCxnSpPr>
          <p:spPr>
            <a:xfrm>
              <a:off x="3556556" y="4982815"/>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20BDE1F4-C00C-D8EA-47B4-ACBC60E598AA}"/>
                </a:ext>
              </a:extLst>
            </p:cNvPr>
            <p:cNvCxnSpPr/>
            <p:nvPr/>
          </p:nvCxnSpPr>
          <p:spPr>
            <a:xfrm>
              <a:off x="6235152" y="3650967"/>
              <a:ext cx="0" cy="1341789"/>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B03F3CC1-2928-4DF8-1496-18472EB9453D}"/>
                </a:ext>
              </a:extLst>
            </p:cNvPr>
            <p:cNvCxnSpPr/>
            <p:nvPr/>
          </p:nvCxnSpPr>
          <p:spPr>
            <a:xfrm>
              <a:off x="6235152" y="3969026"/>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FA356133-248E-B488-F10B-47D7AA972813}"/>
                </a:ext>
              </a:extLst>
            </p:cNvPr>
            <p:cNvCxnSpPr/>
            <p:nvPr/>
          </p:nvCxnSpPr>
          <p:spPr>
            <a:xfrm>
              <a:off x="6220243" y="4992755"/>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9AF3A7B-0CC5-33C3-497D-B6412207CCB6}"/>
                </a:ext>
              </a:extLst>
            </p:cNvPr>
            <p:cNvCxnSpPr/>
            <p:nvPr/>
          </p:nvCxnSpPr>
          <p:spPr>
            <a:xfrm>
              <a:off x="9862934" y="3641027"/>
              <a:ext cx="0" cy="1341789"/>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A3A846E9-3399-DE1E-D2A6-71874BF2348D}"/>
                </a:ext>
              </a:extLst>
            </p:cNvPr>
            <p:cNvCxnSpPr/>
            <p:nvPr/>
          </p:nvCxnSpPr>
          <p:spPr>
            <a:xfrm>
              <a:off x="9862934" y="3959086"/>
              <a:ext cx="327991" cy="0"/>
            </a:xfrm>
            <a:prstGeom prst="line">
              <a:avLst/>
            </a:prstGeom>
            <a:grpFill/>
            <a:ln w="28575"/>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A128D12A-BE57-1AFF-9822-3CB0CB35725D}"/>
                </a:ext>
              </a:extLst>
            </p:cNvPr>
            <p:cNvCxnSpPr/>
            <p:nvPr/>
          </p:nvCxnSpPr>
          <p:spPr>
            <a:xfrm>
              <a:off x="9848025" y="4982815"/>
              <a:ext cx="327991" cy="0"/>
            </a:xfrm>
            <a:prstGeom prst="line">
              <a:avLst/>
            </a:prstGeom>
            <a:grpFill/>
            <a:ln w="28575"/>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6F8E4718-A07D-C065-3B85-A9BC2CD9635F}"/>
                </a:ext>
              </a:extLst>
            </p:cNvPr>
            <p:cNvSpPr txBox="1"/>
            <p:nvPr/>
          </p:nvSpPr>
          <p:spPr>
            <a:xfrm>
              <a:off x="733843" y="3805561"/>
              <a:ext cx="2102118" cy="523220"/>
            </a:xfrm>
            <a:prstGeom prst="rect">
              <a:avLst/>
            </a:prstGeom>
            <a:noFill/>
          </p:spPr>
          <p:txBody>
            <a:bodyPr wrap="square" rtlCol="0">
              <a:spAutoFit/>
            </a:bodyPr>
            <a:lstStyle/>
            <a:p>
              <a:r>
                <a:rPr lang="en-US" sz="1400" dirty="0">
                  <a:latin typeface="+mj-lt"/>
                  <a:cs typeface="Times New Roman" panose="02020603050405020304" pitchFamily="18" charset="0"/>
                </a:rPr>
                <a:t>Reduce checkout time</a:t>
              </a:r>
            </a:p>
          </p:txBody>
        </p:sp>
        <p:sp>
          <p:nvSpPr>
            <p:cNvPr id="43" name="TextBox 42">
              <a:extLst>
                <a:ext uri="{FF2B5EF4-FFF2-40B4-BE49-F238E27FC236}">
                  <a16:creationId xmlns:a16="http://schemas.microsoft.com/office/drawing/2014/main" id="{4834438F-B5CF-6073-A4BC-0F08A709AE64}"/>
                </a:ext>
              </a:extLst>
            </p:cNvPr>
            <p:cNvSpPr txBox="1"/>
            <p:nvPr/>
          </p:nvSpPr>
          <p:spPr>
            <a:xfrm>
              <a:off x="703204" y="4637249"/>
              <a:ext cx="1990305" cy="523220"/>
            </a:xfrm>
            <a:prstGeom prst="rect">
              <a:avLst/>
            </a:prstGeom>
            <a:noFill/>
          </p:spPr>
          <p:txBody>
            <a:bodyPr wrap="square" rtlCol="0">
              <a:spAutoFit/>
            </a:bodyPr>
            <a:lstStyle/>
            <a:p>
              <a:r>
                <a:rPr lang="en-US" sz="1400" dirty="0">
                  <a:latin typeface="+mj-lt"/>
                  <a:cs typeface="Times New Roman" panose="02020603050405020304" pitchFamily="18" charset="0"/>
                </a:rPr>
                <a:t>Streamline the billing process</a:t>
              </a:r>
            </a:p>
          </p:txBody>
        </p:sp>
        <p:sp>
          <p:nvSpPr>
            <p:cNvPr id="44" name="TextBox 43">
              <a:extLst>
                <a:ext uri="{FF2B5EF4-FFF2-40B4-BE49-F238E27FC236}">
                  <a16:creationId xmlns:a16="http://schemas.microsoft.com/office/drawing/2014/main" id="{F1733AB0-422D-41D3-D908-80EF11D1612A}"/>
                </a:ext>
              </a:extLst>
            </p:cNvPr>
            <p:cNvSpPr txBox="1"/>
            <p:nvPr/>
          </p:nvSpPr>
          <p:spPr>
            <a:xfrm>
              <a:off x="3935897" y="3788701"/>
              <a:ext cx="2226365" cy="523220"/>
            </a:xfrm>
            <a:prstGeom prst="rect">
              <a:avLst/>
            </a:prstGeom>
            <a:noFill/>
          </p:spPr>
          <p:txBody>
            <a:bodyPr wrap="square" rtlCol="0">
              <a:spAutoFit/>
            </a:bodyPr>
            <a:lstStyle/>
            <a:p>
              <a:r>
                <a:rPr lang="en-US" sz="1400" dirty="0">
                  <a:latin typeface="+mj-lt"/>
                  <a:cs typeface="Times New Roman" panose="02020603050405020304" pitchFamily="18" charset="0"/>
                </a:rPr>
                <a:t>Provide real-time billing information</a:t>
              </a:r>
            </a:p>
          </p:txBody>
        </p:sp>
        <p:sp>
          <p:nvSpPr>
            <p:cNvPr id="46" name="TextBox 45">
              <a:extLst>
                <a:ext uri="{FF2B5EF4-FFF2-40B4-BE49-F238E27FC236}">
                  <a16:creationId xmlns:a16="http://schemas.microsoft.com/office/drawing/2014/main" id="{91450BB7-1C0E-0C3C-7E7D-5414EDD67F06}"/>
                </a:ext>
              </a:extLst>
            </p:cNvPr>
            <p:cNvSpPr txBox="1"/>
            <p:nvPr/>
          </p:nvSpPr>
          <p:spPr>
            <a:xfrm>
              <a:off x="3887862" y="4521150"/>
              <a:ext cx="2093844" cy="738664"/>
            </a:xfrm>
            <a:prstGeom prst="rect">
              <a:avLst/>
            </a:prstGeom>
            <a:noFill/>
          </p:spPr>
          <p:txBody>
            <a:bodyPr wrap="square" rtlCol="0">
              <a:spAutoFit/>
            </a:bodyPr>
            <a:lstStyle/>
            <a:p>
              <a:r>
                <a:rPr lang="en-US" sz="1400" dirty="0">
                  <a:latin typeface="+mj-lt"/>
                  <a:cs typeface="Times New Roman" panose="02020603050405020304" pitchFamily="18" charset="0"/>
                </a:rPr>
                <a:t>Offer Personalized product recommendations</a:t>
              </a:r>
            </a:p>
          </p:txBody>
        </p:sp>
        <p:sp>
          <p:nvSpPr>
            <p:cNvPr id="47" name="TextBox 46">
              <a:extLst>
                <a:ext uri="{FF2B5EF4-FFF2-40B4-BE49-F238E27FC236}">
                  <a16:creationId xmlns:a16="http://schemas.microsoft.com/office/drawing/2014/main" id="{E68C0095-60D8-01B1-5F57-5EFB7F56839B}"/>
                </a:ext>
              </a:extLst>
            </p:cNvPr>
            <p:cNvSpPr txBox="1"/>
            <p:nvPr/>
          </p:nvSpPr>
          <p:spPr>
            <a:xfrm>
              <a:off x="6621125" y="3805561"/>
              <a:ext cx="2092185" cy="523220"/>
            </a:xfrm>
            <a:prstGeom prst="rect">
              <a:avLst/>
            </a:prstGeom>
            <a:noFill/>
          </p:spPr>
          <p:txBody>
            <a:bodyPr wrap="square" rtlCol="0">
              <a:spAutoFit/>
            </a:bodyPr>
            <a:lstStyle/>
            <a:p>
              <a:r>
                <a:rPr lang="en-US" sz="1400" dirty="0">
                  <a:latin typeface="+mj-lt"/>
                  <a:cs typeface="Times New Roman" panose="02020603050405020304" pitchFamily="18" charset="0"/>
                </a:rPr>
                <a:t>Automate inventory management</a:t>
              </a:r>
            </a:p>
          </p:txBody>
        </p:sp>
        <p:sp>
          <p:nvSpPr>
            <p:cNvPr id="48" name="TextBox 47">
              <a:extLst>
                <a:ext uri="{FF2B5EF4-FFF2-40B4-BE49-F238E27FC236}">
                  <a16:creationId xmlns:a16="http://schemas.microsoft.com/office/drawing/2014/main" id="{08927B50-DF50-8DA3-9E96-73A2AEDDA5A2}"/>
                </a:ext>
              </a:extLst>
            </p:cNvPr>
            <p:cNvSpPr txBox="1"/>
            <p:nvPr/>
          </p:nvSpPr>
          <p:spPr>
            <a:xfrm>
              <a:off x="6563143" y="4684352"/>
              <a:ext cx="2647123" cy="523220"/>
            </a:xfrm>
            <a:prstGeom prst="rect">
              <a:avLst/>
            </a:prstGeom>
            <a:noFill/>
          </p:spPr>
          <p:txBody>
            <a:bodyPr wrap="square" rtlCol="0">
              <a:spAutoFit/>
            </a:bodyPr>
            <a:lstStyle/>
            <a:p>
              <a:r>
                <a:rPr lang="en-US" sz="1400" dirty="0">
                  <a:latin typeface="+mj-lt"/>
                  <a:cs typeface="Times New Roman" panose="02020603050405020304" pitchFamily="18" charset="0"/>
                </a:rPr>
                <a:t>Reduced manpower required for billing</a:t>
              </a:r>
            </a:p>
          </p:txBody>
        </p:sp>
        <p:sp>
          <p:nvSpPr>
            <p:cNvPr id="49" name="TextBox 48">
              <a:extLst>
                <a:ext uri="{FF2B5EF4-FFF2-40B4-BE49-F238E27FC236}">
                  <a16:creationId xmlns:a16="http://schemas.microsoft.com/office/drawing/2014/main" id="{8AFE2DA5-40A0-070F-8F94-D16282B6CBED}"/>
                </a:ext>
              </a:extLst>
            </p:cNvPr>
            <p:cNvSpPr txBox="1"/>
            <p:nvPr/>
          </p:nvSpPr>
          <p:spPr>
            <a:xfrm>
              <a:off x="10205829" y="4684352"/>
              <a:ext cx="1982853" cy="738664"/>
            </a:xfrm>
            <a:prstGeom prst="rect">
              <a:avLst/>
            </a:prstGeom>
            <a:noFill/>
          </p:spPr>
          <p:txBody>
            <a:bodyPr wrap="square" rtlCol="0">
              <a:spAutoFit/>
            </a:bodyPr>
            <a:lstStyle/>
            <a:p>
              <a:r>
                <a:rPr lang="en-US" sz="1400" dirty="0">
                  <a:latin typeface="+mj-lt"/>
                  <a:cs typeface="Times New Roman" panose="02020603050405020304" pitchFamily="18" charset="0"/>
                </a:rPr>
                <a:t>Analyze sales trends for better stock</a:t>
              </a:r>
            </a:p>
          </p:txBody>
        </p:sp>
        <p:cxnSp>
          <p:nvCxnSpPr>
            <p:cNvPr id="66" name="Straight Connector 65">
              <a:extLst>
                <a:ext uri="{FF2B5EF4-FFF2-40B4-BE49-F238E27FC236}">
                  <a16:creationId xmlns:a16="http://schemas.microsoft.com/office/drawing/2014/main" id="{BD06A586-FF7B-1EE6-2292-420E160B7438}"/>
                </a:ext>
              </a:extLst>
            </p:cNvPr>
            <p:cNvCxnSpPr/>
            <p:nvPr/>
          </p:nvCxnSpPr>
          <p:spPr>
            <a:xfrm>
              <a:off x="5678561" y="1782417"/>
              <a:ext cx="0" cy="586409"/>
            </a:xfrm>
            <a:prstGeom prst="line">
              <a:avLst/>
            </a:prstGeom>
            <a:grpFill/>
            <a:ln w="38100"/>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5C7C05A8-8DBF-FEFE-0F57-6D047EA98284}"/>
                </a:ext>
              </a:extLst>
            </p:cNvPr>
            <p:cNvCxnSpPr/>
            <p:nvPr/>
          </p:nvCxnSpPr>
          <p:spPr>
            <a:xfrm>
              <a:off x="1126439" y="2368826"/>
              <a:ext cx="9611140" cy="0"/>
            </a:xfrm>
            <a:prstGeom prst="line">
              <a:avLst/>
            </a:prstGeom>
            <a:grpFill/>
            <a:ln w="38100"/>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4A04E3A9-46F8-D819-3C7B-ED343C27DDB4}"/>
                </a:ext>
              </a:extLst>
            </p:cNvPr>
            <p:cNvCxnSpPr/>
            <p:nvPr/>
          </p:nvCxnSpPr>
          <p:spPr>
            <a:xfrm>
              <a:off x="4346718" y="2368826"/>
              <a:ext cx="0" cy="447261"/>
            </a:xfrm>
            <a:prstGeom prst="line">
              <a:avLst/>
            </a:prstGeom>
            <a:grpFill/>
            <a:ln w="38100"/>
          </p:spPr>
          <p:style>
            <a:lnRef idx="1">
              <a:schemeClr val="dk1"/>
            </a:lnRef>
            <a:fillRef idx="0">
              <a:schemeClr val="dk1"/>
            </a:fillRef>
            <a:effectRef idx="0">
              <a:schemeClr val="dk1"/>
            </a:effectRef>
            <a:fontRef idx="minor">
              <a:schemeClr val="tx1"/>
            </a:fontRef>
          </p:style>
        </p:cxnSp>
      </p:grpSp>
      <p:sp>
        <p:nvSpPr>
          <p:cNvPr id="72" name="TextBox 71">
            <a:extLst>
              <a:ext uri="{FF2B5EF4-FFF2-40B4-BE49-F238E27FC236}">
                <a16:creationId xmlns:a16="http://schemas.microsoft.com/office/drawing/2014/main" id="{A48910E2-F8D7-3E63-B53E-9871F174AC9A}"/>
              </a:ext>
            </a:extLst>
          </p:cNvPr>
          <p:cNvSpPr txBox="1"/>
          <p:nvPr/>
        </p:nvSpPr>
        <p:spPr>
          <a:xfrm>
            <a:off x="10168323" y="4423939"/>
            <a:ext cx="1856530" cy="738664"/>
          </a:xfrm>
          <a:prstGeom prst="rect">
            <a:avLst/>
          </a:prstGeom>
          <a:noFill/>
        </p:spPr>
        <p:txBody>
          <a:bodyPr wrap="square" rtlCol="0">
            <a:spAutoFit/>
          </a:bodyPr>
          <a:lstStyle/>
          <a:p>
            <a:r>
              <a:rPr lang="en-US" sz="1400" dirty="0">
                <a:latin typeface="+mj-lt"/>
                <a:cs typeface="Times New Roman" panose="02020603050405020304" pitchFamily="18" charset="0"/>
              </a:rPr>
              <a:t>Gather customer shopping </a:t>
            </a:r>
            <a:r>
              <a:rPr lang="en-US" sz="1400" dirty="0" err="1">
                <a:latin typeface="+mj-lt"/>
                <a:cs typeface="Times New Roman" panose="02020603050405020304" pitchFamily="18" charset="0"/>
              </a:rPr>
              <a:t>behaviour</a:t>
            </a:r>
            <a:r>
              <a:rPr lang="en-US" sz="1400" dirty="0">
                <a:latin typeface="+mj-lt"/>
                <a:cs typeface="Times New Roman" panose="02020603050405020304" pitchFamily="18" charset="0"/>
              </a:rPr>
              <a:t> data</a:t>
            </a:r>
          </a:p>
        </p:txBody>
      </p:sp>
      <p:sp>
        <p:nvSpPr>
          <p:cNvPr id="73" name="Rectangle 72">
            <a:extLst>
              <a:ext uri="{FF2B5EF4-FFF2-40B4-BE49-F238E27FC236}">
                <a16:creationId xmlns:a16="http://schemas.microsoft.com/office/drawing/2014/main" id="{B648A807-3D93-C5BF-8B9E-AB09149E3A14}"/>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C97798F-BCD6-4796-03C9-54B03EDE7E3B}"/>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007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68D3449-E168-E590-AD4C-68ADA0236835}"/>
              </a:ext>
            </a:extLst>
          </p:cNvPr>
          <p:cNvSpPr/>
          <p:nvPr/>
        </p:nvSpPr>
        <p:spPr>
          <a:xfrm>
            <a:off x="3747051" y="2474843"/>
            <a:ext cx="3866321" cy="190831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latin typeface="+mj-lt"/>
                <a:cs typeface="Times New Roman" panose="02020603050405020304" pitchFamily="18" charset="0"/>
              </a:rPr>
              <a:t>Smart Shopping Cart</a:t>
            </a:r>
            <a:endParaRPr lang="en-ID" sz="2400" b="1" dirty="0">
              <a:latin typeface="+mj-lt"/>
              <a:cs typeface="Times New Roman" panose="02020603050405020304" pitchFamily="18" charset="0"/>
            </a:endParaRPr>
          </a:p>
        </p:txBody>
      </p:sp>
      <p:sp>
        <p:nvSpPr>
          <p:cNvPr id="6" name="Rectangle 5">
            <a:extLst>
              <a:ext uri="{FF2B5EF4-FFF2-40B4-BE49-F238E27FC236}">
                <a16:creationId xmlns:a16="http://schemas.microsoft.com/office/drawing/2014/main" id="{7E38022F-A2A1-F9A6-F16A-25D6BF1E9034}"/>
              </a:ext>
            </a:extLst>
          </p:cNvPr>
          <p:cNvSpPr/>
          <p:nvPr/>
        </p:nvSpPr>
        <p:spPr>
          <a:xfrm>
            <a:off x="806246" y="2474842"/>
            <a:ext cx="2196983" cy="1908313"/>
          </a:xfrm>
          <a:prstGeom prst="rect">
            <a:avLst/>
          </a:prstGeom>
          <a:solidFill>
            <a:schemeClr val="accent2"/>
          </a:solidFill>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mj-lt"/>
                <a:cs typeface="Times New Roman" panose="02020603050405020304" pitchFamily="18" charset="0"/>
              </a:rPr>
              <a:t>User </a:t>
            </a:r>
          </a:p>
          <a:p>
            <a:pPr algn="ctr"/>
            <a:r>
              <a:rPr lang="en-US" sz="2400" dirty="0">
                <a:latin typeface="+mj-lt"/>
                <a:cs typeface="Times New Roman" panose="02020603050405020304" pitchFamily="18" charset="0"/>
              </a:rPr>
              <a:t>Input</a:t>
            </a:r>
            <a:endParaRPr lang="en-ID" sz="2400" dirty="0">
              <a:latin typeface="+mj-lt"/>
              <a:cs typeface="Times New Roman" panose="02020603050405020304" pitchFamily="18" charset="0"/>
            </a:endParaRPr>
          </a:p>
        </p:txBody>
      </p:sp>
      <p:sp>
        <p:nvSpPr>
          <p:cNvPr id="7" name="Rectangle 6">
            <a:extLst>
              <a:ext uri="{FF2B5EF4-FFF2-40B4-BE49-F238E27FC236}">
                <a16:creationId xmlns:a16="http://schemas.microsoft.com/office/drawing/2014/main" id="{51695140-AA90-59B0-B70E-087DC3BB64CC}"/>
              </a:ext>
            </a:extLst>
          </p:cNvPr>
          <p:cNvSpPr/>
          <p:nvPr/>
        </p:nvSpPr>
        <p:spPr>
          <a:xfrm>
            <a:off x="8357194" y="2474843"/>
            <a:ext cx="2743425" cy="1908313"/>
          </a:xfrm>
          <a:prstGeom prst="rect">
            <a:avLst/>
          </a:prstGeom>
          <a:solidFill>
            <a:schemeClr val="accent3"/>
          </a:solidFill>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mj-lt"/>
                <a:cs typeface="Times New Roman" panose="02020603050405020304" pitchFamily="18" charset="0"/>
              </a:rPr>
              <a:t>Purchasing</a:t>
            </a:r>
          </a:p>
          <a:p>
            <a:pPr algn="ctr"/>
            <a:r>
              <a:rPr lang="en-US" sz="2400" dirty="0">
                <a:latin typeface="+mj-lt"/>
                <a:cs typeface="Times New Roman" panose="02020603050405020304" pitchFamily="18" charset="0"/>
              </a:rPr>
              <a:t>Through </a:t>
            </a:r>
          </a:p>
          <a:p>
            <a:pPr algn="ctr"/>
            <a:r>
              <a:rPr lang="en-US" sz="2400" dirty="0">
                <a:latin typeface="+mj-lt"/>
                <a:cs typeface="Times New Roman" panose="02020603050405020304" pitchFamily="18" charset="0"/>
              </a:rPr>
              <a:t>Automated Billing</a:t>
            </a:r>
          </a:p>
        </p:txBody>
      </p:sp>
      <p:cxnSp>
        <p:nvCxnSpPr>
          <p:cNvPr id="9" name="Straight Arrow Connector 8">
            <a:extLst>
              <a:ext uri="{FF2B5EF4-FFF2-40B4-BE49-F238E27FC236}">
                <a16:creationId xmlns:a16="http://schemas.microsoft.com/office/drawing/2014/main" id="{C26C47CE-702B-6915-4597-61D05F046F0E}"/>
              </a:ext>
            </a:extLst>
          </p:cNvPr>
          <p:cNvCxnSpPr>
            <a:cxnSpLocks/>
            <a:stCxn id="6" idx="3"/>
            <a:endCxn id="4" idx="1"/>
          </p:cNvCxnSpPr>
          <p:nvPr/>
        </p:nvCxnSpPr>
        <p:spPr>
          <a:xfrm>
            <a:off x="3003229" y="3428999"/>
            <a:ext cx="743822" cy="1"/>
          </a:xfrm>
          <a:prstGeom prst="straightConnector1">
            <a:avLst/>
          </a:prstGeom>
          <a:ln w="38100">
            <a:headEnd w="lg" len="med"/>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B170EEF-D3FB-8D9A-4F50-D9FDE0A94891}"/>
              </a:ext>
            </a:extLst>
          </p:cNvPr>
          <p:cNvCxnSpPr/>
          <p:nvPr/>
        </p:nvCxnSpPr>
        <p:spPr>
          <a:xfrm>
            <a:off x="7613372" y="3429000"/>
            <a:ext cx="743823" cy="0"/>
          </a:xfrm>
          <a:prstGeom prst="straightConnector1">
            <a:avLst/>
          </a:prstGeom>
          <a:ln w="38100">
            <a:headEnd w="lg" len="med"/>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B0265E56-BD79-AFB9-8ACA-F5A942239916}"/>
              </a:ext>
            </a:extLst>
          </p:cNvPr>
          <p:cNvSpPr txBox="1"/>
          <p:nvPr/>
        </p:nvSpPr>
        <p:spPr>
          <a:xfrm>
            <a:off x="709796" y="470632"/>
            <a:ext cx="1963999" cy="523220"/>
          </a:xfrm>
          <a:prstGeom prst="rect">
            <a:avLst/>
          </a:prstGeom>
          <a:noFill/>
        </p:spPr>
        <p:txBody>
          <a:bodyPr wrap="none" rtlCol="0">
            <a:spAutoFit/>
          </a:bodyPr>
          <a:lstStyle/>
          <a:p>
            <a:r>
              <a:rPr lang="en-US" sz="2800" b="1" dirty="0">
                <a:latin typeface="+mj-lt"/>
                <a:cs typeface="Times New Roman" panose="02020603050405020304" pitchFamily="18" charset="0"/>
              </a:rPr>
              <a:t>Black </a:t>
            </a:r>
            <a:r>
              <a:rPr lang="en-US" sz="2800" b="1" dirty="0">
                <a:solidFill>
                  <a:schemeClr val="accent3"/>
                </a:solidFill>
                <a:latin typeface="+mj-lt"/>
                <a:cs typeface="Times New Roman" panose="02020603050405020304" pitchFamily="18" charset="0"/>
              </a:rPr>
              <a:t>Box</a:t>
            </a:r>
            <a:endParaRPr lang="en-ID" sz="2800" b="1" dirty="0">
              <a:solidFill>
                <a:schemeClr val="accent3"/>
              </a:solidFill>
              <a:latin typeface="+mj-lt"/>
              <a:cs typeface="Times New Roman" panose="02020603050405020304" pitchFamily="18" charset="0"/>
            </a:endParaRPr>
          </a:p>
        </p:txBody>
      </p:sp>
      <p:sp>
        <p:nvSpPr>
          <p:cNvPr id="14" name="TextBox 13">
            <a:extLst>
              <a:ext uri="{FF2B5EF4-FFF2-40B4-BE49-F238E27FC236}">
                <a16:creationId xmlns:a16="http://schemas.microsoft.com/office/drawing/2014/main" id="{BD283833-1B9D-A82F-82FD-4282045360CD}"/>
              </a:ext>
            </a:extLst>
          </p:cNvPr>
          <p:cNvSpPr txBox="1"/>
          <p:nvPr/>
        </p:nvSpPr>
        <p:spPr>
          <a:xfrm>
            <a:off x="709796" y="1164451"/>
            <a:ext cx="11331994"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 product design, black box refers to a component or system whose internal workings are not transparent or visible to the user or the outside observer.</a:t>
            </a:r>
            <a:endParaRPr lang="en-ID"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68F18DF-0295-F544-DA28-5BC385069976}"/>
              </a:ext>
            </a:extLst>
          </p:cNvPr>
          <p:cNvSpPr txBox="1"/>
          <p:nvPr/>
        </p:nvSpPr>
        <p:spPr>
          <a:xfrm>
            <a:off x="3592188" y="4854379"/>
            <a:ext cx="4393095" cy="461665"/>
          </a:xfrm>
          <a:prstGeom prst="rect">
            <a:avLst/>
          </a:prstGeom>
          <a:noFill/>
        </p:spPr>
        <p:txBody>
          <a:bodyPr wrap="square" rtlCol="0">
            <a:spAutoFit/>
          </a:bodyPr>
          <a:lstStyle/>
          <a:p>
            <a:pPr algn="ctr"/>
            <a:r>
              <a:rPr lang="en-US" sz="2400" b="1" dirty="0">
                <a:latin typeface="+mj-lt"/>
                <a:cs typeface="Times New Roman" panose="02020603050405020304" pitchFamily="18" charset="0"/>
              </a:rPr>
              <a:t>Fig : Black box diagram</a:t>
            </a:r>
            <a:endParaRPr lang="en-ID" sz="2400" b="1" dirty="0">
              <a:latin typeface="+mj-lt"/>
              <a:cs typeface="Times New Roman" panose="02020603050405020304" pitchFamily="18" charset="0"/>
            </a:endParaRPr>
          </a:p>
        </p:txBody>
      </p:sp>
      <p:sp>
        <p:nvSpPr>
          <p:cNvPr id="12" name="Rectangle 11">
            <a:extLst>
              <a:ext uri="{FF2B5EF4-FFF2-40B4-BE49-F238E27FC236}">
                <a16:creationId xmlns:a16="http://schemas.microsoft.com/office/drawing/2014/main" id="{FDDE46BA-CEB1-7E1E-7C9C-A3D8779F27A2}"/>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CDB4A47-6A52-84BE-23EC-998514ABD9B2}"/>
              </a:ext>
            </a:extLst>
          </p:cNvPr>
          <p:cNvSpPr/>
          <p:nvPr/>
        </p:nvSpPr>
        <p:spPr>
          <a:xfrm>
            <a:off x="522440" y="5917596"/>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5908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56A03CC-5316-8E1F-2691-5247DD50BF6D}"/>
              </a:ext>
            </a:extLst>
          </p:cNvPr>
          <p:cNvSpPr/>
          <p:nvPr/>
        </p:nvSpPr>
        <p:spPr>
          <a:xfrm>
            <a:off x="432487" y="642552"/>
            <a:ext cx="154459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Customer</a:t>
            </a:r>
          </a:p>
          <a:p>
            <a:pPr algn="ctr"/>
            <a:r>
              <a:rPr lang="en-US" sz="1600" dirty="0">
                <a:latin typeface="+mj-lt"/>
                <a:cs typeface="Times New Roman" panose="02020603050405020304" pitchFamily="18" charset="0"/>
              </a:rPr>
              <a:t>Action</a:t>
            </a:r>
          </a:p>
          <a:p>
            <a:pPr algn="ctr"/>
            <a:r>
              <a:rPr lang="en-US" sz="1600" dirty="0">
                <a:latin typeface="+mj-lt"/>
                <a:cs typeface="Times New Roman" panose="02020603050405020304" pitchFamily="18" charset="0"/>
              </a:rPr>
              <a:t>(Scanning)</a:t>
            </a:r>
            <a:endParaRPr lang="en-ID" sz="1600" dirty="0">
              <a:latin typeface="+mj-lt"/>
              <a:cs typeface="Times New Roman" panose="02020603050405020304" pitchFamily="18" charset="0"/>
            </a:endParaRPr>
          </a:p>
        </p:txBody>
      </p:sp>
      <p:sp>
        <p:nvSpPr>
          <p:cNvPr id="6" name="Rectangle: Rounded Corners 5">
            <a:extLst>
              <a:ext uri="{FF2B5EF4-FFF2-40B4-BE49-F238E27FC236}">
                <a16:creationId xmlns:a16="http://schemas.microsoft.com/office/drawing/2014/main" id="{865D9309-D462-0A69-2D53-1843761B1471}"/>
              </a:ext>
            </a:extLst>
          </p:cNvPr>
          <p:cNvSpPr/>
          <p:nvPr/>
        </p:nvSpPr>
        <p:spPr>
          <a:xfrm>
            <a:off x="2075935" y="1495168"/>
            <a:ext cx="154459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Sensor</a:t>
            </a:r>
          </a:p>
          <a:p>
            <a:pPr algn="ctr"/>
            <a:r>
              <a:rPr lang="en-US" sz="1600" dirty="0">
                <a:latin typeface="+mj-lt"/>
                <a:cs typeface="Times New Roman" panose="02020603050405020304" pitchFamily="18" charset="0"/>
              </a:rPr>
              <a:t>(Product</a:t>
            </a:r>
          </a:p>
          <a:p>
            <a:pPr algn="ctr"/>
            <a:r>
              <a:rPr lang="en-US" sz="1600" dirty="0">
                <a:latin typeface="+mj-lt"/>
                <a:cs typeface="Times New Roman" panose="02020603050405020304" pitchFamily="18" charset="0"/>
              </a:rPr>
              <a:t>Detection)</a:t>
            </a:r>
          </a:p>
        </p:txBody>
      </p:sp>
      <p:sp>
        <p:nvSpPr>
          <p:cNvPr id="7" name="Rectangle: Rounded Corners 6">
            <a:extLst>
              <a:ext uri="{FF2B5EF4-FFF2-40B4-BE49-F238E27FC236}">
                <a16:creationId xmlns:a16="http://schemas.microsoft.com/office/drawing/2014/main" id="{45A2ABF3-76D8-A22E-80AA-5F20EED467E7}"/>
              </a:ext>
            </a:extLst>
          </p:cNvPr>
          <p:cNvSpPr/>
          <p:nvPr/>
        </p:nvSpPr>
        <p:spPr>
          <a:xfrm>
            <a:off x="3700847" y="2372497"/>
            <a:ext cx="154459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Control</a:t>
            </a:r>
          </a:p>
          <a:p>
            <a:pPr algn="ctr"/>
            <a:r>
              <a:rPr lang="en-US" sz="1600" dirty="0">
                <a:latin typeface="+mj-lt"/>
                <a:cs typeface="Times New Roman" panose="02020603050405020304" pitchFamily="18" charset="0"/>
              </a:rPr>
              <a:t>Unit</a:t>
            </a:r>
          </a:p>
        </p:txBody>
      </p:sp>
      <p:sp>
        <p:nvSpPr>
          <p:cNvPr id="8" name="Rectangle: Rounded Corners 7">
            <a:extLst>
              <a:ext uri="{FF2B5EF4-FFF2-40B4-BE49-F238E27FC236}">
                <a16:creationId xmlns:a16="http://schemas.microsoft.com/office/drawing/2014/main" id="{D59EB5DA-4062-0CA8-9E50-6E1F00832629}"/>
              </a:ext>
            </a:extLst>
          </p:cNvPr>
          <p:cNvSpPr/>
          <p:nvPr/>
        </p:nvSpPr>
        <p:spPr>
          <a:xfrm>
            <a:off x="5301047" y="3237471"/>
            <a:ext cx="164551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IoT Data</a:t>
            </a:r>
          </a:p>
          <a:p>
            <a:pPr algn="ctr"/>
            <a:r>
              <a:rPr lang="en-US" sz="1600" dirty="0">
                <a:latin typeface="+mj-lt"/>
                <a:cs typeface="Times New Roman" panose="02020603050405020304" pitchFamily="18" charset="0"/>
              </a:rPr>
              <a:t>Transmission</a:t>
            </a:r>
          </a:p>
        </p:txBody>
      </p:sp>
      <p:sp>
        <p:nvSpPr>
          <p:cNvPr id="9" name="Rectangle: Rounded Corners 8">
            <a:extLst>
              <a:ext uri="{FF2B5EF4-FFF2-40B4-BE49-F238E27FC236}">
                <a16:creationId xmlns:a16="http://schemas.microsoft.com/office/drawing/2014/main" id="{8CBDAADB-13A8-8DAA-0AE8-68011C0A9DF7}"/>
              </a:ext>
            </a:extLst>
          </p:cNvPr>
          <p:cNvSpPr/>
          <p:nvPr/>
        </p:nvSpPr>
        <p:spPr>
          <a:xfrm>
            <a:off x="6956849" y="4102442"/>
            <a:ext cx="154459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Stored </a:t>
            </a:r>
          </a:p>
          <a:p>
            <a:pPr algn="ctr"/>
            <a:r>
              <a:rPr lang="en-US" sz="1600" dirty="0">
                <a:latin typeface="+mj-lt"/>
                <a:cs typeface="Times New Roman" panose="02020603050405020304" pitchFamily="18" charset="0"/>
              </a:rPr>
              <a:t>Product</a:t>
            </a:r>
          </a:p>
          <a:p>
            <a:pPr algn="ctr"/>
            <a:r>
              <a:rPr lang="en-US" sz="1600" dirty="0">
                <a:latin typeface="+mj-lt"/>
                <a:cs typeface="Times New Roman" panose="02020603050405020304" pitchFamily="18" charset="0"/>
              </a:rPr>
              <a:t>Data</a:t>
            </a:r>
          </a:p>
        </p:txBody>
      </p:sp>
      <p:sp>
        <p:nvSpPr>
          <p:cNvPr id="10" name="Rectangle: Rounded Corners 9">
            <a:extLst>
              <a:ext uri="{FF2B5EF4-FFF2-40B4-BE49-F238E27FC236}">
                <a16:creationId xmlns:a16="http://schemas.microsoft.com/office/drawing/2014/main" id="{503B091F-985D-9FDB-6A0D-7612B6FA158B}"/>
              </a:ext>
            </a:extLst>
          </p:cNvPr>
          <p:cNvSpPr/>
          <p:nvPr/>
        </p:nvSpPr>
        <p:spPr>
          <a:xfrm>
            <a:off x="8528213" y="4955059"/>
            <a:ext cx="154459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Display</a:t>
            </a:r>
          </a:p>
          <a:p>
            <a:pPr algn="ctr"/>
            <a:r>
              <a:rPr lang="en-US" sz="1600" dirty="0">
                <a:latin typeface="+mj-lt"/>
                <a:cs typeface="Times New Roman" panose="02020603050405020304" pitchFamily="18" charset="0"/>
              </a:rPr>
              <a:t>Billing Info</a:t>
            </a:r>
          </a:p>
        </p:txBody>
      </p:sp>
      <p:sp>
        <p:nvSpPr>
          <p:cNvPr id="11" name="Rectangle: Rounded Corners 10">
            <a:extLst>
              <a:ext uri="{FF2B5EF4-FFF2-40B4-BE49-F238E27FC236}">
                <a16:creationId xmlns:a16="http://schemas.microsoft.com/office/drawing/2014/main" id="{7D9BE1C8-9BB6-F428-7B4C-77F0E2F521CD}"/>
              </a:ext>
            </a:extLst>
          </p:cNvPr>
          <p:cNvSpPr/>
          <p:nvPr/>
        </p:nvSpPr>
        <p:spPr>
          <a:xfrm>
            <a:off x="10155179" y="5758248"/>
            <a:ext cx="1544594" cy="963827"/>
          </a:xfrm>
          <a:prstGeom prst="round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Customer</a:t>
            </a:r>
          </a:p>
          <a:p>
            <a:pPr algn="ctr"/>
            <a:r>
              <a:rPr lang="en-US" sz="1600" dirty="0">
                <a:latin typeface="+mj-lt"/>
                <a:cs typeface="Times New Roman" panose="02020603050405020304" pitchFamily="18" charset="0"/>
              </a:rPr>
              <a:t>Interaction</a:t>
            </a:r>
          </a:p>
          <a:p>
            <a:pPr algn="ctr"/>
            <a:r>
              <a:rPr lang="en-US" sz="1600" dirty="0">
                <a:latin typeface="+mj-lt"/>
                <a:cs typeface="Times New Roman" panose="02020603050405020304" pitchFamily="18" charset="0"/>
              </a:rPr>
              <a:t>(Payment)</a:t>
            </a:r>
          </a:p>
        </p:txBody>
      </p:sp>
      <p:sp>
        <p:nvSpPr>
          <p:cNvPr id="17" name="Arrow: Chevron 16">
            <a:extLst>
              <a:ext uri="{FF2B5EF4-FFF2-40B4-BE49-F238E27FC236}">
                <a16:creationId xmlns:a16="http://schemas.microsoft.com/office/drawing/2014/main" id="{DFA59C22-FB79-6D00-71FF-15A84D2455A2}"/>
              </a:ext>
            </a:extLst>
          </p:cNvPr>
          <p:cNvSpPr/>
          <p:nvPr/>
        </p:nvSpPr>
        <p:spPr>
          <a:xfrm>
            <a:off x="1470454" y="1977080"/>
            <a:ext cx="506627" cy="197708"/>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D">
              <a:solidFill>
                <a:schemeClr val="tx1"/>
              </a:solidFill>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40DC5D9A-9CF1-BC4F-092E-8E01C3A8AF9C}"/>
              </a:ext>
            </a:extLst>
          </p:cNvPr>
          <p:cNvPicPr>
            <a:picLocks noChangeAspect="1"/>
          </p:cNvPicPr>
          <p:nvPr/>
        </p:nvPicPr>
        <p:blipFill>
          <a:blip r:embed="rId2"/>
          <a:stretch>
            <a:fillRect/>
          </a:stretch>
        </p:blipFill>
        <p:spPr>
          <a:xfrm>
            <a:off x="3084035" y="2747721"/>
            <a:ext cx="536494" cy="213378"/>
          </a:xfrm>
          <a:prstGeom prst="rect">
            <a:avLst/>
          </a:prstGeom>
          <a:ln>
            <a:noFill/>
          </a:ln>
        </p:spPr>
      </p:pic>
      <p:pic>
        <p:nvPicPr>
          <p:cNvPr id="20" name="Picture 19">
            <a:extLst>
              <a:ext uri="{FF2B5EF4-FFF2-40B4-BE49-F238E27FC236}">
                <a16:creationId xmlns:a16="http://schemas.microsoft.com/office/drawing/2014/main" id="{F9E94FF4-DE33-9EDE-8B6A-6A1704A44A5F}"/>
              </a:ext>
            </a:extLst>
          </p:cNvPr>
          <p:cNvPicPr>
            <a:picLocks noChangeAspect="1"/>
          </p:cNvPicPr>
          <p:nvPr/>
        </p:nvPicPr>
        <p:blipFill>
          <a:blip r:embed="rId2"/>
          <a:stretch>
            <a:fillRect/>
          </a:stretch>
        </p:blipFill>
        <p:spPr>
          <a:xfrm>
            <a:off x="4708947" y="3612695"/>
            <a:ext cx="536494" cy="213378"/>
          </a:xfrm>
          <a:prstGeom prst="rect">
            <a:avLst/>
          </a:prstGeom>
          <a:ln>
            <a:noFill/>
          </a:ln>
        </p:spPr>
      </p:pic>
      <p:pic>
        <p:nvPicPr>
          <p:cNvPr id="21" name="Picture 20">
            <a:extLst>
              <a:ext uri="{FF2B5EF4-FFF2-40B4-BE49-F238E27FC236}">
                <a16:creationId xmlns:a16="http://schemas.microsoft.com/office/drawing/2014/main" id="{BCDEB842-FB2E-06E4-C44F-CD87B99309CD}"/>
              </a:ext>
            </a:extLst>
          </p:cNvPr>
          <p:cNvPicPr>
            <a:picLocks noChangeAspect="1"/>
          </p:cNvPicPr>
          <p:nvPr/>
        </p:nvPicPr>
        <p:blipFill>
          <a:blip r:embed="rId2"/>
          <a:stretch>
            <a:fillRect/>
          </a:stretch>
        </p:blipFill>
        <p:spPr>
          <a:xfrm>
            <a:off x="6309147" y="4477667"/>
            <a:ext cx="536494" cy="213378"/>
          </a:xfrm>
          <a:prstGeom prst="rect">
            <a:avLst/>
          </a:prstGeom>
        </p:spPr>
      </p:pic>
      <p:pic>
        <p:nvPicPr>
          <p:cNvPr id="22" name="Picture 21">
            <a:extLst>
              <a:ext uri="{FF2B5EF4-FFF2-40B4-BE49-F238E27FC236}">
                <a16:creationId xmlns:a16="http://schemas.microsoft.com/office/drawing/2014/main" id="{2299050A-3B15-512F-21F2-4A5E37F444F3}"/>
              </a:ext>
            </a:extLst>
          </p:cNvPr>
          <p:cNvPicPr>
            <a:picLocks noChangeAspect="1"/>
          </p:cNvPicPr>
          <p:nvPr/>
        </p:nvPicPr>
        <p:blipFill>
          <a:blip r:embed="rId2"/>
          <a:stretch>
            <a:fillRect/>
          </a:stretch>
        </p:blipFill>
        <p:spPr>
          <a:xfrm>
            <a:off x="7909347" y="5330284"/>
            <a:ext cx="536494" cy="213378"/>
          </a:xfrm>
          <a:prstGeom prst="rect">
            <a:avLst/>
          </a:prstGeom>
        </p:spPr>
      </p:pic>
      <p:pic>
        <p:nvPicPr>
          <p:cNvPr id="23" name="Picture 22">
            <a:extLst>
              <a:ext uri="{FF2B5EF4-FFF2-40B4-BE49-F238E27FC236}">
                <a16:creationId xmlns:a16="http://schemas.microsoft.com/office/drawing/2014/main" id="{DF184F5C-2842-95F3-D649-7FDC00A5FB93}"/>
              </a:ext>
            </a:extLst>
          </p:cNvPr>
          <p:cNvPicPr>
            <a:picLocks noChangeAspect="1"/>
          </p:cNvPicPr>
          <p:nvPr/>
        </p:nvPicPr>
        <p:blipFill>
          <a:blip r:embed="rId2"/>
          <a:stretch>
            <a:fillRect/>
          </a:stretch>
        </p:blipFill>
        <p:spPr>
          <a:xfrm>
            <a:off x="9507480" y="6133473"/>
            <a:ext cx="536494" cy="213378"/>
          </a:xfrm>
          <a:prstGeom prst="rect">
            <a:avLst/>
          </a:prstGeom>
        </p:spPr>
      </p:pic>
      <p:sp>
        <p:nvSpPr>
          <p:cNvPr id="24" name="TextBox 23">
            <a:extLst>
              <a:ext uri="{FF2B5EF4-FFF2-40B4-BE49-F238E27FC236}">
                <a16:creationId xmlns:a16="http://schemas.microsoft.com/office/drawing/2014/main" id="{D65BFB6F-D58F-609B-99C3-21DE4877F0CC}"/>
              </a:ext>
            </a:extLst>
          </p:cNvPr>
          <p:cNvSpPr txBox="1"/>
          <p:nvPr/>
        </p:nvSpPr>
        <p:spPr>
          <a:xfrm>
            <a:off x="4977194" y="240635"/>
            <a:ext cx="3212213" cy="584775"/>
          </a:xfrm>
          <a:prstGeom prst="rect">
            <a:avLst/>
          </a:prstGeom>
          <a:noFill/>
        </p:spPr>
        <p:txBody>
          <a:bodyPr wrap="square" rtlCol="0">
            <a:spAutoFit/>
          </a:bodyPr>
          <a:lstStyle/>
          <a:p>
            <a:r>
              <a:rPr lang="en-US" sz="3200" b="1" dirty="0">
                <a:latin typeface="+mj-lt"/>
                <a:cs typeface="Times New Roman" panose="02020603050405020304" pitchFamily="18" charset="0"/>
              </a:rPr>
              <a:t>Function </a:t>
            </a:r>
            <a:r>
              <a:rPr lang="en-US" sz="3200" b="1" dirty="0">
                <a:solidFill>
                  <a:schemeClr val="accent3"/>
                </a:solidFill>
                <a:latin typeface="+mj-lt"/>
                <a:cs typeface="Times New Roman" panose="02020603050405020304" pitchFamily="18" charset="0"/>
              </a:rPr>
              <a:t>Tree</a:t>
            </a:r>
            <a:endParaRPr lang="en-ID" sz="3200" b="1" dirty="0">
              <a:solidFill>
                <a:schemeClr val="accent3"/>
              </a:solidFill>
              <a:latin typeface="+mj-lt"/>
              <a:cs typeface="Times New Roman" panose="02020603050405020304" pitchFamily="18" charset="0"/>
            </a:endParaRPr>
          </a:p>
        </p:txBody>
      </p:sp>
    </p:spTree>
    <p:extLst>
      <p:ext uri="{BB962C8B-B14F-4D97-AF65-F5344CB8AC3E}">
        <p14:creationId xmlns:p14="http://schemas.microsoft.com/office/powerpoint/2010/main" val="1126728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B1A0E8DF-8080-8C96-3F7E-266801405939}"/>
              </a:ext>
            </a:extLst>
          </p:cNvPr>
          <p:cNvGrpSpPr/>
          <p:nvPr/>
        </p:nvGrpSpPr>
        <p:grpSpPr>
          <a:xfrm>
            <a:off x="1275866" y="884255"/>
            <a:ext cx="10644833" cy="5760744"/>
            <a:chOff x="964096" y="761588"/>
            <a:chExt cx="10591508" cy="5514628"/>
          </a:xfrm>
        </p:grpSpPr>
        <p:sp>
          <p:nvSpPr>
            <p:cNvPr id="41" name="Rectangle 40">
              <a:extLst>
                <a:ext uri="{FF2B5EF4-FFF2-40B4-BE49-F238E27FC236}">
                  <a16:creationId xmlns:a16="http://schemas.microsoft.com/office/drawing/2014/main" id="{350819E4-824D-407A-D295-218B32C0AE11}"/>
                </a:ext>
              </a:extLst>
            </p:cNvPr>
            <p:cNvSpPr/>
            <p:nvPr/>
          </p:nvSpPr>
          <p:spPr>
            <a:xfrm>
              <a:off x="2945603" y="1615623"/>
              <a:ext cx="1438353" cy="493157"/>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Arduino</a:t>
              </a:r>
              <a:endParaRPr lang="en-ID" sz="1600" dirty="0">
                <a:latin typeface="+mj-lt"/>
                <a:cs typeface="Times New Roman" panose="02020603050405020304" pitchFamily="18" charset="0"/>
              </a:endParaRPr>
            </a:p>
          </p:txBody>
        </p:sp>
        <p:sp>
          <p:nvSpPr>
            <p:cNvPr id="44" name="Rectangle 43">
              <a:extLst>
                <a:ext uri="{FF2B5EF4-FFF2-40B4-BE49-F238E27FC236}">
                  <a16:creationId xmlns:a16="http://schemas.microsoft.com/office/drawing/2014/main" id="{2DB8C137-E568-0F3C-E0D7-0B03560EF087}"/>
                </a:ext>
              </a:extLst>
            </p:cNvPr>
            <p:cNvSpPr/>
            <p:nvPr/>
          </p:nvSpPr>
          <p:spPr>
            <a:xfrm>
              <a:off x="2945603" y="2337379"/>
              <a:ext cx="1438353" cy="888712"/>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Connect to the shop server</a:t>
              </a:r>
              <a:endParaRPr lang="en-ID" sz="1600" dirty="0">
                <a:latin typeface="+mj-lt"/>
                <a:cs typeface="Times New Roman" panose="02020603050405020304" pitchFamily="18" charset="0"/>
              </a:endParaRPr>
            </a:p>
          </p:txBody>
        </p:sp>
        <p:sp>
          <p:nvSpPr>
            <p:cNvPr id="45" name="Rectangle 44">
              <a:extLst>
                <a:ext uri="{FF2B5EF4-FFF2-40B4-BE49-F238E27FC236}">
                  <a16:creationId xmlns:a16="http://schemas.microsoft.com/office/drawing/2014/main" id="{5DCD99F3-5B70-C1AD-740D-C6F5316B954C}"/>
                </a:ext>
              </a:extLst>
            </p:cNvPr>
            <p:cNvSpPr/>
            <p:nvPr/>
          </p:nvSpPr>
          <p:spPr>
            <a:xfrm>
              <a:off x="2945603" y="4361380"/>
              <a:ext cx="1438353" cy="678092"/>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RFID Reader</a:t>
              </a:r>
              <a:endParaRPr lang="en-ID" sz="1600" dirty="0">
                <a:latin typeface="+mj-lt"/>
                <a:cs typeface="Times New Roman" panose="02020603050405020304" pitchFamily="18" charset="0"/>
              </a:endParaRPr>
            </a:p>
          </p:txBody>
        </p:sp>
        <p:sp>
          <p:nvSpPr>
            <p:cNvPr id="46" name="Rectangle 45">
              <a:extLst>
                <a:ext uri="{FF2B5EF4-FFF2-40B4-BE49-F238E27FC236}">
                  <a16:creationId xmlns:a16="http://schemas.microsoft.com/office/drawing/2014/main" id="{2F661592-994F-C030-24D4-15960C6495A4}"/>
                </a:ext>
              </a:extLst>
            </p:cNvPr>
            <p:cNvSpPr/>
            <p:nvPr/>
          </p:nvSpPr>
          <p:spPr>
            <a:xfrm>
              <a:off x="2945603" y="3454689"/>
              <a:ext cx="1438353" cy="678092"/>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RFID Tag Scanning</a:t>
              </a:r>
              <a:endParaRPr lang="en-ID" sz="1600" dirty="0">
                <a:latin typeface="+mj-lt"/>
                <a:cs typeface="Times New Roman" panose="02020603050405020304" pitchFamily="18" charset="0"/>
              </a:endParaRPr>
            </a:p>
          </p:txBody>
        </p:sp>
        <p:sp>
          <p:nvSpPr>
            <p:cNvPr id="47" name="Rectangle 46">
              <a:extLst>
                <a:ext uri="{FF2B5EF4-FFF2-40B4-BE49-F238E27FC236}">
                  <a16:creationId xmlns:a16="http://schemas.microsoft.com/office/drawing/2014/main" id="{4DFFABCD-FD23-2E98-0D83-2C1D0A4EAB89}"/>
                </a:ext>
              </a:extLst>
            </p:cNvPr>
            <p:cNvSpPr/>
            <p:nvPr/>
          </p:nvSpPr>
          <p:spPr>
            <a:xfrm>
              <a:off x="4927109" y="1615623"/>
              <a:ext cx="2021741" cy="493157"/>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Product Detection</a:t>
              </a:r>
              <a:endParaRPr lang="en-ID" sz="1600" dirty="0">
                <a:latin typeface="+mj-lt"/>
                <a:cs typeface="Times New Roman" panose="02020603050405020304" pitchFamily="18" charset="0"/>
              </a:endParaRPr>
            </a:p>
          </p:txBody>
        </p:sp>
        <p:sp>
          <p:nvSpPr>
            <p:cNvPr id="49" name="Rectangle 48">
              <a:extLst>
                <a:ext uri="{FF2B5EF4-FFF2-40B4-BE49-F238E27FC236}">
                  <a16:creationId xmlns:a16="http://schemas.microsoft.com/office/drawing/2014/main" id="{66789B96-FD0B-4BB7-DD26-F7FAAD0757E1}"/>
                </a:ext>
              </a:extLst>
            </p:cNvPr>
            <p:cNvSpPr/>
            <p:nvPr/>
          </p:nvSpPr>
          <p:spPr>
            <a:xfrm>
              <a:off x="2945603" y="5268070"/>
              <a:ext cx="1438353" cy="678092"/>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latin typeface="+mj-lt"/>
                  <a:cs typeface="Times New Roman" panose="02020603050405020304" pitchFamily="18" charset="0"/>
                </a:rPr>
                <a:t>IoT Data</a:t>
              </a:r>
            </a:p>
            <a:p>
              <a:pPr algn="ctr"/>
              <a:r>
                <a:rPr lang="en-US" sz="1500" dirty="0">
                  <a:latin typeface="+mj-lt"/>
                  <a:cs typeface="Times New Roman" panose="02020603050405020304" pitchFamily="18" charset="0"/>
                </a:rPr>
                <a:t>Transmission</a:t>
              </a:r>
              <a:endParaRPr lang="en-ID" sz="1500" dirty="0">
                <a:latin typeface="+mj-lt"/>
                <a:cs typeface="Times New Roman" panose="02020603050405020304" pitchFamily="18" charset="0"/>
              </a:endParaRPr>
            </a:p>
          </p:txBody>
        </p:sp>
        <p:sp>
          <p:nvSpPr>
            <p:cNvPr id="50" name="Rectangle 49">
              <a:extLst>
                <a:ext uri="{FF2B5EF4-FFF2-40B4-BE49-F238E27FC236}">
                  <a16:creationId xmlns:a16="http://schemas.microsoft.com/office/drawing/2014/main" id="{03F9E162-3F99-4F7C-E2D6-4420008DEB7D}"/>
                </a:ext>
              </a:extLst>
            </p:cNvPr>
            <p:cNvSpPr/>
            <p:nvPr/>
          </p:nvSpPr>
          <p:spPr>
            <a:xfrm>
              <a:off x="7215397" y="1615623"/>
              <a:ext cx="1775312" cy="493157"/>
            </a:xfrm>
            <a:prstGeom prst="rect">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Data Processing</a:t>
              </a:r>
              <a:endParaRPr lang="en-ID" sz="1600" dirty="0">
                <a:latin typeface="+mj-lt"/>
                <a:cs typeface="Times New Roman" panose="02020603050405020304" pitchFamily="18" charset="0"/>
              </a:endParaRPr>
            </a:p>
          </p:txBody>
        </p:sp>
        <p:sp>
          <p:nvSpPr>
            <p:cNvPr id="51" name="Rectangle 50">
              <a:extLst>
                <a:ext uri="{FF2B5EF4-FFF2-40B4-BE49-F238E27FC236}">
                  <a16:creationId xmlns:a16="http://schemas.microsoft.com/office/drawing/2014/main" id="{F1029F01-91BE-3AD9-B300-9385B394CBB2}"/>
                </a:ext>
              </a:extLst>
            </p:cNvPr>
            <p:cNvSpPr/>
            <p:nvPr/>
          </p:nvSpPr>
          <p:spPr>
            <a:xfrm>
              <a:off x="9552301" y="1615623"/>
              <a:ext cx="2003303" cy="493157"/>
            </a:xfrm>
            <a:prstGeom prst="rect">
              <a:avLst/>
            </a:prstGeom>
            <a:solidFill>
              <a:schemeClr val="accent3"/>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Digital Billing Info</a:t>
              </a:r>
              <a:endParaRPr lang="en-ID" sz="1600" dirty="0">
                <a:latin typeface="+mj-lt"/>
                <a:cs typeface="Times New Roman" panose="02020603050405020304" pitchFamily="18" charset="0"/>
              </a:endParaRPr>
            </a:p>
          </p:txBody>
        </p:sp>
        <p:sp>
          <p:nvSpPr>
            <p:cNvPr id="52" name="Rectangle 51">
              <a:extLst>
                <a:ext uri="{FF2B5EF4-FFF2-40B4-BE49-F238E27FC236}">
                  <a16:creationId xmlns:a16="http://schemas.microsoft.com/office/drawing/2014/main" id="{ED3B8CAD-93B2-B294-5DBF-2568F7F1F639}"/>
                </a:ext>
              </a:extLst>
            </p:cNvPr>
            <p:cNvSpPr/>
            <p:nvPr/>
          </p:nvSpPr>
          <p:spPr>
            <a:xfrm>
              <a:off x="9552301" y="2535156"/>
              <a:ext cx="2003303" cy="493157"/>
            </a:xfrm>
            <a:prstGeom prst="rect">
              <a:avLst/>
            </a:prstGeom>
            <a:solidFill>
              <a:schemeClr val="accent3"/>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Online Payment</a:t>
              </a:r>
              <a:endParaRPr lang="en-ID" sz="1600" dirty="0">
                <a:latin typeface="+mj-lt"/>
                <a:cs typeface="Times New Roman" panose="02020603050405020304" pitchFamily="18" charset="0"/>
              </a:endParaRPr>
            </a:p>
          </p:txBody>
        </p:sp>
        <p:sp>
          <p:nvSpPr>
            <p:cNvPr id="53" name="Rectangle 52">
              <a:extLst>
                <a:ext uri="{FF2B5EF4-FFF2-40B4-BE49-F238E27FC236}">
                  <a16:creationId xmlns:a16="http://schemas.microsoft.com/office/drawing/2014/main" id="{7095A31B-3D88-C29F-30D2-C9B43203EA30}"/>
                </a:ext>
              </a:extLst>
            </p:cNvPr>
            <p:cNvSpPr/>
            <p:nvPr/>
          </p:nvSpPr>
          <p:spPr>
            <a:xfrm>
              <a:off x="964096" y="1615623"/>
              <a:ext cx="1438353" cy="493157"/>
            </a:xfrm>
            <a:prstGeom prst="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User Input</a:t>
              </a:r>
              <a:endParaRPr lang="en-ID" sz="1600" dirty="0">
                <a:latin typeface="+mj-lt"/>
                <a:cs typeface="Times New Roman" panose="02020603050405020304" pitchFamily="18" charset="0"/>
              </a:endParaRPr>
            </a:p>
          </p:txBody>
        </p:sp>
        <p:sp>
          <p:nvSpPr>
            <p:cNvPr id="54" name="Rectangle 53">
              <a:extLst>
                <a:ext uri="{FF2B5EF4-FFF2-40B4-BE49-F238E27FC236}">
                  <a16:creationId xmlns:a16="http://schemas.microsoft.com/office/drawing/2014/main" id="{307CD212-5807-0A2C-F10A-A4F0B7356FF8}"/>
                </a:ext>
              </a:extLst>
            </p:cNvPr>
            <p:cNvSpPr/>
            <p:nvPr/>
          </p:nvSpPr>
          <p:spPr>
            <a:xfrm>
              <a:off x="964096" y="2535156"/>
              <a:ext cx="1438353" cy="493157"/>
            </a:xfrm>
            <a:prstGeom prst="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Wi-Fi</a:t>
              </a:r>
              <a:endParaRPr lang="en-ID" sz="1600" dirty="0">
                <a:latin typeface="+mj-lt"/>
                <a:cs typeface="Times New Roman" panose="02020603050405020304" pitchFamily="18" charset="0"/>
              </a:endParaRPr>
            </a:p>
          </p:txBody>
        </p:sp>
        <p:sp>
          <p:nvSpPr>
            <p:cNvPr id="55" name="Rectangle 54">
              <a:extLst>
                <a:ext uri="{FF2B5EF4-FFF2-40B4-BE49-F238E27FC236}">
                  <a16:creationId xmlns:a16="http://schemas.microsoft.com/office/drawing/2014/main" id="{6060773F-13AC-B0F2-1CB5-46DDED931A46}"/>
                </a:ext>
              </a:extLst>
            </p:cNvPr>
            <p:cNvSpPr/>
            <p:nvPr/>
          </p:nvSpPr>
          <p:spPr>
            <a:xfrm>
              <a:off x="2945603" y="761588"/>
              <a:ext cx="1438353" cy="493157"/>
            </a:xfrm>
            <a:prstGeom prst="rect">
              <a:avLst/>
            </a:prstGeom>
            <a:solidFill>
              <a:schemeClr val="accent2"/>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Power</a:t>
              </a:r>
              <a:endParaRPr lang="en-ID" sz="1600" dirty="0">
                <a:latin typeface="+mj-lt"/>
                <a:cs typeface="Times New Roman" panose="02020603050405020304" pitchFamily="18" charset="0"/>
              </a:endParaRPr>
            </a:p>
          </p:txBody>
        </p:sp>
        <p:sp>
          <p:nvSpPr>
            <p:cNvPr id="56" name="Rectangle 55">
              <a:extLst>
                <a:ext uri="{FF2B5EF4-FFF2-40B4-BE49-F238E27FC236}">
                  <a16:creationId xmlns:a16="http://schemas.microsoft.com/office/drawing/2014/main" id="{A4A006EF-C400-E81C-5668-6CDF522CD377}"/>
                </a:ext>
              </a:extLst>
            </p:cNvPr>
            <p:cNvSpPr/>
            <p:nvPr/>
          </p:nvSpPr>
          <p:spPr>
            <a:xfrm>
              <a:off x="7215396" y="761588"/>
              <a:ext cx="1775312" cy="493157"/>
            </a:xfrm>
            <a:prstGeom prst="rect">
              <a:avLst/>
            </a:prstGeom>
            <a:solidFill>
              <a:schemeClr val="accent3"/>
            </a:solidFill>
            <a:ln w="254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mj-lt"/>
                  <a:cs typeface="Times New Roman" panose="02020603050405020304" pitchFamily="18" charset="0"/>
                </a:rPr>
                <a:t>Micro Controller</a:t>
              </a:r>
              <a:endParaRPr lang="en-ID" sz="1600" dirty="0">
                <a:latin typeface="+mj-lt"/>
                <a:cs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526B94FC-5243-6931-D8FD-C5D6D9EAE2AB}"/>
                </a:ext>
              </a:extLst>
            </p:cNvPr>
            <p:cNvCxnSpPr>
              <a:stCxn id="53" idx="3"/>
              <a:endCxn id="41" idx="1"/>
            </p:cNvCxnSpPr>
            <p:nvPr/>
          </p:nvCxnSpPr>
          <p:spPr>
            <a:xfrm>
              <a:off x="2402449" y="1862201"/>
              <a:ext cx="543153"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6C0476A3-5291-D8E6-6FDF-B0120573D5E3}"/>
                </a:ext>
              </a:extLst>
            </p:cNvPr>
            <p:cNvCxnSpPr>
              <a:stCxn id="54" idx="3"/>
              <a:endCxn id="44" idx="1"/>
            </p:cNvCxnSpPr>
            <p:nvPr/>
          </p:nvCxnSpPr>
          <p:spPr>
            <a:xfrm>
              <a:off x="2402449" y="2781735"/>
              <a:ext cx="543153"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83AA1C54-A24A-AB13-14FB-75E27BE56DF6}"/>
                </a:ext>
              </a:extLst>
            </p:cNvPr>
            <p:cNvCxnSpPr>
              <a:stCxn id="55" idx="2"/>
              <a:endCxn id="41" idx="0"/>
            </p:cNvCxnSpPr>
            <p:nvPr/>
          </p:nvCxnSpPr>
          <p:spPr>
            <a:xfrm>
              <a:off x="3664779" y="1254745"/>
              <a:ext cx="0" cy="360877"/>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C3AB2BA4-9A51-F0D7-BB8A-1444FC30C3CA}"/>
                </a:ext>
              </a:extLst>
            </p:cNvPr>
            <p:cNvCxnSpPr>
              <a:stCxn id="41" idx="2"/>
              <a:endCxn id="44" idx="0"/>
            </p:cNvCxnSpPr>
            <p:nvPr/>
          </p:nvCxnSpPr>
          <p:spPr>
            <a:xfrm>
              <a:off x="3664779" y="2108780"/>
              <a:ext cx="0" cy="228598"/>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123635C6-5787-AAD6-8AFE-17057357CC17}"/>
                </a:ext>
              </a:extLst>
            </p:cNvPr>
            <p:cNvCxnSpPr>
              <a:stCxn id="44" idx="2"/>
              <a:endCxn id="46" idx="0"/>
            </p:cNvCxnSpPr>
            <p:nvPr/>
          </p:nvCxnSpPr>
          <p:spPr>
            <a:xfrm>
              <a:off x="3664779" y="3226091"/>
              <a:ext cx="0" cy="228598"/>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8E80E2DE-214B-008C-939A-5ABEE2B128FD}"/>
                </a:ext>
              </a:extLst>
            </p:cNvPr>
            <p:cNvCxnSpPr>
              <a:stCxn id="46" idx="2"/>
              <a:endCxn id="45" idx="0"/>
            </p:cNvCxnSpPr>
            <p:nvPr/>
          </p:nvCxnSpPr>
          <p:spPr>
            <a:xfrm>
              <a:off x="3664779" y="4132781"/>
              <a:ext cx="0" cy="228598"/>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675D47AC-D69A-DEC0-7682-A8CC36142CF8}"/>
                </a:ext>
              </a:extLst>
            </p:cNvPr>
            <p:cNvCxnSpPr>
              <a:cxnSpLocks/>
              <a:stCxn id="45" idx="2"/>
              <a:endCxn id="49" idx="0"/>
            </p:cNvCxnSpPr>
            <p:nvPr/>
          </p:nvCxnSpPr>
          <p:spPr>
            <a:xfrm>
              <a:off x="3664779" y="5039472"/>
              <a:ext cx="0" cy="228598"/>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D56CAF29-4591-D430-A6BF-CC6A40A889CB}"/>
                </a:ext>
              </a:extLst>
            </p:cNvPr>
            <p:cNvCxnSpPr>
              <a:cxnSpLocks/>
              <a:stCxn id="49" idx="3"/>
            </p:cNvCxnSpPr>
            <p:nvPr/>
          </p:nvCxnSpPr>
          <p:spPr>
            <a:xfrm flipV="1">
              <a:off x="4383956" y="5607116"/>
              <a:ext cx="181051" cy="1"/>
            </a:xfrm>
            <a:prstGeom prst="line">
              <a:avLst/>
            </a:prstGeom>
            <a:ln w="25400"/>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720F3BAF-8895-E549-6963-467A76159B94}"/>
                </a:ext>
              </a:extLst>
            </p:cNvPr>
            <p:cNvCxnSpPr/>
            <p:nvPr/>
          </p:nvCxnSpPr>
          <p:spPr>
            <a:xfrm>
              <a:off x="4554949" y="1862201"/>
              <a:ext cx="0" cy="3744915"/>
            </a:xfrm>
            <a:prstGeom prst="line">
              <a:avLst/>
            </a:prstGeom>
            <a:ln w="25400"/>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C1F15945-6D77-9432-FA5D-0AF21994964F}"/>
                </a:ext>
              </a:extLst>
            </p:cNvPr>
            <p:cNvCxnSpPr>
              <a:endCxn id="47" idx="1"/>
            </p:cNvCxnSpPr>
            <p:nvPr/>
          </p:nvCxnSpPr>
          <p:spPr>
            <a:xfrm>
              <a:off x="4565007" y="1862201"/>
              <a:ext cx="362102"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0C7B9CCB-2B11-FA3D-1FD7-2D03AB192F9B}"/>
                </a:ext>
              </a:extLst>
            </p:cNvPr>
            <p:cNvCxnSpPr>
              <a:stCxn id="47" idx="3"/>
              <a:endCxn id="50" idx="1"/>
            </p:cNvCxnSpPr>
            <p:nvPr/>
          </p:nvCxnSpPr>
          <p:spPr>
            <a:xfrm>
              <a:off x="6948850" y="1862201"/>
              <a:ext cx="266547"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EE681AEC-785B-2F82-568D-9EC0DC3B99BD}"/>
                </a:ext>
              </a:extLst>
            </p:cNvPr>
            <p:cNvCxnSpPr>
              <a:cxnSpLocks/>
              <a:stCxn id="56" idx="2"/>
              <a:endCxn id="50" idx="0"/>
            </p:cNvCxnSpPr>
            <p:nvPr/>
          </p:nvCxnSpPr>
          <p:spPr>
            <a:xfrm>
              <a:off x="8103052" y="1254745"/>
              <a:ext cx="1" cy="360877"/>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84" name="Straight Arrow Connector 83">
              <a:extLst>
                <a:ext uri="{FF2B5EF4-FFF2-40B4-BE49-F238E27FC236}">
                  <a16:creationId xmlns:a16="http://schemas.microsoft.com/office/drawing/2014/main" id="{C514BCFF-DE13-E63C-981D-A10441CFDE7F}"/>
                </a:ext>
              </a:extLst>
            </p:cNvPr>
            <p:cNvCxnSpPr>
              <a:stCxn id="50" idx="3"/>
              <a:endCxn id="51" idx="1"/>
            </p:cNvCxnSpPr>
            <p:nvPr/>
          </p:nvCxnSpPr>
          <p:spPr>
            <a:xfrm>
              <a:off x="8990709" y="1862201"/>
              <a:ext cx="561592"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E3B8018A-D2B7-20B7-4115-06DCDE3515D7}"/>
                </a:ext>
              </a:extLst>
            </p:cNvPr>
            <p:cNvCxnSpPr>
              <a:stCxn id="51" idx="2"/>
              <a:endCxn id="52" idx="0"/>
            </p:cNvCxnSpPr>
            <p:nvPr/>
          </p:nvCxnSpPr>
          <p:spPr>
            <a:xfrm>
              <a:off x="10553952" y="2108780"/>
              <a:ext cx="0" cy="42637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87" name="Rectangle 86">
              <a:extLst>
                <a:ext uri="{FF2B5EF4-FFF2-40B4-BE49-F238E27FC236}">
                  <a16:creationId xmlns:a16="http://schemas.microsoft.com/office/drawing/2014/main" id="{EAF53A60-0E74-AB75-AC30-305C38F6FC15}"/>
                </a:ext>
              </a:extLst>
            </p:cNvPr>
            <p:cNvSpPr/>
            <p:nvPr/>
          </p:nvSpPr>
          <p:spPr>
            <a:xfrm>
              <a:off x="2674026" y="1435184"/>
              <a:ext cx="6618434" cy="4841032"/>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ID" sz="1600">
                <a:noFill/>
                <a:latin typeface="+mj-lt"/>
              </a:endParaRPr>
            </a:p>
          </p:txBody>
        </p:sp>
      </p:grpSp>
      <p:sp>
        <p:nvSpPr>
          <p:cNvPr id="88" name="TextBox 87">
            <a:extLst>
              <a:ext uri="{FF2B5EF4-FFF2-40B4-BE49-F238E27FC236}">
                <a16:creationId xmlns:a16="http://schemas.microsoft.com/office/drawing/2014/main" id="{45F11683-5C0A-6165-1D92-5944409CA266}"/>
              </a:ext>
            </a:extLst>
          </p:cNvPr>
          <p:cNvSpPr txBox="1"/>
          <p:nvPr/>
        </p:nvSpPr>
        <p:spPr>
          <a:xfrm>
            <a:off x="236130" y="41178"/>
            <a:ext cx="5516550" cy="1077218"/>
          </a:xfrm>
          <a:prstGeom prst="rect">
            <a:avLst/>
          </a:prstGeom>
          <a:noFill/>
        </p:spPr>
        <p:txBody>
          <a:bodyPr wrap="square" rtlCol="0">
            <a:spAutoFit/>
          </a:bodyPr>
          <a:lstStyle/>
          <a:p>
            <a:r>
              <a:rPr lang="en-US" sz="3200" b="1" dirty="0">
                <a:latin typeface="+mj-lt"/>
                <a:cs typeface="Times New Roman" panose="02020603050405020304" pitchFamily="18" charset="0"/>
              </a:rPr>
              <a:t>Functional Structure </a:t>
            </a:r>
            <a:r>
              <a:rPr lang="en-US" sz="3200" b="1" dirty="0">
                <a:solidFill>
                  <a:schemeClr val="accent3"/>
                </a:solidFill>
                <a:latin typeface="+mj-lt"/>
                <a:cs typeface="Times New Roman" panose="02020603050405020304" pitchFamily="18" charset="0"/>
              </a:rPr>
              <a:t>Diagram</a:t>
            </a:r>
            <a:endParaRPr lang="en-ID" sz="3200" b="1" dirty="0">
              <a:solidFill>
                <a:schemeClr val="accent3"/>
              </a:solidFill>
              <a:latin typeface="+mj-lt"/>
              <a:cs typeface="Times New Roman" panose="02020603050405020304" pitchFamily="18" charset="0"/>
            </a:endParaRPr>
          </a:p>
        </p:txBody>
      </p:sp>
    </p:spTree>
    <p:extLst>
      <p:ext uri="{BB962C8B-B14F-4D97-AF65-F5344CB8AC3E}">
        <p14:creationId xmlns:p14="http://schemas.microsoft.com/office/powerpoint/2010/main" val="1245140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76E7635-632B-4A62-A2D0-118CE8EBFE46}"/>
              </a:ext>
            </a:extLst>
          </p:cNvPr>
          <p:cNvSpPr/>
          <p:nvPr/>
        </p:nvSpPr>
        <p:spPr>
          <a:xfrm>
            <a:off x="5171732" y="5135678"/>
            <a:ext cx="1848536" cy="1569660"/>
          </a:xfrm>
          <a:prstGeom prst="rect">
            <a:avLst/>
          </a:prstGeom>
        </p:spPr>
        <p:txBody>
          <a:bodyPr wrap="square" anchor="b">
            <a:spAutoFit/>
          </a:bodyPr>
          <a:lstStyle/>
          <a:p>
            <a:pPr algn="ctr"/>
            <a:r>
              <a:rPr lang="en-US" sz="3200" b="1" dirty="0" err="1"/>
              <a:t>Farabe</a:t>
            </a:r>
            <a:endParaRPr lang="en-US" sz="3200" b="1" dirty="0"/>
          </a:p>
          <a:p>
            <a:pPr algn="ctr"/>
            <a:r>
              <a:rPr lang="en-US" sz="3200" b="1" dirty="0"/>
              <a:t>2005023</a:t>
            </a:r>
          </a:p>
          <a:p>
            <a:pPr algn="ctr"/>
            <a:endParaRPr lang="en-US" sz="1600" b="1" dirty="0"/>
          </a:p>
          <a:p>
            <a:pPr algn="ctr"/>
            <a:endParaRPr lang="en-US" sz="1600" b="1" dirty="0">
              <a:solidFill>
                <a:schemeClr val="bg1"/>
              </a:solidFill>
              <a:latin typeface="Open Sans" panose="020B0606030504020204" pitchFamily="34" charset="0"/>
            </a:endParaRPr>
          </a:p>
        </p:txBody>
      </p:sp>
      <p:pic>
        <p:nvPicPr>
          <p:cNvPr id="2" name="Picture 1">
            <a:extLst>
              <a:ext uri="{FF2B5EF4-FFF2-40B4-BE49-F238E27FC236}">
                <a16:creationId xmlns:a16="http://schemas.microsoft.com/office/drawing/2014/main" id="{CAC96A1F-ABE8-52B5-9849-04B6DEA75B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9205" t="11532" r="21921" b="26979"/>
          <a:stretch/>
        </p:blipFill>
        <p:spPr>
          <a:xfrm>
            <a:off x="4963592" y="2160067"/>
            <a:ext cx="2264816" cy="2264816"/>
          </a:xfrm>
          <a:prstGeom prst="ellipse">
            <a:avLst/>
          </a:prstGeom>
          <a:ln w="38100">
            <a:solidFill>
              <a:schemeClr val="accent2"/>
            </a:solidFill>
          </a:ln>
        </p:spPr>
      </p:pic>
      <p:sp>
        <p:nvSpPr>
          <p:cNvPr id="4" name="Rectangle 3">
            <a:extLst>
              <a:ext uri="{FF2B5EF4-FFF2-40B4-BE49-F238E27FC236}">
                <a16:creationId xmlns:a16="http://schemas.microsoft.com/office/drawing/2014/main" id="{883EF76D-2E02-B71E-AAE0-99E3A5A934C9}"/>
              </a:ext>
            </a:extLst>
          </p:cNvPr>
          <p:cNvSpPr/>
          <p:nvPr/>
        </p:nvSpPr>
        <p:spPr>
          <a:xfrm>
            <a:off x="3453155" y="645105"/>
            <a:ext cx="5315664" cy="1077218"/>
          </a:xfrm>
          <a:prstGeom prst="rect">
            <a:avLst/>
          </a:prstGeom>
          <a:noFill/>
        </p:spPr>
        <p:txBody>
          <a:bodyPr wrap="square" lIns="91440" tIns="45720" rIns="91440" bIns="45720">
            <a:spAutoFit/>
          </a:bodyPr>
          <a:lstStyle/>
          <a:p>
            <a:pPr algn="ct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QFD, Specification &amp; </a:t>
            </a:r>
            <a:r>
              <a:rPr lang="en-US" sz="3200" b="1" cap="none" spc="0" dirty="0">
                <a:ln w="9525">
                  <a:solidFill>
                    <a:schemeClr val="bg1"/>
                  </a:solidFill>
                  <a:prstDash val="solid"/>
                </a:ln>
                <a:solidFill>
                  <a:schemeClr val="accent3">
                    <a:lumMod val="75000"/>
                  </a:schemeClr>
                </a:solidFill>
                <a:effectLst>
                  <a:outerShdw blurRad="12700" dist="38100" dir="2700000" algn="tl" rotWithShape="0">
                    <a:schemeClr val="bg1">
                      <a:lumMod val="50000"/>
                    </a:schemeClr>
                  </a:outerShdw>
                </a:effectLst>
              </a:rPr>
              <a:t>Design Analysis</a:t>
            </a:r>
          </a:p>
        </p:txBody>
      </p:sp>
      <p:sp>
        <p:nvSpPr>
          <p:cNvPr id="3" name="TextBox 2">
            <a:extLst>
              <a:ext uri="{FF2B5EF4-FFF2-40B4-BE49-F238E27FC236}">
                <a16:creationId xmlns:a16="http://schemas.microsoft.com/office/drawing/2014/main" id="{0D27B490-C74F-AF35-7615-F5C6B0CC6DB5}"/>
              </a:ext>
            </a:extLst>
          </p:cNvPr>
          <p:cNvSpPr txBox="1"/>
          <p:nvPr/>
        </p:nvSpPr>
        <p:spPr>
          <a:xfrm>
            <a:off x="4637314" y="49149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BC7AAB17-D789-87FC-0D3D-AB4C44319939}"/>
              </a:ext>
            </a:extLst>
          </p:cNvPr>
          <p:cNvSpPr txBox="1"/>
          <p:nvPr/>
        </p:nvSpPr>
        <p:spPr>
          <a:xfrm>
            <a:off x="1714500" y="3755571"/>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6AF559C4-B5DF-AD50-B0F9-7E07E92D2688}"/>
              </a:ext>
            </a:extLst>
          </p:cNvPr>
          <p:cNvSpPr txBox="1"/>
          <p:nvPr/>
        </p:nvSpPr>
        <p:spPr>
          <a:xfrm>
            <a:off x="5011419" y="4506552"/>
            <a:ext cx="2216989" cy="461665"/>
          </a:xfrm>
          <a:prstGeom prst="rect">
            <a:avLst/>
          </a:prstGeom>
          <a:noFill/>
        </p:spPr>
        <p:txBody>
          <a:bodyPr wrap="square" rtlCol="0">
            <a:spAutoFit/>
          </a:bodyPr>
          <a:lstStyle/>
          <a:p>
            <a:r>
              <a:rPr lang="en-US" sz="2400" b="1" dirty="0"/>
              <a:t>Presented By</a:t>
            </a:r>
          </a:p>
        </p:txBody>
      </p:sp>
      <p:sp>
        <p:nvSpPr>
          <p:cNvPr id="7" name="Rectangle 6">
            <a:extLst>
              <a:ext uri="{FF2B5EF4-FFF2-40B4-BE49-F238E27FC236}">
                <a16:creationId xmlns:a16="http://schemas.microsoft.com/office/drawing/2014/main" id="{C5095A56-C28E-643C-268B-AF762F532B33}"/>
              </a:ext>
            </a:extLst>
          </p:cNvPr>
          <p:cNvSpPr/>
          <p:nvPr/>
        </p:nvSpPr>
        <p:spPr>
          <a:xfrm rot="19289892">
            <a:off x="-1387949" y="-450449"/>
            <a:ext cx="4025830" cy="151476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4649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98C3B736-F50D-441B-A694-B0D70E3638FA}"/>
              </a:ext>
            </a:extLst>
          </p:cNvPr>
          <p:cNvSpPr txBox="1"/>
          <p:nvPr/>
        </p:nvSpPr>
        <p:spPr>
          <a:xfrm>
            <a:off x="3116046" y="253165"/>
            <a:ext cx="6172321" cy="523202"/>
          </a:xfrm>
          <a:prstGeom prst="rect">
            <a:avLst/>
          </a:prstGeom>
          <a:noFill/>
        </p:spPr>
        <p:txBody>
          <a:bodyPr wrap="square" lIns="91422" tIns="45711" rIns="91422" bIns="45711" rtlCol="0">
            <a:spAutoFit/>
          </a:bodyPr>
          <a:lstStyle/>
          <a:p>
            <a:pPr algn="ctr"/>
            <a:r>
              <a:rPr lang="en-US" sz="2800" b="1" spc="300" dirty="0">
                <a:solidFill>
                  <a:schemeClr val="tx1">
                    <a:lumMod val="95000"/>
                    <a:lumOff val="5000"/>
                  </a:schemeClr>
                </a:solidFill>
                <a:latin typeface="Poppins" panose="00000500000000000000" pitchFamily="2" charset="0"/>
                <a:cs typeface="Poppins" panose="00000500000000000000" pitchFamily="2" charset="0"/>
              </a:rPr>
              <a:t>QUALITY FUNCTION  </a:t>
            </a:r>
          </a:p>
        </p:txBody>
      </p:sp>
      <p:sp>
        <p:nvSpPr>
          <p:cNvPr id="41" name="TextBox 40">
            <a:extLst>
              <a:ext uri="{FF2B5EF4-FFF2-40B4-BE49-F238E27FC236}">
                <a16:creationId xmlns:a16="http://schemas.microsoft.com/office/drawing/2014/main" id="{6B25E05D-5C8A-440F-BDBC-89940B4EA933}"/>
              </a:ext>
            </a:extLst>
          </p:cNvPr>
          <p:cNvSpPr txBox="1"/>
          <p:nvPr/>
        </p:nvSpPr>
        <p:spPr>
          <a:xfrm>
            <a:off x="5118302" y="708037"/>
            <a:ext cx="5321935" cy="584757"/>
          </a:xfrm>
          <a:prstGeom prst="rect">
            <a:avLst/>
          </a:prstGeom>
          <a:noFill/>
        </p:spPr>
        <p:txBody>
          <a:bodyPr wrap="square" lIns="91422" tIns="45711" rIns="91422" bIns="45711" rtlCol="0">
            <a:spAutoFit/>
          </a:bodyPr>
          <a:lstStyle/>
          <a:p>
            <a:pPr algn="ctr"/>
            <a:r>
              <a:rPr lang="en-US" sz="3200" b="1" spc="300" dirty="0">
                <a:solidFill>
                  <a:schemeClr val="accent3"/>
                </a:solidFill>
                <a:latin typeface="Poppins" panose="00000500000000000000" pitchFamily="2" charset="0"/>
                <a:cs typeface="Poppins" panose="00000500000000000000" pitchFamily="2" charset="0"/>
              </a:rPr>
              <a:t>DEPLOYMENT </a:t>
            </a:r>
            <a:r>
              <a:rPr lang="en-US" sz="3200" b="1" spc="300" dirty="0">
                <a:latin typeface="Poppins" panose="00000500000000000000" pitchFamily="2" charset="0"/>
                <a:cs typeface="Poppins" panose="00000500000000000000" pitchFamily="2" charset="0"/>
              </a:rPr>
              <a:t>(QFD)</a:t>
            </a:r>
          </a:p>
        </p:txBody>
      </p:sp>
      <p:graphicFrame>
        <p:nvGraphicFramePr>
          <p:cNvPr id="2" name="Table 1">
            <a:extLst>
              <a:ext uri="{FF2B5EF4-FFF2-40B4-BE49-F238E27FC236}">
                <a16:creationId xmlns:a16="http://schemas.microsoft.com/office/drawing/2014/main" id="{178522BD-0DFD-68D5-0180-92C12CF69FFB}"/>
              </a:ext>
            </a:extLst>
          </p:cNvPr>
          <p:cNvGraphicFramePr>
            <a:graphicFrameLocks noGrp="1"/>
          </p:cNvGraphicFramePr>
          <p:nvPr>
            <p:extLst>
              <p:ext uri="{D42A27DB-BD31-4B8C-83A1-F6EECF244321}">
                <p14:modId xmlns:p14="http://schemas.microsoft.com/office/powerpoint/2010/main" val="1062672904"/>
              </p:ext>
            </p:extLst>
          </p:nvPr>
        </p:nvGraphicFramePr>
        <p:xfrm>
          <a:off x="584591" y="1524558"/>
          <a:ext cx="4834434" cy="2666960"/>
        </p:xfrm>
        <a:graphic>
          <a:graphicData uri="http://schemas.openxmlformats.org/drawingml/2006/table">
            <a:tbl>
              <a:tblPr firstRow="1" firstCol="1" bandRow="1">
                <a:tableStyleId>{21E4AEA4-8DFA-4A89-87EB-49C32662AFE0}</a:tableStyleId>
              </a:tblPr>
              <a:tblGrid>
                <a:gridCol w="2488136">
                  <a:extLst>
                    <a:ext uri="{9D8B030D-6E8A-4147-A177-3AD203B41FA5}">
                      <a16:colId xmlns:a16="http://schemas.microsoft.com/office/drawing/2014/main" val="3021164807"/>
                    </a:ext>
                  </a:extLst>
                </a:gridCol>
                <a:gridCol w="2346298">
                  <a:extLst>
                    <a:ext uri="{9D8B030D-6E8A-4147-A177-3AD203B41FA5}">
                      <a16:colId xmlns:a16="http://schemas.microsoft.com/office/drawing/2014/main" val="674207888"/>
                    </a:ext>
                  </a:extLst>
                </a:gridCol>
              </a:tblGrid>
              <a:tr h="443664">
                <a:tc>
                  <a:txBody>
                    <a:bodyPr/>
                    <a:lstStyle/>
                    <a:p>
                      <a:pPr marL="0" marR="77470" algn="ctr">
                        <a:lnSpc>
                          <a:spcPct val="107000"/>
                        </a:lnSpc>
                        <a:spcBef>
                          <a:spcPts val="0"/>
                        </a:spcBef>
                        <a:spcAft>
                          <a:spcPts val="0"/>
                        </a:spcAft>
                      </a:pPr>
                      <a:r>
                        <a:rPr lang="en-ID" sz="1600" kern="100" dirty="0">
                          <a:solidFill>
                            <a:schemeClr val="tx1"/>
                          </a:solidFill>
                          <a:effectLst/>
                        </a:rPr>
                        <a:t>Type of correlation</a:t>
                      </a:r>
                      <a:endParaRPr lang="en-US" sz="16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1115" algn="ctr">
                        <a:lnSpc>
                          <a:spcPct val="107000"/>
                        </a:lnSpc>
                        <a:spcBef>
                          <a:spcPts val="0"/>
                        </a:spcBef>
                        <a:spcAft>
                          <a:spcPts val="0"/>
                        </a:spcAft>
                      </a:pPr>
                      <a:r>
                        <a:rPr lang="en-ID" sz="1600" kern="100" dirty="0">
                          <a:solidFill>
                            <a:schemeClr val="tx1"/>
                          </a:solidFill>
                          <a:effectLst/>
                        </a:rPr>
                        <a:t>Symbols </a:t>
                      </a:r>
                      <a:endParaRPr lang="en-US" sz="16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560276"/>
                  </a:ext>
                </a:extLst>
              </a:tr>
              <a:tr h="443664">
                <a:tc>
                  <a:txBody>
                    <a:bodyPr/>
                    <a:lstStyle/>
                    <a:p>
                      <a:pPr marL="0" marR="29210" algn="ctr">
                        <a:lnSpc>
                          <a:spcPct val="107000"/>
                        </a:lnSpc>
                        <a:spcBef>
                          <a:spcPts val="0"/>
                        </a:spcBef>
                        <a:spcAft>
                          <a:spcPts val="0"/>
                        </a:spcAft>
                      </a:pPr>
                      <a:r>
                        <a:rPr lang="en-ID" sz="1600" kern="100" dirty="0">
                          <a:solidFill>
                            <a:schemeClr val="tx1"/>
                          </a:solidFill>
                          <a:effectLst/>
                        </a:rPr>
                        <a:t>Strongly </a:t>
                      </a:r>
                      <a:r>
                        <a:rPr lang="en-ID" sz="1600" b="1" kern="100" dirty="0">
                          <a:solidFill>
                            <a:schemeClr val="tx1"/>
                          </a:solidFill>
                          <a:effectLst/>
                        </a:rPr>
                        <a:t>Positive</a:t>
                      </a:r>
                      <a:endParaRPr lang="en-US" sz="1600" b="1"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2385" algn="ctr">
                        <a:lnSpc>
                          <a:spcPct val="107000"/>
                        </a:lnSpc>
                        <a:spcBef>
                          <a:spcPts val="0"/>
                        </a:spcBef>
                        <a:spcAft>
                          <a:spcPts val="0"/>
                        </a:spcAft>
                      </a:pPr>
                      <a:r>
                        <a:rPr lang="en-ID" sz="2000" kern="100" dirty="0">
                          <a:solidFill>
                            <a:schemeClr val="tx1"/>
                          </a:solidFill>
                          <a:effectLst/>
                        </a:rPr>
                        <a:t>++ </a:t>
                      </a:r>
                      <a:endParaRPr lang="en-US" sz="20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9292751"/>
                  </a:ext>
                </a:extLst>
              </a:tr>
              <a:tr h="443664">
                <a:tc>
                  <a:txBody>
                    <a:bodyPr/>
                    <a:lstStyle/>
                    <a:p>
                      <a:pPr marL="0" marR="27305" algn="ctr">
                        <a:lnSpc>
                          <a:spcPct val="107000"/>
                        </a:lnSpc>
                        <a:spcBef>
                          <a:spcPts val="0"/>
                        </a:spcBef>
                        <a:spcAft>
                          <a:spcPts val="0"/>
                        </a:spcAft>
                      </a:pPr>
                      <a:r>
                        <a:rPr lang="en-ID" sz="1600" kern="100" dirty="0">
                          <a:solidFill>
                            <a:schemeClr val="tx1"/>
                          </a:solidFill>
                          <a:effectLst/>
                        </a:rPr>
                        <a:t>Positive</a:t>
                      </a:r>
                      <a:endParaRPr lang="en-US" sz="16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9210" algn="ctr">
                        <a:lnSpc>
                          <a:spcPct val="107000"/>
                        </a:lnSpc>
                        <a:spcBef>
                          <a:spcPts val="0"/>
                        </a:spcBef>
                        <a:spcAft>
                          <a:spcPts val="0"/>
                        </a:spcAft>
                      </a:pPr>
                      <a:r>
                        <a:rPr lang="en-ID" sz="2000" kern="100" dirty="0">
                          <a:solidFill>
                            <a:schemeClr val="tx1"/>
                          </a:solidFill>
                          <a:effectLst/>
                        </a:rPr>
                        <a:t>+ </a:t>
                      </a:r>
                      <a:endParaRPr lang="en-US" sz="20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490444"/>
                  </a:ext>
                </a:extLst>
              </a:tr>
              <a:tr h="446152">
                <a:tc>
                  <a:txBody>
                    <a:bodyPr/>
                    <a:lstStyle/>
                    <a:p>
                      <a:pPr marL="0" marR="29210" algn="ctr">
                        <a:lnSpc>
                          <a:spcPct val="107000"/>
                        </a:lnSpc>
                        <a:spcBef>
                          <a:spcPts val="0"/>
                        </a:spcBef>
                        <a:spcAft>
                          <a:spcPts val="0"/>
                        </a:spcAft>
                      </a:pPr>
                      <a:r>
                        <a:rPr lang="en-ID" sz="1600" kern="100">
                          <a:solidFill>
                            <a:schemeClr val="tx1"/>
                          </a:solidFill>
                          <a:effectLst/>
                        </a:rPr>
                        <a:t>No correlation</a:t>
                      </a:r>
                      <a:endParaRPr lang="en-US" sz="1600" kern="10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ID" sz="2000" kern="100" dirty="0">
                          <a:solidFill>
                            <a:schemeClr val="tx1"/>
                          </a:solidFill>
                          <a:effectLst/>
                        </a:rPr>
                        <a:t> </a:t>
                      </a:r>
                      <a:endParaRPr lang="en-US" sz="20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386299"/>
                  </a:ext>
                </a:extLst>
              </a:tr>
              <a:tr h="446152">
                <a:tc>
                  <a:txBody>
                    <a:bodyPr/>
                    <a:lstStyle/>
                    <a:p>
                      <a:pPr marL="0" marR="28575" algn="ctr">
                        <a:lnSpc>
                          <a:spcPct val="107000"/>
                        </a:lnSpc>
                        <a:spcBef>
                          <a:spcPts val="0"/>
                        </a:spcBef>
                        <a:spcAft>
                          <a:spcPts val="0"/>
                        </a:spcAft>
                      </a:pPr>
                      <a:r>
                        <a:rPr lang="en-ID" sz="1600" kern="100">
                          <a:solidFill>
                            <a:schemeClr val="tx1"/>
                          </a:solidFill>
                          <a:effectLst/>
                        </a:rPr>
                        <a:t>Negative</a:t>
                      </a:r>
                      <a:endParaRPr lang="en-US" sz="1600" kern="10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1115" algn="ctr">
                        <a:lnSpc>
                          <a:spcPct val="107000"/>
                        </a:lnSpc>
                        <a:spcBef>
                          <a:spcPts val="0"/>
                        </a:spcBef>
                        <a:spcAft>
                          <a:spcPts val="0"/>
                        </a:spcAft>
                      </a:pPr>
                      <a:r>
                        <a:rPr lang="en-ID" sz="2000" kern="100" dirty="0">
                          <a:solidFill>
                            <a:schemeClr val="tx1"/>
                          </a:solidFill>
                          <a:effectLst/>
                        </a:rPr>
                        <a:t>- </a:t>
                      </a:r>
                      <a:endParaRPr lang="en-US" sz="20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160995"/>
                  </a:ext>
                </a:extLst>
              </a:tr>
              <a:tr h="443664">
                <a:tc>
                  <a:txBody>
                    <a:bodyPr/>
                    <a:lstStyle/>
                    <a:p>
                      <a:pPr marL="0" marR="28575" algn="ctr">
                        <a:lnSpc>
                          <a:spcPct val="107000"/>
                        </a:lnSpc>
                        <a:spcBef>
                          <a:spcPts val="0"/>
                        </a:spcBef>
                        <a:spcAft>
                          <a:spcPts val="0"/>
                        </a:spcAft>
                      </a:pPr>
                      <a:r>
                        <a:rPr lang="en-ID" sz="1600" kern="100" dirty="0">
                          <a:solidFill>
                            <a:schemeClr val="tx1"/>
                          </a:solidFill>
                          <a:effectLst/>
                        </a:rPr>
                        <a:t>Strongly Negative</a:t>
                      </a:r>
                      <a:endParaRPr lang="en-US" sz="16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2385" algn="ctr">
                        <a:lnSpc>
                          <a:spcPct val="107000"/>
                        </a:lnSpc>
                        <a:spcBef>
                          <a:spcPts val="0"/>
                        </a:spcBef>
                        <a:spcAft>
                          <a:spcPts val="0"/>
                        </a:spcAft>
                      </a:pPr>
                      <a:r>
                        <a:rPr lang="en-ID" sz="2000" kern="100" dirty="0">
                          <a:solidFill>
                            <a:schemeClr val="tx1"/>
                          </a:solidFill>
                          <a:effectLst/>
                        </a:rPr>
                        <a:t>-- </a:t>
                      </a:r>
                      <a:endParaRPr lang="en-US" sz="2000" kern="100" dirty="0">
                        <a:solidFill>
                          <a:schemeClr val="tx1"/>
                        </a:solidFill>
                        <a:effectLst/>
                        <a:latin typeface="Century Gothic" panose="020B0502020202020204" pitchFamily="34" charset="0"/>
                        <a:ea typeface="Century Gothic" panose="020B0502020202020204" pitchFamily="34" charset="0"/>
                        <a:cs typeface="Vrinda" panose="020B0502040204020203" pitchFamily="34" charset="0"/>
                      </a:endParaRPr>
                    </a:p>
                  </a:txBody>
                  <a:tcPr marL="62230" marR="349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859694"/>
                  </a:ext>
                </a:extLst>
              </a:tr>
            </a:tbl>
          </a:graphicData>
        </a:graphic>
      </p:graphicFrame>
      <p:graphicFrame>
        <p:nvGraphicFramePr>
          <p:cNvPr id="3" name="Table 2">
            <a:extLst>
              <a:ext uri="{FF2B5EF4-FFF2-40B4-BE49-F238E27FC236}">
                <a16:creationId xmlns:a16="http://schemas.microsoft.com/office/drawing/2014/main" id="{DE4A0E57-3D18-A46F-3EC3-0033C46A96E9}"/>
              </a:ext>
            </a:extLst>
          </p:cNvPr>
          <p:cNvGraphicFramePr>
            <a:graphicFrameLocks noGrp="1"/>
          </p:cNvGraphicFramePr>
          <p:nvPr>
            <p:extLst>
              <p:ext uri="{D42A27DB-BD31-4B8C-83A1-F6EECF244321}">
                <p14:modId xmlns:p14="http://schemas.microsoft.com/office/powerpoint/2010/main" val="878916028"/>
              </p:ext>
            </p:extLst>
          </p:nvPr>
        </p:nvGraphicFramePr>
        <p:xfrm>
          <a:off x="6871151" y="1524558"/>
          <a:ext cx="4834433" cy="2666960"/>
        </p:xfrm>
        <a:graphic>
          <a:graphicData uri="http://schemas.openxmlformats.org/drawingml/2006/table">
            <a:tbl>
              <a:tblPr firstRow="1" firstCol="1" bandRow="1">
                <a:tableStyleId>{00A15C55-8517-42AA-B614-E9B94910E393}</a:tableStyleId>
              </a:tblPr>
              <a:tblGrid>
                <a:gridCol w="1621747">
                  <a:extLst>
                    <a:ext uri="{9D8B030D-6E8A-4147-A177-3AD203B41FA5}">
                      <a16:colId xmlns:a16="http://schemas.microsoft.com/office/drawing/2014/main" val="2406453343"/>
                    </a:ext>
                  </a:extLst>
                </a:gridCol>
                <a:gridCol w="1505626">
                  <a:extLst>
                    <a:ext uri="{9D8B030D-6E8A-4147-A177-3AD203B41FA5}">
                      <a16:colId xmlns:a16="http://schemas.microsoft.com/office/drawing/2014/main" val="1411705575"/>
                    </a:ext>
                  </a:extLst>
                </a:gridCol>
                <a:gridCol w="1707060">
                  <a:extLst>
                    <a:ext uri="{9D8B030D-6E8A-4147-A177-3AD203B41FA5}">
                      <a16:colId xmlns:a16="http://schemas.microsoft.com/office/drawing/2014/main" val="2700668957"/>
                    </a:ext>
                  </a:extLst>
                </a:gridCol>
              </a:tblGrid>
              <a:tr h="540571">
                <a:tc>
                  <a:txBody>
                    <a:bodyPr/>
                    <a:lstStyle/>
                    <a:p>
                      <a:pPr marL="73025" marR="0">
                        <a:lnSpc>
                          <a:spcPct val="107000"/>
                        </a:lnSpc>
                        <a:spcBef>
                          <a:spcPts val="0"/>
                        </a:spcBef>
                        <a:spcAft>
                          <a:spcPts val="0"/>
                        </a:spcAft>
                      </a:pPr>
                      <a:r>
                        <a:rPr lang="en-ID" sz="1200" kern="100" dirty="0">
                          <a:solidFill>
                            <a:schemeClr val="tx1"/>
                          </a:solidFill>
                          <a:effectLst/>
                          <a:latin typeface="+mj-lt"/>
                        </a:rPr>
                        <a:t>Type of relation  </a:t>
                      </a:r>
                      <a:endParaRPr lang="en-US" sz="1100" kern="100" dirty="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0" algn="ctr">
                        <a:lnSpc>
                          <a:spcPct val="107000"/>
                        </a:lnSpc>
                        <a:spcBef>
                          <a:spcPts val="0"/>
                        </a:spcBef>
                        <a:spcAft>
                          <a:spcPts val="0"/>
                        </a:spcAft>
                      </a:pPr>
                      <a:r>
                        <a:rPr lang="en-ID" sz="1200" kern="100">
                          <a:solidFill>
                            <a:schemeClr val="tx1"/>
                          </a:solidFill>
                          <a:effectLst/>
                          <a:latin typeface="+mj-lt"/>
                        </a:rPr>
                        <a:t>Symbol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 marR="0" algn="ctr">
                        <a:lnSpc>
                          <a:spcPct val="107000"/>
                        </a:lnSpc>
                        <a:spcBef>
                          <a:spcPts val="0"/>
                        </a:spcBef>
                        <a:spcAft>
                          <a:spcPts val="0"/>
                        </a:spcAft>
                      </a:pPr>
                      <a:r>
                        <a:rPr lang="en-ID" sz="1200" kern="100">
                          <a:solidFill>
                            <a:schemeClr val="tx1"/>
                          </a:solidFill>
                          <a:effectLst/>
                          <a:latin typeface="+mj-lt"/>
                        </a:rPr>
                        <a:t>Value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03020"/>
                  </a:ext>
                </a:extLst>
              </a:tr>
              <a:tr h="525780">
                <a:tc>
                  <a:txBody>
                    <a:bodyPr/>
                    <a:lstStyle/>
                    <a:p>
                      <a:pPr marL="74930" marR="0">
                        <a:lnSpc>
                          <a:spcPct val="107000"/>
                        </a:lnSpc>
                        <a:spcBef>
                          <a:spcPts val="0"/>
                        </a:spcBef>
                        <a:spcAft>
                          <a:spcPts val="0"/>
                        </a:spcAft>
                      </a:pPr>
                      <a:r>
                        <a:rPr lang="en-ID" sz="1200" kern="100" dirty="0">
                          <a:solidFill>
                            <a:schemeClr val="tx1"/>
                          </a:solidFill>
                          <a:effectLst/>
                          <a:latin typeface="+mj-lt"/>
                        </a:rPr>
                        <a:t>No relation  </a:t>
                      </a:r>
                      <a:endParaRPr lang="en-US" sz="1100" kern="100" dirty="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ID" sz="1200" kern="100" dirty="0">
                          <a:solidFill>
                            <a:schemeClr val="tx1"/>
                          </a:solidFill>
                          <a:effectLst/>
                          <a:latin typeface="+mj-lt"/>
                        </a:rPr>
                        <a:t> </a:t>
                      </a:r>
                      <a:endParaRPr lang="en-US" sz="1100" kern="100" dirty="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 marR="0" algn="ctr">
                        <a:lnSpc>
                          <a:spcPct val="107000"/>
                        </a:lnSpc>
                        <a:spcBef>
                          <a:spcPts val="0"/>
                        </a:spcBef>
                        <a:spcAft>
                          <a:spcPts val="0"/>
                        </a:spcAft>
                      </a:pPr>
                      <a:r>
                        <a:rPr lang="en-ID" sz="1200" kern="100">
                          <a:solidFill>
                            <a:schemeClr val="tx1"/>
                          </a:solidFill>
                          <a:effectLst/>
                          <a:latin typeface="+mj-lt"/>
                        </a:rPr>
                        <a:t>0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2101954"/>
                  </a:ext>
                </a:extLst>
              </a:tr>
              <a:tr h="519467">
                <a:tc>
                  <a:txBody>
                    <a:bodyPr/>
                    <a:lstStyle/>
                    <a:p>
                      <a:pPr marL="73025" marR="0">
                        <a:lnSpc>
                          <a:spcPct val="107000"/>
                        </a:lnSpc>
                        <a:spcBef>
                          <a:spcPts val="0"/>
                        </a:spcBef>
                        <a:spcAft>
                          <a:spcPts val="0"/>
                        </a:spcAft>
                      </a:pPr>
                      <a:r>
                        <a:rPr lang="en-ID" sz="1200" kern="100">
                          <a:solidFill>
                            <a:schemeClr val="tx1"/>
                          </a:solidFill>
                          <a:effectLst/>
                          <a:latin typeface="+mj-lt"/>
                        </a:rPr>
                        <a:t>Weak relation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 marR="0" algn="ctr">
                        <a:lnSpc>
                          <a:spcPct val="107000"/>
                        </a:lnSpc>
                        <a:spcBef>
                          <a:spcPts val="0"/>
                        </a:spcBef>
                        <a:spcAft>
                          <a:spcPts val="0"/>
                        </a:spcAft>
                      </a:pPr>
                      <a:r>
                        <a:rPr lang="en-ID" sz="1200" kern="100" dirty="0">
                          <a:solidFill>
                            <a:schemeClr val="tx1"/>
                          </a:solidFill>
                          <a:effectLst/>
                          <a:latin typeface="+mj-lt"/>
                        </a:rPr>
                        <a:t>▽  </a:t>
                      </a:r>
                      <a:endParaRPr lang="en-US" sz="1100" kern="100" dirty="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 marR="0" algn="ctr">
                        <a:lnSpc>
                          <a:spcPct val="107000"/>
                        </a:lnSpc>
                        <a:spcBef>
                          <a:spcPts val="0"/>
                        </a:spcBef>
                        <a:spcAft>
                          <a:spcPts val="0"/>
                        </a:spcAft>
                      </a:pPr>
                      <a:r>
                        <a:rPr lang="en-ID" sz="1200" kern="100">
                          <a:solidFill>
                            <a:schemeClr val="tx1"/>
                          </a:solidFill>
                          <a:effectLst/>
                          <a:latin typeface="+mj-lt"/>
                        </a:rPr>
                        <a:t>1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618322"/>
                  </a:ext>
                </a:extLst>
              </a:tr>
              <a:tr h="540571">
                <a:tc>
                  <a:txBody>
                    <a:bodyPr/>
                    <a:lstStyle/>
                    <a:p>
                      <a:pPr marL="74930" marR="0">
                        <a:lnSpc>
                          <a:spcPct val="107000"/>
                        </a:lnSpc>
                        <a:spcBef>
                          <a:spcPts val="0"/>
                        </a:spcBef>
                        <a:spcAft>
                          <a:spcPts val="0"/>
                        </a:spcAft>
                      </a:pPr>
                      <a:r>
                        <a:rPr lang="en-ID" sz="1200" kern="100">
                          <a:solidFill>
                            <a:schemeClr val="tx1"/>
                          </a:solidFill>
                          <a:effectLst/>
                          <a:latin typeface="+mj-lt"/>
                        </a:rPr>
                        <a:t>Moderate relation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 marR="0" algn="ctr">
                        <a:lnSpc>
                          <a:spcPct val="107000"/>
                        </a:lnSpc>
                        <a:spcBef>
                          <a:spcPts val="0"/>
                        </a:spcBef>
                        <a:spcAft>
                          <a:spcPts val="0"/>
                        </a:spcAft>
                      </a:pPr>
                      <a:r>
                        <a:rPr lang="en-ID" sz="1200" kern="100">
                          <a:solidFill>
                            <a:schemeClr val="tx1"/>
                          </a:solidFill>
                          <a:effectLst/>
                          <a:latin typeface="+mj-lt"/>
                        </a:rPr>
                        <a:t>□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 marR="0" algn="ctr">
                        <a:lnSpc>
                          <a:spcPct val="107000"/>
                        </a:lnSpc>
                        <a:spcBef>
                          <a:spcPts val="0"/>
                        </a:spcBef>
                        <a:spcAft>
                          <a:spcPts val="0"/>
                        </a:spcAft>
                      </a:pPr>
                      <a:r>
                        <a:rPr lang="en-ID" sz="1200" kern="100" dirty="0">
                          <a:solidFill>
                            <a:schemeClr val="tx1"/>
                          </a:solidFill>
                          <a:effectLst/>
                          <a:latin typeface="+mj-lt"/>
                        </a:rPr>
                        <a:t>3 </a:t>
                      </a:r>
                      <a:endParaRPr lang="en-US" sz="1100" kern="100" dirty="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9636125"/>
                  </a:ext>
                </a:extLst>
              </a:tr>
              <a:tr h="540571">
                <a:tc>
                  <a:txBody>
                    <a:bodyPr/>
                    <a:lstStyle/>
                    <a:p>
                      <a:pPr marL="79375" marR="0">
                        <a:lnSpc>
                          <a:spcPct val="107000"/>
                        </a:lnSpc>
                        <a:spcBef>
                          <a:spcPts val="0"/>
                        </a:spcBef>
                        <a:spcAft>
                          <a:spcPts val="0"/>
                        </a:spcAft>
                      </a:pPr>
                      <a:r>
                        <a:rPr lang="en-ID" sz="1200" kern="100">
                          <a:solidFill>
                            <a:schemeClr val="tx1"/>
                          </a:solidFill>
                          <a:effectLst/>
                          <a:latin typeface="+mj-lt"/>
                        </a:rPr>
                        <a:t>Strong relation  </a:t>
                      </a:r>
                      <a:endParaRPr lang="en-US" sz="1100" kern="10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0" marR="0" algn="ctr">
                        <a:lnSpc>
                          <a:spcPct val="107000"/>
                        </a:lnSpc>
                        <a:spcBef>
                          <a:spcPts val="0"/>
                        </a:spcBef>
                        <a:spcAft>
                          <a:spcPts val="0"/>
                        </a:spcAft>
                      </a:pPr>
                      <a:r>
                        <a:rPr lang="en-ID" sz="1200" kern="100" dirty="0">
                          <a:solidFill>
                            <a:schemeClr val="tx1"/>
                          </a:solidFill>
                          <a:effectLst/>
                          <a:latin typeface="+mj-lt"/>
                        </a:rPr>
                        <a:t>  </a:t>
                      </a:r>
                      <a:endParaRPr lang="en-ID" sz="1200" kern="100" dirty="0">
                        <a:solidFill>
                          <a:schemeClr val="tx1"/>
                        </a:solidFill>
                        <a:effectLst/>
                        <a:latin typeface="+mj-lt"/>
                        <a:ea typeface="Times New Roman" panose="02020603050405020304" pitchFamily="18"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255" marR="0" algn="ctr">
                        <a:lnSpc>
                          <a:spcPct val="107000"/>
                        </a:lnSpc>
                        <a:spcBef>
                          <a:spcPts val="0"/>
                        </a:spcBef>
                        <a:spcAft>
                          <a:spcPts val="0"/>
                        </a:spcAft>
                      </a:pPr>
                      <a:r>
                        <a:rPr lang="en-ID" sz="1200" kern="100" dirty="0">
                          <a:solidFill>
                            <a:schemeClr val="tx1"/>
                          </a:solidFill>
                          <a:effectLst/>
                          <a:latin typeface="+mj-lt"/>
                        </a:rPr>
                        <a:t>9 </a:t>
                      </a:r>
                      <a:endParaRPr lang="en-US" sz="1100" kern="100" dirty="0">
                        <a:solidFill>
                          <a:schemeClr val="tx1"/>
                        </a:solidFill>
                        <a:effectLst/>
                        <a:latin typeface="+mj-lt"/>
                        <a:ea typeface="Century Gothic" panose="020B0502020202020204" pitchFamily="34" charset="0"/>
                        <a:cs typeface="Vrinda" panose="020B0502040204020203" pitchFamily="34" charset="0"/>
                      </a:endParaRPr>
                    </a:p>
                  </a:txBody>
                  <a:tcPr marL="62230"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475683"/>
                  </a:ext>
                </a:extLst>
              </a:tr>
            </a:tbl>
          </a:graphicData>
        </a:graphic>
      </p:graphicFrame>
      <p:graphicFrame>
        <p:nvGraphicFramePr>
          <p:cNvPr id="8" name="Table 7">
            <a:extLst>
              <a:ext uri="{FF2B5EF4-FFF2-40B4-BE49-F238E27FC236}">
                <a16:creationId xmlns:a16="http://schemas.microsoft.com/office/drawing/2014/main" id="{F5C764D5-49A3-D7ED-47DB-086ACA9A7A56}"/>
              </a:ext>
            </a:extLst>
          </p:cNvPr>
          <p:cNvGraphicFramePr>
            <a:graphicFrameLocks noGrp="1"/>
          </p:cNvGraphicFramePr>
          <p:nvPr>
            <p:extLst>
              <p:ext uri="{D42A27DB-BD31-4B8C-83A1-F6EECF244321}">
                <p14:modId xmlns:p14="http://schemas.microsoft.com/office/powerpoint/2010/main" val="273180300"/>
              </p:ext>
            </p:extLst>
          </p:nvPr>
        </p:nvGraphicFramePr>
        <p:xfrm>
          <a:off x="3701633" y="4578060"/>
          <a:ext cx="5001148" cy="1852408"/>
        </p:xfrm>
        <a:graphic>
          <a:graphicData uri="http://schemas.openxmlformats.org/drawingml/2006/table">
            <a:tbl>
              <a:tblPr firstRow="1" firstCol="1" bandRow="1">
                <a:tableStyleId>{5DA37D80-6434-44D0-A028-1B22A696006F}</a:tableStyleId>
              </a:tblPr>
              <a:tblGrid>
                <a:gridCol w="2492402">
                  <a:extLst>
                    <a:ext uri="{9D8B030D-6E8A-4147-A177-3AD203B41FA5}">
                      <a16:colId xmlns:a16="http://schemas.microsoft.com/office/drawing/2014/main" val="112711330"/>
                    </a:ext>
                  </a:extLst>
                </a:gridCol>
                <a:gridCol w="2508746">
                  <a:extLst>
                    <a:ext uri="{9D8B030D-6E8A-4147-A177-3AD203B41FA5}">
                      <a16:colId xmlns:a16="http://schemas.microsoft.com/office/drawing/2014/main" val="3786686251"/>
                    </a:ext>
                  </a:extLst>
                </a:gridCol>
              </a:tblGrid>
              <a:tr h="532870">
                <a:tc>
                  <a:txBody>
                    <a:bodyPr/>
                    <a:lstStyle/>
                    <a:p>
                      <a:pPr marL="0" marR="0" algn="ctr">
                        <a:lnSpc>
                          <a:spcPct val="107000"/>
                        </a:lnSpc>
                        <a:spcBef>
                          <a:spcPts val="0"/>
                        </a:spcBef>
                        <a:spcAft>
                          <a:spcPts val="0"/>
                        </a:spcAft>
                      </a:pPr>
                      <a:r>
                        <a:rPr lang="en-ID" sz="1200" kern="100">
                          <a:effectLst/>
                        </a:rPr>
                        <a:t>Improvement  </a:t>
                      </a:r>
                      <a:endParaRPr lang="en-US" sz="1100" kern="100">
                        <a:effectLst/>
                        <a:latin typeface="Century Gothic" panose="020B0502020202020204" pitchFamily="34" charset="0"/>
                        <a:ea typeface="Century Gothic" panose="020B0502020202020204" pitchFamily="34" charset="0"/>
                        <a:cs typeface="Vrinda" panose="020B0502040204020203" pitchFamily="34" charset="0"/>
                      </a:endParaRPr>
                    </a:p>
                  </a:txBody>
                  <a:tcPr marL="73025" marR="73025" marT="0" marB="0" anchor="ctr"/>
                </a:tc>
                <a:tc>
                  <a:txBody>
                    <a:bodyPr/>
                    <a:lstStyle/>
                    <a:p>
                      <a:pPr marL="0" marR="4445" algn="ctr">
                        <a:lnSpc>
                          <a:spcPct val="107000"/>
                        </a:lnSpc>
                        <a:spcBef>
                          <a:spcPts val="0"/>
                        </a:spcBef>
                        <a:spcAft>
                          <a:spcPts val="0"/>
                        </a:spcAft>
                      </a:pPr>
                      <a:r>
                        <a:rPr lang="en-ID" sz="1200" kern="100">
                          <a:effectLst/>
                        </a:rPr>
                        <a:t>Direction </a:t>
                      </a:r>
                      <a:endParaRPr lang="en-US" sz="1100" kern="100">
                        <a:effectLst/>
                        <a:latin typeface="Century Gothic" panose="020B0502020202020204" pitchFamily="34" charset="0"/>
                        <a:ea typeface="Century Gothic" panose="020B0502020202020204" pitchFamily="34" charset="0"/>
                        <a:cs typeface="Vrinda" panose="020B0502040204020203" pitchFamily="34" charset="0"/>
                      </a:endParaRPr>
                    </a:p>
                  </a:txBody>
                  <a:tcPr marL="73025" marR="73025" marT="0" marB="0" anchor="ctr"/>
                </a:tc>
                <a:extLst>
                  <a:ext uri="{0D108BD9-81ED-4DB2-BD59-A6C34878D82A}">
                    <a16:rowId xmlns:a16="http://schemas.microsoft.com/office/drawing/2014/main" val="3408493516"/>
                  </a:ext>
                </a:extLst>
              </a:tr>
              <a:tr h="655030">
                <a:tc>
                  <a:txBody>
                    <a:bodyPr/>
                    <a:lstStyle/>
                    <a:p>
                      <a:pPr marL="0" marR="0" algn="ctr">
                        <a:lnSpc>
                          <a:spcPct val="107000"/>
                        </a:lnSpc>
                        <a:spcBef>
                          <a:spcPts val="0"/>
                        </a:spcBef>
                        <a:spcAft>
                          <a:spcPts val="0"/>
                        </a:spcAft>
                      </a:pPr>
                      <a:r>
                        <a:rPr lang="en-ID" sz="1200" kern="100">
                          <a:effectLst/>
                        </a:rPr>
                        <a:t>Increase  </a:t>
                      </a:r>
                      <a:endParaRPr lang="en-US" sz="1100" kern="100">
                        <a:effectLst/>
                        <a:latin typeface="Century Gothic" panose="020B0502020202020204" pitchFamily="34" charset="0"/>
                        <a:ea typeface="Century Gothic" panose="020B0502020202020204" pitchFamily="34" charset="0"/>
                        <a:cs typeface="Vrinda" panose="020B0502040204020203" pitchFamily="34" charset="0"/>
                      </a:endParaRPr>
                    </a:p>
                  </a:txBody>
                  <a:tcPr marL="73025" marR="73025" marT="0" marB="0" anchor="ctr"/>
                </a:tc>
                <a:tc>
                  <a:txBody>
                    <a:bodyPr/>
                    <a:lstStyle/>
                    <a:p>
                      <a:pPr marL="0" marR="1270" algn="ctr">
                        <a:lnSpc>
                          <a:spcPct val="107000"/>
                        </a:lnSpc>
                        <a:spcBef>
                          <a:spcPts val="0"/>
                        </a:spcBef>
                        <a:spcAft>
                          <a:spcPts val="0"/>
                        </a:spcAft>
                      </a:pPr>
                      <a:r>
                        <a:rPr lang="en-ID" sz="1200" kern="100">
                          <a:effectLst/>
                        </a:rPr>
                        <a:t>▲ </a:t>
                      </a:r>
                      <a:endParaRPr lang="en-US" sz="1100" kern="100">
                        <a:effectLst/>
                        <a:latin typeface="Century Gothic" panose="020B0502020202020204" pitchFamily="34" charset="0"/>
                        <a:ea typeface="Century Gothic" panose="020B0502020202020204" pitchFamily="34" charset="0"/>
                        <a:cs typeface="Vrinda" panose="020B0502040204020203" pitchFamily="34" charset="0"/>
                      </a:endParaRPr>
                    </a:p>
                  </a:txBody>
                  <a:tcPr marL="73025" marR="73025" marT="0" marB="0" anchor="ctr"/>
                </a:tc>
                <a:extLst>
                  <a:ext uri="{0D108BD9-81ED-4DB2-BD59-A6C34878D82A}">
                    <a16:rowId xmlns:a16="http://schemas.microsoft.com/office/drawing/2014/main" val="1320243134"/>
                  </a:ext>
                </a:extLst>
              </a:tr>
              <a:tr h="664508">
                <a:tc>
                  <a:txBody>
                    <a:bodyPr/>
                    <a:lstStyle/>
                    <a:p>
                      <a:pPr marL="0" marR="1270" algn="ctr">
                        <a:lnSpc>
                          <a:spcPct val="107000"/>
                        </a:lnSpc>
                        <a:spcBef>
                          <a:spcPts val="0"/>
                        </a:spcBef>
                        <a:spcAft>
                          <a:spcPts val="0"/>
                        </a:spcAft>
                      </a:pPr>
                      <a:r>
                        <a:rPr lang="en-ID" sz="1200" kern="100" dirty="0">
                          <a:effectLst/>
                        </a:rPr>
                        <a:t>Decrease  </a:t>
                      </a:r>
                      <a:endParaRPr lang="en-US" sz="1100" kern="100" dirty="0">
                        <a:effectLst/>
                        <a:latin typeface="Century Gothic" panose="020B0502020202020204" pitchFamily="34" charset="0"/>
                        <a:ea typeface="Century Gothic" panose="020B0502020202020204" pitchFamily="34" charset="0"/>
                        <a:cs typeface="Vrinda" panose="020B0502040204020203" pitchFamily="34" charset="0"/>
                      </a:endParaRPr>
                    </a:p>
                  </a:txBody>
                  <a:tcPr marL="73025" marR="73025" marT="0" marB="0" anchor="ctr"/>
                </a:tc>
                <a:tc>
                  <a:txBody>
                    <a:bodyPr/>
                    <a:lstStyle/>
                    <a:p>
                      <a:pPr marL="0" marR="1270" algn="ctr">
                        <a:lnSpc>
                          <a:spcPct val="107000"/>
                        </a:lnSpc>
                        <a:spcBef>
                          <a:spcPts val="0"/>
                        </a:spcBef>
                        <a:spcAft>
                          <a:spcPts val="0"/>
                        </a:spcAft>
                      </a:pPr>
                      <a:r>
                        <a:rPr lang="en-ID" sz="1200" kern="100" dirty="0">
                          <a:effectLst/>
                        </a:rPr>
                        <a:t>▼ </a:t>
                      </a:r>
                      <a:endParaRPr lang="en-US" sz="1100" kern="100" dirty="0">
                        <a:effectLst/>
                        <a:latin typeface="Century Gothic" panose="020B0502020202020204" pitchFamily="34" charset="0"/>
                        <a:ea typeface="Century Gothic" panose="020B0502020202020204" pitchFamily="34" charset="0"/>
                        <a:cs typeface="Vrinda" panose="020B0502040204020203" pitchFamily="34" charset="0"/>
                      </a:endParaRPr>
                    </a:p>
                  </a:txBody>
                  <a:tcPr marL="73025" marR="73025" marT="0" marB="0" anchor="ctr"/>
                </a:tc>
                <a:extLst>
                  <a:ext uri="{0D108BD9-81ED-4DB2-BD59-A6C34878D82A}">
                    <a16:rowId xmlns:a16="http://schemas.microsoft.com/office/drawing/2014/main" val="2415846391"/>
                  </a:ext>
                </a:extLst>
              </a:tr>
            </a:tbl>
          </a:graphicData>
        </a:graphic>
      </p:graphicFrame>
    </p:spTree>
    <p:extLst>
      <p:ext uri="{BB962C8B-B14F-4D97-AF65-F5344CB8AC3E}">
        <p14:creationId xmlns:p14="http://schemas.microsoft.com/office/powerpoint/2010/main" val="635963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23E872-134B-6D1D-8F57-2CDFA7523BF0}"/>
              </a:ext>
            </a:extLst>
          </p:cNvPr>
          <p:cNvSpPr txBox="1"/>
          <p:nvPr/>
        </p:nvSpPr>
        <p:spPr>
          <a:xfrm>
            <a:off x="3426487" y="209022"/>
            <a:ext cx="7015895" cy="523220"/>
          </a:xfrm>
          <a:prstGeom prst="rect">
            <a:avLst/>
          </a:prstGeom>
          <a:noFill/>
        </p:spPr>
        <p:txBody>
          <a:bodyPr wrap="square">
            <a:spAutoFit/>
          </a:bodyPr>
          <a:lstStyle/>
          <a:p>
            <a:r>
              <a:rPr lang="en-US" sz="2800" b="1" dirty="0">
                <a:latin typeface="+mj-lt"/>
              </a:rPr>
              <a:t>DIFFERENT TYPES OF MATRIX IN </a:t>
            </a:r>
            <a:r>
              <a:rPr lang="en-US" sz="2800" b="1" dirty="0">
                <a:solidFill>
                  <a:schemeClr val="accent3"/>
                </a:solidFill>
                <a:latin typeface="+mj-lt"/>
              </a:rPr>
              <a:t>QFD</a:t>
            </a:r>
          </a:p>
        </p:txBody>
      </p:sp>
      <p:pic>
        <p:nvPicPr>
          <p:cNvPr id="9" name="Picture 8">
            <a:extLst>
              <a:ext uri="{FF2B5EF4-FFF2-40B4-BE49-F238E27FC236}">
                <a16:creationId xmlns:a16="http://schemas.microsoft.com/office/drawing/2014/main" id="{C1330A54-8AA8-D414-4F4B-1DE572769575}"/>
              </a:ext>
            </a:extLst>
          </p:cNvPr>
          <p:cNvPicPr>
            <a:picLocks noChangeAspect="1"/>
          </p:cNvPicPr>
          <p:nvPr/>
        </p:nvPicPr>
        <p:blipFill>
          <a:blip r:embed="rId2"/>
          <a:stretch>
            <a:fillRect/>
          </a:stretch>
        </p:blipFill>
        <p:spPr>
          <a:xfrm>
            <a:off x="339738" y="1210111"/>
            <a:ext cx="5988770" cy="4807233"/>
          </a:xfrm>
          <a:prstGeom prst="rect">
            <a:avLst/>
          </a:prstGeom>
          <a:ln>
            <a:solidFill>
              <a:schemeClr val="tx1"/>
            </a:solidFill>
          </a:ln>
        </p:spPr>
      </p:pic>
      <p:pic>
        <p:nvPicPr>
          <p:cNvPr id="10" name="Picture 9">
            <a:extLst>
              <a:ext uri="{FF2B5EF4-FFF2-40B4-BE49-F238E27FC236}">
                <a16:creationId xmlns:a16="http://schemas.microsoft.com/office/drawing/2014/main" id="{6DFFE882-2EF9-7937-4973-CCFA9CD75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67396" y="1210111"/>
            <a:ext cx="5096941" cy="4807233"/>
          </a:xfrm>
          <a:prstGeom prst="rect">
            <a:avLst/>
          </a:prstGeom>
          <a:noFill/>
          <a:ln>
            <a:solidFill>
              <a:schemeClr val="tx1"/>
            </a:solidFill>
          </a:ln>
        </p:spPr>
      </p:pic>
      <p:sp>
        <p:nvSpPr>
          <p:cNvPr id="11" name="Rectangle 10">
            <a:extLst>
              <a:ext uri="{FF2B5EF4-FFF2-40B4-BE49-F238E27FC236}">
                <a16:creationId xmlns:a16="http://schemas.microsoft.com/office/drawing/2014/main" id="{1CBAD1F6-5BEE-1448-DB01-7CABA3FD016D}"/>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F6971BE-4EAC-819B-F00C-FBF21114FFB9}"/>
              </a:ext>
            </a:extLst>
          </p:cNvPr>
          <p:cNvPicPr>
            <a:picLocks noChangeAspect="1"/>
          </p:cNvPicPr>
          <p:nvPr/>
        </p:nvPicPr>
        <p:blipFill>
          <a:blip r:embed="rId4"/>
          <a:stretch>
            <a:fillRect/>
          </a:stretch>
        </p:blipFill>
        <p:spPr>
          <a:xfrm>
            <a:off x="498005" y="6227009"/>
            <a:ext cx="676715" cy="1261981"/>
          </a:xfrm>
          <a:prstGeom prst="rect">
            <a:avLst/>
          </a:prstGeom>
        </p:spPr>
      </p:pic>
    </p:spTree>
    <p:extLst>
      <p:ext uri="{BB962C8B-B14F-4D97-AF65-F5344CB8AC3E}">
        <p14:creationId xmlns:p14="http://schemas.microsoft.com/office/powerpoint/2010/main" val="2788839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10DD1E-2F34-1067-67E7-19D28D7A053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2323118" y="193963"/>
            <a:ext cx="7375063" cy="6493164"/>
          </a:xfrm>
          <a:prstGeom prst="rect">
            <a:avLst/>
          </a:prstGeom>
          <a:noFill/>
          <a:ln w="3175">
            <a:solidFill>
              <a:schemeClr val="tx1"/>
            </a:solidFill>
          </a:ln>
        </p:spPr>
      </p:pic>
      <p:pic>
        <p:nvPicPr>
          <p:cNvPr id="3" name="Picture 2">
            <a:extLst>
              <a:ext uri="{FF2B5EF4-FFF2-40B4-BE49-F238E27FC236}">
                <a16:creationId xmlns:a16="http://schemas.microsoft.com/office/drawing/2014/main" id="{D21E2A0E-9F31-8393-8A1A-C4289325D106}"/>
              </a:ext>
            </a:extLst>
          </p:cNvPr>
          <p:cNvPicPr>
            <a:picLocks noChangeAspect="1"/>
          </p:cNvPicPr>
          <p:nvPr/>
        </p:nvPicPr>
        <p:blipFill>
          <a:blip r:embed="rId3"/>
          <a:stretch>
            <a:fillRect/>
          </a:stretch>
        </p:blipFill>
        <p:spPr>
          <a:xfrm>
            <a:off x="498005" y="6227009"/>
            <a:ext cx="676715" cy="1261981"/>
          </a:xfrm>
          <a:prstGeom prst="rect">
            <a:avLst/>
          </a:prstGeom>
        </p:spPr>
      </p:pic>
      <p:sp>
        <p:nvSpPr>
          <p:cNvPr id="4" name="Rectangle 3">
            <a:extLst>
              <a:ext uri="{FF2B5EF4-FFF2-40B4-BE49-F238E27FC236}">
                <a16:creationId xmlns:a16="http://schemas.microsoft.com/office/drawing/2014/main" id="{031F120F-D096-B687-47D4-7930AAC7A595}"/>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2789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007DB7C-F8D1-4F51-5CBE-A0AC3E67F8D8}"/>
              </a:ext>
            </a:extLst>
          </p:cNvPr>
          <p:cNvGraphicFramePr>
            <a:graphicFrameLocks noGrp="1"/>
          </p:cNvGraphicFramePr>
          <p:nvPr>
            <p:extLst>
              <p:ext uri="{D42A27DB-BD31-4B8C-83A1-F6EECF244321}">
                <p14:modId xmlns:p14="http://schemas.microsoft.com/office/powerpoint/2010/main" val="3917623767"/>
              </p:ext>
            </p:extLst>
          </p:nvPr>
        </p:nvGraphicFramePr>
        <p:xfrm>
          <a:off x="322117" y="1123368"/>
          <a:ext cx="6799120" cy="5115106"/>
        </p:xfrm>
        <a:graphic>
          <a:graphicData uri="http://schemas.openxmlformats.org/drawingml/2006/table">
            <a:tbl>
              <a:tblPr firstRow="1" firstCol="1" bandRow="1">
                <a:tableStyleId>{00A15C55-8517-42AA-B614-E9B94910E393}</a:tableStyleId>
              </a:tblPr>
              <a:tblGrid>
                <a:gridCol w="1595817">
                  <a:extLst>
                    <a:ext uri="{9D8B030D-6E8A-4147-A177-3AD203B41FA5}">
                      <a16:colId xmlns:a16="http://schemas.microsoft.com/office/drawing/2014/main" val="2379877496"/>
                    </a:ext>
                  </a:extLst>
                </a:gridCol>
                <a:gridCol w="3743409">
                  <a:extLst>
                    <a:ext uri="{9D8B030D-6E8A-4147-A177-3AD203B41FA5}">
                      <a16:colId xmlns:a16="http://schemas.microsoft.com/office/drawing/2014/main" val="3674176510"/>
                    </a:ext>
                  </a:extLst>
                </a:gridCol>
                <a:gridCol w="1459894">
                  <a:extLst>
                    <a:ext uri="{9D8B030D-6E8A-4147-A177-3AD203B41FA5}">
                      <a16:colId xmlns:a16="http://schemas.microsoft.com/office/drawing/2014/main" val="622234068"/>
                    </a:ext>
                  </a:extLst>
                </a:gridCol>
              </a:tblGrid>
              <a:tr h="279224">
                <a:tc>
                  <a:txBody>
                    <a:bodyPr/>
                    <a:lstStyle/>
                    <a:p>
                      <a:pPr marL="0" marR="0" algn="ctr">
                        <a:lnSpc>
                          <a:spcPct val="107000"/>
                        </a:lnSpc>
                        <a:spcBef>
                          <a:spcPts val="0"/>
                        </a:spcBef>
                        <a:spcAft>
                          <a:spcPts val="0"/>
                        </a:spcAft>
                      </a:pPr>
                      <a:r>
                        <a:rPr lang="en-US" sz="1400" kern="0" dirty="0">
                          <a:solidFill>
                            <a:schemeClr val="tx1"/>
                          </a:solidFill>
                          <a:effectLst/>
                          <a:latin typeface="+mj-lt"/>
                        </a:rPr>
                        <a:t>Priority Level</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kern="0" dirty="0">
                          <a:solidFill>
                            <a:schemeClr val="tx1"/>
                          </a:solidFill>
                          <a:effectLst/>
                          <a:latin typeface="+mj-lt"/>
                        </a:rPr>
                        <a:t>Technical Aspect</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Weight (%)</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14147086"/>
                  </a:ext>
                </a:extLst>
              </a:tr>
              <a:tr h="315147">
                <a:tc>
                  <a:txBody>
                    <a:bodyPr/>
                    <a:lstStyle/>
                    <a:p>
                      <a:pPr marL="0" marR="0" algn="ctr">
                        <a:lnSpc>
                          <a:spcPct val="107000"/>
                        </a:lnSpc>
                        <a:spcBef>
                          <a:spcPts val="0"/>
                        </a:spcBef>
                        <a:spcAft>
                          <a:spcPts val="0"/>
                        </a:spcAft>
                      </a:pPr>
                      <a:r>
                        <a:rPr lang="en-US" sz="1400" kern="0" dirty="0">
                          <a:solidFill>
                            <a:schemeClr val="tx1"/>
                          </a:solidFill>
                          <a:effectLst/>
                          <a:latin typeface="+mj-lt"/>
                        </a:rPr>
                        <a:t>High</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Material Quality (Objective)</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10</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5473613"/>
                  </a:ext>
                </a:extLst>
              </a:tr>
              <a:tr h="598166">
                <a:tc>
                  <a:txBody>
                    <a:bodyPr/>
                    <a:lstStyle/>
                    <a:p>
                      <a:pPr marL="0" marR="0" algn="ctr">
                        <a:lnSpc>
                          <a:spcPct val="107000"/>
                        </a:lnSpc>
                        <a:spcBef>
                          <a:spcPts val="0"/>
                        </a:spcBef>
                        <a:spcAft>
                          <a:spcPts val="0"/>
                        </a:spcAft>
                      </a:pPr>
                      <a:r>
                        <a:rPr lang="en-US" sz="1400" kern="0" dirty="0">
                          <a:solidFill>
                            <a:schemeClr val="tx1"/>
                          </a:solidFill>
                          <a:effectLst/>
                          <a:latin typeface="+mj-lt"/>
                        </a:rPr>
                        <a:t>High</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RFID Technology for Monitoring &amp; Item Scanning</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9</a:t>
                      </a:r>
                    </a:p>
                    <a:p>
                      <a:pPr marL="0" marR="0" algn="ctr">
                        <a:lnSpc>
                          <a:spcPct val="107000"/>
                        </a:lnSpc>
                        <a:spcBef>
                          <a:spcPts val="0"/>
                        </a:spcBef>
                        <a:spcAft>
                          <a:spcPts val="0"/>
                        </a:spcAft>
                      </a:pPr>
                      <a:endParaRPr lang="en-US" sz="1400" kern="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0243957"/>
                  </a:ext>
                </a:extLst>
              </a:tr>
              <a:tr h="337039">
                <a:tc>
                  <a:txBody>
                    <a:bodyPr/>
                    <a:lstStyle/>
                    <a:p>
                      <a:pPr marL="0" marR="0" algn="ctr">
                        <a:lnSpc>
                          <a:spcPct val="107000"/>
                        </a:lnSpc>
                        <a:spcBef>
                          <a:spcPts val="0"/>
                        </a:spcBef>
                        <a:spcAft>
                          <a:spcPts val="0"/>
                        </a:spcAft>
                      </a:pPr>
                      <a:r>
                        <a:rPr lang="en-US" sz="1400" kern="0" dirty="0">
                          <a:solidFill>
                            <a:schemeClr val="tx1"/>
                          </a:solidFill>
                          <a:effectLst/>
                          <a:latin typeface="+mj-lt"/>
                        </a:rPr>
                        <a:t> High</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kern="0" dirty="0">
                          <a:solidFill>
                            <a:schemeClr val="tx1"/>
                          </a:solidFill>
                          <a:effectLst/>
                          <a:latin typeface="+mn-lt"/>
                          <a:ea typeface="Century Gothic" panose="020B0502020202020204" pitchFamily="34" charset="0"/>
                          <a:cs typeface="Vrinda" panose="020B0502040204020203" pitchFamily="34" charset="0"/>
                        </a:rPr>
                        <a:t>Inventory Management</a:t>
                      </a:r>
                      <a:endParaRPr lang="en-US" sz="1400" kern="100" dirty="0">
                        <a:solidFill>
                          <a:schemeClr val="tx1"/>
                        </a:solidFill>
                        <a:effectLst/>
                        <a:latin typeface="+mn-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9 </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9823964"/>
                  </a:ext>
                </a:extLst>
              </a:tr>
              <a:tr h="214764">
                <a:tc>
                  <a:txBody>
                    <a:bodyPr/>
                    <a:lstStyle/>
                    <a:p>
                      <a:pPr marL="0" marR="0" algn="ctr">
                        <a:lnSpc>
                          <a:spcPct val="107000"/>
                        </a:lnSpc>
                        <a:spcBef>
                          <a:spcPts val="0"/>
                        </a:spcBef>
                        <a:spcAft>
                          <a:spcPts val="0"/>
                        </a:spcAft>
                      </a:pP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9890763"/>
                  </a:ext>
                </a:extLst>
              </a:tr>
              <a:tr h="266864">
                <a:tc>
                  <a:txBody>
                    <a:bodyPr/>
                    <a:lstStyle/>
                    <a:p>
                      <a:pPr marL="0" marR="0" algn="ctr">
                        <a:lnSpc>
                          <a:spcPct val="107000"/>
                        </a:lnSpc>
                        <a:spcBef>
                          <a:spcPts val="0"/>
                        </a:spcBef>
                        <a:spcAft>
                          <a:spcPts val="0"/>
                        </a:spcAft>
                      </a:pPr>
                      <a:r>
                        <a:rPr lang="en-US" sz="1400" kern="0">
                          <a:solidFill>
                            <a:schemeClr val="tx1"/>
                          </a:solidFill>
                          <a:effectLst/>
                          <a:latin typeface="+mj-lt"/>
                        </a:rPr>
                        <a:t>Medium</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Weight (Subjective)</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07000"/>
                        </a:lnSpc>
                        <a:spcBef>
                          <a:spcPts val="0"/>
                        </a:spcBef>
                        <a:spcAft>
                          <a:spcPts val="0"/>
                        </a:spcAft>
                      </a:pPr>
                      <a:r>
                        <a:rPr lang="en-US" sz="1400" kern="0">
                          <a:solidFill>
                            <a:schemeClr val="tx1"/>
                          </a:solidFill>
                          <a:effectLst/>
                          <a:latin typeface="+mj-lt"/>
                        </a:rPr>
                        <a:t>8</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8629279"/>
                  </a:ext>
                </a:extLst>
              </a:tr>
              <a:tr h="279224">
                <a:tc>
                  <a:txBody>
                    <a:bodyPr/>
                    <a:lstStyle/>
                    <a:p>
                      <a:pPr marL="0" marR="0" algn="ctr">
                        <a:lnSpc>
                          <a:spcPct val="107000"/>
                        </a:lnSpc>
                        <a:spcBef>
                          <a:spcPts val="0"/>
                        </a:spcBef>
                        <a:spcAft>
                          <a:spcPts val="0"/>
                        </a:spcAft>
                      </a:pPr>
                      <a:r>
                        <a:rPr lang="en-US" sz="1400" kern="0">
                          <a:solidFill>
                            <a:schemeClr val="tx1"/>
                          </a:solidFill>
                          <a:effectLst/>
                          <a:latin typeface="+mj-lt"/>
                        </a:rPr>
                        <a:t>Medium</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Production Cost</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8</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644794"/>
                  </a:ext>
                </a:extLst>
              </a:tr>
              <a:tr h="266864">
                <a:tc>
                  <a:txBody>
                    <a:bodyPr/>
                    <a:lstStyle/>
                    <a:p>
                      <a:pPr marL="0" marR="0" algn="ctr">
                        <a:lnSpc>
                          <a:spcPct val="107000"/>
                        </a:lnSpc>
                        <a:spcBef>
                          <a:spcPts val="0"/>
                        </a:spcBef>
                        <a:spcAft>
                          <a:spcPts val="0"/>
                        </a:spcAft>
                      </a:pPr>
                      <a:r>
                        <a:rPr lang="en-US" sz="1400" kern="0" dirty="0">
                          <a:solidFill>
                            <a:schemeClr val="tx1"/>
                          </a:solidFill>
                          <a:effectLst/>
                          <a:latin typeface="+mj-lt"/>
                        </a:rPr>
                        <a:t>Medium</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API Integration</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07000"/>
                        </a:lnSpc>
                        <a:spcBef>
                          <a:spcPts val="0"/>
                        </a:spcBef>
                        <a:spcAft>
                          <a:spcPts val="0"/>
                        </a:spcAft>
                      </a:pPr>
                      <a:r>
                        <a:rPr lang="en-US" sz="1400" kern="0">
                          <a:solidFill>
                            <a:schemeClr val="tx1"/>
                          </a:solidFill>
                          <a:effectLst/>
                          <a:latin typeface="+mj-lt"/>
                        </a:rPr>
                        <a:t>8</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6282725"/>
                  </a:ext>
                </a:extLst>
              </a:tr>
              <a:tr h="0">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b="1" kern="0" dirty="0">
                          <a:solidFill>
                            <a:schemeClr val="tx1"/>
                          </a:solidFill>
                          <a:effectLst/>
                          <a:latin typeface="+mn-lt"/>
                          <a:ea typeface="+mn-ea"/>
                          <a:cs typeface="+mn-cs"/>
                        </a:rPr>
                        <a:t>Medium</a:t>
                      </a:r>
                      <a:endParaRPr lang="en-US" sz="1400" b="1" kern="100" dirty="0">
                        <a:solidFill>
                          <a:schemeClr val="tx1"/>
                        </a:solidFill>
                        <a:effectLst/>
                        <a:latin typeface="+mn-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kern="0" dirty="0">
                          <a:solidFill>
                            <a:schemeClr val="tx1"/>
                          </a:solidFill>
                          <a:effectLst/>
                          <a:latin typeface="+mn-lt"/>
                          <a:ea typeface="+mn-ea"/>
                          <a:cs typeface="+mn-cs"/>
                        </a:rPr>
                        <a:t>10hr Battery Life</a:t>
                      </a:r>
                      <a:endParaRPr lang="en-US" sz="1400" kern="100" dirty="0">
                        <a:solidFill>
                          <a:schemeClr val="tx1"/>
                        </a:solidFill>
                        <a:effectLst/>
                        <a:latin typeface="+mn-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07000"/>
                        </a:lnSpc>
                        <a:spcBef>
                          <a:spcPts val="0"/>
                        </a:spcBef>
                        <a:spcAft>
                          <a:spcPts val="0"/>
                        </a:spcAft>
                      </a:pPr>
                      <a:r>
                        <a:rPr lang="en-US" sz="1400" kern="100" dirty="0">
                          <a:solidFill>
                            <a:schemeClr val="tx1"/>
                          </a:solidFill>
                          <a:effectLst/>
                          <a:latin typeface="+mj-lt"/>
                          <a:ea typeface="Century Gothic" panose="020B0502020202020204" pitchFamily="34" charset="0"/>
                          <a:cs typeface="Vrinda" panose="020B0502040204020203" pitchFamily="34" charset="0"/>
                        </a:rPr>
                        <a:t>8</a:t>
                      </a: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1625236"/>
                  </a:ext>
                </a:extLst>
              </a:tr>
              <a:tr h="214764">
                <a:tc>
                  <a:txBody>
                    <a:bodyPr/>
                    <a:lstStyle/>
                    <a:p>
                      <a:pPr marL="0" marR="0" algn="ctr">
                        <a:lnSpc>
                          <a:spcPct val="107000"/>
                        </a:lnSpc>
                        <a:spcBef>
                          <a:spcPts val="0"/>
                        </a:spcBef>
                        <a:spcAft>
                          <a:spcPts val="0"/>
                        </a:spcAft>
                      </a:pPr>
                      <a:r>
                        <a:rPr lang="en-US" sz="1400" kern="0">
                          <a:solidFill>
                            <a:schemeClr val="tx1"/>
                          </a:solidFill>
                          <a:effectLst/>
                          <a:latin typeface="+mj-lt"/>
                        </a:rPr>
                        <a:t> </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 </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 </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3460960"/>
                  </a:ext>
                </a:extLst>
              </a:tr>
              <a:tr h="242140">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Touchscreen Interface</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a:solidFill>
                            <a:schemeClr val="tx1"/>
                          </a:solidFill>
                          <a:effectLst/>
                          <a:latin typeface="+mj-lt"/>
                        </a:rPr>
                        <a:t>6</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1281959"/>
                  </a:ext>
                </a:extLst>
              </a:tr>
              <a:tr h="214764">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Wi Fi Modules</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6</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3772840"/>
                  </a:ext>
                </a:extLst>
              </a:tr>
              <a:tr h="242140">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GPS</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6</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8456580"/>
                  </a:ext>
                </a:extLst>
              </a:tr>
              <a:tr h="322854">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ea typeface="Century Gothic" panose="020B0502020202020204" pitchFamily="34" charset="0"/>
                          <a:cs typeface="Vrinda" panose="020B0502040204020203" pitchFamily="34" charset="0"/>
                        </a:rPr>
                        <a:t>Real Time Promotions</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6</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6621192"/>
                  </a:ext>
                </a:extLst>
              </a:tr>
              <a:tr h="254502">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Multi-language Support</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5</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3914174"/>
                  </a:ext>
                </a:extLst>
              </a:tr>
              <a:tr h="304674">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Modification (Subjective)</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5</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3453954"/>
                  </a:ext>
                </a:extLst>
              </a:tr>
              <a:tr h="236323">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Dimension (mm)</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5</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5603299"/>
                  </a:ext>
                </a:extLst>
              </a:tr>
              <a:tr h="285769">
                <a:tc>
                  <a:txBody>
                    <a:bodyPr/>
                    <a:lstStyle/>
                    <a:p>
                      <a:pPr marL="0" marR="0" algn="ctr">
                        <a:lnSpc>
                          <a:spcPct val="107000"/>
                        </a:lnSpc>
                        <a:spcBef>
                          <a:spcPts val="0"/>
                        </a:spcBef>
                        <a:spcAft>
                          <a:spcPts val="0"/>
                        </a:spcAft>
                      </a:pPr>
                      <a:r>
                        <a:rPr lang="en-US" sz="1400" kern="0">
                          <a:solidFill>
                            <a:schemeClr val="tx1"/>
                          </a:solidFill>
                          <a:effectLst/>
                          <a:latin typeface="+mj-lt"/>
                        </a:rPr>
                        <a:t>Low</a:t>
                      </a:r>
                      <a:endParaRPr lang="en-US" sz="1400" kern="10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12V 7.5Ah Battery</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lnSpc>
                          <a:spcPct val="107000"/>
                        </a:lnSpc>
                        <a:spcBef>
                          <a:spcPts val="0"/>
                        </a:spcBef>
                        <a:spcAft>
                          <a:spcPts val="0"/>
                        </a:spcAft>
                      </a:pPr>
                      <a:r>
                        <a:rPr lang="en-US" sz="1400" kern="0" dirty="0">
                          <a:solidFill>
                            <a:schemeClr val="tx1"/>
                          </a:solidFill>
                          <a:effectLst/>
                          <a:latin typeface="+mj-lt"/>
                        </a:rPr>
                        <a:t>5</a:t>
                      </a:r>
                      <a:endParaRPr lang="en-US" sz="1400" kern="100" dirty="0">
                        <a:solidFill>
                          <a:schemeClr val="tx1"/>
                        </a:solidFill>
                        <a:effectLst/>
                        <a:latin typeface="+mj-lt"/>
                        <a:ea typeface="Century Gothic" panose="020B0502020202020204" pitchFamily="34" charset="0"/>
                        <a:cs typeface="Vrinda" panose="020B0502040204020203" pitchFamily="34" charset="0"/>
                      </a:endParaRPr>
                    </a:p>
                  </a:txBody>
                  <a:tcPr marL="67663" marR="6766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412587"/>
                  </a:ext>
                </a:extLst>
              </a:tr>
            </a:tbl>
          </a:graphicData>
        </a:graphic>
      </p:graphicFrame>
      <p:sp>
        <p:nvSpPr>
          <p:cNvPr id="3" name="TextBox 2">
            <a:extLst>
              <a:ext uri="{FF2B5EF4-FFF2-40B4-BE49-F238E27FC236}">
                <a16:creationId xmlns:a16="http://schemas.microsoft.com/office/drawing/2014/main" id="{646D0D36-1BCF-59BE-5143-082B467AA326}"/>
              </a:ext>
            </a:extLst>
          </p:cNvPr>
          <p:cNvSpPr txBox="1"/>
          <p:nvPr/>
        </p:nvSpPr>
        <p:spPr>
          <a:xfrm>
            <a:off x="4548909" y="277101"/>
            <a:ext cx="3796145" cy="584775"/>
          </a:xfrm>
          <a:prstGeom prst="rect">
            <a:avLst/>
          </a:prstGeom>
          <a:noFill/>
        </p:spPr>
        <p:txBody>
          <a:bodyPr wrap="square" rtlCol="0">
            <a:spAutoFit/>
          </a:bodyPr>
          <a:lstStyle/>
          <a:p>
            <a:r>
              <a:rPr lang="en-US" sz="3200" b="1" dirty="0">
                <a:latin typeface="+mj-lt"/>
              </a:rPr>
              <a:t>FINDINGS OF </a:t>
            </a:r>
            <a:r>
              <a:rPr lang="en-US" sz="3200" b="1" dirty="0">
                <a:solidFill>
                  <a:schemeClr val="accent3"/>
                </a:solidFill>
                <a:latin typeface="+mj-lt"/>
              </a:rPr>
              <a:t>QFD</a:t>
            </a:r>
          </a:p>
        </p:txBody>
      </p:sp>
      <p:pic>
        <p:nvPicPr>
          <p:cNvPr id="4" name="Picture 3">
            <a:extLst>
              <a:ext uri="{FF2B5EF4-FFF2-40B4-BE49-F238E27FC236}">
                <a16:creationId xmlns:a16="http://schemas.microsoft.com/office/drawing/2014/main" id="{5271630A-DB59-34BA-1470-30E023115A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13762" y="1650066"/>
            <a:ext cx="4254521" cy="4111748"/>
          </a:xfrm>
          <a:prstGeom prst="rect">
            <a:avLst/>
          </a:prstGeom>
          <a:noFill/>
          <a:ln>
            <a:solidFill>
              <a:schemeClr val="tx1"/>
            </a:solidFill>
          </a:ln>
        </p:spPr>
      </p:pic>
    </p:spTree>
    <p:extLst>
      <p:ext uri="{BB962C8B-B14F-4D97-AF65-F5344CB8AC3E}">
        <p14:creationId xmlns:p14="http://schemas.microsoft.com/office/powerpoint/2010/main" val="2404480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76E7635-632B-4A62-A2D0-118CE8EBFE46}"/>
              </a:ext>
            </a:extLst>
          </p:cNvPr>
          <p:cNvSpPr/>
          <p:nvPr/>
        </p:nvSpPr>
        <p:spPr>
          <a:xfrm>
            <a:off x="1592619" y="1656785"/>
            <a:ext cx="1848536" cy="338554"/>
          </a:xfrm>
          <a:prstGeom prst="rect">
            <a:avLst/>
          </a:prstGeom>
        </p:spPr>
        <p:txBody>
          <a:bodyPr wrap="square" anchor="b">
            <a:spAutoFit/>
          </a:bodyPr>
          <a:lstStyle/>
          <a:p>
            <a:r>
              <a:rPr lang="en-US" sz="1600" b="1" dirty="0">
                <a:solidFill>
                  <a:schemeClr val="bg1"/>
                </a:solidFill>
                <a:latin typeface="Open Sans" panose="020B0606030504020204" pitchFamily="34" charset="0"/>
              </a:rPr>
              <a:t>Insert title here</a:t>
            </a:r>
          </a:p>
        </p:txBody>
      </p:sp>
      <p:sp>
        <p:nvSpPr>
          <p:cNvPr id="16" name="Rectangle 15">
            <a:extLst>
              <a:ext uri="{FF2B5EF4-FFF2-40B4-BE49-F238E27FC236}">
                <a16:creationId xmlns:a16="http://schemas.microsoft.com/office/drawing/2014/main" id="{DECB1A80-71F5-4FF2-A33E-5D89CD8D6C10}"/>
              </a:ext>
            </a:extLst>
          </p:cNvPr>
          <p:cNvSpPr/>
          <p:nvPr/>
        </p:nvSpPr>
        <p:spPr>
          <a:xfrm>
            <a:off x="1592617" y="1993598"/>
            <a:ext cx="3474811" cy="600164"/>
          </a:xfrm>
          <a:prstGeom prst="rect">
            <a:avLst/>
          </a:prstGeom>
        </p:spPr>
        <p:txBody>
          <a:bodyPr wrap="square">
            <a:spAutoFit/>
          </a:bodyPr>
          <a:lstStyle/>
          <a:p>
            <a:pPr>
              <a:lnSpc>
                <a:spcPct val="150000"/>
              </a:lnSpc>
            </a:pPr>
            <a:r>
              <a:rPr lang="en-US" sz="1100" dirty="0">
                <a:solidFill>
                  <a:schemeClr val="bg1"/>
                </a:solidFill>
                <a:latin typeface="Open Sans" panose="020B0606030504020204" pitchFamily="34" charset="0"/>
              </a:rPr>
              <a:t>Lorem Ipsum is simply dummy text of the printing and typesetting  is simply dummy text </a:t>
            </a:r>
            <a:endParaRPr lang="en-US" sz="1100" dirty="0">
              <a:solidFill>
                <a:schemeClr val="bg1"/>
              </a:solidFill>
              <a:latin typeface="DauphinPlain"/>
            </a:endParaRPr>
          </a:p>
        </p:txBody>
      </p:sp>
      <p:sp>
        <p:nvSpPr>
          <p:cNvPr id="17" name="Rectangle 16">
            <a:extLst>
              <a:ext uri="{FF2B5EF4-FFF2-40B4-BE49-F238E27FC236}">
                <a16:creationId xmlns:a16="http://schemas.microsoft.com/office/drawing/2014/main" id="{876E7635-632B-4A62-A2D0-118CE8EBFE46}"/>
              </a:ext>
            </a:extLst>
          </p:cNvPr>
          <p:cNvSpPr/>
          <p:nvPr/>
        </p:nvSpPr>
        <p:spPr>
          <a:xfrm>
            <a:off x="2554576" y="3085535"/>
            <a:ext cx="1848536" cy="338554"/>
          </a:xfrm>
          <a:prstGeom prst="rect">
            <a:avLst/>
          </a:prstGeom>
        </p:spPr>
        <p:txBody>
          <a:bodyPr wrap="square" anchor="b">
            <a:spAutoFit/>
          </a:bodyPr>
          <a:lstStyle/>
          <a:p>
            <a:r>
              <a:rPr lang="en-US" sz="1600" b="1" dirty="0">
                <a:solidFill>
                  <a:schemeClr val="bg1"/>
                </a:solidFill>
                <a:latin typeface="Open Sans" panose="020B0606030504020204" pitchFamily="34" charset="0"/>
              </a:rPr>
              <a:t>Insert title here</a:t>
            </a:r>
          </a:p>
        </p:txBody>
      </p:sp>
      <p:sp>
        <p:nvSpPr>
          <p:cNvPr id="18" name="Rectangle 17">
            <a:extLst>
              <a:ext uri="{FF2B5EF4-FFF2-40B4-BE49-F238E27FC236}">
                <a16:creationId xmlns:a16="http://schemas.microsoft.com/office/drawing/2014/main" id="{DECB1A80-71F5-4FF2-A33E-5D89CD8D6C10}"/>
              </a:ext>
            </a:extLst>
          </p:cNvPr>
          <p:cNvSpPr/>
          <p:nvPr/>
        </p:nvSpPr>
        <p:spPr>
          <a:xfrm>
            <a:off x="2554574" y="3422348"/>
            <a:ext cx="3474811" cy="600164"/>
          </a:xfrm>
          <a:prstGeom prst="rect">
            <a:avLst/>
          </a:prstGeom>
        </p:spPr>
        <p:txBody>
          <a:bodyPr wrap="square">
            <a:spAutoFit/>
          </a:bodyPr>
          <a:lstStyle/>
          <a:p>
            <a:pPr>
              <a:lnSpc>
                <a:spcPct val="150000"/>
              </a:lnSpc>
            </a:pPr>
            <a:r>
              <a:rPr lang="en-US" sz="1100" dirty="0">
                <a:solidFill>
                  <a:schemeClr val="bg1"/>
                </a:solidFill>
                <a:latin typeface="Open Sans" panose="020B0606030504020204" pitchFamily="34" charset="0"/>
              </a:rPr>
              <a:t>Lorem Ipsum is simply dummy text of the printing and typesetting  is simply dummy text </a:t>
            </a:r>
            <a:endParaRPr lang="en-US" sz="1100" dirty="0">
              <a:solidFill>
                <a:schemeClr val="bg1"/>
              </a:solidFill>
              <a:latin typeface="DauphinPlain"/>
            </a:endParaRPr>
          </a:p>
        </p:txBody>
      </p:sp>
      <p:sp>
        <p:nvSpPr>
          <p:cNvPr id="19" name="Rectangle 18">
            <a:extLst>
              <a:ext uri="{FF2B5EF4-FFF2-40B4-BE49-F238E27FC236}">
                <a16:creationId xmlns:a16="http://schemas.microsoft.com/office/drawing/2014/main" id="{876E7635-632B-4A62-A2D0-118CE8EBFE46}"/>
              </a:ext>
            </a:extLst>
          </p:cNvPr>
          <p:cNvSpPr/>
          <p:nvPr/>
        </p:nvSpPr>
        <p:spPr>
          <a:xfrm>
            <a:off x="1554517" y="4549260"/>
            <a:ext cx="1848536" cy="338554"/>
          </a:xfrm>
          <a:prstGeom prst="rect">
            <a:avLst/>
          </a:prstGeom>
        </p:spPr>
        <p:txBody>
          <a:bodyPr wrap="square" anchor="b">
            <a:spAutoFit/>
          </a:bodyPr>
          <a:lstStyle/>
          <a:p>
            <a:r>
              <a:rPr lang="en-US" sz="1600" b="1" dirty="0">
                <a:solidFill>
                  <a:schemeClr val="bg1"/>
                </a:solidFill>
                <a:latin typeface="Open Sans" panose="020B0606030504020204" pitchFamily="34" charset="0"/>
              </a:rPr>
              <a:t>Insert title here</a:t>
            </a:r>
          </a:p>
        </p:txBody>
      </p:sp>
      <p:sp>
        <p:nvSpPr>
          <p:cNvPr id="20" name="Rectangle 19">
            <a:extLst>
              <a:ext uri="{FF2B5EF4-FFF2-40B4-BE49-F238E27FC236}">
                <a16:creationId xmlns:a16="http://schemas.microsoft.com/office/drawing/2014/main" id="{DECB1A80-71F5-4FF2-A33E-5D89CD8D6C10}"/>
              </a:ext>
            </a:extLst>
          </p:cNvPr>
          <p:cNvSpPr/>
          <p:nvPr/>
        </p:nvSpPr>
        <p:spPr>
          <a:xfrm>
            <a:off x="1554515" y="4886073"/>
            <a:ext cx="3474811" cy="600164"/>
          </a:xfrm>
          <a:prstGeom prst="rect">
            <a:avLst/>
          </a:prstGeom>
        </p:spPr>
        <p:txBody>
          <a:bodyPr wrap="square">
            <a:spAutoFit/>
          </a:bodyPr>
          <a:lstStyle/>
          <a:p>
            <a:pPr>
              <a:lnSpc>
                <a:spcPct val="150000"/>
              </a:lnSpc>
            </a:pPr>
            <a:r>
              <a:rPr lang="en-US" sz="1100" dirty="0">
                <a:solidFill>
                  <a:schemeClr val="bg1"/>
                </a:solidFill>
                <a:latin typeface="Open Sans" panose="020B0606030504020204" pitchFamily="34" charset="0"/>
              </a:rPr>
              <a:t>Lorem Ipsum is simply dummy text of the printing and typesetting  is simply dummy text </a:t>
            </a:r>
            <a:endParaRPr lang="en-US" sz="1100" dirty="0">
              <a:solidFill>
                <a:schemeClr val="bg1"/>
              </a:solidFill>
              <a:latin typeface="DauphinPlain"/>
            </a:endParaRPr>
          </a:p>
        </p:txBody>
      </p:sp>
      <p:sp>
        <p:nvSpPr>
          <p:cNvPr id="21" name="TextBox 20">
            <a:extLst>
              <a:ext uri="{FF2B5EF4-FFF2-40B4-BE49-F238E27FC236}">
                <a16:creationId xmlns:a16="http://schemas.microsoft.com/office/drawing/2014/main" id="{98C3B736-F50D-441B-A694-B0D70E3638FA}"/>
              </a:ext>
            </a:extLst>
          </p:cNvPr>
          <p:cNvSpPr txBox="1"/>
          <p:nvPr/>
        </p:nvSpPr>
        <p:spPr>
          <a:xfrm>
            <a:off x="-567317" y="209040"/>
            <a:ext cx="7269018" cy="523202"/>
          </a:xfrm>
          <a:prstGeom prst="rect">
            <a:avLst/>
          </a:prstGeom>
          <a:noFill/>
        </p:spPr>
        <p:txBody>
          <a:bodyPr wrap="square" lIns="91422" tIns="45711" rIns="91422" bIns="45711" rtlCol="0">
            <a:spAutoFit/>
          </a:bodyPr>
          <a:lstStyle/>
          <a:p>
            <a:pPr algn="ctr"/>
            <a:r>
              <a:rPr lang="en-US" sz="2800" b="1" spc="300" dirty="0">
                <a:latin typeface="Poppins" panose="00000500000000000000" pitchFamily="2" charset="0"/>
                <a:cs typeface="Poppins" panose="00000500000000000000" pitchFamily="2" charset="0"/>
              </a:rPr>
              <a:t>SPECIFICATION </a:t>
            </a:r>
            <a:r>
              <a:rPr lang="en-US" sz="2800" b="1" spc="300" dirty="0">
                <a:solidFill>
                  <a:schemeClr val="accent3"/>
                </a:solidFill>
                <a:latin typeface="Poppins" panose="00000500000000000000" pitchFamily="2" charset="0"/>
                <a:cs typeface="Poppins" panose="00000500000000000000" pitchFamily="2" charset="0"/>
              </a:rPr>
              <a:t>CHART</a:t>
            </a:r>
          </a:p>
        </p:txBody>
      </p:sp>
      <p:graphicFrame>
        <p:nvGraphicFramePr>
          <p:cNvPr id="2" name="Table 1">
            <a:extLst>
              <a:ext uri="{FF2B5EF4-FFF2-40B4-BE49-F238E27FC236}">
                <a16:creationId xmlns:a16="http://schemas.microsoft.com/office/drawing/2014/main" id="{057332DA-1870-E0C7-21D7-FC36E193F4F5}"/>
              </a:ext>
            </a:extLst>
          </p:cNvPr>
          <p:cNvGraphicFramePr>
            <a:graphicFrameLocks noGrp="1"/>
          </p:cNvGraphicFramePr>
          <p:nvPr>
            <p:extLst>
              <p:ext uri="{D42A27DB-BD31-4B8C-83A1-F6EECF244321}">
                <p14:modId xmlns:p14="http://schemas.microsoft.com/office/powerpoint/2010/main" val="2031852342"/>
              </p:ext>
            </p:extLst>
          </p:nvPr>
        </p:nvGraphicFramePr>
        <p:xfrm>
          <a:off x="1535358" y="1277120"/>
          <a:ext cx="9307449" cy="5060725"/>
        </p:xfrm>
        <a:graphic>
          <a:graphicData uri="http://schemas.openxmlformats.org/drawingml/2006/table">
            <a:tbl>
              <a:tblPr firstRow="1" firstCol="1" bandRow="1">
                <a:tableStyleId>{00A15C55-8517-42AA-B614-E9B94910E393}</a:tableStyleId>
              </a:tblPr>
              <a:tblGrid>
                <a:gridCol w="1631084">
                  <a:extLst>
                    <a:ext uri="{9D8B030D-6E8A-4147-A177-3AD203B41FA5}">
                      <a16:colId xmlns:a16="http://schemas.microsoft.com/office/drawing/2014/main" val="1527099731"/>
                    </a:ext>
                  </a:extLst>
                </a:gridCol>
                <a:gridCol w="2698205">
                  <a:extLst>
                    <a:ext uri="{9D8B030D-6E8A-4147-A177-3AD203B41FA5}">
                      <a16:colId xmlns:a16="http://schemas.microsoft.com/office/drawing/2014/main" val="3659474398"/>
                    </a:ext>
                  </a:extLst>
                </a:gridCol>
                <a:gridCol w="3225478">
                  <a:extLst>
                    <a:ext uri="{9D8B030D-6E8A-4147-A177-3AD203B41FA5}">
                      <a16:colId xmlns:a16="http://schemas.microsoft.com/office/drawing/2014/main" val="513769985"/>
                    </a:ext>
                  </a:extLst>
                </a:gridCol>
                <a:gridCol w="1752682">
                  <a:extLst>
                    <a:ext uri="{9D8B030D-6E8A-4147-A177-3AD203B41FA5}">
                      <a16:colId xmlns:a16="http://schemas.microsoft.com/office/drawing/2014/main" val="762609356"/>
                    </a:ext>
                  </a:extLst>
                </a:gridCol>
              </a:tblGrid>
              <a:tr h="352308">
                <a:tc>
                  <a:txBody>
                    <a:bodyPr/>
                    <a:lstStyle/>
                    <a:p>
                      <a:pPr marL="0" marR="0" algn="ctr">
                        <a:lnSpc>
                          <a:spcPct val="107000"/>
                        </a:lnSpc>
                        <a:spcBef>
                          <a:spcPts val="0"/>
                        </a:spcBef>
                        <a:spcAft>
                          <a:spcPts val="0"/>
                        </a:spcAft>
                      </a:pPr>
                      <a:r>
                        <a:rPr lang="en-US" sz="1200" kern="0">
                          <a:effectLst/>
                          <a:latin typeface="+mj-lt"/>
                        </a:rPr>
                        <a:t>Type</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Component</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Specification</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Quantity</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0136089"/>
                  </a:ext>
                </a:extLst>
              </a:tr>
              <a:tr h="414065">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Arduino Nano</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Main controller, compact size, low cost, 5V operation</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1</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330696"/>
                  </a:ext>
                </a:extLst>
              </a:tr>
              <a:tr h="516838">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20x4 LCD Display with I2C</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5V operation, connected via I2C (SCL, SDA, VCC, GND)</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1</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4237020"/>
                  </a:ext>
                </a:extLst>
              </a:tr>
              <a:tr h="624443">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SIM800L GSM Module</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GSM communication, connected via UART (D2, D3 pins), low power consumption</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820720"/>
                  </a:ext>
                </a:extLst>
              </a:tr>
              <a:tr h="445854">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EM-18 Module Reader</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RFID technology, operating at 125 kHz, connected to 5V DC supply</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416501"/>
                  </a:ext>
                </a:extLst>
              </a:tr>
              <a:tr h="480804">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EM-18 Tag</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RFID tags compatible with EM-18 module</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4</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169880"/>
                  </a:ext>
                </a:extLst>
              </a:tr>
              <a:tr h="570153">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Push Button</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Standard button, triggers actions such as item removal and SMS sending</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2</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3222980"/>
                  </a:ext>
                </a:extLst>
              </a:tr>
              <a:tr h="414065">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Red LED</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Indicator LED, connected for status display</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1</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4826057"/>
                  </a:ext>
                </a:extLst>
              </a:tr>
              <a:tr h="414065">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Green LED</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Indicator LED, connected for status display</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1828218"/>
                  </a:ext>
                </a:extLst>
              </a:tr>
              <a:tr h="414065">
                <a:tc>
                  <a:txBody>
                    <a:bodyPr/>
                    <a:lstStyle/>
                    <a:p>
                      <a:pPr marL="0" marR="0" algn="ctr">
                        <a:lnSpc>
                          <a:spcPct val="107000"/>
                        </a:lnSpc>
                        <a:spcBef>
                          <a:spcPts val="0"/>
                        </a:spcBef>
                        <a:spcAft>
                          <a:spcPts val="0"/>
                        </a:spcAft>
                      </a:pPr>
                      <a:r>
                        <a:rPr lang="en-US" sz="1200" kern="0">
                          <a:effectLst/>
                          <a:latin typeface="+mj-lt"/>
                        </a:rPr>
                        <a:t>Electronic</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Buzzer</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Provides audible feedback for certain actions</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652090"/>
                  </a:ext>
                </a:extLst>
              </a:tr>
              <a:tr h="414065">
                <a:tc>
                  <a:txBody>
                    <a:bodyPr/>
                    <a:lstStyle/>
                    <a:p>
                      <a:pPr marL="0" marR="0" algn="ctr">
                        <a:lnSpc>
                          <a:spcPct val="107000"/>
                        </a:lnSpc>
                        <a:spcBef>
                          <a:spcPts val="0"/>
                        </a:spcBef>
                        <a:spcAft>
                          <a:spcPts val="0"/>
                        </a:spcAft>
                      </a:pPr>
                      <a:r>
                        <a:rPr lang="en-US" sz="1200" kern="0">
                          <a:effectLst/>
                          <a:latin typeface="+mj-lt"/>
                        </a:rPr>
                        <a:t>Electrical</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12V 7.5A Li-Ion Battery</a:t>
                      </a:r>
                      <a:endParaRPr lang="en-US" sz="1200" kern="10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Power source for the system, 3.7V rechargeable battery</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1</a:t>
                      </a:r>
                      <a:endParaRPr lang="en-US" sz="1200" kern="100" dirty="0">
                        <a:effectLst/>
                        <a:latin typeface="+mj-lt"/>
                        <a:ea typeface="Century Gothic" panose="020B0502020202020204" pitchFamily="34" charset="0"/>
                        <a:cs typeface="Vrinda" panose="020B0502040204020203" pitchFamily="34" charset="0"/>
                      </a:endParaRPr>
                    </a:p>
                  </a:txBody>
                  <a:tcPr marL="54318" marR="54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6329994"/>
                  </a:ext>
                </a:extLst>
              </a:tr>
            </a:tbl>
          </a:graphicData>
        </a:graphic>
      </p:graphicFrame>
      <p:sp>
        <p:nvSpPr>
          <p:cNvPr id="3" name="Rectangle 2">
            <a:extLst>
              <a:ext uri="{FF2B5EF4-FFF2-40B4-BE49-F238E27FC236}">
                <a16:creationId xmlns:a16="http://schemas.microsoft.com/office/drawing/2014/main" id="{2F32036B-BCDD-FE1B-3D9C-74F6F3BB6B13}"/>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D010EE7-DCC4-CD29-34B1-CD6727430A65}"/>
              </a:ext>
            </a:extLst>
          </p:cNvPr>
          <p:cNvPicPr>
            <a:picLocks noChangeAspect="1"/>
          </p:cNvPicPr>
          <p:nvPr/>
        </p:nvPicPr>
        <p:blipFill>
          <a:blip r:embed="rId2"/>
          <a:stretch>
            <a:fillRect/>
          </a:stretch>
        </p:blipFill>
        <p:spPr>
          <a:xfrm>
            <a:off x="498005" y="6227009"/>
            <a:ext cx="676715" cy="1261981"/>
          </a:xfrm>
          <a:prstGeom prst="rect">
            <a:avLst/>
          </a:prstGeom>
        </p:spPr>
      </p:pic>
      <p:sp>
        <p:nvSpPr>
          <p:cNvPr id="5" name="TextBox 4">
            <a:extLst>
              <a:ext uri="{FF2B5EF4-FFF2-40B4-BE49-F238E27FC236}">
                <a16:creationId xmlns:a16="http://schemas.microsoft.com/office/drawing/2014/main" id="{435A023D-B0C7-B8C6-2FB4-4450AA78BCA2}"/>
              </a:ext>
            </a:extLst>
          </p:cNvPr>
          <p:cNvSpPr txBox="1"/>
          <p:nvPr/>
        </p:nvSpPr>
        <p:spPr>
          <a:xfrm>
            <a:off x="4882701" y="795680"/>
            <a:ext cx="3474811" cy="369332"/>
          </a:xfrm>
          <a:prstGeom prst="rect">
            <a:avLst/>
          </a:prstGeom>
          <a:noFill/>
        </p:spPr>
        <p:txBody>
          <a:bodyPr wrap="square" rtlCol="0">
            <a:spAutoFit/>
          </a:bodyPr>
          <a:lstStyle/>
          <a:p>
            <a:r>
              <a:rPr lang="en-US" b="1" dirty="0"/>
              <a:t>ELECTRICAL COMPONENTS</a:t>
            </a:r>
          </a:p>
        </p:txBody>
      </p:sp>
    </p:spTree>
    <p:extLst>
      <p:ext uri="{BB962C8B-B14F-4D97-AF65-F5344CB8AC3E}">
        <p14:creationId xmlns:p14="http://schemas.microsoft.com/office/powerpoint/2010/main" val="53807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up)">
                                      <p:cBhvr>
                                        <p:cTn id="7" dur="500"/>
                                        <p:tgtEl>
                                          <p:spTgt spid="16">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up)">
                                      <p:cBhvr>
                                        <p:cTn id="11" dur="500"/>
                                        <p:tgtEl>
                                          <p:spTgt spid="18">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wipe(up)">
                                      <p:cBhvr>
                                        <p:cTn id="15"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76E7635-632B-4A62-A2D0-118CE8EBFE46}"/>
              </a:ext>
            </a:extLst>
          </p:cNvPr>
          <p:cNvSpPr/>
          <p:nvPr/>
        </p:nvSpPr>
        <p:spPr>
          <a:xfrm>
            <a:off x="1592619" y="1656785"/>
            <a:ext cx="1848536" cy="338554"/>
          </a:xfrm>
          <a:prstGeom prst="rect">
            <a:avLst/>
          </a:prstGeom>
        </p:spPr>
        <p:txBody>
          <a:bodyPr wrap="square" anchor="b">
            <a:spAutoFit/>
          </a:bodyPr>
          <a:lstStyle/>
          <a:p>
            <a:r>
              <a:rPr lang="en-US" sz="1600" b="1" dirty="0">
                <a:solidFill>
                  <a:schemeClr val="bg1"/>
                </a:solidFill>
                <a:latin typeface="Open Sans" panose="020B0606030504020204" pitchFamily="34" charset="0"/>
              </a:rPr>
              <a:t>Insert title here</a:t>
            </a:r>
          </a:p>
        </p:txBody>
      </p:sp>
      <p:sp>
        <p:nvSpPr>
          <p:cNvPr id="16" name="Rectangle 15">
            <a:extLst>
              <a:ext uri="{FF2B5EF4-FFF2-40B4-BE49-F238E27FC236}">
                <a16:creationId xmlns:a16="http://schemas.microsoft.com/office/drawing/2014/main" id="{DECB1A80-71F5-4FF2-A33E-5D89CD8D6C10}"/>
              </a:ext>
            </a:extLst>
          </p:cNvPr>
          <p:cNvSpPr/>
          <p:nvPr/>
        </p:nvSpPr>
        <p:spPr>
          <a:xfrm>
            <a:off x="1592617" y="1993598"/>
            <a:ext cx="3474811" cy="600164"/>
          </a:xfrm>
          <a:prstGeom prst="rect">
            <a:avLst/>
          </a:prstGeom>
        </p:spPr>
        <p:txBody>
          <a:bodyPr wrap="square">
            <a:spAutoFit/>
          </a:bodyPr>
          <a:lstStyle/>
          <a:p>
            <a:pPr>
              <a:lnSpc>
                <a:spcPct val="150000"/>
              </a:lnSpc>
            </a:pPr>
            <a:r>
              <a:rPr lang="en-US" sz="1100" dirty="0">
                <a:solidFill>
                  <a:schemeClr val="bg1"/>
                </a:solidFill>
                <a:latin typeface="Open Sans" panose="020B0606030504020204" pitchFamily="34" charset="0"/>
              </a:rPr>
              <a:t>Lorem Ipsum is simply dummy text of the printing and typesetting  is simply dummy text </a:t>
            </a:r>
            <a:endParaRPr lang="en-US" sz="1100" dirty="0">
              <a:solidFill>
                <a:schemeClr val="bg1"/>
              </a:solidFill>
              <a:latin typeface="DauphinPlain"/>
            </a:endParaRPr>
          </a:p>
        </p:txBody>
      </p:sp>
      <p:sp>
        <p:nvSpPr>
          <p:cNvPr id="17" name="Rectangle 16">
            <a:extLst>
              <a:ext uri="{FF2B5EF4-FFF2-40B4-BE49-F238E27FC236}">
                <a16:creationId xmlns:a16="http://schemas.microsoft.com/office/drawing/2014/main" id="{876E7635-632B-4A62-A2D0-118CE8EBFE46}"/>
              </a:ext>
            </a:extLst>
          </p:cNvPr>
          <p:cNvSpPr/>
          <p:nvPr/>
        </p:nvSpPr>
        <p:spPr>
          <a:xfrm>
            <a:off x="2554576" y="3085535"/>
            <a:ext cx="1848536" cy="338554"/>
          </a:xfrm>
          <a:prstGeom prst="rect">
            <a:avLst/>
          </a:prstGeom>
        </p:spPr>
        <p:txBody>
          <a:bodyPr wrap="square" anchor="b">
            <a:spAutoFit/>
          </a:bodyPr>
          <a:lstStyle/>
          <a:p>
            <a:r>
              <a:rPr lang="en-US" sz="1600" b="1" dirty="0">
                <a:solidFill>
                  <a:schemeClr val="bg1"/>
                </a:solidFill>
                <a:latin typeface="Open Sans" panose="020B0606030504020204" pitchFamily="34" charset="0"/>
              </a:rPr>
              <a:t>Insert title here</a:t>
            </a:r>
          </a:p>
        </p:txBody>
      </p:sp>
      <p:sp>
        <p:nvSpPr>
          <p:cNvPr id="18" name="Rectangle 17">
            <a:extLst>
              <a:ext uri="{FF2B5EF4-FFF2-40B4-BE49-F238E27FC236}">
                <a16:creationId xmlns:a16="http://schemas.microsoft.com/office/drawing/2014/main" id="{DECB1A80-71F5-4FF2-A33E-5D89CD8D6C10}"/>
              </a:ext>
            </a:extLst>
          </p:cNvPr>
          <p:cNvSpPr/>
          <p:nvPr/>
        </p:nvSpPr>
        <p:spPr>
          <a:xfrm>
            <a:off x="2554574" y="3422348"/>
            <a:ext cx="3474811" cy="600164"/>
          </a:xfrm>
          <a:prstGeom prst="rect">
            <a:avLst/>
          </a:prstGeom>
        </p:spPr>
        <p:txBody>
          <a:bodyPr wrap="square">
            <a:spAutoFit/>
          </a:bodyPr>
          <a:lstStyle/>
          <a:p>
            <a:pPr>
              <a:lnSpc>
                <a:spcPct val="150000"/>
              </a:lnSpc>
            </a:pPr>
            <a:r>
              <a:rPr lang="en-US" sz="1100" dirty="0">
                <a:solidFill>
                  <a:schemeClr val="bg1"/>
                </a:solidFill>
                <a:latin typeface="Open Sans" panose="020B0606030504020204" pitchFamily="34" charset="0"/>
              </a:rPr>
              <a:t>Lorem Ipsum is simply dummy text of the printing and typesetting  is simply dummy text </a:t>
            </a:r>
            <a:endParaRPr lang="en-US" sz="1100" dirty="0">
              <a:solidFill>
                <a:schemeClr val="bg1"/>
              </a:solidFill>
              <a:latin typeface="DauphinPlain"/>
            </a:endParaRPr>
          </a:p>
        </p:txBody>
      </p:sp>
      <p:sp>
        <p:nvSpPr>
          <p:cNvPr id="19" name="Rectangle 18">
            <a:extLst>
              <a:ext uri="{FF2B5EF4-FFF2-40B4-BE49-F238E27FC236}">
                <a16:creationId xmlns:a16="http://schemas.microsoft.com/office/drawing/2014/main" id="{876E7635-632B-4A62-A2D0-118CE8EBFE46}"/>
              </a:ext>
            </a:extLst>
          </p:cNvPr>
          <p:cNvSpPr/>
          <p:nvPr/>
        </p:nvSpPr>
        <p:spPr>
          <a:xfrm>
            <a:off x="1554517" y="4549260"/>
            <a:ext cx="1848536" cy="338554"/>
          </a:xfrm>
          <a:prstGeom prst="rect">
            <a:avLst/>
          </a:prstGeom>
        </p:spPr>
        <p:txBody>
          <a:bodyPr wrap="square" anchor="b">
            <a:spAutoFit/>
          </a:bodyPr>
          <a:lstStyle/>
          <a:p>
            <a:r>
              <a:rPr lang="en-US" sz="1600" b="1" dirty="0">
                <a:solidFill>
                  <a:schemeClr val="bg1"/>
                </a:solidFill>
                <a:latin typeface="Open Sans" panose="020B0606030504020204" pitchFamily="34" charset="0"/>
              </a:rPr>
              <a:t>Insert title here</a:t>
            </a:r>
          </a:p>
        </p:txBody>
      </p:sp>
      <p:sp>
        <p:nvSpPr>
          <p:cNvPr id="20" name="Rectangle 19">
            <a:extLst>
              <a:ext uri="{FF2B5EF4-FFF2-40B4-BE49-F238E27FC236}">
                <a16:creationId xmlns:a16="http://schemas.microsoft.com/office/drawing/2014/main" id="{DECB1A80-71F5-4FF2-A33E-5D89CD8D6C10}"/>
              </a:ext>
            </a:extLst>
          </p:cNvPr>
          <p:cNvSpPr/>
          <p:nvPr/>
        </p:nvSpPr>
        <p:spPr>
          <a:xfrm>
            <a:off x="1554515" y="4886073"/>
            <a:ext cx="3474811" cy="600164"/>
          </a:xfrm>
          <a:prstGeom prst="rect">
            <a:avLst/>
          </a:prstGeom>
        </p:spPr>
        <p:txBody>
          <a:bodyPr wrap="square">
            <a:spAutoFit/>
          </a:bodyPr>
          <a:lstStyle/>
          <a:p>
            <a:pPr>
              <a:lnSpc>
                <a:spcPct val="150000"/>
              </a:lnSpc>
            </a:pPr>
            <a:r>
              <a:rPr lang="en-US" sz="1100" dirty="0">
                <a:solidFill>
                  <a:schemeClr val="bg1"/>
                </a:solidFill>
                <a:latin typeface="Open Sans" panose="020B0606030504020204" pitchFamily="34" charset="0"/>
              </a:rPr>
              <a:t>Lorem Ipsum is simply dummy text of the printing and typesetting  is simply dummy text </a:t>
            </a:r>
            <a:endParaRPr lang="en-US" sz="1100" dirty="0">
              <a:solidFill>
                <a:schemeClr val="bg1"/>
              </a:solidFill>
              <a:latin typeface="DauphinPlain"/>
            </a:endParaRPr>
          </a:p>
        </p:txBody>
      </p:sp>
      <p:sp>
        <p:nvSpPr>
          <p:cNvPr id="3" name="Rectangle 2">
            <a:extLst>
              <a:ext uri="{FF2B5EF4-FFF2-40B4-BE49-F238E27FC236}">
                <a16:creationId xmlns:a16="http://schemas.microsoft.com/office/drawing/2014/main" id="{2F32036B-BCDD-FE1B-3D9C-74F6F3BB6B13}"/>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D010EE7-DCC4-CD29-34B1-CD6727430A65}"/>
              </a:ext>
            </a:extLst>
          </p:cNvPr>
          <p:cNvPicPr>
            <a:picLocks noChangeAspect="1"/>
          </p:cNvPicPr>
          <p:nvPr/>
        </p:nvPicPr>
        <p:blipFill>
          <a:blip r:embed="rId2"/>
          <a:stretch>
            <a:fillRect/>
          </a:stretch>
        </p:blipFill>
        <p:spPr>
          <a:xfrm>
            <a:off x="498005" y="6227009"/>
            <a:ext cx="676715" cy="1261981"/>
          </a:xfrm>
          <a:prstGeom prst="rect">
            <a:avLst/>
          </a:prstGeom>
        </p:spPr>
      </p:pic>
      <p:graphicFrame>
        <p:nvGraphicFramePr>
          <p:cNvPr id="5" name="Table 4">
            <a:extLst>
              <a:ext uri="{FF2B5EF4-FFF2-40B4-BE49-F238E27FC236}">
                <a16:creationId xmlns:a16="http://schemas.microsoft.com/office/drawing/2014/main" id="{075A4F0C-841C-D4E1-86E9-ADB1031A3276}"/>
              </a:ext>
            </a:extLst>
          </p:cNvPr>
          <p:cNvGraphicFramePr>
            <a:graphicFrameLocks noGrp="1"/>
          </p:cNvGraphicFramePr>
          <p:nvPr>
            <p:extLst>
              <p:ext uri="{D42A27DB-BD31-4B8C-83A1-F6EECF244321}">
                <p14:modId xmlns:p14="http://schemas.microsoft.com/office/powerpoint/2010/main" val="3453960997"/>
              </p:ext>
            </p:extLst>
          </p:nvPr>
        </p:nvGraphicFramePr>
        <p:xfrm>
          <a:off x="1662546" y="1072349"/>
          <a:ext cx="8829963" cy="4820451"/>
        </p:xfrm>
        <a:graphic>
          <a:graphicData uri="http://schemas.openxmlformats.org/drawingml/2006/table">
            <a:tbl>
              <a:tblPr firstRow="1" firstCol="1" bandRow="1">
                <a:tableStyleId>{21E4AEA4-8DFA-4A89-87EB-49C32662AFE0}</a:tableStyleId>
              </a:tblPr>
              <a:tblGrid>
                <a:gridCol w="1531729">
                  <a:extLst>
                    <a:ext uri="{9D8B030D-6E8A-4147-A177-3AD203B41FA5}">
                      <a16:colId xmlns:a16="http://schemas.microsoft.com/office/drawing/2014/main" val="742233622"/>
                    </a:ext>
                  </a:extLst>
                </a:gridCol>
                <a:gridCol w="1978231">
                  <a:extLst>
                    <a:ext uri="{9D8B030D-6E8A-4147-A177-3AD203B41FA5}">
                      <a16:colId xmlns:a16="http://schemas.microsoft.com/office/drawing/2014/main" val="461431353"/>
                    </a:ext>
                  </a:extLst>
                </a:gridCol>
                <a:gridCol w="3878375">
                  <a:extLst>
                    <a:ext uri="{9D8B030D-6E8A-4147-A177-3AD203B41FA5}">
                      <a16:colId xmlns:a16="http://schemas.microsoft.com/office/drawing/2014/main" val="1420822516"/>
                    </a:ext>
                  </a:extLst>
                </a:gridCol>
                <a:gridCol w="1441628">
                  <a:extLst>
                    <a:ext uri="{9D8B030D-6E8A-4147-A177-3AD203B41FA5}">
                      <a16:colId xmlns:a16="http://schemas.microsoft.com/office/drawing/2014/main" val="1108817200"/>
                    </a:ext>
                  </a:extLst>
                </a:gridCol>
              </a:tblGrid>
              <a:tr h="373461">
                <a:tc>
                  <a:txBody>
                    <a:bodyPr/>
                    <a:lstStyle/>
                    <a:p>
                      <a:pPr marL="0" marR="0" algn="ctr">
                        <a:lnSpc>
                          <a:spcPct val="107000"/>
                        </a:lnSpc>
                        <a:spcBef>
                          <a:spcPts val="0"/>
                        </a:spcBef>
                        <a:spcAft>
                          <a:spcPts val="0"/>
                        </a:spcAft>
                      </a:pPr>
                      <a:r>
                        <a:rPr lang="en-US" sz="1200" kern="0" dirty="0">
                          <a:effectLst/>
                          <a:latin typeface="+mj-lt"/>
                        </a:rPr>
                        <a:t>Type</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Component</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Specification</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Quantity</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679621"/>
                  </a:ext>
                </a:extLst>
              </a:tr>
              <a:tr h="517566">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Shopping Cart Frame</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Cast alloy steel, designed for durability and load-bearing</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500153"/>
                  </a:ext>
                </a:extLst>
              </a:tr>
              <a:tr h="596218">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Wheels</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360-degree rotating wheels for smooth mobility</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4</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515362"/>
                  </a:ext>
                </a:extLst>
              </a:tr>
              <a:tr h="720521">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Load-Bearing Structure</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Supports up to 240 kg of load</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5769782"/>
                  </a:ext>
                </a:extLst>
              </a:tr>
              <a:tr h="583016">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Battery Holder</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Compartment designed to fit a 3.7V Li-ion battery</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6456888"/>
                  </a:ext>
                </a:extLst>
              </a:tr>
              <a:tr h="496774">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Mounting Brackets</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For securing the LCD display, GSM module, and other electrical components</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Multiple</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445019"/>
                  </a:ext>
                </a:extLst>
              </a:tr>
              <a:tr h="510965">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Protective Enclosure Box</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Houses and protects all electrical components from damage</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1</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2271734"/>
                  </a:ext>
                </a:extLst>
              </a:tr>
              <a:tr h="510965">
                <a:tc>
                  <a:txBody>
                    <a:bodyPr/>
                    <a:lstStyle/>
                    <a:p>
                      <a:pPr marL="0" marR="0" algn="ctr">
                        <a:lnSpc>
                          <a:spcPct val="107000"/>
                        </a:lnSpc>
                        <a:spcBef>
                          <a:spcPts val="0"/>
                        </a:spcBef>
                        <a:spcAft>
                          <a:spcPts val="0"/>
                        </a:spcAft>
                      </a:pPr>
                      <a:r>
                        <a:rPr lang="en-US" sz="1200" kern="0">
                          <a:effectLst/>
                          <a:latin typeface="+mj-lt"/>
                        </a:rPr>
                        <a:t>Mechanical</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Phone holder</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For holding the phone during shopping</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1</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975552"/>
                  </a:ext>
                </a:extLst>
              </a:tr>
              <a:tr h="510965">
                <a:tc>
                  <a:txBody>
                    <a:bodyPr/>
                    <a:lstStyle/>
                    <a:p>
                      <a:pPr marL="0" marR="0" algn="ctr">
                        <a:lnSpc>
                          <a:spcPct val="107000"/>
                        </a:lnSpc>
                        <a:spcBef>
                          <a:spcPts val="0"/>
                        </a:spcBef>
                        <a:spcAft>
                          <a:spcPts val="0"/>
                        </a:spcAft>
                      </a:pPr>
                      <a:r>
                        <a:rPr lang="en-US" sz="1200" kern="0" dirty="0">
                          <a:effectLst/>
                          <a:latin typeface="+mj-lt"/>
                        </a:rPr>
                        <a:t>Mechanical</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a:effectLst/>
                          <a:latin typeface="+mj-lt"/>
                        </a:rPr>
                        <a:t>Basket</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100">
                          <a:effectLst/>
                          <a:latin typeface="+mj-lt"/>
                        </a:rPr>
                        <a:t>where users can place their items.</a:t>
                      </a:r>
                      <a:endParaRPr lang="en-US" sz="1200" kern="10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kern="0" dirty="0">
                          <a:effectLst/>
                          <a:latin typeface="+mj-lt"/>
                        </a:rPr>
                        <a:t>1</a:t>
                      </a:r>
                      <a:endParaRPr lang="en-US" sz="1200" kern="100" dirty="0">
                        <a:effectLst/>
                        <a:latin typeface="+mj-lt"/>
                        <a:ea typeface="Century Gothic" panose="020B0502020202020204" pitchFamily="34" charset="0"/>
                        <a:cs typeface="Vrinda" panose="020B0502040204020203" pitchFamily="34" charset="0"/>
                      </a:endParaRPr>
                    </a:p>
                  </a:txBody>
                  <a:tcPr marL="53621" marR="536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774266"/>
                  </a:ext>
                </a:extLst>
              </a:tr>
            </a:tbl>
          </a:graphicData>
        </a:graphic>
      </p:graphicFrame>
      <p:sp>
        <p:nvSpPr>
          <p:cNvPr id="6" name="TextBox 5">
            <a:extLst>
              <a:ext uri="{FF2B5EF4-FFF2-40B4-BE49-F238E27FC236}">
                <a16:creationId xmlns:a16="http://schemas.microsoft.com/office/drawing/2014/main" id="{AEC59791-EE1D-C4F7-BA6E-77C1307BD867}"/>
              </a:ext>
            </a:extLst>
          </p:cNvPr>
          <p:cNvSpPr txBox="1"/>
          <p:nvPr/>
        </p:nvSpPr>
        <p:spPr>
          <a:xfrm>
            <a:off x="4403112" y="473390"/>
            <a:ext cx="3474811" cy="369332"/>
          </a:xfrm>
          <a:prstGeom prst="rect">
            <a:avLst/>
          </a:prstGeom>
          <a:noFill/>
        </p:spPr>
        <p:txBody>
          <a:bodyPr wrap="square" rtlCol="0">
            <a:spAutoFit/>
          </a:bodyPr>
          <a:lstStyle/>
          <a:p>
            <a:r>
              <a:rPr lang="en-US" b="1" dirty="0"/>
              <a:t>MECHANICAL COMPONENTS</a:t>
            </a:r>
          </a:p>
        </p:txBody>
      </p:sp>
    </p:spTree>
    <p:extLst>
      <p:ext uri="{BB962C8B-B14F-4D97-AF65-F5344CB8AC3E}">
        <p14:creationId xmlns:p14="http://schemas.microsoft.com/office/powerpoint/2010/main" val="319567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up)">
                                      <p:cBhvr>
                                        <p:cTn id="7" dur="500"/>
                                        <p:tgtEl>
                                          <p:spTgt spid="16">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up)">
                                      <p:cBhvr>
                                        <p:cTn id="11" dur="500"/>
                                        <p:tgtEl>
                                          <p:spTgt spid="18">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wipe(up)">
                                      <p:cBhvr>
                                        <p:cTn id="15"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reeform 33"/>
          <p:cNvSpPr/>
          <p:nvPr/>
        </p:nvSpPr>
        <p:spPr>
          <a:xfrm>
            <a:off x="5170539" y="1393105"/>
            <a:ext cx="3443123" cy="1015795"/>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chemeClr val="tx1">
                <a:lumMod val="95000"/>
                <a:lumOff val="5000"/>
              </a:schemeClr>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latin typeface="Open Sans" panose="020B0606030504020204" pitchFamily="34" charset="0"/>
            </a:endParaRPr>
          </a:p>
        </p:txBody>
      </p:sp>
      <p:cxnSp>
        <p:nvCxnSpPr>
          <p:cNvPr id="35" name="Straight Connector 34"/>
          <p:cNvCxnSpPr>
            <a:cxnSpLocks/>
          </p:cNvCxnSpPr>
          <p:nvPr/>
        </p:nvCxnSpPr>
        <p:spPr>
          <a:xfrm>
            <a:off x="5109514" y="3419441"/>
            <a:ext cx="3711097" cy="0"/>
          </a:xfrm>
          <a:prstGeom prst="line">
            <a:avLst/>
          </a:prstGeom>
          <a:noFill/>
          <a:ln w="12700" cap="flat">
            <a:solidFill>
              <a:schemeClr val="tx1">
                <a:lumMod val="95000"/>
                <a:lumOff val="5000"/>
              </a:schemeClr>
            </a:solidFill>
            <a:prstDash val="solid"/>
            <a:miter lim="800000"/>
            <a:headEnd/>
            <a:tailEnd type="oval" w="lg" len="lg"/>
          </a:ln>
          <a:extLst>
            <a:ext uri="{909E8E84-426E-40DD-AFC4-6F175D3DCCD1}">
              <a14:hiddenFill xmlns:a14="http://schemas.microsoft.com/office/drawing/2010/main">
                <a:noFill/>
              </a14:hiddenFill>
            </a:ext>
          </a:extLst>
        </p:spPr>
      </p:cxnSp>
      <p:sp>
        <p:nvSpPr>
          <p:cNvPr id="24" name="Oval 23"/>
          <p:cNvSpPr/>
          <p:nvPr/>
        </p:nvSpPr>
        <p:spPr>
          <a:xfrm>
            <a:off x="210947" y="2401248"/>
            <a:ext cx="971550" cy="1320192"/>
          </a:xfrm>
          <a:prstGeom prst="ellipse">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3506015C-0B49-CF5F-5261-86724CF9E81A}"/>
              </a:ext>
            </a:extLst>
          </p:cNvPr>
          <p:cNvGrpSpPr/>
          <p:nvPr/>
        </p:nvGrpSpPr>
        <p:grpSpPr>
          <a:xfrm>
            <a:off x="326796" y="2090475"/>
            <a:ext cx="5387490" cy="2239664"/>
            <a:chOff x="407904" y="1818810"/>
            <a:chExt cx="5903554" cy="2239664"/>
          </a:xfrm>
        </p:grpSpPr>
        <p:sp>
          <p:nvSpPr>
            <p:cNvPr id="21" name="Rectangle 20"/>
            <p:cNvSpPr/>
            <p:nvPr/>
          </p:nvSpPr>
          <p:spPr>
            <a:xfrm>
              <a:off x="743043" y="2349830"/>
              <a:ext cx="2067644" cy="10140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238">
              <a:extLst>
                <a:ext uri="{FF2B5EF4-FFF2-40B4-BE49-F238E27FC236}">
                  <a16:creationId xmlns:a16="http://schemas.microsoft.com/office/drawing/2014/main" id="{2A607638-6447-4F91-A10D-1AC98F68774E}"/>
                </a:ext>
              </a:extLst>
            </p:cNvPr>
            <p:cNvSpPr>
              <a:spLocks/>
            </p:cNvSpPr>
            <p:nvPr/>
          </p:nvSpPr>
          <p:spPr bwMode="auto">
            <a:xfrm flipH="1" flipV="1">
              <a:off x="2538521" y="1818810"/>
              <a:ext cx="3771365" cy="1585716"/>
            </a:xfrm>
            <a:custGeom>
              <a:avLst/>
              <a:gdLst>
                <a:gd name="T0" fmla="*/ 0 w 2398"/>
                <a:gd name="T1" fmla="*/ 0 h 742"/>
                <a:gd name="T2" fmla="*/ 2398 w 2398"/>
                <a:gd name="T3" fmla="*/ 0 h 742"/>
                <a:gd name="T4" fmla="*/ 2398 w 2398"/>
                <a:gd name="T5" fmla="*/ 199 h 742"/>
                <a:gd name="T6" fmla="*/ 2398 w 2398"/>
                <a:gd name="T7" fmla="*/ 238 h 742"/>
                <a:gd name="T8" fmla="*/ 2398 w 2398"/>
                <a:gd name="T9" fmla="*/ 274 h 742"/>
                <a:gd name="T10" fmla="*/ 2398 w 2398"/>
                <a:gd name="T11" fmla="*/ 304 h 742"/>
                <a:gd name="T12" fmla="*/ 2398 w 2398"/>
                <a:gd name="T13" fmla="*/ 325 h 742"/>
                <a:gd name="T14" fmla="*/ 2392 w 2398"/>
                <a:gd name="T15" fmla="*/ 366 h 742"/>
                <a:gd name="T16" fmla="*/ 2375 w 2398"/>
                <a:gd name="T17" fmla="*/ 403 h 742"/>
                <a:gd name="T18" fmla="*/ 2349 w 2398"/>
                <a:gd name="T19" fmla="*/ 441 h 742"/>
                <a:gd name="T20" fmla="*/ 2313 w 2398"/>
                <a:gd name="T21" fmla="*/ 479 h 742"/>
                <a:gd name="T22" fmla="*/ 2269 w 2398"/>
                <a:gd name="T23" fmla="*/ 513 h 742"/>
                <a:gd name="T24" fmla="*/ 2215 w 2398"/>
                <a:gd name="T25" fmla="*/ 546 h 742"/>
                <a:gd name="T26" fmla="*/ 2153 w 2398"/>
                <a:gd name="T27" fmla="*/ 577 h 742"/>
                <a:gd name="T28" fmla="*/ 2084 w 2398"/>
                <a:gd name="T29" fmla="*/ 606 h 742"/>
                <a:gd name="T30" fmla="*/ 2008 w 2398"/>
                <a:gd name="T31" fmla="*/ 632 h 742"/>
                <a:gd name="T32" fmla="*/ 1924 w 2398"/>
                <a:gd name="T33" fmla="*/ 657 h 742"/>
                <a:gd name="T34" fmla="*/ 1836 w 2398"/>
                <a:gd name="T35" fmla="*/ 678 h 742"/>
                <a:gd name="T36" fmla="*/ 1740 w 2398"/>
                <a:gd name="T37" fmla="*/ 696 h 742"/>
                <a:gd name="T38" fmla="*/ 1640 w 2398"/>
                <a:gd name="T39" fmla="*/ 712 h 742"/>
                <a:gd name="T40" fmla="*/ 1535 w 2398"/>
                <a:gd name="T41" fmla="*/ 724 h 742"/>
                <a:gd name="T42" fmla="*/ 1427 w 2398"/>
                <a:gd name="T43" fmla="*/ 734 h 742"/>
                <a:gd name="T44" fmla="*/ 1315 w 2398"/>
                <a:gd name="T45" fmla="*/ 739 h 742"/>
                <a:gd name="T46" fmla="*/ 1200 w 2398"/>
                <a:gd name="T47" fmla="*/ 742 h 742"/>
                <a:gd name="T48" fmla="*/ 1084 w 2398"/>
                <a:gd name="T49" fmla="*/ 739 h 742"/>
                <a:gd name="T50" fmla="*/ 971 w 2398"/>
                <a:gd name="T51" fmla="*/ 734 h 742"/>
                <a:gd name="T52" fmla="*/ 863 w 2398"/>
                <a:gd name="T53" fmla="*/ 724 h 742"/>
                <a:gd name="T54" fmla="*/ 759 w 2398"/>
                <a:gd name="T55" fmla="*/ 712 h 742"/>
                <a:gd name="T56" fmla="*/ 659 w 2398"/>
                <a:gd name="T57" fmla="*/ 696 h 742"/>
                <a:gd name="T58" fmla="*/ 563 w 2398"/>
                <a:gd name="T59" fmla="*/ 678 h 742"/>
                <a:gd name="T60" fmla="*/ 474 w 2398"/>
                <a:gd name="T61" fmla="*/ 657 h 742"/>
                <a:gd name="T62" fmla="*/ 391 w 2398"/>
                <a:gd name="T63" fmla="*/ 632 h 742"/>
                <a:gd name="T64" fmla="*/ 314 w 2398"/>
                <a:gd name="T65" fmla="*/ 606 h 742"/>
                <a:gd name="T66" fmla="*/ 246 w 2398"/>
                <a:gd name="T67" fmla="*/ 577 h 742"/>
                <a:gd name="T68" fmla="*/ 183 w 2398"/>
                <a:gd name="T69" fmla="*/ 546 h 742"/>
                <a:gd name="T70" fmla="*/ 129 w 2398"/>
                <a:gd name="T71" fmla="*/ 513 h 742"/>
                <a:gd name="T72" fmla="*/ 85 w 2398"/>
                <a:gd name="T73" fmla="*/ 479 h 742"/>
                <a:gd name="T74" fmla="*/ 49 w 2398"/>
                <a:gd name="T75" fmla="*/ 441 h 742"/>
                <a:gd name="T76" fmla="*/ 23 w 2398"/>
                <a:gd name="T77" fmla="*/ 403 h 742"/>
                <a:gd name="T78" fmla="*/ 7 w 2398"/>
                <a:gd name="T79" fmla="*/ 366 h 742"/>
                <a:gd name="T80" fmla="*/ 0 w 2398"/>
                <a:gd name="T81" fmla="*/ 325 h 742"/>
                <a:gd name="T82" fmla="*/ 0 w 2398"/>
                <a:gd name="T83"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98" h="742">
                  <a:moveTo>
                    <a:pt x="0" y="0"/>
                  </a:moveTo>
                  <a:lnTo>
                    <a:pt x="2398" y="0"/>
                  </a:lnTo>
                  <a:lnTo>
                    <a:pt x="2398" y="199"/>
                  </a:lnTo>
                  <a:lnTo>
                    <a:pt x="2398" y="238"/>
                  </a:lnTo>
                  <a:lnTo>
                    <a:pt x="2398" y="274"/>
                  </a:lnTo>
                  <a:lnTo>
                    <a:pt x="2398" y="304"/>
                  </a:lnTo>
                  <a:lnTo>
                    <a:pt x="2398" y="325"/>
                  </a:lnTo>
                  <a:lnTo>
                    <a:pt x="2392" y="366"/>
                  </a:lnTo>
                  <a:lnTo>
                    <a:pt x="2375" y="403"/>
                  </a:lnTo>
                  <a:lnTo>
                    <a:pt x="2349" y="441"/>
                  </a:lnTo>
                  <a:lnTo>
                    <a:pt x="2313" y="479"/>
                  </a:lnTo>
                  <a:lnTo>
                    <a:pt x="2269" y="513"/>
                  </a:lnTo>
                  <a:lnTo>
                    <a:pt x="2215" y="546"/>
                  </a:lnTo>
                  <a:lnTo>
                    <a:pt x="2153" y="577"/>
                  </a:lnTo>
                  <a:lnTo>
                    <a:pt x="2084" y="606"/>
                  </a:lnTo>
                  <a:lnTo>
                    <a:pt x="2008" y="632"/>
                  </a:lnTo>
                  <a:lnTo>
                    <a:pt x="1924" y="657"/>
                  </a:lnTo>
                  <a:lnTo>
                    <a:pt x="1836" y="678"/>
                  </a:lnTo>
                  <a:lnTo>
                    <a:pt x="1740" y="696"/>
                  </a:lnTo>
                  <a:lnTo>
                    <a:pt x="1640" y="712"/>
                  </a:lnTo>
                  <a:lnTo>
                    <a:pt x="1535" y="724"/>
                  </a:lnTo>
                  <a:lnTo>
                    <a:pt x="1427" y="734"/>
                  </a:lnTo>
                  <a:lnTo>
                    <a:pt x="1315" y="739"/>
                  </a:lnTo>
                  <a:lnTo>
                    <a:pt x="1200" y="742"/>
                  </a:lnTo>
                  <a:lnTo>
                    <a:pt x="1084" y="739"/>
                  </a:lnTo>
                  <a:lnTo>
                    <a:pt x="971" y="734"/>
                  </a:lnTo>
                  <a:lnTo>
                    <a:pt x="863" y="724"/>
                  </a:lnTo>
                  <a:lnTo>
                    <a:pt x="759" y="712"/>
                  </a:lnTo>
                  <a:lnTo>
                    <a:pt x="659" y="696"/>
                  </a:lnTo>
                  <a:lnTo>
                    <a:pt x="563" y="678"/>
                  </a:lnTo>
                  <a:lnTo>
                    <a:pt x="474" y="657"/>
                  </a:lnTo>
                  <a:lnTo>
                    <a:pt x="391" y="632"/>
                  </a:lnTo>
                  <a:lnTo>
                    <a:pt x="314" y="606"/>
                  </a:lnTo>
                  <a:lnTo>
                    <a:pt x="246" y="577"/>
                  </a:lnTo>
                  <a:lnTo>
                    <a:pt x="183" y="546"/>
                  </a:lnTo>
                  <a:lnTo>
                    <a:pt x="129" y="513"/>
                  </a:lnTo>
                  <a:lnTo>
                    <a:pt x="85" y="479"/>
                  </a:lnTo>
                  <a:lnTo>
                    <a:pt x="49" y="441"/>
                  </a:lnTo>
                  <a:lnTo>
                    <a:pt x="23" y="403"/>
                  </a:lnTo>
                  <a:lnTo>
                    <a:pt x="7" y="366"/>
                  </a:lnTo>
                  <a:lnTo>
                    <a:pt x="0" y="325"/>
                  </a:ln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39">
              <a:extLst>
                <a:ext uri="{FF2B5EF4-FFF2-40B4-BE49-F238E27FC236}">
                  <a16:creationId xmlns:a16="http://schemas.microsoft.com/office/drawing/2014/main" id="{16EE5D8E-C7CE-4B05-A8AE-4374852AAFBA}"/>
                </a:ext>
              </a:extLst>
            </p:cNvPr>
            <p:cNvSpPr>
              <a:spLocks/>
            </p:cNvSpPr>
            <p:nvPr/>
          </p:nvSpPr>
          <p:spPr bwMode="auto">
            <a:xfrm flipH="1" flipV="1">
              <a:off x="2538521" y="2648000"/>
              <a:ext cx="3772937" cy="1410474"/>
            </a:xfrm>
            <a:custGeom>
              <a:avLst/>
              <a:gdLst>
                <a:gd name="T0" fmla="*/ 1316 w 2399"/>
                <a:gd name="T1" fmla="*/ 1 h 660"/>
                <a:gd name="T2" fmla="*/ 1536 w 2399"/>
                <a:gd name="T3" fmla="*/ 13 h 660"/>
                <a:gd name="T4" fmla="*/ 1741 w 2399"/>
                <a:gd name="T5" fmla="*/ 34 h 660"/>
                <a:gd name="T6" fmla="*/ 1925 w 2399"/>
                <a:gd name="T7" fmla="*/ 67 h 660"/>
                <a:gd name="T8" fmla="*/ 2085 w 2399"/>
                <a:gd name="T9" fmla="*/ 108 h 660"/>
                <a:gd name="T10" fmla="*/ 2216 w 2399"/>
                <a:gd name="T11" fmla="*/ 155 h 660"/>
                <a:gd name="T12" fmla="*/ 2314 w 2399"/>
                <a:gd name="T13" fmla="*/ 207 h 660"/>
                <a:gd name="T14" fmla="*/ 2376 w 2399"/>
                <a:gd name="T15" fmla="*/ 266 h 660"/>
                <a:gd name="T16" fmla="*/ 2399 w 2399"/>
                <a:gd name="T17" fmla="*/ 330 h 660"/>
                <a:gd name="T18" fmla="*/ 2376 w 2399"/>
                <a:gd name="T19" fmla="*/ 392 h 660"/>
                <a:gd name="T20" fmla="*/ 2314 w 2399"/>
                <a:gd name="T21" fmla="*/ 451 h 660"/>
                <a:gd name="T22" fmla="*/ 2216 w 2399"/>
                <a:gd name="T23" fmla="*/ 505 h 660"/>
                <a:gd name="T24" fmla="*/ 2085 w 2399"/>
                <a:gd name="T25" fmla="*/ 552 h 660"/>
                <a:gd name="T26" fmla="*/ 1925 w 2399"/>
                <a:gd name="T27" fmla="*/ 593 h 660"/>
                <a:gd name="T28" fmla="*/ 1741 w 2399"/>
                <a:gd name="T29" fmla="*/ 624 h 660"/>
                <a:gd name="T30" fmla="*/ 1536 w 2399"/>
                <a:gd name="T31" fmla="*/ 647 h 660"/>
                <a:gd name="T32" fmla="*/ 1316 w 2399"/>
                <a:gd name="T33" fmla="*/ 659 h 660"/>
                <a:gd name="T34" fmla="*/ 1083 w 2399"/>
                <a:gd name="T35" fmla="*/ 659 h 660"/>
                <a:gd name="T36" fmla="*/ 863 w 2399"/>
                <a:gd name="T37" fmla="*/ 647 h 660"/>
                <a:gd name="T38" fmla="*/ 658 w 2399"/>
                <a:gd name="T39" fmla="*/ 624 h 660"/>
                <a:gd name="T40" fmla="*/ 474 w 2399"/>
                <a:gd name="T41" fmla="*/ 593 h 660"/>
                <a:gd name="T42" fmla="*/ 314 w 2399"/>
                <a:gd name="T43" fmla="*/ 552 h 660"/>
                <a:gd name="T44" fmla="*/ 183 w 2399"/>
                <a:gd name="T45" fmla="*/ 505 h 660"/>
                <a:gd name="T46" fmla="*/ 85 w 2399"/>
                <a:gd name="T47" fmla="*/ 451 h 660"/>
                <a:gd name="T48" fmla="*/ 23 w 2399"/>
                <a:gd name="T49" fmla="*/ 392 h 660"/>
                <a:gd name="T50" fmla="*/ 0 w 2399"/>
                <a:gd name="T51" fmla="*/ 330 h 660"/>
                <a:gd name="T52" fmla="*/ 23 w 2399"/>
                <a:gd name="T53" fmla="*/ 266 h 660"/>
                <a:gd name="T54" fmla="*/ 85 w 2399"/>
                <a:gd name="T55" fmla="*/ 207 h 660"/>
                <a:gd name="T56" fmla="*/ 183 w 2399"/>
                <a:gd name="T57" fmla="*/ 155 h 660"/>
                <a:gd name="T58" fmla="*/ 314 w 2399"/>
                <a:gd name="T59" fmla="*/ 108 h 660"/>
                <a:gd name="T60" fmla="*/ 474 w 2399"/>
                <a:gd name="T61" fmla="*/ 67 h 660"/>
                <a:gd name="T62" fmla="*/ 658 w 2399"/>
                <a:gd name="T63" fmla="*/ 34 h 660"/>
                <a:gd name="T64" fmla="*/ 863 w 2399"/>
                <a:gd name="T65" fmla="*/ 13 h 660"/>
                <a:gd name="T66" fmla="*/ 1083 w 2399"/>
                <a:gd name="T67" fmla="*/ 1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99" h="660">
                  <a:moveTo>
                    <a:pt x="1199" y="0"/>
                  </a:moveTo>
                  <a:lnTo>
                    <a:pt x="1316" y="1"/>
                  </a:lnTo>
                  <a:lnTo>
                    <a:pt x="1427" y="5"/>
                  </a:lnTo>
                  <a:lnTo>
                    <a:pt x="1536" y="13"/>
                  </a:lnTo>
                  <a:lnTo>
                    <a:pt x="1641" y="23"/>
                  </a:lnTo>
                  <a:lnTo>
                    <a:pt x="1741" y="34"/>
                  </a:lnTo>
                  <a:lnTo>
                    <a:pt x="1835" y="49"/>
                  </a:lnTo>
                  <a:lnTo>
                    <a:pt x="1925" y="67"/>
                  </a:lnTo>
                  <a:lnTo>
                    <a:pt x="2009" y="86"/>
                  </a:lnTo>
                  <a:lnTo>
                    <a:pt x="2085" y="108"/>
                  </a:lnTo>
                  <a:lnTo>
                    <a:pt x="2154" y="131"/>
                  </a:lnTo>
                  <a:lnTo>
                    <a:pt x="2216" y="155"/>
                  </a:lnTo>
                  <a:lnTo>
                    <a:pt x="2270" y="181"/>
                  </a:lnTo>
                  <a:lnTo>
                    <a:pt x="2314" y="207"/>
                  </a:lnTo>
                  <a:lnTo>
                    <a:pt x="2350" y="237"/>
                  </a:lnTo>
                  <a:lnTo>
                    <a:pt x="2376" y="266"/>
                  </a:lnTo>
                  <a:lnTo>
                    <a:pt x="2393" y="297"/>
                  </a:lnTo>
                  <a:lnTo>
                    <a:pt x="2399" y="330"/>
                  </a:lnTo>
                  <a:lnTo>
                    <a:pt x="2393" y="361"/>
                  </a:lnTo>
                  <a:lnTo>
                    <a:pt x="2376" y="392"/>
                  </a:lnTo>
                  <a:lnTo>
                    <a:pt x="2350" y="422"/>
                  </a:lnTo>
                  <a:lnTo>
                    <a:pt x="2314" y="451"/>
                  </a:lnTo>
                  <a:lnTo>
                    <a:pt x="2270" y="479"/>
                  </a:lnTo>
                  <a:lnTo>
                    <a:pt x="2216" y="505"/>
                  </a:lnTo>
                  <a:lnTo>
                    <a:pt x="2154" y="530"/>
                  </a:lnTo>
                  <a:lnTo>
                    <a:pt x="2085" y="552"/>
                  </a:lnTo>
                  <a:lnTo>
                    <a:pt x="2009" y="574"/>
                  </a:lnTo>
                  <a:lnTo>
                    <a:pt x="1925" y="593"/>
                  </a:lnTo>
                  <a:lnTo>
                    <a:pt x="1835" y="610"/>
                  </a:lnTo>
                  <a:lnTo>
                    <a:pt x="1741" y="624"/>
                  </a:lnTo>
                  <a:lnTo>
                    <a:pt x="1641" y="637"/>
                  </a:lnTo>
                  <a:lnTo>
                    <a:pt x="1536" y="647"/>
                  </a:lnTo>
                  <a:lnTo>
                    <a:pt x="1427" y="654"/>
                  </a:lnTo>
                  <a:lnTo>
                    <a:pt x="1316" y="659"/>
                  </a:lnTo>
                  <a:lnTo>
                    <a:pt x="1199" y="660"/>
                  </a:lnTo>
                  <a:lnTo>
                    <a:pt x="1083" y="659"/>
                  </a:lnTo>
                  <a:lnTo>
                    <a:pt x="972" y="654"/>
                  </a:lnTo>
                  <a:lnTo>
                    <a:pt x="863" y="647"/>
                  </a:lnTo>
                  <a:lnTo>
                    <a:pt x="758" y="637"/>
                  </a:lnTo>
                  <a:lnTo>
                    <a:pt x="658" y="624"/>
                  </a:lnTo>
                  <a:lnTo>
                    <a:pt x="564" y="610"/>
                  </a:lnTo>
                  <a:lnTo>
                    <a:pt x="474" y="593"/>
                  </a:lnTo>
                  <a:lnTo>
                    <a:pt x="390" y="574"/>
                  </a:lnTo>
                  <a:lnTo>
                    <a:pt x="314" y="552"/>
                  </a:lnTo>
                  <a:lnTo>
                    <a:pt x="245" y="530"/>
                  </a:lnTo>
                  <a:lnTo>
                    <a:pt x="183" y="505"/>
                  </a:lnTo>
                  <a:lnTo>
                    <a:pt x="129" y="479"/>
                  </a:lnTo>
                  <a:lnTo>
                    <a:pt x="85" y="451"/>
                  </a:lnTo>
                  <a:lnTo>
                    <a:pt x="49" y="422"/>
                  </a:lnTo>
                  <a:lnTo>
                    <a:pt x="23" y="392"/>
                  </a:lnTo>
                  <a:lnTo>
                    <a:pt x="6" y="361"/>
                  </a:lnTo>
                  <a:lnTo>
                    <a:pt x="0" y="330"/>
                  </a:lnTo>
                  <a:lnTo>
                    <a:pt x="6" y="297"/>
                  </a:lnTo>
                  <a:lnTo>
                    <a:pt x="23" y="266"/>
                  </a:lnTo>
                  <a:lnTo>
                    <a:pt x="49" y="237"/>
                  </a:lnTo>
                  <a:lnTo>
                    <a:pt x="85" y="207"/>
                  </a:lnTo>
                  <a:lnTo>
                    <a:pt x="129" y="181"/>
                  </a:lnTo>
                  <a:lnTo>
                    <a:pt x="183" y="155"/>
                  </a:lnTo>
                  <a:lnTo>
                    <a:pt x="245" y="131"/>
                  </a:lnTo>
                  <a:lnTo>
                    <a:pt x="314" y="108"/>
                  </a:lnTo>
                  <a:lnTo>
                    <a:pt x="390" y="86"/>
                  </a:lnTo>
                  <a:lnTo>
                    <a:pt x="474" y="67"/>
                  </a:lnTo>
                  <a:lnTo>
                    <a:pt x="564" y="49"/>
                  </a:lnTo>
                  <a:lnTo>
                    <a:pt x="658" y="34"/>
                  </a:lnTo>
                  <a:lnTo>
                    <a:pt x="758" y="23"/>
                  </a:lnTo>
                  <a:lnTo>
                    <a:pt x="863" y="13"/>
                  </a:lnTo>
                  <a:lnTo>
                    <a:pt x="972" y="5"/>
                  </a:lnTo>
                  <a:lnTo>
                    <a:pt x="1083" y="1"/>
                  </a:lnTo>
                  <a:lnTo>
                    <a:pt x="1199" y="0"/>
                  </a:lnTo>
                  <a:close/>
                </a:path>
              </a:pathLst>
            </a:custGeom>
            <a:gradFill flip="none" rotWithShape="1">
              <a:gsLst>
                <a:gs pos="0">
                  <a:schemeClr val="accent1">
                    <a:lumMod val="50000"/>
                  </a:schemeClr>
                </a:gs>
                <a:gs pos="50000">
                  <a:schemeClr val="accent1"/>
                </a:gs>
                <a:gs pos="100000">
                  <a:schemeClr val="accent1"/>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Rectangle 16">
              <a:extLst>
                <a:ext uri="{FF2B5EF4-FFF2-40B4-BE49-F238E27FC236}">
                  <a16:creationId xmlns:a16="http://schemas.microsoft.com/office/drawing/2014/main" id="{82AEB085-6BB2-48F6-84CA-523C02ACF359}"/>
                </a:ext>
              </a:extLst>
            </p:cNvPr>
            <p:cNvSpPr/>
            <p:nvPr/>
          </p:nvSpPr>
          <p:spPr>
            <a:xfrm>
              <a:off x="3661108" y="2129583"/>
              <a:ext cx="1681871" cy="400110"/>
            </a:xfrm>
            <a:prstGeom prst="rect">
              <a:avLst/>
            </a:prstGeom>
          </p:spPr>
          <p:txBody>
            <a:bodyPr wrap="none">
              <a:spAutoFit/>
            </a:bodyPr>
            <a:lstStyle/>
            <a:p>
              <a:pPr algn="ctr"/>
              <a:r>
                <a:rPr lang="en-US" sz="2000" b="1" dirty="0">
                  <a:solidFill>
                    <a:schemeClr val="bg1"/>
                  </a:solidFill>
                  <a:latin typeface="+mj-lt"/>
                  <a:ea typeface="Open Sans" panose="020B0606030504020204" pitchFamily="34" charset="0"/>
                  <a:cs typeface="Open Sans" panose="020B0606030504020204" pitchFamily="34" charset="0"/>
                </a:rPr>
                <a:t>ELECTRICAL</a:t>
              </a:r>
              <a:endParaRPr lang="en-US" sz="2000" dirty="0">
                <a:solidFill>
                  <a:schemeClr val="bg1"/>
                </a:solidFill>
                <a:latin typeface="+mj-lt"/>
                <a:ea typeface="Open Sans" panose="020B0606030504020204" pitchFamily="34" charset="0"/>
                <a:cs typeface="Open Sans" panose="020B0606030504020204" pitchFamily="34" charset="0"/>
              </a:endParaRPr>
            </a:p>
          </p:txBody>
        </p:sp>
        <p:sp>
          <p:nvSpPr>
            <p:cNvPr id="25" name="Oval 24"/>
            <p:cNvSpPr/>
            <p:nvPr/>
          </p:nvSpPr>
          <p:spPr>
            <a:xfrm>
              <a:off x="407904" y="2215823"/>
              <a:ext cx="809334" cy="1099765"/>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98C3B736-F50D-441B-A694-B0D70E3638FA}"/>
              </a:ext>
            </a:extLst>
          </p:cNvPr>
          <p:cNvSpPr txBox="1"/>
          <p:nvPr/>
        </p:nvSpPr>
        <p:spPr>
          <a:xfrm>
            <a:off x="510828" y="636762"/>
            <a:ext cx="5833571" cy="830979"/>
          </a:xfrm>
          <a:prstGeom prst="rect">
            <a:avLst/>
          </a:prstGeom>
          <a:noFill/>
        </p:spPr>
        <p:txBody>
          <a:bodyPr wrap="square" lIns="91422" tIns="45711" rIns="91422" bIns="45711" rtlCol="0">
            <a:spAutoFit/>
          </a:bodyPr>
          <a:lstStyle/>
          <a:p>
            <a:r>
              <a:rPr lang="en-US" sz="2400" b="1" spc="300" dirty="0">
                <a:solidFill>
                  <a:schemeClr val="tx1">
                    <a:lumMod val="95000"/>
                    <a:lumOff val="5000"/>
                  </a:schemeClr>
                </a:solidFill>
                <a:latin typeface="Poppins" panose="00000500000000000000" pitchFamily="2" charset="0"/>
                <a:cs typeface="Poppins" panose="00000500000000000000" pitchFamily="2" charset="0"/>
              </a:rPr>
              <a:t>MAIN</a:t>
            </a:r>
          </a:p>
          <a:p>
            <a:r>
              <a:rPr lang="en-US" sz="2400" b="1" spc="300" dirty="0">
                <a:solidFill>
                  <a:schemeClr val="tx1">
                    <a:lumMod val="95000"/>
                    <a:lumOff val="5000"/>
                  </a:schemeClr>
                </a:solidFill>
                <a:latin typeface="Poppins" panose="00000500000000000000" pitchFamily="2" charset="0"/>
                <a:cs typeface="Poppins" panose="00000500000000000000" pitchFamily="2" charset="0"/>
              </a:rPr>
              <a:t>     </a:t>
            </a:r>
            <a:r>
              <a:rPr lang="en-US" sz="2400" b="1" spc="300" dirty="0">
                <a:solidFill>
                  <a:schemeClr val="accent3"/>
                </a:solidFill>
                <a:latin typeface="Poppins" panose="00000500000000000000" pitchFamily="2" charset="0"/>
                <a:cs typeface="Poppins" panose="00000500000000000000" pitchFamily="2" charset="0"/>
              </a:rPr>
              <a:t>COMPONENTS</a:t>
            </a:r>
          </a:p>
        </p:txBody>
      </p:sp>
      <p:pic>
        <p:nvPicPr>
          <p:cNvPr id="4" name="Picture 3">
            <a:extLst>
              <a:ext uri="{FF2B5EF4-FFF2-40B4-BE49-F238E27FC236}">
                <a16:creationId xmlns:a16="http://schemas.microsoft.com/office/drawing/2014/main" id="{31570C1D-0245-F460-456F-C660C58713C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6109" y="527538"/>
            <a:ext cx="2434477" cy="1714839"/>
          </a:xfrm>
          <a:prstGeom prst="rect">
            <a:avLst/>
          </a:prstGeom>
          <a:noFill/>
          <a:ln>
            <a:solidFill>
              <a:schemeClr val="tx1"/>
            </a:solidFill>
          </a:ln>
        </p:spPr>
      </p:pic>
      <p:pic>
        <p:nvPicPr>
          <p:cNvPr id="5" name="Picture 4">
            <a:extLst>
              <a:ext uri="{FF2B5EF4-FFF2-40B4-BE49-F238E27FC236}">
                <a16:creationId xmlns:a16="http://schemas.microsoft.com/office/drawing/2014/main" id="{A5C9B0C8-A470-130A-150B-C52E326D5DF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941950" y="2641060"/>
            <a:ext cx="2468637" cy="1689078"/>
          </a:xfrm>
          <a:prstGeom prst="rect">
            <a:avLst/>
          </a:prstGeom>
          <a:ln>
            <a:solidFill>
              <a:schemeClr val="tx1"/>
            </a:solidFill>
          </a:ln>
        </p:spPr>
      </p:pic>
      <p:sp>
        <p:nvSpPr>
          <p:cNvPr id="8" name="TextBox 7">
            <a:extLst>
              <a:ext uri="{FF2B5EF4-FFF2-40B4-BE49-F238E27FC236}">
                <a16:creationId xmlns:a16="http://schemas.microsoft.com/office/drawing/2014/main" id="{F09CD8EE-7E5F-563B-3039-43AC295A45E9}"/>
              </a:ext>
            </a:extLst>
          </p:cNvPr>
          <p:cNvSpPr txBox="1"/>
          <p:nvPr/>
        </p:nvSpPr>
        <p:spPr>
          <a:xfrm>
            <a:off x="6280727" y="1436008"/>
            <a:ext cx="1898034"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Arduino Nano </a:t>
            </a:r>
            <a:endParaRPr lang="en-US" dirty="0"/>
          </a:p>
        </p:txBody>
      </p:sp>
      <p:sp>
        <p:nvSpPr>
          <p:cNvPr id="19" name="TextBox 18">
            <a:extLst>
              <a:ext uri="{FF2B5EF4-FFF2-40B4-BE49-F238E27FC236}">
                <a16:creationId xmlns:a16="http://schemas.microsoft.com/office/drawing/2014/main" id="{CCD20786-57D5-9172-2673-803AA64B40F4}"/>
              </a:ext>
            </a:extLst>
          </p:cNvPr>
          <p:cNvSpPr txBox="1"/>
          <p:nvPr/>
        </p:nvSpPr>
        <p:spPr>
          <a:xfrm>
            <a:off x="5869785" y="2847120"/>
            <a:ext cx="3181735" cy="457369"/>
          </a:xfrm>
          <a:prstGeom prst="rect">
            <a:avLst/>
          </a:prstGeom>
          <a:noFill/>
        </p:spPr>
        <p:txBody>
          <a:bodyPr wrap="square">
            <a:spAutoFit/>
          </a:bodyPr>
          <a:lstStyle/>
          <a:p>
            <a:pPr marL="0" marR="0">
              <a:lnSpc>
                <a:spcPct val="150000"/>
              </a:lnSpc>
              <a:spcBef>
                <a:spcPts val="200"/>
              </a:spcBef>
              <a:spcAft>
                <a:spcPts val="0"/>
              </a:spcAft>
            </a:pPr>
            <a:r>
              <a:rPr lang="en-US" sz="1800" b="1" kern="100" dirty="0">
                <a:effectLst/>
                <a:latin typeface="Times New Roman" panose="02020603050405020304" pitchFamily="18" charset="0"/>
                <a:ea typeface="Times New Roman" panose="02020603050405020304" pitchFamily="18" charset="0"/>
                <a:cs typeface="Vrinda" panose="020B0502040204020203" pitchFamily="34" charset="0"/>
              </a:rPr>
              <a:t>20x4 LCD Display with I2C</a:t>
            </a:r>
            <a:endParaRPr lang="en-US" sz="1600" b="1" kern="100" dirty="0">
              <a:effectLst/>
              <a:latin typeface="Century Gothic" panose="020B0502020202020204" pitchFamily="34" charset="0"/>
              <a:ea typeface="Times New Roman" panose="02020603050405020304" pitchFamily="18" charset="0"/>
              <a:cs typeface="Vrinda" panose="020B0502040204020203" pitchFamily="34" charset="0"/>
            </a:endParaRPr>
          </a:p>
        </p:txBody>
      </p:sp>
      <p:sp>
        <p:nvSpPr>
          <p:cNvPr id="43" name="TextBox 42">
            <a:extLst>
              <a:ext uri="{FF2B5EF4-FFF2-40B4-BE49-F238E27FC236}">
                <a16:creationId xmlns:a16="http://schemas.microsoft.com/office/drawing/2014/main" id="{D2FCBC8B-30BD-1C64-E053-F721C2A657CD}"/>
              </a:ext>
            </a:extLst>
          </p:cNvPr>
          <p:cNvSpPr txBox="1"/>
          <p:nvPr/>
        </p:nvSpPr>
        <p:spPr>
          <a:xfrm>
            <a:off x="6163430" y="4848196"/>
            <a:ext cx="2450232" cy="646331"/>
          </a:xfrm>
          <a:prstGeom prst="rect">
            <a:avLst/>
          </a:prstGeom>
          <a:noFill/>
        </p:spPr>
        <p:txBody>
          <a:bodyPr wrap="square">
            <a:spAutoFit/>
          </a:bodyPr>
          <a:lstStyle/>
          <a:p>
            <a:r>
              <a:rPr lang="en-US" sz="1800" b="1" dirty="0">
                <a:effectLst/>
                <a:latin typeface="Times New Roman" panose="02020603050405020304" pitchFamily="18" charset="0"/>
                <a:ea typeface="Century Gothic" panose="020B0502020202020204" pitchFamily="34" charset="0"/>
              </a:rPr>
              <a:t>EM-18 RFID Module Reader</a:t>
            </a:r>
            <a:endParaRPr lang="en-US" dirty="0"/>
          </a:p>
        </p:txBody>
      </p:sp>
      <p:pic>
        <p:nvPicPr>
          <p:cNvPr id="59" name="Picture 58">
            <a:extLst>
              <a:ext uri="{FF2B5EF4-FFF2-40B4-BE49-F238E27FC236}">
                <a16:creationId xmlns:a16="http://schemas.microsoft.com/office/drawing/2014/main" id="{6F4E68BA-E8A1-4377-DF4A-85F1ECC79D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76110" y="4848716"/>
            <a:ext cx="2544047" cy="1533986"/>
          </a:xfrm>
          <a:prstGeom prst="rect">
            <a:avLst/>
          </a:prstGeom>
          <a:ln>
            <a:solidFill>
              <a:schemeClr val="tx1"/>
            </a:solidFill>
          </a:ln>
        </p:spPr>
      </p:pic>
      <p:grpSp>
        <p:nvGrpSpPr>
          <p:cNvPr id="63" name="Group 62">
            <a:extLst>
              <a:ext uri="{FF2B5EF4-FFF2-40B4-BE49-F238E27FC236}">
                <a16:creationId xmlns:a16="http://schemas.microsoft.com/office/drawing/2014/main" id="{C5F9D6EE-C8BF-5CD5-048F-B5BC5CBB59F6}"/>
              </a:ext>
            </a:extLst>
          </p:cNvPr>
          <p:cNvGrpSpPr/>
          <p:nvPr/>
        </p:nvGrpSpPr>
        <p:grpSpPr>
          <a:xfrm>
            <a:off x="5033986" y="4186955"/>
            <a:ext cx="3942124" cy="1428754"/>
            <a:chOff x="5033986" y="4186955"/>
            <a:chExt cx="3942124" cy="1428754"/>
          </a:xfrm>
        </p:grpSpPr>
        <p:cxnSp>
          <p:nvCxnSpPr>
            <p:cNvPr id="55" name="Straight Connector 54">
              <a:extLst>
                <a:ext uri="{FF2B5EF4-FFF2-40B4-BE49-F238E27FC236}">
                  <a16:creationId xmlns:a16="http://schemas.microsoft.com/office/drawing/2014/main" id="{CE683176-CB28-5723-EA54-FDAE6274C75A}"/>
                </a:ext>
              </a:extLst>
            </p:cNvPr>
            <p:cNvCxnSpPr>
              <a:stCxn id="10" idx="30"/>
            </p:cNvCxnSpPr>
            <p:nvPr/>
          </p:nvCxnSpPr>
          <p:spPr>
            <a:xfrm>
              <a:off x="5033986" y="4186955"/>
              <a:ext cx="1145141" cy="1428754"/>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1B03CAFA-5D1A-9662-AE42-78DD085779DB}"/>
                </a:ext>
              </a:extLst>
            </p:cNvPr>
            <p:cNvCxnSpPr>
              <a:cxnSpLocks/>
            </p:cNvCxnSpPr>
            <p:nvPr/>
          </p:nvCxnSpPr>
          <p:spPr>
            <a:xfrm>
              <a:off x="6179127" y="5615709"/>
              <a:ext cx="2796983" cy="0"/>
            </a:xfrm>
            <a:prstGeom prst="line">
              <a:avLst/>
            </a:prstGeom>
            <a:noFill/>
            <a:ln w="12700" cap="flat">
              <a:solidFill>
                <a:schemeClr val="tx1">
                  <a:lumMod val="95000"/>
                  <a:lumOff val="5000"/>
                </a:schemeClr>
              </a:solidFill>
              <a:prstDash val="solid"/>
              <a:miter lim="800000"/>
              <a:headEnd/>
              <a:tailEnd type="oval"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77602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ppt_x"/>
                                          </p:val>
                                        </p:tav>
                                        <p:tav tm="100000">
                                          <p:val>
                                            <p:strVal val="#ppt_x"/>
                                          </p:val>
                                        </p:tav>
                                      </p:tavLst>
                                    </p:anim>
                                    <p:anim calcmode="lin" valueType="num">
                                      <p:cBhvr additive="base">
                                        <p:cTn id="20"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p:cNvCxnSpPr>
            <a:cxnSpLocks/>
          </p:cNvCxnSpPr>
          <p:nvPr/>
        </p:nvCxnSpPr>
        <p:spPr>
          <a:xfrm>
            <a:off x="5015346" y="3428999"/>
            <a:ext cx="3447828" cy="0"/>
          </a:xfrm>
          <a:prstGeom prst="line">
            <a:avLst/>
          </a:prstGeom>
          <a:noFill/>
          <a:ln w="12700" cap="flat">
            <a:solidFill>
              <a:schemeClr val="tx1">
                <a:lumMod val="95000"/>
                <a:lumOff val="5000"/>
              </a:schemeClr>
            </a:solidFill>
            <a:prstDash val="solid"/>
            <a:miter lim="800000"/>
            <a:headEnd/>
            <a:tailEnd type="oval" w="lg" len="lg"/>
          </a:ln>
          <a:extLst>
            <a:ext uri="{909E8E84-426E-40DD-AFC4-6F175D3DCCD1}">
              <a14:hiddenFill xmlns:a14="http://schemas.microsoft.com/office/drawing/2010/main">
                <a:noFill/>
              </a14:hiddenFill>
            </a:ext>
          </a:extLst>
        </p:spPr>
      </p:cxnSp>
      <p:grpSp>
        <p:nvGrpSpPr>
          <p:cNvPr id="2" name="Group 1">
            <a:extLst>
              <a:ext uri="{FF2B5EF4-FFF2-40B4-BE49-F238E27FC236}">
                <a16:creationId xmlns:a16="http://schemas.microsoft.com/office/drawing/2014/main" id="{3D2D106A-CD8B-40F9-4547-A86EA46509B7}"/>
              </a:ext>
            </a:extLst>
          </p:cNvPr>
          <p:cNvGrpSpPr/>
          <p:nvPr/>
        </p:nvGrpSpPr>
        <p:grpSpPr>
          <a:xfrm>
            <a:off x="251140" y="2003279"/>
            <a:ext cx="4764206" cy="2328569"/>
            <a:chOff x="251139" y="2003280"/>
            <a:chExt cx="5497569" cy="2312532"/>
          </a:xfrm>
        </p:grpSpPr>
        <p:sp>
          <p:nvSpPr>
            <p:cNvPr id="11" name="Freeform 240">
              <a:extLst>
                <a:ext uri="{FF2B5EF4-FFF2-40B4-BE49-F238E27FC236}">
                  <a16:creationId xmlns:a16="http://schemas.microsoft.com/office/drawing/2014/main" id="{55DCA62C-3107-4C80-AEA0-06781866C46D}"/>
                </a:ext>
              </a:extLst>
            </p:cNvPr>
            <p:cNvSpPr>
              <a:spLocks/>
            </p:cNvSpPr>
            <p:nvPr/>
          </p:nvSpPr>
          <p:spPr bwMode="auto">
            <a:xfrm flipH="1" flipV="1">
              <a:off x="2733818" y="2450139"/>
              <a:ext cx="3014890" cy="1267290"/>
            </a:xfrm>
            <a:custGeom>
              <a:avLst/>
              <a:gdLst>
                <a:gd name="T0" fmla="*/ 0 w 1917"/>
                <a:gd name="T1" fmla="*/ 0 h 593"/>
                <a:gd name="T2" fmla="*/ 1917 w 1917"/>
                <a:gd name="T3" fmla="*/ 0 h 593"/>
                <a:gd name="T4" fmla="*/ 1917 w 1917"/>
                <a:gd name="T5" fmla="*/ 6 h 593"/>
                <a:gd name="T6" fmla="*/ 1917 w 1917"/>
                <a:gd name="T7" fmla="*/ 22 h 593"/>
                <a:gd name="T8" fmla="*/ 1917 w 1917"/>
                <a:gd name="T9" fmla="*/ 47 h 593"/>
                <a:gd name="T10" fmla="*/ 1917 w 1917"/>
                <a:gd name="T11" fmla="*/ 111 h 593"/>
                <a:gd name="T12" fmla="*/ 1917 w 1917"/>
                <a:gd name="T13" fmla="*/ 147 h 593"/>
                <a:gd name="T14" fmla="*/ 1917 w 1917"/>
                <a:gd name="T15" fmla="*/ 183 h 593"/>
                <a:gd name="T16" fmla="*/ 1917 w 1917"/>
                <a:gd name="T17" fmla="*/ 214 h 593"/>
                <a:gd name="T18" fmla="*/ 1917 w 1917"/>
                <a:gd name="T19" fmla="*/ 259 h 593"/>
                <a:gd name="T20" fmla="*/ 1912 w 1917"/>
                <a:gd name="T21" fmla="*/ 297 h 593"/>
                <a:gd name="T22" fmla="*/ 1896 w 1917"/>
                <a:gd name="T23" fmla="*/ 331 h 593"/>
                <a:gd name="T24" fmla="*/ 1868 w 1917"/>
                <a:gd name="T25" fmla="*/ 366 h 593"/>
                <a:gd name="T26" fmla="*/ 1832 w 1917"/>
                <a:gd name="T27" fmla="*/ 398 h 593"/>
                <a:gd name="T28" fmla="*/ 1787 w 1917"/>
                <a:gd name="T29" fmla="*/ 428 h 593"/>
                <a:gd name="T30" fmla="*/ 1733 w 1917"/>
                <a:gd name="T31" fmla="*/ 457 h 593"/>
                <a:gd name="T32" fmla="*/ 1670 w 1917"/>
                <a:gd name="T33" fmla="*/ 483 h 593"/>
                <a:gd name="T34" fmla="*/ 1600 w 1917"/>
                <a:gd name="T35" fmla="*/ 508 h 593"/>
                <a:gd name="T36" fmla="*/ 1525 w 1917"/>
                <a:gd name="T37" fmla="*/ 529 h 593"/>
                <a:gd name="T38" fmla="*/ 1443 w 1917"/>
                <a:gd name="T39" fmla="*/ 547 h 593"/>
                <a:gd name="T40" fmla="*/ 1355 w 1917"/>
                <a:gd name="T41" fmla="*/ 564 h 593"/>
                <a:gd name="T42" fmla="*/ 1262 w 1917"/>
                <a:gd name="T43" fmla="*/ 577 h 593"/>
                <a:gd name="T44" fmla="*/ 1164 w 1917"/>
                <a:gd name="T45" fmla="*/ 585 h 593"/>
                <a:gd name="T46" fmla="*/ 1062 w 1917"/>
                <a:gd name="T47" fmla="*/ 591 h 593"/>
                <a:gd name="T48" fmla="*/ 958 w 1917"/>
                <a:gd name="T49" fmla="*/ 593 h 593"/>
                <a:gd name="T50" fmla="*/ 855 w 1917"/>
                <a:gd name="T51" fmla="*/ 591 h 593"/>
                <a:gd name="T52" fmla="*/ 753 w 1917"/>
                <a:gd name="T53" fmla="*/ 585 h 593"/>
                <a:gd name="T54" fmla="*/ 655 w 1917"/>
                <a:gd name="T55" fmla="*/ 577 h 593"/>
                <a:gd name="T56" fmla="*/ 562 w 1917"/>
                <a:gd name="T57" fmla="*/ 564 h 593"/>
                <a:gd name="T58" fmla="*/ 474 w 1917"/>
                <a:gd name="T59" fmla="*/ 547 h 593"/>
                <a:gd name="T60" fmla="*/ 392 w 1917"/>
                <a:gd name="T61" fmla="*/ 529 h 593"/>
                <a:gd name="T62" fmla="*/ 317 w 1917"/>
                <a:gd name="T63" fmla="*/ 508 h 593"/>
                <a:gd name="T64" fmla="*/ 247 w 1917"/>
                <a:gd name="T65" fmla="*/ 483 h 593"/>
                <a:gd name="T66" fmla="*/ 185 w 1917"/>
                <a:gd name="T67" fmla="*/ 457 h 593"/>
                <a:gd name="T68" fmla="*/ 131 w 1917"/>
                <a:gd name="T69" fmla="*/ 428 h 593"/>
                <a:gd name="T70" fmla="*/ 85 w 1917"/>
                <a:gd name="T71" fmla="*/ 398 h 593"/>
                <a:gd name="T72" fmla="*/ 49 w 1917"/>
                <a:gd name="T73" fmla="*/ 366 h 593"/>
                <a:gd name="T74" fmla="*/ 21 w 1917"/>
                <a:gd name="T75" fmla="*/ 331 h 593"/>
                <a:gd name="T76" fmla="*/ 5 w 1917"/>
                <a:gd name="T77" fmla="*/ 297 h 593"/>
                <a:gd name="T78" fmla="*/ 0 w 1917"/>
                <a:gd name="T79" fmla="*/ 259 h 593"/>
                <a:gd name="T80" fmla="*/ 0 w 1917"/>
                <a:gd name="T81" fmla="*/ 22 h 593"/>
                <a:gd name="T82" fmla="*/ 0 w 1917"/>
                <a:gd name="T83" fmla="*/ 6 h 593"/>
                <a:gd name="T84" fmla="*/ 0 w 1917"/>
                <a:gd name="T85" fmla="*/ 0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17" h="593">
                  <a:moveTo>
                    <a:pt x="0" y="0"/>
                  </a:moveTo>
                  <a:lnTo>
                    <a:pt x="1917" y="0"/>
                  </a:lnTo>
                  <a:lnTo>
                    <a:pt x="1917" y="6"/>
                  </a:lnTo>
                  <a:lnTo>
                    <a:pt x="1917" y="22"/>
                  </a:lnTo>
                  <a:lnTo>
                    <a:pt x="1917" y="47"/>
                  </a:lnTo>
                  <a:lnTo>
                    <a:pt x="1917" y="111"/>
                  </a:lnTo>
                  <a:lnTo>
                    <a:pt x="1917" y="147"/>
                  </a:lnTo>
                  <a:lnTo>
                    <a:pt x="1917" y="183"/>
                  </a:lnTo>
                  <a:lnTo>
                    <a:pt x="1917" y="214"/>
                  </a:lnTo>
                  <a:lnTo>
                    <a:pt x="1917" y="259"/>
                  </a:lnTo>
                  <a:lnTo>
                    <a:pt x="1912" y="297"/>
                  </a:lnTo>
                  <a:lnTo>
                    <a:pt x="1896" y="331"/>
                  </a:lnTo>
                  <a:lnTo>
                    <a:pt x="1868" y="366"/>
                  </a:lnTo>
                  <a:lnTo>
                    <a:pt x="1832" y="398"/>
                  </a:lnTo>
                  <a:lnTo>
                    <a:pt x="1787" y="428"/>
                  </a:lnTo>
                  <a:lnTo>
                    <a:pt x="1733" y="457"/>
                  </a:lnTo>
                  <a:lnTo>
                    <a:pt x="1670" y="483"/>
                  </a:lnTo>
                  <a:lnTo>
                    <a:pt x="1600" y="508"/>
                  </a:lnTo>
                  <a:lnTo>
                    <a:pt x="1525" y="529"/>
                  </a:lnTo>
                  <a:lnTo>
                    <a:pt x="1443" y="547"/>
                  </a:lnTo>
                  <a:lnTo>
                    <a:pt x="1355" y="564"/>
                  </a:lnTo>
                  <a:lnTo>
                    <a:pt x="1262" y="577"/>
                  </a:lnTo>
                  <a:lnTo>
                    <a:pt x="1164" y="585"/>
                  </a:lnTo>
                  <a:lnTo>
                    <a:pt x="1062" y="591"/>
                  </a:lnTo>
                  <a:lnTo>
                    <a:pt x="958" y="593"/>
                  </a:lnTo>
                  <a:lnTo>
                    <a:pt x="855" y="591"/>
                  </a:lnTo>
                  <a:lnTo>
                    <a:pt x="753" y="585"/>
                  </a:lnTo>
                  <a:lnTo>
                    <a:pt x="655" y="577"/>
                  </a:lnTo>
                  <a:lnTo>
                    <a:pt x="562" y="564"/>
                  </a:lnTo>
                  <a:lnTo>
                    <a:pt x="474" y="547"/>
                  </a:lnTo>
                  <a:lnTo>
                    <a:pt x="392" y="529"/>
                  </a:lnTo>
                  <a:lnTo>
                    <a:pt x="317" y="508"/>
                  </a:lnTo>
                  <a:lnTo>
                    <a:pt x="247" y="483"/>
                  </a:lnTo>
                  <a:lnTo>
                    <a:pt x="185" y="457"/>
                  </a:lnTo>
                  <a:lnTo>
                    <a:pt x="131" y="428"/>
                  </a:lnTo>
                  <a:lnTo>
                    <a:pt x="85" y="398"/>
                  </a:lnTo>
                  <a:lnTo>
                    <a:pt x="49" y="366"/>
                  </a:lnTo>
                  <a:lnTo>
                    <a:pt x="21" y="331"/>
                  </a:lnTo>
                  <a:lnTo>
                    <a:pt x="5" y="297"/>
                  </a:lnTo>
                  <a:lnTo>
                    <a:pt x="0" y="259"/>
                  </a:lnTo>
                  <a:lnTo>
                    <a:pt x="0" y="22"/>
                  </a:lnTo>
                  <a:lnTo>
                    <a:pt x="0" y="6"/>
                  </a:lnTo>
                  <a:lnTo>
                    <a:pt x="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41">
              <a:extLst>
                <a:ext uri="{FF2B5EF4-FFF2-40B4-BE49-F238E27FC236}">
                  <a16:creationId xmlns:a16="http://schemas.microsoft.com/office/drawing/2014/main" id="{E7B92DAC-9A8B-4D9B-B8FA-BEE2AA4C792E}"/>
                </a:ext>
              </a:extLst>
            </p:cNvPr>
            <p:cNvSpPr>
              <a:spLocks/>
            </p:cNvSpPr>
            <p:nvPr/>
          </p:nvSpPr>
          <p:spPr bwMode="auto">
            <a:xfrm flipH="1" flipV="1">
              <a:off x="2725954" y="3187433"/>
              <a:ext cx="3022754" cy="1128379"/>
            </a:xfrm>
            <a:custGeom>
              <a:avLst/>
              <a:gdLst>
                <a:gd name="T0" fmla="*/ 961 w 1922"/>
                <a:gd name="T1" fmla="*/ 0 h 528"/>
                <a:gd name="T2" fmla="*/ 1065 w 1922"/>
                <a:gd name="T3" fmla="*/ 0 h 528"/>
                <a:gd name="T4" fmla="*/ 1167 w 1922"/>
                <a:gd name="T5" fmla="*/ 5 h 528"/>
                <a:gd name="T6" fmla="*/ 1265 w 1922"/>
                <a:gd name="T7" fmla="*/ 13 h 528"/>
                <a:gd name="T8" fmla="*/ 1358 w 1922"/>
                <a:gd name="T9" fmla="*/ 23 h 528"/>
                <a:gd name="T10" fmla="*/ 1445 w 1922"/>
                <a:gd name="T11" fmla="*/ 36 h 528"/>
                <a:gd name="T12" fmla="*/ 1528 w 1922"/>
                <a:gd name="T13" fmla="*/ 51 h 528"/>
                <a:gd name="T14" fmla="*/ 1605 w 1922"/>
                <a:gd name="T15" fmla="*/ 67 h 528"/>
                <a:gd name="T16" fmla="*/ 1673 w 1922"/>
                <a:gd name="T17" fmla="*/ 87 h 528"/>
                <a:gd name="T18" fmla="*/ 1735 w 1922"/>
                <a:gd name="T19" fmla="*/ 108 h 528"/>
                <a:gd name="T20" fmla="*/ 1789 w 1922"/>
                <a:gd name="T21" fmla="*/ 131 h 528"/>
                <a:gd name="T22" fmla="*/ 1835 w 1922"/>
                <a:gd name="T23" fmla="*/ 154 h 528"/>
                <a:gd name="T24" fmla="*/ 1873 w 1922"/>
                <a:gd name="T25" fmla="*/ 180 h 528"/>
                <a:gd name="T26" fmla="*/ 1899 w 1922"/>
                <a:gd name="T27" fmla="*/ 206 h 528"/>
                <a:gd name="T28" fmla="*/ 1915 w 1922"/>
                <a:gd name="T29" fmla="*/ 235 h 528"/>
                <a:gd name="T30" fmla="*/ 1922 w 1922"/>
                <a:gd name="T31" fmla="*/ 263 h 528"/>
                <a:gd name="T32" fmla="*/ 1915 w 1922"/>
                <a:gd name="T33" fmla="*/ 293 h 528"/>
                <a:gd name="T34" fmla="*/ 1899 w 1922"/>
                <a:gd name="T35" fmla="*/ 320 h 528"/>
                <a:gd name="T36" fmla="*/ 1873 w 1922"/>
                <a:gd name="T37" fmla="*/ 347 h 528"/>
                <a:gd name="T38" fmla="*/ 1835 w 1922"/>
                <a:gd name="T39" fmla="*/ 373 h 528"/>
                <a:gd name="T40" fmla="*/ 1789 w 1922"/>
                <a:gd name="T41" fmla="*/ 397 h 528"/>
                <a:gd name="T42" fmla="*/ 1735 w 1922"/>
                <a:gd name="T43" fmla="*/ 420 h 528"/>
                <a:gd name="T44" fmla="*/ 1673 w 1922"/>
                <a:gd name="T45" fmla="*/ 440 h 528"/>
                <a:gd name="T46" fmla="*/ 1605 w 1922"/>
                <a:gd name="T47" fmla="*/ 459 h 528"/>
                <a:gd name="T48" fmla="*/ 1528 w 1922"/>
                <a:gd name="T49" fmla="*/ 477 h 528"/>
                <a:gd name="T50" fmla="*/ 1445 w 1922"/>
                <a:gd name="T51" fmla="*/ 492 h 528"/>
                <a:gd name="T52" fmla="*/ 1358 w 1922"/>
                <a:gd name="T53" fmla="*/ 504 h 528"/>
                <a:gd name="T54" fmla="*/ 1265 w 1922"/>
                <a:gd name="T55" fmla="*/ 513 h 528"/>
                <a:gd name="T56" fmla="*/ 1167 w 1922"/>
                <a:gd name="T57" fmla="*/ 522 h 528"/>
                <a:gd name="T58" fmla="*/ 1065 w 1922"/>
                <a:gd name="T59" fmla="*/ 526 h 528"/>
                <a:gd name="T60" fmla="*/ 961 w 1922"/>
                <a:gd name="T61" fmla="*/ 528 h 528"/>
                <a:gd name="T62" fmla="*/ 856 w 1922"/>
                <a:gd name="T63" fmla="*/ 526 h 528"/>
                <a:gd name="T64" fmla="*/ 755 w 1922"/>
                <a:gd name="T65" fmla="*/ 522 h 528"/>
                <a:gd name="T66" fmla="*/ 657 w 1922"/>
                <a:gd name="T67" fmla="*/ 513 h 528"/>
                <a:gd name="T68" fmla="*/ 564 w 1922"/>
                <a:gd name="T69" fmla="*/ 504 h 528"/>
                <a:gd name="T70" fmla="*/ 475 w 1922"/>
                <a:gd name="T71" fmla="*/ 492 h 528"/>
                <a:gd name="T72" fmla="*/ 394 w 1922"/>
                <a:gd name="T73" fmla="*/ 477 h 528"/>
                <a:gd name="T74" fmla="*/ 317 w 1922"/>
                <a:gd name="T75" fmla="*/ 459 h 528"/>
                <a:gd name="T76" fmla="*/ 248 w 1922"/>
                <a:gd name="T77" fmla="*/ 440 h 528"/>
                <a:gd name="T78" fmla="*/ 186 w 1922"/>
                <a:gd name="T79" fmla="*/ 420 h 528"/>
                <a:gd name="T80" fmla="*/ 130 w 1922"/>
                <a:gd name="T81" fmla="*/ 397 h 528"/>
                <a:gd name="T82" fmla="*/ 86 w 1922"/>
                <a:gd name="T83" fmla="*/ 373 h 528"/>
                <a:gd name="T84" fmla="*/ 49 w 1922"/>
                <a:gd name="T85" fmla="*/ 347 h 528"/>
                <a:gd name="T86" fmla="*/ 22 w 1922"/>
                <a:gd name="T87" fmla="*/ 320 h 528"/>
                <a:gd name="T88" fmla="*/ 6 w 1922"/>
                <a:gd name="T89" fmla="*/ 293 h 528"/>
                <a:gd name="T90" fmla="*/ 0 w 1922"/>
                <a:gd name="T91" fmla="*/ 263 h 528"/>
                <a:gd name="T92" fmla="*/ 6 w 1922"/>
                <a:gd name="T93" fmla="*/ 235 h 528"/>
                <a:gd name="T94" fmla="*/ 22 w 1922"/>
                <a:gd name="T95" fmla="*/ 206 h 528"/>
                <a:gd name="T96" fmla="*/ 49 w 1922"/>
                <a:gd name="T97" fmla="*/ 180 h 528"/>
                <a:gd name="T98" fmla="*/ 86 w 1922"/>
                <a:gd name="T99" fmla="*/ 154 h 528"/>
                <a:gd name="T100" fmla="*/ 130 w 1922"/>
                <a:gd name="T101" fmla="*/ 131 h 528"/>
                <a:gd name="T102" fmla="*/ 186 w 1922"/>
                <a:gd name="T103" fmla="*/ 108 h 528"/>
                <a:gd name="T104" fmla="*/ 248 w 1922"/>
                <a:gd name="T105" fmla="*/ 87 h 528"/>
                <a:gd name="T106" fmla="*/ 317 w 1922"/>
                <a:gd name="T107" fmla="*/ 67 h 528"/>
                <a:gd name="T108" fmla="*/ 394 w 1922"/>
                <a:gd name="T109" fmla="*/ 51 h 528"/>
                <a:gd name="T110" fmla="*/ 475 w 1922"/>
                <a:gd name="T111" fmla="*/ 36 h 528"/>
                <a:gd name="T112" fmla="*/ 564 w 1922"/>
                <a:gd name="T113" fmla="*/ 23 h 528"/>
                <a:gd name="T114" fmla="*/ 657 w 1922"/>
                <a:gd name="T115" fmla="*/ 13 h 528"/>
                <a:gd name="T116" fmla="*/ 755 w 1922"/>
                <a:gd name="T117" fmla="*/ 5 h 528"/>
                <a:gd name="T118" fmla="*/ 856 w 1922"/>
                <a:gd name="T119" fmla="*/ 0 h 528"/>
                <a:gd name="T120" fmla="*/ 961 w 1922"/>
                <a:gd name="T121"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22" h="528">
                  <a:moveTo>
                    <a:pt x="961" y="0"/>
                  </a:moveTo>
                  <a:lnTo>
                    <a:pt x="1065" y="0"/>
                  </a:lnTo>
                  <a:lnTo>
                    <a:pt x="1167" y="5"/>
                  </a:lnTo>
                  <a:lnTo>
                    <a:pt x="1265" y="13"/>
                  </a:lnTo>
                  <a:lnTo>
                    <a:pt x="1358" y="23"/>
                  </a:lnTo>
                  <a:lnTo>
                    <a:pt x="1445" y="36"/>
                  </a:lnTo>
                  <a:lnTo>
                    <a:pt x="1528" y="51"/>
                  </a:lnTo>
                  <a:lnTo>
                    <a:pt x="1605" y="67"/>
                  </a:lnTo>
                  <a:lnTo>
                    <a:pt x="1673" y="87"/>
                  </a:lnTo>
                  <a:lnTo>
                    <a:pt x="1735" y="108"/>
                  </a:lnTo>
                  <a:lnTo>
                    <a:pt x="1789" y="131"/>
                  </a:lnTo>
                  <a:lnTo>
                    <a:pt x="1835" y="154"/>
                  </a:lnTo>
                  <a:lnTo>
                    <a:pt x="1873" y="180"/>
                  </a:lnTo>
                  <a:lnTo>
                    <a:pt x="1899" y="206"/>
                  </a:lnTo>
                  <a:lnTo>
                    <a:pt x="1915" y="235"/>
                  </a:lnTo>
                  <a:lnTo>
                    <a:pt x="1922" y="263"/>
                  </a:lnTo>
                  <a:lnTo>
                    <a:pt x="1915" y="293"/>
                  </a:lnTo>
                  <a:lnTo>
                    <a:pt x="1899" y="320"/>
                  </a:lnTo>
                  <a:lnTo>
                    <a:pt x="1873" y="347"/>
                  </a:lnTo>
                  <a:lnTo>
                    <a:pt x="1835" y="373"/>
                  </a:lnTo>
                  <a:lnTo>
                    <a:pt x="1789" y="397"/>
                  </a:lnTo>
                  <a:lnTo>
                    <a:pt x="1735" y="420"/>
                  </a:lnTo>
                  <a:lnTo>
                    <a:pt x="1673" y="440"/>
                  </a:lnTo>
                  <a:lnTo>
                    <a:pt x="1605" y="459"/>
                  </a:lnTo>
                  <a:lnTo>
                    <a:pt x="1528" y="477"/>
                  </a:lnTo>
                  <a:lnTo>
                    <a:pt x="1445" y="492"/>
                  </a:lnTo>
                  <a:lnTo>
                    <a:pt x="1358" y="504"/>
                  </a:lnTo>
                  <a:lnTo>
                    <a:pt x="1265" y="513"/>
                  </a:lnTo>
                  <a:lnTo>
                    <a:pt x="1167" y="522"/>
                  </a:lnTo>
                  <a:lnTo>
                    <a:pt x="1065" y="526"/>
                  </a:lnTo>
                  <a:lnTo>
                    <a:pt x="961" y="528"/>
                  </a:lnTo>
                  <a:lnTo>
                    <a:pt x="856" y="526"/>
                  </a:lnTo>
                  <a:lnTo>
                    <a:pt x="755" y="522"/>
                  </a:lnTo>
                  <a:lnTo>
                    <a:pt x="657" y="513"/>
                  </a:lnTo>
                  <a:lnTo>
                    <a:pt x="564" y="504"/>
                  </a:lnTo>
                  <a:lnTo>
                    <a:pt x="475" y="492"/>
                  </a:lnTo>
                  <a:lnTo>
                    <a:pt x="394" y="477"/>
                  </a:lnTo>
                  <a:lnTo>
                    <a:pt x="317" y="459"/>
                  </a:lnTo>
                  <a:lnTo>
                    <a:pt x="248" y="440"/>
                  </a:lnTo>
                  <a:lnTo>
                    <a:pt x="186" y="420"/>
                  </a:lnTo>
                  <a:lnTo>
                    <a:pt x="130" y="397"/>
                  </a:lnTo>
                  <a:lnTo>
                    <a:pt x="86" y="373"/>
                  </a:lnTo>
                  <a:lnTo>
                    <a:pt x="49" y="347"/>
                  </a:lnTo>
                  <a:lnTo>
                    <a:pt x="22" y="320"/>
                  </a:lnTo>
                  <a:lnTo>
                    <a:pt x="6" y="293"/>
                  </a:lnTo>
                  <a:lnTo>
                    <a:pt x="0" y="263"/>
                  </a:lnTo>
                  <a:lnTo>
                    <a:pt x="6" y="235"/>
                  </a:lnTo>
                  <a:lnTo>
                    <a:pt x="22" y="206"/>
                  </a:lnTo>
                  <a:lnTo>
                    <a:pt x="49" y="180"/>
                  </a:lnTo>
                  <a:lnTo>
                    <a:pt x="86" y="154"/>
                  </a:lnTo>
                  <a:lnTo>
                    <a:pt x="130" y="131"/>
                  </a:lnTo>
                  <a:lnTo>
                    <a:pt x="186" y="108"/>
                  </a:lnTo>
                  <a:lnTo>
                    <a:pt x="248" y="87"/>
                  </a:lnTo>
                  <a:lnTo>
                    <a:pt x="317" y="67"/>
                  </a:lnTo>
                  <a:lnTo>
                    <a:pt x="394" y="51"/>
                  </a:lnTo>
                  <a:lnTo>
                    <a:pt x="475" y="36"/>
                  </a:lnTo>
                  <a:lnTo>
                    <a:pt x="564" y="23"/>
                  </a:lnTo>
                  <a:lnTo>
                    <a:pt x="657" y="13"/>
                  </a:lnTo>
                  <a:lnTo>
                    <a:pt x="755" y="5"/>
                  </a:lnTo>
                  <a:lnTo>
                    <a:pt x="856" y="0"/>
                  </a:lnTo>
                  <a:lnTo>
                    <a:pt x="961" y="0"/>
                  </a:lnTo>
                  <a:close/>
                </a:path>
              </a:pathLst>
            </a:custGeom>
            <a:gradFill flip="none" rotWithShape="1">
              <a:gsLst>
                <a:gs pos="0">
                  <a:schemeClr val="accent3">
                    <a:lumMod val="50000"/>
                  </a:schemeClr>
                </a:gs>
                <a:gs pos="50000">
                  <a:schemeClr val="accent3"/>
                </a:gs>
                <a:gs pos="100000">
                  <a:schemeClr val="accent3"/>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F244C77E-465D-4FCA-A50D-8A99093CBDB9}"/>
                </a:ext>
              </a:extLst>
            </p:cNvPr>
            <p:cNvSpPr/>
            <p:nvPr/>
          </p:nvSpPr>
          <p:spPr>
            <a:xfrm>
              <a:off x="3025762" y="2684276"/>
              <a:ext cx="2423136" cy="397354"/>
            </a:xfrm>
            <a:prstGeom prst="rect">
              <a:avLst/>
            </a:prstGeom>
          </p:spPr>
          <p:txBody>
            <a:bodyPr wrap="square">
              <a:spAutoFit/>
            </a:bodyPr>
            <a:lstStyle/>
            <a:p>
              <a:pPr algn="ctr"/>
              <a:r>
                <a:rPr lang="en-US" sz="2000" b="1" dirty="0">
                  <a:solidFill>
                    <a:schemeClr val="bg1"/>
                  </a:solidFill>
                  <a:latin typeface="+mj-lt"/>
                  <a:ea typeface="Open Sans" panose="020B0606030504020204" pitchFamily="34" charset="0"/>
                  <a:cs typeface="Open Sans" panose="020B0606030504020204" pitchFamily="34" charset="0"/>
                </a:rPr>
                <a:t>MECHANICAL</a:t>
              </a:r>
              <a:endParaRPr lang="en-US" sz="2000" dirty="0">
                <a:solidFill>
                  <a:schemeClr val="bg1"/>
                </a:solidFill>
                <a:latin typeface="+mj-lt"/>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82AEB085-6BB2-48F6-84CA-523C02ACF359}"/>
                </a:ext>
              </a:extLst>
            </p:cNvPr>
            <p:cNvSpPr/>
            <p:nvPr/>
          </p:nvSpPr>
          <p:spPr>
            <a:xfrm>
              <a:off x="3781253" y="2003280"/>
              <a:ext cx="1519968" cy="369332"/>
            </a:xfrm>
            <a:prstGeom prst="rect">
              <a:avLst/>
            </a:prstGeom>
          </p:spPr>
          <p:txBody>
            <a:bodyPr wrap="none">
              <a:spAutoFit/>
            </a:bodyPr>
            <a:lstStyle/>
            <a:p>
              <a:pPr algn="ctr"/>
              <a:r>
                <a:rPr lang="en-US" b="1" dirty="0">
                  <a:solidFill>
                    <a:schemeClr val="bg1"/>
                  </a:solidFill>
                  <a:latin typeface="Open Sans" panose="020B0606030504020204" pitchFamily="34" charset="0"/>
                  <a:ea typeface="Open Sans" panose="020B0606030504020204" pitchFamily="34" charset="0"/>
                  <a:cs typeface="Open Sans" panose="020B0606030504020204" pitchFamily="34" charset="0"/>
                </a:rPr>
                <a:t>ELECTRICAL</a:t>
              </a:r>
              <a:endPar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p:cNvSpPr/>
            <p:nvPr/>
          </p:nvSpPr>
          <p:spPr>
            <a:xfrm>
              <a:off x="559644" y="3109906"/>
              <a:ext cx="2258057" cy="8554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p:cNvGrpSpPr/>
            <p:nvPr/>
          </p:nvGrpSpPr>
          <p:grpSpPr>
            <a:xfrm>
              <a:off x="251139" y="2979488"/>
              <a:ext cx="753139" cy="1023404"/>
              <a:chOff x="4031490" y="3555068"/>
              <a:chExt cx="971550" cy="971550"/>
            </a:xfrm>
          </p:grpSpPr>
          <p:sp>
            <p:nvSpPr>
              <p:cNvPr id="26" name="Oval 25"/>
              <p:cNvSpPr/>
              <p:nvPr/>
            </p:nvSpPr>
            <p:spPr>
              <a:xfrm>
                <a:off x="4031490" y="3555068"/>
                <a:ext cx="971550" cy="971550"/>
              </a:xfrm>
              <a:prstGeom prst="ellipse">
                <a:avLst/>
              </a:prstGeom>
              <a:solidFill>
                <a:schemeClr val="accent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4112598" y="3652035"/>
                <a:ext cx="809334" cy="809334"/>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8" name="TextBox 47">
            <a:extLst>
              <a:ext uri="{FF2B5EF4-FFF2-40B4-BE49-F238E27FC236}">
                <a16:creationId xmlns:a16="http://schemas.microsoft.com/office/drawing/2014/main" id="{98C3B736-F50D-441B-A694-B0D70E3638FA}"/>
              </a:ext>
            </a:extLst>
          </p:cNvPr>
          <p:cNvSpPr txBox="1"/>
          <p:nvPr/>
        </p:nvSpPr>
        <p:spPr>
          <a:xfrm>
            <a:off x="577476" y="523596"/>
            <a:ext cx="3263231" cy="830979"/>
          </a:xfrm>
          <a:prstGeom prst="rect">
            <a:avLst/>
          </a:prstGeom>
          <a:noFill/>
        </p:spPr>
        <p:txBody>
          <a:bodyPr wrap="square" lIns="91422" tIns="45711" rIns="91422" bIns="45711" rtlCol="0">
            <a:spAutoFit/>
          </a:bodyPr>
          <a:lstStyle/>
          <a:p>
            <a:r>
              <a:rPr lang="en-US" sz="2400" b="1" spc="300" dirty="0">
                <a:solidFill>
                  <a:schemeClr val="tx1">
                    <a:lumMod val="95000"/>
                    <a:lumOff val="5000"/>
                  </a:schemeClr>
                </a:solidFill>
                <a:latin typeface="Poppins" panose="00000500000000000000" pitchFamily="2" charset="0"/>
                <a:cs typeface="Poppins" panose="00000500000000000000" pitchFamily="2" charset="0"/>
              </a:rPr>
              <a:t>MAIN</a:t>
            </a:r>
          </a:p>
          <a:p>
            <a:r>
              <a:rPr lang="en-US" sz="2400" b="1" spc="300" dirty="0">
                <a:solidFill>
                  <a:schemeClr val="tx1">
                    <a:lumMod val="95000"/>
                    <a:lumOff val="5000"/>
                  </a:schemeClr>
                </a:solidFill>
                <a:latin typeface="Poppins" panose="00000500000000000000" pitchFamily="2" charset="0"/>
                <a:cs typeface="Poppins" panose="00000500000000000000" pitchFamily="2" charset="0"/>
              </a:rPr>
              <a:t>     </a:t>
            </a:r>
            <a:r>
              <a:rPr lang="en-US" sz="2400" b="1" spc="300" dirty="0">
                <a:solidFill>
                  <a:schemeClr val="accent3"/>
                </a:solidFill>
                <a:latin typeface="Poppins" panose="00000500000000000000" pitchFamily="2" charset="0"/>
                <a:cs typeface="Poppins" panose="00000500000000000000" pitchFamily="2" charset="0"/>
              </a:rPr>
              <a:t>COMPONENTS</a:t>
            </a:r>
          </a:p>
        </p:txBody>
      </p:sp>
      <p:pic>
        <p:nvPicPr>
          <p:cNvPr id="3" name="Picture 2">
            <a:extLst>
              <a:ext uri="{FF2B5EF4-FFF2-40B4-BE49-F238E27FC236}">
                <a16:creationId xmlns:a16="http://schemas.microsoft.com/office/drawing/2014/main" id="{04CA4A97-0ECA-AA1D-4EE1-BA3BF837A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8031" y="2268412"/>
            <a:ext cx="3230917" cy="2235697"/>
          </a:xfrm>
          <a:prstGeom prst="rect">
            <a:avLst/>
          </a:prstGeom>
          <a:ln>
            <a:solidFill>
              <a:schemeClr val="tx1"/>
            </a:solidFill>
          </a:ln>
        </p:spPr>
      </p:pic>
      <p:sp>
        <p:nvSpPr>
          <p:cNvPr id="5" name="Freeform 33">
            <a:extLst>
              <a:ext uri="{FF2B5EF4-FFF2-40B4-BE49-F238E27FC236}">
                <a16:creationId xmlns:a16="http://schemas.microsoft.com/office/drawing/2014/main" id="{9D6FD31B-FD6F-D7A1-FE71-89CBCC36AF61}"/>
              </a:ext>
            </a:extLst>
          </p:cNvPr>
          <p:cNvSpPr/>
          <p:nvPr/>
        </p:nvSpPr>
        <p:spPr>
          <a:xfrm>
            <a:off x="4627553" y="997529"/>
            <a:ext cx="3697120" cy="1615482"/>
          </a:xfrm>
          <a:custGeom>
            <a:avLst/>
            <a:gdLst>
              <a:gd name="connsiteX0" fmla="*/ 0 w 1652154"/>
              <a:gd name="connsiteY0" fmla="*/ 810491 h 810491"/>
              <a:gd name="connsiteX1" fmla="*/ 342900 w 1652154"/>
              <a:gd name="connsiteY1" fmla="*/ 0 h 810491"/>
              <a:gd name="connsiteX2" fmla="*/ 1652154 w 1652154"/>
              <a:gd name="connsiteY2" fmla="*/ 0 h 810491"/>
            </a:gdLst>
            <a:ahLst/>
            <a:cxnLst>
              <a:cxn ang="0">
                <a:pos x="connsiteX0" y="connsiteY0"/>
              </a:cxn>
              <a:cxn ang="0">
                <a:pos x="connsiteX1" y="connsiteY1"/>
              </a:cxn>
              <a:cxn ang="0">
                <a:pos x="connsiteX2" y="connsiteY2"/>
              </a:cxn>
            </a:cxnLst>
            <a:rect l="l" t="t" r="r" b="b"/>
            <a:pathLst>
              <a:path w="1652154" h="810491">
                <a:moveTo>
                  <a:pt x="0" y="810491"/>
                </a:moveTo>
                <a:lnTo>
                  <a:pt x="342900" y="0"/>
                </a:lnTo>
                <a:lnTo>
                  <a:pt x="1652154" y="0"/>
                </a:lnTo>
              </a:path>
            </a:pathLst>
          </a:custGeom>
          <a:noFill/>
          <a:ln w="12700" cap="flat">
            <a:solidFill>
              <a:schemeClr val="tx1">
                <a:lumMod val="95000"/>
                <a:lumOff val="5000"/>
              </a:schemeClr>
            </a:solidFill>
            <a:prstDash val="solid"/>
            <a:miter lim="800000"/>
            <a:headEnd/>
            <a:tailEnd type="oval"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chemeClr val="tx1">
                  <a:lumMod val="65000"/>
                  <a:lumOff val="35000"/>
                </a:schemeClr>
              </a:solidFill>
              <a:latin typeface="Open Sans" panose="020B0606030504020204" pitchFamily="34" charset="0"/>
            </a:endParaRPr>
          </a:p>
        </p:txBody>
      </p:sp>
      <p:pic>
        <p:nvPicPr>
          <p:cNvPr id="6" name="Picture 5">
            <a:extLst>
              <a:ext uri="{FF2B5EF4-FFF2-40B4-BE49-F238E27FC236}">
                <a16:creationId xmlns:a16="http://schemas.microsoft.com/office/drawing/2014/main" id="{8AD5A7ED-9BDB-62E4-D48A-A0A6A5E1A2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41875" y="269768"/>
            <a:ext cx="3263231" cy="1877475"/>
          </a:xfrm>
          <a:prstGeom prst="rect">
            <a:avLst/>
          </a:prstGeom>
          <a:ln>
            <a:solidFill>
              <a:schemeClr val="tx1"/>
            </a:solidFill>
          </a:ln>
        </p:spPr>
      </p:pic>
      <p:grpSp>
        <p:nvGrpSpPr>
          <p:cNvPr id="7" name="Group 6">
            <a:extLst>
              <a:ext uri="{FF2B5EF4-FFF2-40B4-BE49-F238E27FC236}">
                <a16:creationId xmlns:a16="http://schemas.microsoft.com/office/drawing/2014/main" id="{74EF8EFA-A9D9-21DB-6019-6FFAFBC0F3A9}"/>
              </a:ext>
            </a:extLst>
          </p:cNvPr>
          <p:cNvGrpSpPr/>
          <p:nvPr/>
        </p:nvGrpSpPr>
        <p:grpSpPr>
          <a:xfrm>
            <a:off x="4124938" y="4311947"/>
            <a:ext cx="4338236" cy="1784045"/>
            <a:chOff x="5033986" y="4186955"/>
            <a:chExt cx="3942124" cy="1428754"/>
          </a:xfrm>
        </p:grpSpPr>
        <p:cxnSp>
          <p:nvCxnSpPr>
            <p:cNvPr id="8" name="Straight Connector 7">
              <a:extLst>
                <a:ext uri="{FF2B5EF4-FFF2-40B4-BE49-F238E27FC236}">
                  <a16:creationId xmlns:a16="http://schemas.microsoft.com/office/drawing/2014/main" id="{A6441CBB-00E4-926B-A991-40A79B96E892}"/>
                </a:ext>
              </a:extLst>
            </p:cNvPr>
            <p:cNvCxnSpPr/>
            <p:nvPr/>
          </p:nvCxnSpPr>
          <p:spPr>
            <a:xfrm>
              <a:off x="5033986" y="4186955"/>
              <a:ext cx="1145141" cy="1428754"/>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13FF5FC0-A8C3-611C-92F6-82722887EA18}"/>
                </a:ext>
              </a:extLst>
            </p:cNvPr>
            <p:cNvCxnSpPr>
              <a:cxnSpLocks/>
            </p:cNvCxnSpPr>
            <p:nvPr/>
          </p:nvCxnSpPr>
          <p:spPr>
            <a:xfrm>
              <a:off x="6179127" y="5615709"/>
              <a:ext cx="2796983" cy="0"/>
            </a:xfrm>
            <a:prstGeom prst="line">
              <a:avLst/>
            </a:prstGeom>
            <a:noFill/>
            <a:ln w="12700" cap="flat">
              <a:solidFill>
                <a:schemeClr val="tx1">
                  <a:lumMod val="95000"/>
                  <a:lumOff val="5000"/>
                </a:schemeClr>
              </a:solidFill>
              <a:prstDash val="solid"/>
              <a:miter lim="800000"/>
              <a:headEnd/>
              <a:tailEnd type="oval" w="lg" len="lg"/>
            </a:ln>
            <a:extLst>
              <a:ext uri="{909E8E84-426E-40DD-AFC4-6F175D3DCCD1}">
                <a14:hiddenFill xmlns:a14="http://schemas.microsoft.com/office/drawing/2010/main">
                  <a:noFill/>
                </a14:hiddenFill>
              </a:ext>
            </a:extLst>
          </p:spPr>
        </p:cxnSp>
      </p:grpSp>
      <p:pic>
        <p:nvPicPr>
          <p:cNvPr id="14" name="Picture 13">
            <a:extLst>
              <a:ext uri="{FF2B5EF4-FFF2-40B4-BE49-F238E27FC236}">
                <a16:creationId xmlns:a16="http://schemas.microsoft.com/office/drawing/2014/main" id="{0978AD24-657D-779C-3C18-D0D8F09575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1875" y="4625278"/>
            <a:ext cx="3230917" cy="2034139"/>
          </a:xfrm>
          <a:prstGeom prst="rect">
            <a:avLst/>
          </a:prstGeom>
          <a:ln>
            <a:solidFill>
              <a:schemeClr val="tx1"/>
            </a:solidFill>
          </a:ln>
        </p:spPr>
      </p:pic>
      <p:sp>
        <p:nvSpPr>
          <p:cNvPr id="19" name="TextBox 18">
            <a:extLst>
              <a:ext uri="{FF2B5EF4-FFF2-40B4-BE49-F238E27FC236}">
                <a16:creationId xmlns:a16="http://schemas.microsoft.com/office/drawing/2014/main" id="{355B6CA3-AE99-7FFA-7F2A-9383D9A66716}"/>
              </a:ext>
            </a:extLst>
          </p:cNvPr>
          <p:cNvSpPr txBox="1"/>
          <p:nvPr/>
        </p:nvSpPr>
        <p:spPr>
          <a:xfrm>
            <a:off x="5632619" y="3025160"/>
            <a:ext cx="1872489" cy="369332"/>
          </a:xfrm>
          <a:prstGeom prst="rect">
            <a:avLst/>
          </a:prstGeom>
          <a:noFill/>
        </p:spPr>
        <p:txBody>
          <a:bodyPr wrap="square">
            <a:spAutoFit/>
          </a:bodyPr>
          <a:lstStyle/>
          <a:p>
            <a:r>
              <a:rPr lang="en-US" sz="1800" b="1" dirty="0">
                <a:effectLst/>
                <a:latin typeface="Times New Roman" panose="02020603050405020304" pitchFamily="18" charset="0"/>
                <a:ea typeface="Century Gothic" panose="020B0502020202020204" pitchFamily="34" charset="0"/>
              </a:rPr>
              <a:t>Frame Structure</a:t>
            </a:r>
            <a:endParaRPr lang="en-US" dirty="0"/>
          </a:p>
        </p:txBody>
      </p:sp>
      <p:sp>
        <p:nvSpPr>
          <p:cNvPr id="23" name="TextBox 22">
            <a:extLst>
              <a:ext uri="{FF2B5EF4-FFF2-40B4-BE49-F238E27FC236}">
                <a16:creationId xmlns:a16="http://schemas.microsoft.com/office/drawing/2014/main" id="{1900A9F2-C74C-F228-A8EB-B79A71C4AA91}"/>
              </a:ext>
            </a:extLst>
          </p:cNvPr>
          <p:cNvSpPr txBox="1"/>
          <p:nvPr/>
        </p:nvSpPr>
        <p:spPr>
          <a:xfrm>
            <a:off x="6104304" y="1023839"/>
            <a:ext cx="1531696" cy="369332"/>
          </a:xfrm>
          <a:prstGeom prst="rect">
            <a:avLst/>
          </a:prstGeom>
          <a:noFill/>
        </p:spPr>
        <p:txBody>
          <a:bodyPr wrap="square">
            <a:spAutoFit/>
          </a:bodyPr>
          <a:lstStyle/>
          <a:p>
            <a:r>
              <a:rPr lang="en-US" sz="1800" b="1" dirty="0">
                <a:effectLst/>
                <a:latin typeface="Times New Roman" panose="02020603050405020304" pitchFamily="18" charset="0"/>
                <a:ea typeface="Century Gothic" panose="020B0502020202020204" pitchFamily="34" charset="0"/>
              </a:rPr>
              <a:t>Cart Basket </a:t>
            </a:r>
            <a:endParaRPr lang="en-US" dirty="0"/>
          </a:p>
        </p:txBody>
      </p:sp>
      <p:sp>
        <p:nvSpPr>
          <p:cNvPr id="30" name="TextBox 29">
            <a:extLst>
              <a:ext uri="{FF2B5EF4-FFF2-40B4-BE49-F238E27FC236}">
                <a16:creationId xmlns:a16="http://schemas.microsoft.com/office/drawing/2014/main" id="{EFD5E19C-E4FB-5089-0DC3-32957D16479B}"/>
              </a:ext>
            </a:extLst>
          </p:cNvPr>
          <p:cNvSpPr txBox="1"/>
          <p:nvPr/>
        </p:nvSpPr>
        <p:spPr>
          <a:xfrm>
            <a:off x="6200791" y="5642347"/>
            <a:ext cx="1076938"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cs typeface="Vrinda" panose="020B0502040204020203" pitchFamily="34" charset="0"/>
              </a:rPr>
              <a:t>Wheels</a:t>
            </a:r>
            <a:endParaRPr lang="en-US" dirty="0"/>
          </a:p>
        </p:txBody>
      </p:sp>
    </p:spTree>
    <p:extLst>
      <p:ext uri="{BB962C8B-B14F-4D97-AF65-F5344CB8AC3E}">
        <p14:creationId xmlns:p14="http://schemas.microsoft.com/office/powerpoint/2010/main" val="138130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1407FC-30FD-4643-C1E0-2C2406804D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417" y="249383"/>
            <a:ext cx="5626583" cy="6188364"/>
          </a:xfrm>
          <a:prstGeom prst="rect">
            <a:avLst/>
          </a:prstGeom>
          <a:noFill/>
          <a:ln>
            <a:solidFill>
              <a:schemeClr val="tx1">
                <a:lumMod val="95000"/>
                <a:lumOff val="5000"/>
              </a:schemeClr>
            </a:solidFill>
          </a:ln>
        </p:spPr>
      </p:pic>
      <p:pic>
        <p:nvPicPr>
          <p:cNvPr id="3" name="Picture 2">
            <a:extLst>
              <a:ext uri="{FF2B5EF4-FFF2-40B4-BE49-F238E27FC236}">
                <a16:creationId xmlns:a16="http://schemas.microsoft.com/office/drawing/2014/main" id="{17A1948D-0700-F42E-C7E7-D10B575E966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9188" y="249383"/>
            <a:ext cx="4880841" cy="6188364"/>
          </a:xfrm>
          <a:prstGeom prst="rect">
            <a:avLst/>
          </a:prstGeom>
          <a:noFill/>
          <a:ln>
            <a:solidFill>
              <a:schemeClr val="tx1">
                <a:lumMod val="95000"/>
                <a:lumOff val="5000"/>
              </a:schemeClr>
            </a:solidFill>
          </a:ln>
        </p:spPr>
      </p:pic>
    </p:spTree>
    <p:extLst>
      <p:ext uri="{BB962C8B-B14F-4D97-AF65-F5344CB8AC3E}">
        <p14:creationId xmlns:p14="http://schemas.microsoft.com/office/powerpoint/2010/main" val="3840181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99FD02-9D55-13B5-647F-D7B4E00182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4054" y="332509"/>
            <a:ext cx="5344853" cy="6201270"/>
          </a:xfrm>
          <a:prstGeom prst="rect">
            <a:avLst/>
          </a:prstGeom>
          <a:solidFill>
            <a:schemeClr val="bg1"/>
          </a:solidFill>
          <a:ln>
            <a:solidFill>
              <a:schemeClr val="tx1">
                <a:lumMod val="95000"/>
                <a:lumOff val="5000"/>
              </a:schemeClr>
            </a:solidFill>
          </a:ln>
        </p:spPr>
      </p:pic>
      <p:pic>
        <p:nvPicPr>
          <p:cNvPr id="3" name="Picture 2">
            <a:extLst>
              <a:ext uri="{FF2B5EF4-FFF2-40B4-BE49-F238E27FC236}">
                <a16:creationId xmlns:a16="http://schemas.microsoft.com/office/drawing/2014/main" id="{B07D25BD-B1AD-93FA-D12F-D8736FA2E5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84886" y="332509"/>
            <a:ext cx="5433060" cy="6201270"/>
          </a:xfrm>
          <a:prstGeom prst="rect">
            <a:avLst/>
          </a:prstGeom>
          <a:noFill/>
          <a:ln>
            <a:solidFill>
              <a:schemeClr val="tx1">
                <a:lumMod val="95000"/>
                <a:lumOff val="5000"/>
              </a:schemeClr>
            </a:solidFill>
          </a:ln>
        </p:spPr>
      </p:pic>
    </p:spTree>
    <p:extLst>
      <p:ext uri="{BB962C8B-B14F-4D97-AF65-F5344CB8AC3E}">
        <p14:creationId xmlns:p14="http://schemas.microsoft.com/office/powerpoint/2010/main" val="2253798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523F41-5928-2A9E-4A73-6F27A914A9B9}"/>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72036" y="599785"/>
            <a:ext cx="6067310" cy="4748070"/>
          </a:xfrm>
          <a:prstGeom prst="rect">
            <a:avLst/>
          </a:prstGeom>
          <a:noFill/>
          <a:ln w="9525">
            <a:solidFill>
              <a:schemeClr val="tx1"/>
            </a:solidFill>
          </a:ln>
        </p:spPr>
      </p:pic>
      <p:pic>
        <p:nvPicPr>
          <p:cNvPr id="3" name="Picture 2">
            <a:extLst>
              <a:ext uri="{FF2B5EF4-FFF2-40B4-BE49-F238E27FC236}">
                <a16:creationId xmlns:a16="http://schemas.microsoft.com/office/drawing/2014/main" id="{7B2DBC46-1374-DBF2-FF9B-66CC0AB98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2690" y="1006764"/>
            <a:ext cx="4858328" cy="3980872"/>
          </a:xfrm>
          <a:prstGeom prst="rect">
            <a:avLst/>
          </a:prstGeom>
          <a:ln>
            <a:solidFill>
              <a:schemeClr val="tx1"/>
            </a:solidFill>
          </a:ln>
        </p:spPr>
      </p:pic>
      <p:sp>
        <p:nvSpPr>
          <p:cNvPr id="4" name="Rectangle 3">
            <a:extLst>
              <a:ext uri="{FF2B5EF4-FFF2-40B4-BE49-F238E27FC236}">
                <a16:creationId xmlns:a16="http://schemas.microsoft.com/office/drawing/2014/main" id="{18510E47-790E-4010-C88F-0816EB940ABC}"/>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9783330-CA7F-8D2A-A565-E01BA3B84ABB}"/>
              </a:ext>
            </a:extLst>
          </p:cNvPr>
          <p:cNvPicPr>
            <a:picLocks noChangeAspect="1"/>
          </p:cNvPicPr>
          <p:nvPr/>
        </p:nvPicPr>
        <p:blipFill>
          <a:blip r:embed="rId4"/>
          <a:stretch>
            <a:fillRect/>
          </a:stretch>
        </p:blipFill>
        <p:spPr>
          <a:xfrm>
            <a:off x="498005" y="6227009"/>
            <a:ext cx="676715" cy="1261981"/>
          </a:xfrm>
          <a:prstGeom prst="rect">
            <a:avLst/>
          </a:prstGeom>
        </p:spPr>
      </p:pic>
    </p:spTree>
    <p:extLst>
      <p:ext uri="{BB962C8B-B14F-4D97-AF65-F5344CB8AC3E}">
        <p14:creationId xmlns:p14="http://schemas.microsoft.com/office/powerpoint/2010/main" val="155221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2E4A-74CF-383D-58E4-93DF6AADA624}"/>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10CA3217-B149-6B19-411A-FDBA3AF1CEEF}"/>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529B533-92F8-B26F-3522-4766371DB16A}"/>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882C17C-1D7A-21B8-9B0C-854B37239F22}"/>
              </a:ext>
            </a:extLst>
          </p:cNvPr>
          <p:cNvSpPr txBox="1"/>
          <p:nvPr/>
        </p:nvSpPr>
        <p:spPr>
          <a:xfrm>
            <a:off x="1153270" y="914837"/>
            <a:ext cx="2271065" cy="1077218"/>
          </a:xfrm>
          <a:prstGeom prst="rect">
            <a:avLst/>
          </a:prstGeom>
          <a:noFill/>
        </p:spPr>
        <p:txBody>
          <a:bodyPr wrap="square">
            <a:spAutoFit/>
          </a:bodyPr>
          <a:lstStyle/>
          <a:p>
            <a:r>
              <a:rPr lang="en-US" sz="3200" b="1" i="0" u="none" strike="noStrike" baseline="0" dirty="0">
                <a:solidFill>
                  <a:schemeClr val="accent4"/>
                </a:solidFill>
                <a:latin typeface="+mj-lt"/>
              </a:rPr>
              <a:t>Stress</a:t>
            </a:r>
            <a:r>
              <a:rPr lang="en-US" sz="3200" b="1" i="0" u="none" strike="noStrike" baseline="0" dirty="0">
                <a:solidFill>
                  <a:srgbClr val="000000"/>
                </a:solidFill>
                <a:latin typeface="+mj-lt"/>
              </a:rPr>
              <a:t> </a:t>
            </a:r>
          </a:p>
          <a:p>
            <a:r>
              <a:rPr lang="en-US" sz="3200" b="1" i="1" u="none" strike="noStrike" baseline="0" dirty="0">
                <a:solidFill>
                  <a:schemeClr val="accent3"/>
                </a:solidFill>
                <a:latin typeface="+mj-lt"/>
              </a:rPr>
              <a:t>Analysis</a:t>
            </a:r>
            <a:endParaRPr lang="en-US" sz="3200" i="1" dirty="0">
              <a:solidFill>
                <a:schemeClr val="accent3"/>
              </a:solidFill>
              <a:latin typeface="+mj-lt"/>
            </a:endParaRPr>
          </a:p>
        </p:txBody>
      </p:sp>
      <p:graphicFrame>
        <p:nvGraphicFramePr>
          <p:cNvPr id="9" name="Table 8">
            <a:extLst>
              <a:ext uri="{FF2B5EF4-FFF2-40B4-BE49-F238E27FC236}">
                <a16:creationId xmlns:a16="http://schemas.microsoft.com/office/drawing/2014/main" id="{43773814-910C-68F5-ECA4-967215777B31}"/>
              </a:ext>
            </a:extLst>
          </p:cNvPr>
          <p:cNvGraphicFramePr>
            <a:graphicFrameLocks noGrp="1"/>
          </p:cNvGraphicFramePr>
          <p:nvPr>
            <p:extLst>
              <p:ext uri="{D42A27DB-BD31-4B8C-83A1-F6EECF244321}">
                <p14:modId xmlns:p14="http://schemas.microsoft.com/office/powerpoint/2010/main" val="3270421624"/>
              </p:ext>
            </p:extLst>
          </p:nvPr>
        </p:nvGraphicFramePr>
        <p:xfrm>
          <a:off x="1859221" y="4802447"/>
          <a:ext cx="8824331" cy="1746997"/>
        </p:xfrm>
        <a:graphic>
          <a:graphicData uri="http://schemas.openxmlformats.org/drawingml/2006/table">
            <a:tbl>
              <a:tblPr firstRow="1" firstCol="1" bandRow="1">
                <a:tableStyleId>{ED083AE6-46FA-4A59-8FB0-9F97EB10719F}</a:tableStyleId>
              </a:tblPr>
              <a:tblGrid>
                <a:gridCol w="1927113">
                  <a:extLst>
                    <a:ext uri="{9D8B030D-6E8A-4147-A177-3AD203B41FA5}">
                      <a16:colId xmlns:a16="http://schemas.microsoft.com/office/drawing/2014/main" val="2527936585"/>
                    </a:ext>
                  </a:extLst>
                </a:gridCol>
                <a:gridCol w="1254364">
                  <a:extLst>
                    <a:ext uri="{9D8B030D-6E8A-4147-A177-3AD203B41FA5}">
                      <a16:colId xmlns:a16="http://schemas.microsoft.com/office/drawing/2014/main" val="540599796"/>
                    </a:ext>
                  </a:extLst>
                </a:gridCol>
                <a:gridCol w="2821427">
                  <a:extLst>
                    <a:ext uri="{9D8B030D-6E8A-4147-A177-3AD203B41FA5}">
                      <a16:colId xmlns:a16="http://schemas.microsoft.com/office/drawing/2014/main" val="1246406057"/>
                    </a:ext>
                  </a:extLst>
                </a:gridCol>
                <a:gridCol w="2821427">
                  <a:extLst>
                    <a:ext uri="{9D8B030D-6E8A-4147-A177-3AD203B41FA5}">
                      <a16:colId xmlns:a16="http://schemas.microsoft.com/office/drawing/2014/main" val="3978674016"/>
                    </a:ext>
                  </a:extLst>
                </a:gridCol>
              </a:tblGrid>
              <a:tr h="255209">
                <a:tc>
                  <a:txBody>
                    <a:bodyPr/>
                    <a:lstStyle/>
                    <a:p>
                      <a:pPr marL="0" marR="0" algn="l">
                        <a:lnSpc>
                          <a:spcPct val="107000"/>
                        </a:lnSpc>
                        <a:spcBef>
                          <a:spcPts val="0"/>
                        </a:spcBef>
                        <a:spcAft>
                          <a:spcPts val="0"/>
                        </a:spcAft>
                      </a:pPr>
                      <a:r>
                        <a:rPr lang="en-US" sz="1600" kern="100">
                          <a:effectLst/>
                        </a:rPr>
                        <a:t>Name</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Type</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Min</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Max</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592718822"/>
                  </a:ext>
                </a:extLst>
              </a:tr>
              <a:tr h="1057343">
                <a:tc>
                  <a:txBody>
                    <a:bodyPr/>
                    <a:lstStyle/>
                    <a:p>
                      <a:pPr marL="0" marR="0" algn="l">
                        <a:lnSpc>
                          <a:spcPct val="107000"/>
                        </a:lnSpc>
                        <a:spcBef>
                          <a:spcPts val="0"/>
                        </a:spcBef>
                        <a:spcAft>
                          <a:spcPts val="0"/>
                        </a:spcAft>
                      </a:pPr>
                      <a:r>
                        <a:rPr lang="en-US" sz="1600" kern="100" dirty="0">
                          <a:effectLst/>
                        </a:rPr>
                        <a:t>Stress1</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VON: von Mises Stress</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0.000e+00N/m^2</a:t>
                      </a:r>
                    </a:p>
                    <a:p>
                      <a:pPr marL="0" marR="0" algn="l">
                        <a:lnSpc>
                          <a:spcPct val="107000"/>
                        </a:lnSpc>
                        <a:spcBef>
                          <a:spcPts val="0"/>
                        </a:spcBef>
                        <a:spcAft>
                          <a:spcPts val="0"/>
                        </a:spcAft>
                      </a:pPr>
                      <a:r>
                        <a:rPr lang="en-US" sz="1600" kern="100" dirty="0">
                          <a:effectLst/>
                        </a:rPr>
                        <a:t>Node: 1097</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1.207e+08N/m^2</a:t>
                      </a:r>
                    </a:p>
                    <a:p>
                      <a:pPr marL="0" marR="0" algn="l">
                        <a:lnSpc>
                          <a:spcPct val="107000"/>
                        </a:lnSpc>
                        <a:spcBef>
                          <a:spcPts val="0"/>
                        </a:spcBef>
                        <a:spcAft>
                          <a:spcPts val="0"/>
                        </a:spcAft>
                      </a:pPr>
                      <a:r>
                        <a:rPr lang="en-US" sz="1600" kern="100" dirty="0">
                          <a:effectLst/>
                        </a:rPr>
                        <a:t>Node: 49448</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476909850"/>
                  </a:ext>
                </a:extLst>
              </a:tr>
              <a:tr h="434445">
                <a:tc gridSpan="4">
                  <a:txBody>
                    <a:bodyPr/>
                    <a:lstStyle/>
                    <a:p>
                      <a:pPr marL="0" marR="0" algn="l">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Vrinda" panose="020B0502040204020203" pitchFamily="34"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37583141"/>
                  </a:ext>
                </a:extLst>
              </a:tr>
            </a:tbl>
          </a:graphicData>
        </a:graphic>
      </p:graphicFrame>
      <p:grpSp>
        <p:nvGrpSpPr>
          <p:cNvPr id="3" name="Group 2">
            <a:extLst>
              <a:ext uri="{FF2B5EF4-FFF2-40B4-BE49-F238E27FC236}">
                <a16:creationId xmlns:a16="http://schemas.microsoft.com/office/drawing/2014/main" id="{E6343AC3-5B66-A188-D886-729544F315BE}"/>
              </a:ext>
            </a:extLst>
          </p:cNvPr>
          <p:cNvGrpSpPr/>
          <p:nvPr/>
        </p:nvGrpSpPr>
        <p:grpSpPr>
          <a:xfrm>
            <a:off x="4294254" y="634482"/>
            <a:ext cx="6587412" cy="3887610"/>
            <a:chOff x="2330245" y="1982389"/>
            <a:chExt cx="7207046" cy="4591665"/>
          </a:xfrm>
        </p:grpSpPr>
        <p:pic>
          <p:nvPicPr>
            <p:cNvPr id="8" name="Picture 42">
              <a:extLst>
                <a:ext uri="{FF2B5EF4-FFF2-40B4-BE49-F238E27FC236}">
                  <a16:creationId xmlns:a16="http://schemas.microsoft.com/office/drawing/2014/main" id="{C1D882F8-8CE5-EAB2-3BD6-D567D8D6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245" y="1982389"/>
              <a:ext cx="7207045" cy="459166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 name="Picture 42">
              <a:extLst>
                <a:ext uri="{FF2B5EF4-FFF2-40B4-BE49-F238E27FC236}">
                  <a16:creationId xmlns:a16="http://schemas.microsoft.com/office/drawing/2014/main" id="{CD514C98-2367-62E3-2B1B-18972A571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246" y="1982389"/>
              <a:ext cx="7207045" cy="459166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93314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286D1-4081-42AA-5C40-3DDFAA6372E7}"/>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5EF5C7FD-5787-E674-B99C-75C00FA085BE}"/>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ADE9CB9-8B01-7156-1C49-779DB12C4435}"/>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7C92BF3A-9437-5400-08C5-159C9BB61CE3}"/>
              </a:ext>
            </a:extLst>
          </p:cNvPr>
          <p:cNvGraphicFramePr>
            <a:graphicFrameLocks noGrp="1"/>
          </p:cNvGraphicFramePr>
          <p:nvPr>
            <p:extLst>
              <p:ext uri="{D42A27DB-BD31-4B8C-83A1-F6EECF244321}">
                <p14:modId xmlns:p14="http://schemas.microsoft.com/office/powerpoint/2010/main" val="110784217"/>
              </p:ext>
            </p:extLst>
          </p:nvPr>
        </p:nvGraphicFramePr>
        <p:xfrm>
          <a:off x="1427581" y="4616627"/>
          <a:ext cx="8966719" cy="1890679"/>
        </p:xfrm>
        <a:graphic>
          <a:graphicData uri="http://schemas.openxmlformats.org/drawingml/2006/table">
            <a:tbl>
              <a:tblPr firstRow="1" firstCol="1" bandRow="1">
                <a:tableStyleId>{ED083AE6-46FA-4A59-8FB0-9F97EB10719F}</a:tableStyleId>
              </a:tblPr>
              <a:tblGrid>
                <a:gridCol w="1958209">
                  <a:extLst>
                    <a:ext uri="{9D8B030D-6E8A-4147-A177-3AD203B41FA5}">
                      <a16:colId xmlns:a16="http://schemas.microsoft.com/office/drawing/2014/main" val="2527936585"/>
                    </a:ext>
                  </a:extLst>
                </a:gridCol>
                <a:gridCol w="1274604">
                  <a:extLst>
                    <a:ext uri="{9D8B030D-6E8A-4147-A177-3AD203B41FA5}">
                      <a16:colId xmlns:a16="http://schemas.microsoft.com/office/drawing/2014/main" val="540599796"/>
                    </a:ext>
                  </a:extLst>
                </a:gridCol>
                <a:gridCol w="2866953">
                  <a:extLst>
                    <a:ext uri="{9D8B030D-6E8A-4147-A177-3AD203B41FA5}">
                      <a16:colId xmlns:a16="http://schemas.microsoft.com/office/drawing/2014/main" val="1246406057"/>
                    </a:ext>
                  </a:extLst>
                </a:gridCol>
                <a:gridCol w="2866953">
                  <a:extLst>
                    <a:ext uri="{9D8B030D-6E8A-4147-A177-3AD203B41FA5}">
                      <a16:colId xmlns:a16="http://schemas.microsoft.com/office/drawing/2014/main" val="3978674016"/>
                    </a:ext>
                  </a:extLst>
                </a:gridCol>
              </a:tblGrid>
              <a:tr h="278758">
                <a:tc>
                  <a:txBody>
                    <a:bodyPr/>
                    <a:lstStyle/>
                    <a:p>
                      <a:pPr marL="0" marR="0" algn="l">
                        <a:lnSpc>
                          <a:spcPct val="107000"/>
                        </a:lnSpc>
                        <a:spcBef>
                          <a:spcPts val="0"/>
                        </a:spcBef>
                        <a:spcAft>
                          <a:spcPts val="0"/>
                        </a:spcAft>
                      </a:pPr>
                      <a:r>
                        <a:rPr lang="en-US" sz="1600" kern="100">
                          <a:effectLst/>
                        </a:rPr>
                        <a:t>Name</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Type</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Min</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Max</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592718822"/>
                  </a:ext>
                </a:extLst>
              </a:tr>
              <a:tr h="1154904">
                <a:tc>
                  <a:txBody>
                    <a:bodyPr/>
                    <a:lstStyle/>
                    <a:p>
                      <a:pPr marL="0" marR="0" algn="l">
                        <a:lnSpc>
                          <a:spcPct val="107000"/>
                        </a:lnSpc>
                        <a:spcBef>
                          <a:spcPts val="0"/>
                        </a:spcBef>
                        <a:spcAft>
                          <a:spcPts val="0"/>
                        </a:spcAft>
                      </a:pPr>
                      <a:r>
                        <a:rPr lang="en-US" sz="1600" kern="100" dirty="0">
                          <a:effectLst/>
                        </a:rPr>
                        <a:t>Stress1</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VON: von Mises Stress</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0.000e+00N/m^2</a:t>
                      </a:r>
                    </a:p>
                    <a:p>
                      <a:pPr marL="0" marR="0" algn="l">
                        <a:lnSpc>
                          <a:spcPct val="107000"/>
                        </a:lnSpc>
                        <a:spcBef>
                          <a:spcPts val="0"/>
                        </a:spcBef>
                        <a:spcAft>
                          <a:spcPts val="0"/>
                        </a:spcAft>
                      </a:pPr>
                      <a:r>
                        <a:rPr lang="en-US" sz="1600" kern="100" dirty="0">
                          <a:effectLst/>
                        </a:rPr>
                        <a:t>Node: 1097</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1.207e+08N/m^2</a:t>
                      </a:r>
                    </a:p>
                    <a:p>
                      <a:pPr marL="0" marR="0" algn="l">
                        <a:lnSpc>
                          <a:spcPct val="107000"/>
                        </a:lnSpc>
                        <a:spcBef>
                          <a:spcPts val="0"/>
                        </a:spcBef>
                        <a:spcAft>
                          <a:spcPts val="0"/>
                        </a:spcAft>
                      </a:pPr>
                      <a:r>
                        <a:rPr lang="en-US" sz="1600" kern="100" dirty="0">
                          <a:effectLst/>
                        </a:rPr>
                        <a:t>Node: 49448</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476909850"/>
                  </a:ext>
                </a:extLst>
              </a:tr>
              <a:tr h="457017">
                <a:tc gridSpan="4">
                  <a:txBody>
                    <a:bodyPr/>
                    <a:lstStyle/>
                    <a:p>
                      <a:pPr marL="0" marR="0" algn="l">
                        <a:lnSpc>
                          <a:spcPct val="107000"/>
                        </a:lnSpc>
                        <a:spcBef>
                          <a:spcPts val="0"/>
                        </a:spcBef>
                        <a:spcAft>
                          <a:spcPts val="0"/>
                        </a:spcAft>
                      </a:pPr>
                      <a:endParaRPr lang="en-US" sz="1600" kern="100" dirty="0">
                        <a:effectLst/>
                        <a:latin typeface="Times New Roman" panose="02020603050405020304" pitchFamily="18" charset="0"/>
                        <a:ea typeface="Calibri" panose="020F0502020204030204" pitchFamily="34" charset="0"/>
                        <a:cs typeface="Vrinda" panose="020B0502040204020203" pitchFamily="34"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37583141"/>
                  </a:ext>
                </a:extLst>
              </a:tr>
            </a:tbl>
          </a:graphicData>
        </a:graphic>
      </p:graphicFrame>
      <p:pic>
        <p:nvPicPr>
          <p:cNvPr id="3" name="Picture 2">
            <a:extLst>
              <a:ext uri="{FF2B5EF4-FFF2-40B4-BE49-F238E27FC236}">
                <a16:creationId xmlns:a16="http://schemas.microsoft.com/office/drawing/2014/main" id="{C112AA56-37F8-605B-BCAB-04A371E85CB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4211993" y="634482"/>
            <a:ext cx="6816792" cy="3661472"/>
          </a:xfrm>
          <a:prstGeom prst="rect">
            <a:avLst/>
          </a:prstGeom>
          <a:ln>
            <a:solidFill>
              <a:schemeClr val="tx1"/>
            </a:solidFill>
          </a:ln>
        </p:spPr>
      </p:pic>
      <p:sp>
        <p:nvSpPr>
          <p:cNvPr id="5" name="TextBox 4">
            <a:extLst>
              <a:ext uri="{FF2B5EF4-FFF2-40B4-BE49-F238E27FC236}">
                <a16:creationId xmlns:a16="http://schemas.microsoft.com/office/drawing/2014/main" id="{F78325F6-F272-41FA-EADE-51ADBE9A8012}"/>
              </a:ext>
            </a:extLst>
          </p:cNvPr>
          <p:cNvSpPr txBox="1"/>
          <p:nvPr/>
        </p:nvSpPr>
        <p:spPr>
          <a:xfrm>
            <a:off x="1427581" y="699796"/>
            <a:ext cx="1989753" cy="1077218"/>
          </a:xfrm>
          <a:prstGeom prst="rect">
            <a:avLst/>
          </a:prstGeom>
          <a:noFill/>
        </p:spPr>
        <p:txBody>
          <a:bodyPr wrap="square">
            <a:spAutoFit/>
          </a:bodyPr>
          <a:lstStyle/>
          <a:p>
            <a:r>
              <a:rPr lang="en-US" sz="3200" b="1" i="0" u="none" strike="noStrike" baseline="0" dirty="0">
                <a:solidFill>
                  <a:schemeClr val="accent4"/>
                </a:solidFill>
                <a:latin typeface="+mj-lt"/>
              </a:rPr>
              <a:t>Strain</a:t>
            </a:r>
            <a:endParaRPr lang="en-US" sz="3200" b="1" i="0" u="none" strike="noStrike" baseline="0" dirty="0">
              <a:solidFill>
                <a:srgbClr val="000000"/>
              </a:solidFill>
              <a:latin typeface="+mj-lt"/>
            </a:endParaRPr>
          </a:p>
          <a:p>
            <a:r>
              <a:rPr lang="en-US" sz="3200" b="1" i="1" u="none" strike="noStrike" baseline="0" dirty="0">
                <a:solidFill>
                  <a:schemeClr val="accent3"/>
                </a:solidFill>
                <a:latin typeface="+mj-lt"/>
              </a:rPr>
              <a:t>Analysis</a:t>
            </a:r>
            <a:endParaRPr lang="en-US" sz="3200" i="1" dirty="0">
              <a:solidFill>
                <a:schemeClr val="accent3"/>
              </a:solidFill>
              <a:latin typeface="+mj-lt"/>
            </a:endParaRPr>
          </a:p>
        </p:txBody>
      </p:sp>
    </p:spTree>
    <p:extLst>
      <p:ext uri="{BB962C8B-B14F-4D97-AF65-F5344CB8AC3E}">
        <p14:creationId xmlns:p14="http://schemas.microsoft.com/office/powerpoint/2010/main" val="2125047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AD24-2A1E-73A8-1F9C-C09C8B397F70}"/>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95F00E39-27FC-01C3-645C-CCC1ABBC0FCA}"/>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FA53568-98CB-94DC-4101-E7548705D5FB}"/>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9623CBCD-B672-2F96-BB0D-C7A11EE81B89}"/>
              </a:ext>
            </a:extLst>
          </p:cNvPr>
          <p:cNvGraphicFramePr>
            <a:graphicFrameLocks noGrp="1"/>
          </p:cNvGraphicFramePr>
          <p:nvPr>
            <p:extLst>
              <p:ext uri="{D42A27DB-BD31-4B8C-83A1-F6EECF244321}">
                <p14:modId xmlns:p14="http://schemas.microsoft.com/office/powerpoint/2010/main" val="1996678053"/>
              </p:ext>
            </p:extLst>
          </p:nvPr>
        </p:nvGraphicFramePr>
        <p:xfrm>
          <a:off x="1903526" y="5366730"/>
          <a:ext cx="8384948" cy="955479"/>
        </p:xfrm>
        <a:graphic>
          <a:graphicData uri="http://schemas.openxmlformats.org/drawingml/2006/table">
            <a:tbl>
              <a:tblPr firstRow="1" firstCol="1" bandRow="1">
                <a:tableStyleId>{ED083AE6-46FA-4A59-8FB0-9F97EB10719F}</a:tableStyleId>
              </a:tblPr>
              <a:tblGrid>
                <a:gridCol w="2011163">
                  <a:extLst>
                    <a:ext uri="{9D8B030D-6E8A-4147-A177-3AD203B41FA5}">
                      <a16:colId xmlns:a16="http://schemas.microsoft.com/office/drawing/2014/main" val="1330696706"/>
                    </a:ext>
                  </a:extLst>
                </a:gridCol>
                <a:gridCol w="2413576">
                  <a:extLst>
                    <a:ext uri="{9D8B030D-6E8A-4147-A177-3AD203B41FA5}">
                      <a16:colId xmlns:a16="http://schemas.microsoft.com/office/drawing/2014/main" val="3342565428"/>
                    </a:ext>
                  </a:extLst>
                </a:gridCol>
                <a:gridCol w="1985956">
                  <a:extLst>
                    <a:ext uri="{9D8B030D-6E8A-4147-A177-3AD203B41FA5}">
                      <a16:colId xmlns:a16="http://schemas.microsoft.com/office/drawing/2014/main" val="1887547216"/>
                    </a:ext>
                  </a:extLst>
                </a:gridCol>
                <a:gridCol w="1974253">
                  <a:extLst>
                    <a:ext uri="{9D8B030D-6E8A-4147-A177-3AD203B41FA5}">
                      <a16:colId xmlns:a16="http://schemas.microsoft.com/office/drawing/2014/main" val="2635687475"/>
                    </a:ext>
                  </a:extLst>
                </a:gridCol>
              </a:tblGrid>
              <a:tr h="313620">
                <a:tc>
                  <a:txBody>
                    <a:bodyPr/>
                    <a:lstStyle/>
                    <a:p>
                      <a:pPr marL="0" marR="0" algn="l">
                        <a:lnSpc>
                          <a:spcPct val="107000"/>
                        </a:lnSpc>
                        <a:spcBef>
                          <a:spcPts val="0"/>
                        </a:spcBef>
                        <a:spcAft>
                          <a:spcPts val="0"/>
                        </a:spcAft>
                      </a:pPr>
                      <a:r>
                        <a:rPr lang="en-US" sz="1600" kern="100">
                          <a:effectLst/>
                        </a:rPr>
                        <a:t>Name</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Type</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Min</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Max</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505607845"/>
                  </a:ext>
                </a:extLst>
              </a:tr>
              <a:tr h="641859">
                <a:tc>
                  <a:txBody>
                    <a:bodyPr/>
                    <a:lstStyle/>
                    <a:p>
                      <a:pPr marL="0" marR="0" algn="l">
                        <a:lnSpc>
                          <a:spcPct val="107000"/>
                        </a:lnSpc>
                        <a:spcBef>
                          <a:spcPts val="0"/>
                        </a:spcBef>
                        <a:spcAft>
                          <a:spcPts val="0"/>
                        </a:spcAft>
                      </a:pPr>
                      <a:r>
                        <a:rPr lang="en-US" sz="1600" kern="100" dirty="0">
                          <a:effectLst/>
                        </a:rPr>
                        <a:t>Factor of Safety2</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Automatic</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a:effectLst/>
                        </a:rPr>
                        <a:t>1.999e+00</a:t>
                      </a:r>
                    </a:p>
                    <a:p>
                      <a:pPr marL="0" marR="0" algn="l">
                        <a:lnSpc>
                          <a:spcPct val="107000"/>
                        </a:lnSpc>
                        <a:spcBef>
                          <a:spcPts val="0"/>
                        </a:spcBef>
                        <a:spcAft>
                          <a:spcPts val="0"/>
                        </a:spcAft>
                      </a:pPr>
                      <a:r>
                        <a:rPr lang="en-US" sz="1600" kern="100">
                          <a:effectLst/>
                        </a:rPr>
                        <a:t>Node: 49448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l">
                        <a:lnSpc>
                          <a:spcPct val="107000"/>
                        </a:lnSpc>
                        <a:spcBef>
                          <a:spcPts val="0"/>
                        </a:spcBef>
                        <a:spcAft>
                          <a:spcPts val="0"/>
                        </a:spcAft>
                      </a:pPr>
                      <a:r>
                        <a:rPr lang="en-US" sz="1600" kern="100" dirty="0">
                          <a:effectLst/>
                        </a:rPr>
                        <a:t>1.000e+16</a:t>
                      </a:r>
                    </a:p>
                    <a:p>
                      <a:pPr marL="0" marR="0" algn="l">
                        <a:lnSpc>
                          <a:spcPct val="107000"/>
                        </a:lnSpc>
                        <a:spcBef>
                          <a:spcPts val="0"/>
                        </a:spcBef>
                        <a:spcAft>
                          <a:spcPts val="0"/>
                        </a:spcAft>
                      </a:pPr>
                      <a:r>
                        <a:rPr lang="en-US" sz="1600" kern="100" dirty="0">
                          <a:effectLst/>
                        </a:rPr>
                        <a:t>Node: 1097</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18967296"/>
                  </a:ext>
                </a:extLst>
              </a:tr>
            </a:tbl>
          </a:graphicData>
        </a:graphic>
      </p:graphicFrame>
      <p:pic>
        <p:nvPicPr>
          <p:cNvPr id="2" name="Picture 1">
            <a:extLst>
              <a:ext uri="{FF2B5EF4-FFF2-40B4-BE49-F238E27FC236}">
                <a16:creationId xmlns:a16="http://schemas.microsoft.com/office/drawing/2014/main" id="{C5688814-91C0-CDC6-C0DF-E860C82BFFD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4597485" y="854473"/>
            <a:ext cx="5983430" cy="3866818"/>
          </a:xfrm>
          <a:prstGeom prst="rect">
            <a:avLst/>
          </a:prstGeom>
          <a:ln>
            <a:solidFill>
              <a:schemeClr val="tx1"/>
            </a:solidFill>
          </a:ln>
        </p:spPr>
      </p:pic>
      <p:sp>
        <p:nvSpPr>
          <p:cNvPr id="6" name="TextBox 5">
            <a:extLst>
              <a:ext uri="{FF2B5EF4-FFF2-40B4-BE49-F238E27FC236}">
                <a16:creationId xmlns:a16="http://schemas.microsoft.com/office/drawing/2014/main" id="{2E4C096F-FACD-B3FF-EDB5-A1946978EB02}"/>
              </a:ext>
            </a:extLst>
          </p:cNvPr>
          <p:cNvSpPr txBox="1"/>
          <p:nvPr/>
        </p:nvSpPr>
        <p:spPr>
          <a:xfrm>
            <a:off x="1359937" y="1113750"/>
            <a:ext cx="2241679" cy="954107"/>
          </a:xfrm>
          <a:prstGeom prst="rect">
            <a:avLst/>
          </a:prstGeom>
          <a:noFill/>
        </p:spPr>
        <p:txBody>
          <a:bodyPr wrap="square">
            <a:spAutoFit/>
          </a:bodyPr>
          <a:lstStyle/>
          <a:p>
            <a:r>
              <a:rPr lang="en-US" sz="2800" b="1" i="0" u="none" strike="noStrike" baseline="0" dirty="0">
                <a:solidFill>
                  <a:schemeClr val="accent4"/>
                </a:solidFill>
                <a:latin typeface="+mj-lt"/>
              </a:rPr>
              <a:t>Factor of </a:t>
            </a:r>
            <a:endParaRPr lang="en-US" sz="2800" b="1" i="0" u="none" strike="noStrike" baseline="0" dirty="0">
              <a:solidFill>
                <a:srgbClr val="000000"/>
              </a:solidFill>
              <a:latin typeface="+mj-lt"/>
            </a:endParaRPr>
          </a:p>
          <a:p>
            <a:r>
              <a:rPr lang="en-US" sz="2800" b="1" i="1" u="none" strike="noStrike" baseline="0" dirty="0">
                <a:solidFill>
                  <a:schemeClr val="accent3"/>
                </a:solidFill>
                <a:latin typeface="+mj-lt"/>
              </a:rPr>
              <a:t>Safety</a:t>
            </a:r>
            <a:endParaRPr lang="en-US" sz="2800" i="1" dirty="0">
              <a:solidFill>
                <a:schemeClr val="accent3"/>
              </a:solidFill>
              <a:latin typeface="+mj-lt"/>
            </a:endParaRPr>
          </a:p>
        </p:txBody>
      </p:sp>
    </p:spTree>
    <p:extLst>
      <p:ext uri="{BB962C8B-B14F-4D97-AF65-F5344CB8AC3E}">
        <p14:creationId xmlns:p14="http://schemas.microsoft.com/office/powerpoint/2010/main" val="2014259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B4D47-2AA7-0161-AD10-78B06384FB16}"/>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59E3B11D-1C07-EC52-DA11-3C0796D6D8F1}"/>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1FB1DB6-B5E4-8A90-6BB1-8E28DD51E4C1}"/>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66BD23C-08CD-460C-8604-3F352B7701F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6284" y="1561529"/>
            <a:ext cx="8239432" cy="4159044"/>
          </a:xfrm>
          <a:prstGeom prst="rect">
            <a:avLst/>
          </a:prstGeom>
          <a:noFill/>
          <a:ln>
            <a:solidFill>
              <a:schemeClr val="tx1"/>
            </a:solidFill>
          </a:ln>
        </p:spPr>
      </p:pic>
      <p:sp>
        <p:nvSpPr>
          <p:cNvPr id="5" name="TextBox 4">
            <a:extLst>
              <a:ext uri="{FF2B5EF4-FFF2-40B4-BE49-F238E27FC236}">
                <a16:creationId xmlns:a16="http://schemas.microsoft.com/office/drawing/2014/main" id="{06166DB1-B2FB-23A3-FBA0-2BE2FC9C09DA}"/>
              </a:ext>
            </a:extLst>
          </p:cNvPr>
          <p:cNvSpPr txBox="1"/>
          <p:nvPr/>
        </p:nvSpPr>
        <p:spPr>
          <a:xfrm>
            <a:off x="4005040" y="634482"/>
            <a:ext cx="4760418" cy="584775"/>
          </a:xfrm>
          <a:prstGeom prst="rect">
            <a:avLst/>
          </a:prstGeom>
          <a:noFill/>
        </p:spPr>
        <p:txBody>
          <a:bodyPr wrap="square">
            <a:spAutoFit/>
          </a:bodyPr>
          <a:lstStyle/>
          <a:p>
            <a:r>
              <a:rPr lang="en-US" sz="3200" b="1" dirty="0">
                <a:solidFill>
                  <a:schemeClr val="accent4"/>
                </a:solidFill>
                <a:latin typeface="+mj-lt"/>
              </a:rPr>
              <a:t>Thermal </a:t>
            </a:r>
            <a:r>
              <a:rPr lang="en-US" sz="3200" b="1" i="0" u="none" strike="noStrike" baseline="0" dirty="0">
                <a:solidFill>
                  <a:schemeClr val="accent4"/>
                </a:solidFill>
                <a:latin typeface="+mj-lt"/>
              </a:rPr>
              <a:t> </a:t>
            </a:r>
            <a:r>
              <a:rPr lang="en-US" sz="3200" b="1" i="1" dirty="0">
                <a:solidFill>
                  <a:schemeClr val="accent3"/>
                </a:solidFill>
                <a:latin typeface="+mj-lt"/>
              </a:rPr>
              <a:t>Analysis</a:t>
            </a:r>
            <a:endParaRPr lang="en-US" sz="3200" i="1" dirty="0">
              <a:solidFill>
                <a:schemeClr val="accent3"/>
              </a:solidFill>
              <a:latin typeface="+mj-lt"/>
            </a:endParaRPr>
          </a:p>
        </p:txBody>
      </p:sp>
    </p:spTree>
    <p:extLst>
      <p:ext uri="{BB962C8B-B14F-4D97-AF65-F5344CB8AC3E}">
        <p14:creationId xmlns:p14="http://schemas.microsoft.com/office/powerpoint/2010/main" val="28190284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3B199-45B7-0232-6C1C-CA63DC023C61}"/>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A7DF174E-393C-24C8-2B8D-C376D7E9FD1C}"/>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434522C-C168-B3AF-B8D5-3E83DB4E5DA3}"/>
              </a:ext>
            </a:extLst>
          </p:cNvPr>
          <p:cNvSpPr/>
          <p:nvPr/>
        </p:nvSpPr>
        <p:spPr>
          <a:xfrm>
            <a:off x="11478825" y="6282223"/>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C94E51E-DFDA-FE8F-E997-A80335A8CCE0}"/>
              </a:ext>
            </a:extLst>
          </p:cNvPr>
          <p:cNvSpPr txBox="1"/>
          <p:nvPr/>
        </p:nvSpPr>
        <p:spPr>
          <a:xfrm>
            <a:off x="2821858" y="422561"/>
            <a:ext cx="6096000" cy="530594"/>
          </a:xfrm>
          <a:prstGeom prst="rect">
            <a:avLst/>
          </a:prstGeom>
          <a:noFill/>
        </p:spPr>
        <p:txBody>
          <a:bodyPr wrap="square">
            <a:spAutoFit/>
          </a:bodyPr>
          <a:lstStyle/>
          <a:p>
            <a:pPr marL="0" marR="0" algn="ctr">
              <a:lnSpc>
                <a:spcPct val="107000"/>
              </a:lnSpc>
              <a:spcBef>
                <a:spcPts val="0"/>
              </a:spcBef>
              <a:spcAft>
                <a:spcPts val="800"/>
              </a:spcAft>
            </a:pPr>
            <a:r>
              <a:rPr lang="en-US" sz="2800" b="1" kern="100" dirty="0">
                <a:solidFill>
                  <a:schemeClr val="accent3"/>
                </a:solidFill>
                <a:effectLst/>
                <a:latin typeface="Times New Roman" panose="02020603050405020304" pitchFamily="18" charset="0"/>
                <a:ea typeface="Calibri" panose="020F0502020204030204" pitchFamily="34" charset="0"/>
                <a:cs typeface="Vrinda" panose="020B0502040204020203" pitchFamily="34" charset="0"/>
              </a:rPr>
              <a:t>Simulation </a:t>
            </a:r>
            <a:r>
              <a:rPr lang="en-US" sz="2800" b="1" kern="100" dirty="0">
                <a:solidFill>
                  <a:schemeClr val="accent4"/>
                </a:solidFill>
                <a:effectLst/>
                <a:latin typeface="Times New Roman" panose="02020603050405020304" pitchFamily="18" charset="0"/>
                <a:ea typeface="Calibri" panose="020F0502020204030204" pitchFamily="34" charset="0"/>
                <a:cs typeface="Vrinda" panose="020B0502040204020203" pitchFamily="34" charset="0"/>
              </a:rPr>
              <a:t>Data table</a:t>
            </a:r>
            <a:endParaRPr lang="en-US" sz="2800" kern="100" dirty="0">
              <a:solidFill>
                <a:schemeClr val="accent4"/>
              </a:solidFill>
              <a:effectLst/>
              <a:latin typeface="Calibri" panose="020F0502020204030204" pitchFamily="34" charset="0"/>
              <a:ea typeface="Calibri" panose="020F0502020204030204" pitchFamily="34" charset="0"/>
              <a:cs typeface="Vrinda" panose="020B0502040204020203" pitchFamily="34" charset="0"/>
            </a:endParaRPr>
          </a:p>
        </p:txBody>
      </p:sp>
      <p:graphicFrame>
        <p:nvGraphicFramePr>
          <p:cNvPr id="3" name="Table 2">
            <a:extLst>
              <a:ext uri="{FF2B5EF4-FFF2-40B4-BE49-F238E27FC236}">
                <a16:creationId xmlns:a16="http://schemas.microsoft.com/office/drawing/2014/main" id="{6A150D5F-D168-C2CB-1BBE-345AB12A5EEB}"/>
              </a:ext>
            </a:extLst>
          </p:cNvPr>
          <p:cNvGraphicFramePr>
            <a:graphicFrameLocks noGrp="1"/>
          </p:cNvGraphicFramePr>
          <p:nvPr>
            <p:extLst>
              <p:ext uri="{D42A27DB-BD31-4B8C-83A1-F6EECF244321}">
                <p14:modId xmlns:p14="http://schemas.microsoft.com/office/powerpoint/2010/main" val="3736102381"/>
              </p:ext>
            </p:extLst>
          </p:nvPr>
        </p:nvGraphicFramePr>
        <p:xfrm>
          <a:off x="1166627" y="1029921"/>
          <a:ext cx="10170067" cy="5490909"/>
        </p:xfrm>
        <a:graphic>
          <a:graphicData uri="http://schemas.openxmlformats.org/drawingml/2006/table">
            <a:tbl>
              <a:tblPr firstRow="1" firstCol="1" bandRow="1">
                <a:tableStyleId>{ED083AE6-46FA-4A59-8FB0-9F97EB10719F}</a:tableStyleId>
              </a:tblPr>
              <a:tblGrid>
                <a:gridCol w="1999020">
                  <a:extLst>
                    <a:ext uri="{9D8B030D-6E8A-4147-A177-3AD203B41FA5}">
                      <a16:colId xmlns:a16="http://schemas.microsoft.com/office/drawing/2014/main" val="1592353242"/>
                    </a:ext>
                  </a:extLst>
                </a:gridCol>
                <a:gridCol w="2520504">
                  <a:extLst>
                    <a:ext uri="{9D8B030D-6E8A-4147-A177-3AD203B41FA5}">
                      <a16:colId xmlns:a16="http://schemas.microsoft.com/office/drawing/2014/main" val="511571555"/>
                    </a:ext>
                  </a:extLst>
                </a:gridCol>
                <a:gridCol w="2520504">
                  <a:extLst>
                    <a:ext uri="{9D8B030D-6E8A-4147-A177-3AD203B41FA5}">
                      <a16:colId xmlns:a16="http://schemas.microsoft.com/office/drawing/2014/main" val="846215198"/>
                    </a:ext>
                  </a:extLst>
                </a:gridCol>
                <a:gridCol w="3130039">
                  <a:extLst>
                    <a:ext uri="{9D8B030D-6E8A-4147-A177-3AD203B41FA5}">
                      <a16:colId xmlns:a16="http://schemas.microsoft.com/office/drawing/2014/main" val="901748034"/>
                    </a:ext>
                  </a:extLst>
                </a:gridCol>
              </a:tblGrid>
              <a:tr h="289441">
                <a:tc>
                  <a:txBody>
                    <a:bodyPr/>
                    <a:lstStyle/>
                    <a:p>
                      <a:pPr marL="0" marR="0" algn="ctr">
                        <a:lnSpc>
                          <a:spcPct val="107000"/>
                        </a:lnSpc>
                        <a:spcBef>
                          <a:spcPts val="0"/>
                        </a:spcBef>
                        <a:spcAft>
                          <a:spcPts val="0"/>
                        </a:spcAft>
                      </a:pPr>
                      <a:r>
                        <a:rPr lang="en-US" sz="1600" kern="0" dirty="0">
                          <a:effectLst/>
                        </a:rPr>
                        <a:t>Load (N)</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ctr">
                        <a:lnSpc>
                          <a:spcPct val="107000"/>
                        </a:lnSpc>
                        <a:spcBef>
                          <a:spcPts val="0"/>
                        </a:spcBef>
                        <a:spcAft>
                          <a:spcPts val="0"/>
                        </a:spcAft>
                      </a:pPr>
                      <a:r>
                        <a:rPr lang="en-US" sz="1600" kern="0" dirty="0">
                          <a:effectLst/>
                        </a:rPr>
                        <a:t>Max Stress (N/m²)</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ctr">
                        <a:lnSpc>
                          <a:spcPct val="107000"/>
                        </a:lnSpc>
                        <a:spcBef>
                          <a:spcPts val="0"/>
                        </a:spcBef>
                        <a:spcAft>
                          <a:spcPts val="0"/>
                        </a:spcAft>
                      </a:pPr>
                      <a:r>
                        <a:rPr lang="en-US" sz="1600" kern="0">
                          <a:effectLst/>
                        </a:rPr>
                        <a:t>Max Displacement (mm)</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ctr">
                        <a:lnSpc>
                          <a:spcPct val="107000"/>
                        </a:lnSpc>
                        <a:spcBef>
                          <a:spcPts val="0"/>
                        </a:spcBef>
                        <a:spcAft>
                          <a:spcPts val="0"/>
                        </a:spcAft>
                      </a:pPr>
                      <a:r>
                        <a:rPr lang="en-US" sz="1600" kern="0" dirty="0">
                          <a:effectLst/>
                        </a:rPr>
                        <a:t>Factor of Safety (FOS)</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452707382"/>
                  </a:ext>
                </a:extLst>
              </a:tr>
              <a:tr h="199954">
                <a:tc>
                  <a:txBody>
                    <a:bodyPr/>
                    <a:lstStyle/>
                    <a:p>
                      <a:pPr marL="0" marR="0" algn="ctr">
                        <a:lnSpc>
                          <a:spcPct val="107000"/>
                        </a:lnSpc>
                        <a:spcBef>
                          <a:spcPts val="0"/>
                        </a:spcBef>
                        <a:spcAft>
                          <a:spcPts val="0"/>
                        </a:spcAft>
                      </a:pPr>
                      <a:r>
                        <a:rPr lang="en-US" sz="1600" kern="0">
                          <a:effectLst/>
                        </a:rPr>
                        <a:t>1080</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120700000</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6.741</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2</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2947336604"/>
                  </a:ext>
                </a:extLst>
              </a:tr>
              <a:tr h="199954">
                <a:tc>
                  <a:txBody>
                    <a:bodyPr/>
                    <a:lstStyle/>
                    <a:p>
                      <a:pPr marL="0" marR="0" algn="ctr">
                        <a:lnSpc>
                          <a:spcPct val="107000"/>
                        </a:lnSpc>
                        <a:spcBef>
                          <a:spcPts val="0"/>
                        </a:spcBef>
                        <a:spcAft>
                          <a:spcPts val="0"/>
                        </a:spcAft>
                      </a:pPr>
                      <a:r>
                        <a:rPr lang="en-US" sz="1600" kern="0">
                          <a:effectLst/>
                        </a:rPr>
                        <a:t>1181.052632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330889473.7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7.357421053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1.916126316</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1695038555"/>
                  </a:ext>
                </a:extLst>
              </a:tr>
              <a:tr h="199954">
                <a:tc>
                  <a:txBody>
                    <a:bodyPr/>
                    <a:lstStyle/>
                    <a:p>
                      <a:pPr marL="0" marR="0" algn="ctr">
                        <a:lnSpc>
                          <a:spcPct val="107000"/>
                        </a:lnSpc>
                        <a:spcBef>
                          <a:spcPts val="0"/>
                        </a:spcBef>
                        <a:spcAft>
                          <a:spcPts val="0"/>
                        </a:spcAft>
                      </a:pPr>
                      <a:r>
                        <a:rPr lang="en-US" sz="1600" kern="0">
                          <a:effectLst/>
                        </a:rPr>
                        <a:t>1282.105263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541078947.4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7.973842105</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1.832252632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1779438929"/>
                  </a:ext>
                </a:extLst>
              </a:tr>
              <a:tr h="199954">
                <a:tc>
                  <a:txBody>
                    <a:bodyPr/>
                    <a:lstStyle/>
                    <a:p>
                      <a:pPr marL="0" marR="0" algn="ctr">
                        <a:lnSpc>
                          <a:spcPct val="107000"/>
                        </a:lnSpc>
                        <a:spcBef>
                          <a:spcPts val="0"/>
                        </a:spcBef>
                        <a:spcAft>
                          <a:spcPts val="0"/>
                        </a:spcAft>
                      </a:pPr>
                      <a:r>
                        <a:rPr lang="en-US" sz="1600" kern="0" dirty="0">
                          <a:effectLst/>
                        </a:rPr>
                        <a:t>1383.157895</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751268421.1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8.590263158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1.748378947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1949022834"/>
                  </a:ext>
                </a:extLst>
              </a:tr>
              <a:tr h="199954">
                <a:tc>
                  <a:txBody>
                    <a:bodyPr/>
                    <a:lstStyle/>
                    <a:p>
                      <a:pPr marL="0" marR="0" algn="ctr">
                        <a:lnSpc>
                          <a:spcPct val="107000"/>
                        </a:lnSpc>
                        <a:spcBef>
                          <a:spcPts val="0"/>
                        </a:spcBef>
                        <a:spcAft>
                          <a:spcPts val="0"/>
                        </a:spcAft>
                      </a:pPr>
                      <a:r>
                        <a:rPr lang="en-US" sz="1600" kern="0">
                          <a:effectLst/>
                        </a:rPr>
                        <a:t>1484.210526</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961457894.7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9.206684211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1.664505263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858032036"/>
                  </a:ext>
                </a:extLst>
              </a:tr>
              <a:tr h="199954">
                <a:tc>
                  <a:txBody>
                    <a:bodyPr/>
                    <a:lstStyle/>
                    <a:p>
                      <a:pPr marL="0" marR="0" algn="ctr">
                        <a:lnSpc>
                          <a:spcPct val="107000"/>
                        </a:lnSpc>
                        <a:spcBef>
                          <a:spcPts val="0"/>
                        </a:spcBef>
                        <a:spcAft>
                          <a:spcPts val="0"/>
                        </a:spcAft>
                      </a:pPr>
                      <a:r>
                        <a:rPr lang="en-US" sz="1600" kern="0">
                          <a:effectLst/>
                        </a:rPr>
                        <a:t>1585.263158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1171647368</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9.823105263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1.580631579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3912000383"/>
                  </a:ext>
                </a:extLst>
              </a:tr>
              <a:tr h="199954">
                <a:tc>
                  <a:txBody>
                    <a:bodyPr/>
                    <a:lstStyle/>
                    <a:p>
                      <a:pPr marL="0" marR="0" algn="ctr">
                        <a:lnSpc>
                          <a:spcPct val="107000"/>
                        </a:lnSpc>
                        <a:spcBef>
                          <a:spcPts val="0"/>
                        </a:spcBef>
                        <a:spcAft>
                          <a:spcPts val="0"/>
                        </a:spcAft>
                      </a:pPr>
                      <a:r>
                        <a:rPr lang="en-US" sz="1600" kern="0">
                          <a:effectLst/>
                        </a:rPr>
                        <a:t>1686.315789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1381836842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10.43952632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1.496757895</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884159616"/>
                  </a:ext>
                </a:extLst>
              </a:tr>
              <a:tr h="199954">
                <a:tc>
                  <a:txBody>
                    <a:bodyPr/>
                    <a:lstStyle/>
                    <a:p>
                      <a:pPr marL="0" marR="0" algn="ctr">
                        <a:lnSpc>
                          <a:spcPct val="107000"/>
                        </a:lnSpc>
                        <a:spcBef>
                          <a:spcPts val="0"/>
                        </a:spcBef>
                        <a:spcAft>
                          <a:spcPts val="0"/>
                        </a:spcAft>
                      </a:pPr>
                      <a:r>
                        <a:rPr lang="en-US" sz="1600" kern="0">
                          <a:effectLst/>
                        </a:rPr>
                        <a:t>1787.368421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1592026316</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11.05594737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1.412884211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2966197764"/>
                  </a:ext>
                </a:extLst>
              </a:tr>
              <a:tr h="199954">
                <a:tc>
                  <a:txBody>
                    <a:bodyPr/>
                    <a:lstStyle/>
                    <a:p>
                      <a:pPr marL="0" marR="0" algn="ctr">
                        <a:lnSpc>
                          <a:spcPct val="107000"/>
                        </a:lnSpc>
                        <a:spcBef>
                          <a:spcPts val="0"/>
                        </a:spcBef>
                        <a:spcAft>
                          <a:spcPts val="0"/>
                        </a:spcAft>
                      </a:pPr>
                      <a:r>
                        <a:rPr lang="en-US" sz="1600" kern="0">
                          <a:effectLst/>
                        </a:rPr>
                        <a:t>1888.421053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1802215789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11.67236842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1.329010526</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3513621998"/>
                  </a:ext>
                </a:extLst>
              </a:tr>
              <a:tr h="199954">
                <a:tc>
                  <a:txBody>
                    <a:bodyPr/>
                    <a:lstStyle/>
                    <a:p>
                      <a:pPr marL="0" marR="0" algn="ctr">
                        <a:lnSpc>
                          <a:spcPct val="107000"/>
                        </a:lnSpc>
                        <a:spcBef>
                          <a:spcPts val="0"/>
                        </a:spcBef>
                        <a:spcAft>
                          <a:spcPts val="0"/>
                        </a:spcAft>
                      </a:pPr>
                      <a:r>
                        <a:rPr lang="en-US" sz="1600" kern="0">
                          <a:effectLst/>
                        </a:rPr>
                        <a:t>1989.473684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2012405263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12.28878947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1.245136842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3950851818"/>
                  </a:ext>
                </a:extLst>
              </a:tr>
              <a:tr h="199954">
                <a:tc>
                  <a:txBody>
                    <a:bodyPr/>
                    <a:lstStyle/>
                    <a:p>
                      <a:pPr marL="0" marR="0" algn="ctr">
                        <a:lnSpc>
                          <a:spcPct val="107000"/>
                        </a:lnSpc>
                        <a:spcBef>
                          <a:spcPts val="0"/>
                        </a:spcBef>
                        <a:spcAft>
                          <a:spcPts val="0"/>
                        </a:spcAft>
                      </a:pPr>
                      <a:r>
                        <a:rPr lang="en-US" sz="1600" kern="0">
                          <a:effectLst/>
                        </a:rPr>
                        <a:t>2090.526316</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2222594737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12.90521053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1.161263158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1448753076"/>
                  </a:ext>
                </a:extLst>
              </a:tr>
              <a:tr h="199954">
                <a:tc>
                  <a:txBody>
                    <a:bodyPr/>
                    <a:lstStyle/>
                    <a:p>
                      <a:pPr marL="0" marR="0" algn="ctr">
                        <a:lnSpc>
                          <a:spcPct val="107000"/>
                        </a:lnSpc>
                        <a:spcBef>
                          <a:spcPts val="0"/>
                        </a:spcBef>
                        <a:spcAft>
                          <a:spcPts val="0"/>
                        </a:spcAft>
                      </a:pPr>
                      <a:r>
                        <a:rPr lang="en-US" sz="1600" kern="0">
                          <a:effectLst/>
                        </a:rPr>
                        <a:t>2191.578947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2432784211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13.52163158</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1.077389474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1478804136"/>
                  </a:ext>
                </a:extLst>
              </a:tr>
              <a:tr h="199954">
                <a:tc>
                  <a:txBody>
                    <a:bodyPr/>
                    <a:lstStyle/>
                    <a:p>
                      <a:pPr marL="0" marR="0" algn="ctr">
                        <a:lnSpc>
                          <a:spcPct val="107000"/>
                        </a:lnSpc>
                        <a:spcBef>
                          <a:spcPts val="0"/>
                        </a:spcBef>
                        <a:spcAft>
                          <a:spcPts val="0"/>
                        </a:spcAft>
                      </a:pPr>
                      <a:r>
                        <a:rPr lang="en-US" sz="1600" kern="0">
                          <a:effectLst/>
                        </a:rPr>
                        <a:t>2292.631579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2642973684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14.13805263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0.993515789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1221920089"/>
                  </a:ext>
                </a:extLst>
              </a:tr>
              <a:tr h="199954">
                <a:tc>
                  <a:txBody>
                    <a:bodyPr/>
                    <a:lstStyle/>
                    <a:p>
                      <a:pPr marL="0" marR="0" algn="ctr">
                        <a:lnSpc>
                          <a:spcPct val="107000"/>
                        </a:lnSpc>
                        <a:spcBef>
                          <a:spcPts val="0"/>
                        </a:spcBef>
                        <a:spcAft>
                          <a:spcPts val="0"/>
                        </a:spcAft>
                      </a:pPr>
                      <a:r>
                        <a:rPr lang="en-US" sz="1600" kern="0">
                          <a:effectLst/>
                        </a:rPr>
                        <a:t>2393.684211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2853163158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14.75447368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0.909642105</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2094818016"/>
                  </a:ext>
                </a:extLst>
              </a:tr>
              <a:tr h="199954">
                <a:tc>
                  <a:txBody>
                    <a:bodyPr/>
                    <a:lstStyle/>
                    <a:p>
                      <a:pPr marL="0" marR="0" algn="ctr">
                        <a:lnSpc>
                          <a:spcPct val="107000"/>
                        </a:lnSpc>
                        <a:spcBef>
                          <a:spcPts val="0"/>
                        </a:spcBef>
                        <a:spcAft>
                          <a:spcPts val="0"/>
                        </a:spcAft>
                      </a:pPr>
                      <a:r>
                        <a:rPr lang="en-US" sz="1600" kern="0">
                          <a:effectLst/>
                        </a:rPr>
                        <a:t>2494.736842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3063352632</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15.37089474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0.825768421</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4196009505"/>
                  </a:ext>
                </a:extLst>
              </a:tr>
              <a:tr h="199954">
                <a:tc>
                  <a:txBody>
                    <a:bodyPr/>
                    <a:lstStyle/>
                    <a:p>
                      <a:pPr marL="0" marR="0" algn="ctr">
                        <a:lnSpc>
                          <a:spcPct val="107000"/>
                        </a:lnSpc>
                        <a:spcBef>
                          <a:spcPts val="0"/>
                        </a:spcBef>
                        <a:spcAft>
                          <a:spcPts val="0"/>
                        </a:spcAft>
                      </a:pPr>
                      <a:r>
                        <a:rPr lang="en-US" sz="1600" kern="0">
                          <a:effectLst/>
                        </a:rPr>
                        <a:t>2595.789474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3273542105</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15.98731579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0.741894737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429565870"/>
                  </a:ext>
                </a:extLst>
              </a:tr>
              <a:tr h="199954">
                <a:tc>
                  <a:txBody>
                    <a:bodyPr/>
                    <a:lstStyle/>
                    <a:p>
                      <a:pPr marL="0" marR="0" algn="ctr">
                        <a:lnSpc>
                          <a:spcPct val="107000"/>
                        </a:lnSpc>
                        <a:spcBef>
                          <a:spcPts val="0"/>
                        </a:spcBef>
                        <a:spcAft>
                          <a:spcPts val="0"/>
                        </a:spcAft>
                      </a:pPr>
                      <a:r>
                        <a:rPr lang="en-US" sz="1600" kern="0">
                          <a:effectLst/>
                        </a:rPr>
                        <a:t>2696.842105</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3483731579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16.60373684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0.658021053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2397304259"/>
                  </a:ext>
                </a:extLst>
              </a:tr>
              <a:tr h="199954">
                <a:tc>
                  <a:txBody>
                    <a:bodyPr/>
                    <a:lstStyle/>
                    <a:p>
                      <a:pPr marL="0" marR="0" algn="ctr">
                        <a:lnSpc>
                          <a:spcPct val="107000"/>
                        </a:lnSpc>
                        <a:spcBef>
                          <a:spcPts val="0"/>
                        </a:spcBef>
                        <a:spcAft>
                          <a:spcPts val="0"/>
                        </a:spcAft>
                      </a:pPr>
                      <a:r>
                        <a:rPr lang="en-US" sz="1600" kern="0">
                          <a:effectLst/>
                        </a:rPr>
                        <a:t>2797.894737</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3693921053</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17.22015789</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0.574147368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2047645958"/>
                  </a:ext>
                </a:extLst>
              </a:tr>
              <a:tr h="199954">
                <a:tc>
                  <a:txBody>
                    <a:bodyPr/>
                    <a:lstStyle/>
                    <a:p>
                      <a:pPr marL="0" marR="0" algn="ctr">
                        <a:lnSpc>
                          <a:spcPct val="107000"/>
                        </a:lnSpc>
                        <a:spcBef>
                          <a:spcPts val="0"/>
                        </a:spcBef>
                        <a:spcAft>
                          <a:spcPts val="0"/>
                        </a:spcAft>
                      </a:pPr>
                      <a:r>
                        <a:rPr lang="en-US" sz="1600" kern="0">
                          <a:effectLst/>
                        </a:rPr>
                        <a:t>2898.947368</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3904110526</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17.83657895</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0.490273684</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2909308970"/>
                  </a:ext>
                </a:extLst>
              </a:tr>
              <a:tr h="199954">
                <a:tc>
                  <a:txBody>
                    <a:bodyPr/>
                    <a:lstStyle/>
                    <a:p>
                      <a:pPr marL="0" marR="0" algn="ctr">
                        <a:lnSpc>
                          <a:spcPct val="107000"/>
                        </a:lnSpc>
                        <a:spcBef>
                          <a:spcPts val="0"/>
                        </a:spcBef>
                        <a:spcAft>
                          <a:spcPts val="0"/>
                        </a:spcAft>
                      </a:pPr>
                      <a:r>
                        <a:rPr lang="en-US" sz="1600" kern="0" dirty="0">
                          <a:effectLst/>
                        </a:rPr>
                        <a:t>3000</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a:effectLst/>
                        </a:rPr>
                        <a:t>4114300000</a:t>
                      </a:r>
                      <a:endParaRPr lang="en-US" sz="16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18.453</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Bef>
                          <a:spcPts val="0"/>
                        </a:spcBef>
                        <a:spcAft>
                          <a:spcPts val="0"/>
                        </a:spcAft>
                      </a:pPr>
                      <a:r>
                        <a:rPr lang="en-US" sz="1600" kern="0" dirty="0">
                          <a:effectLst/>
                        </a:rPr>
                        <a:t>0.4064</a:t>
                      </a:r>
                      <a:endParaRPr lang="en-US" sz="16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extLst>
                  <a:ext uri="{0D108BD9-81ED-4DB2-BD59-A6C34878D82A}">
                    <a16:rowId xmlns:a16="http://schemas.microsoft.com/office/drawing/2014/main" val="825324984"/>
                  </a:ext>
                </a:extLst>
              </a:tr>
            </a:tbl>
          </a:graphicData>
        </a:graphic>
      </p:graphicFrame>
    </p:spTree>
    <p:extLst>
      <p:ext uri="{BB962C8B-B14F-4D97-AF65-F5344CB8AC3E}">
        <p14:creationId xmlns:p14="http://schemas.microsoft.com/office/powerpoint/2010/main" val="3543612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CB3B0-254E-E4D2-860D-49C74102E46F}"/>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F452F46E-7FBB-7B51-AD10-0F56E1863F6A}"/>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5D77E83-3D55-8C51-43BA-6186000DC5DB}"/>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9D5579B-0F2B-014D-528D-E1568BEB5872}"/>
              </a:ext>
            </a:extLst>
          </p:cNvPr>
          <p:cNvSpPr txBox="1"/>
          <p:nvPr/>
        </p:nvSpPr>
        <p:spPr>
          <a:xfrm>
            <a:off x="4031226" y="815853"/>
            <a:ext cx="4011762" cy="468077"/>
          </a:xfrm>
          <a:prstGeom prst="rect">
            <a:avLst/>
          </a:prstGeom>
          <a:noFill/>
        </p:spPr>
        <p:txBody>
          <a:bodyPr wrap="square">
            <a:spAutoFit/>
          </a:bodyPr>
          <a:lstStyle/>
          <a:p>
            <a:pPr marL="0" marR="0">
              <a:lnSpc>
                <a:spcPct val="107000"/>
              </a:lnSpc>
              <a:spcBef>
                <a:spcPts val="0"/>
              </a:spcBef>
              <a:spcAft>
                <a:spcPts val="800"/>
              </a:spcAft>
            </a:pPr>
            <a:r>
              <a:rPr lang="en-US" sz="2400" b="1" kern="100" dirty="0">
                <a:effectLst/>
                <a:latin typeface="Times New Roman" panose="02020603050405020304" pitchFamily="18" charset="0"/>
                <a:ea typeface="Calibri" panose="020F0502020204030204" pitchFamily="34" charset="0"/>
                <a:cs typeface="Vrinda" panose="020B0502040204020203" pitchFamily="34" charset="0"/>
              </a:rPr>
              <a:t>Different types of Graphs</a:t>
            </a:r>
            <a:endParaRPr lang="en-US" sz="2400" kern="100" dirty="0">
              <a:effectLst/>
              <a:latin typeface="Calibri" panose="020F0502020204030204" pitchFamily="34" charset="0"/>
              <a:ea typeface="Calibri" panose="020F0502020204030204" pitchFamily="34" charset="0"/>
              <a:cs typeface="Vrinda" panose="020B0502040204020203" pitchFamily="34" charset="0"/>
            </a:endParaRPr>
          </a:p>
        </p:txBody>
      </p:sp>
      <p:pic>
        <p:nvPicPr>
          <p:cNvPr id="3" name="Picture 2">
            <a:extLst>
              <a:ext uri="{FF2B5EF4-FFF2-40B4-BE49-F238E27FC236}">
                <a16:creationId xmlns:a16="http://schemas.microsoft.com/office/drawing/2014/main" id="{A66E4826-B994-429A-6D6C-1B411AC0D1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9659" y="1828789"/>
            <a:ext cx="5282013" cy="3696939"/>
          </a:xfrm>
          <a:prstGeom prst="rect">
            <a:avLst/>
          </a:prstGeom>
          <a:noFill/>
          <a:ln>
            <a:solidFill>
              <a:schemeClr val="tx1"/>
            </a:solidFill>
          </a:ln>
        </p:spPr>
      </p:pic>
      <p:pic>
        <p:nvPicPr>
          <p:cNvPr id="4" name="Picture 3">
            <a:extLst>
              <a:ext uri="{FF2B5EF4-FFF2-40B4-BE49-F238E27FC236}">
                <a16:creationId xmlns:a16="http://schemas.microsoft.com/office/drawing/2014/main" id="{D9D6C0D5-D8D3-27F2-CD35-7CC1727AF2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61471" y="1828789"/>
            <a:ext cx="5171767" cy="3696938"/>
          </a:xfrm>
          <a:prstGeom prst="rect">
            <a:avLst/>
          </a:prstGeom>
          <a:noFill/>
          <a:ln>
            <a:solidFill>
              <a:schemeClr val="tx1"/>
            </a:solidFill>
          </a:ln>
        </p:spPr>
      </p:pic>
    </p:spTree>
    <p:extLst>
      <p:ext uri="{BB962C8B-B14F-4D97-AF65-F5344CB8AC3E}">
        <p14:creationId xmlns:p14="http://schemas.microsoft.com/office/powerpoint/2010/main" val="37900448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98715-F8D7-9A84-892D-0AA1CF1F75DF}"/>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F410874D-B2ED-6F28-F91C-854BEA82E645}"/>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941063E9-8509-3BA3-2866-8B29D54C7711}"/>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C789805-E87B-D0C2-018E-50DF4AF591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8529" y="1266762"/>
            <a:ext cx="7454941" cy="4908403"/>
          </a:xfrm>
          <a:prstGeom prst="rect">
            <a:avLst/>
          </a:prstGeom>
          <a:noFill/>
          <a:ln>
            <a:noFill/>
          </a:ln>
        </p:spPr>
      </p:pic>
    </p:spTree>
    <p:extLst>
      <p:ext uri="{BB962C8B-B14F-4D97-AF65-F5344CB8AC3E}">
        <p14:creationId xmlns:p14="http://schemas.microsoft.com/office/powerpoint/2010/main" val="857841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76E7635-632B-4A62-A2D0-118CE8EBFE46}"/>
              </a:ext>
            </a:extLst>
          </p:cNvPr>
          <p:cNvSpPr/>
          <p:nvPr/>
        </p:nvSpPr>
        <p:spPr>
          <a:xfrm>
            <a:off x="2684192" y="5155044"/>
            <a:ext cx="5259275" cy="1077218"/>
          </a:xfrm>
          <a:prstGeom prst="rect">
            <a:avLst/>
          </a:prstGeom>
        </p:spPr>
        <p:txBody>
          <a:bodyPr wrap="square" anchor="b">
            <a:spAutoFit/>
          </a:bodyPr>
          <a:lstStyle/>
          <a:p>
            <a:pPr algn="ctr"/>
            <a:r>
              <a:rPr lang="en-US" sz="3200" b="1" dirty="0" err="1"/>
              <a:t>Punno</a:t>
            </a:r>
            <a:r>
              <a:rPr lang="en-US" sz="3200" dirty="0"/>
              <a:t> </a:t>
            </a:r>
            <a:r>
              <a:rPr lang="en-US" sz="3200" b="1" dirty="0"/>
              <a:t>Saha</a:t>
            </a:r>
          </a:p>
          <a:p>
            <a:pPr algn="ctr"/>
            <a:r>
              <a:rPr lang="en-US" sz="3200" b="1" dirty="0"/>
              <a:t>2005002</a:t>
            </a:r>
          </a:p>
        </p:txBody>
      </p:sp>
      <p:pic>
        <p:nvPicPr>
          <p:cNvPr id="34" name="Picture 33">
            <a:extLst>
              <a:ext uri="{FF2B5EF4-FFF2-40B4-BE49-F238E27FC236}">
                <a16:creationId xmlns:a16="http://schemas.microsoft.com/office/drawing/2014/main" id="{4520A27C-C541-4DCB-11D1-8166F48A238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48" t="40345" r="19323" b="19959"/>
          <a:stretch/>
        </p:blipFill>
        <p:spPr>
          <a:xfrm>
            <a:off x="4189960" y="1967043"/>
            <a:ext cx="2369080" cy="2369080"/>
          </a:xfrm>
          <a:prstGeom prst="ellipse">
            <a:avLst/>
          </a:prstGeom>
          <a:ln w="38100">
            <a:solidFill>
              <a:schemeClr val="accent2"/>
            </a:solidFill>
          </a:ln>
        </p:spPr>
      </p:pic>
      <p:sp>
        <p:nvSpPr>
          <p:cNvPr id="49" name="Rectangle 48">
            <a:extLst>
              <a:ext uri="{FF2B5EF4-FFF2-40B4-BE49-F238E27FC236}">
                <a16:creationId xmlns:a16="http://schemas.microsoft.com/office/drawing/2014/main" id="{68AC7793-795D-4393-9208-F7942D3837D9}"/>
              </a:ext>
            </a:extLst>
          </p:cNvPr>
          <p:cNvSpPr/>
          <p:nvPr/>
        </p:nvSpPr>
        <p:spPr>
          <a:xfrm>
            <a:off x="1222311" y="625738"/>
            <a:ext cx="8462866" cy="954107"/>
          </a:xfrm>
          <a:prstGeom prst="rect">
            <a:avLst/>
          </a:prstGeom>
          <a:noFill/>
        </p:spPr>
        <p:txBody>
          <a:bodyPr wrap="square" lIns="91440" tIns="45720" rIns="91440" bIns="45720">
            <a:spAutoFit/>
          </a:bodyPr>
          <a:lstStyle/>
          <a:p>
            <a:pPr algn="ctr"/>
            <a:r>
              <a:rPr lang="en-US" sz="2800" b="1" dirty="0">
                <a:ln w="9525">
                  <a:solidFill>
                    <a:schemeClr val="bg1"/>
                  </a:solidFill>
                  <a:prstDash val="solid"/>
                </a:ln>
                <a:effectLst>
                  <a:outerShdw blurRad="12700" dist="38100" dir="2700000" algn="tl" rotWithShape="0">
                    <a:schemeClr val="bg1">
                      <a:lumMod val="50000"/>
                    </a:schemeClr>
                  </a:outerShdw>
                </a:effectLst>
                <a:latin typeface="+mj-lt"/>
              </a:rPr>
              <a:t>Material Selection &amp; </a:t>
            </a:r>
          </a:p>
          <a:p>
            <a:pPr algn="ctr"/>
            <a:r>
              <a:rPr lang="en-US" sz="2800" b="1" dirty="0">
                <a:ln w="9525">
                  <a:solidFill>
                    <a:schemeClr val="bg1"/>
                  </a:solidFill>
                  <a:prstDash val="solid"/>
                </a:ln>
                <a:effectLst>
                  <a:outerShdw blurRad="12700" dist="38100" dir="2700000" algn="tl" rotWithShape="0">
                    <a:schemeClr val="bg1">
                      <a:lumMod val="50000"/>
                    </a:schemeClr>
                  </a:outerShdw>
                </a:effectLst>
                <a:latin typeface="+mj-lt"/>
              </a:rPr>
              <a:t>Manufacturing</a:t>
            </a:r>
            <a:r>
              <a:rPr lang="en-US" sz="2800" b="1" dirty="0">
                <a:ln w="9525">
                  <a:solidFill>
                    <a:schemeClr val="bg1"/>
                  </a:solidFill>
                  <a:prstDash val="solid"/>
                </a:ln>
                <a:solidFill>
                  <a:schemeClr val="accent3"/>
                </a:solidFill>
                <a:effectLst>
                  <a:outerShdw blurRad="12700" dist="38100" dir="2700000" algn="tl" rotWithShape="0">
                    <a:schemeClr val="bg1">
                      <a:lumMod val="50000"/>
                    </a:schemeClr>
                  </a:outerShdw>
                </a:effectLst>
                <a:latin typeface="+mj-lt"/>
              </a:rPr>
              <a:t> </a:t>
            </a:r>
            <a:r>
              <a:rPr lang="en-US" sz="2800" b="1" dirty="0">
                <a:ln w="9525">
                  <a:solidFill>
                    <a:schemeClr val="bg1"/>
                  </a:solidFill>
                  <a:prstDash val="solid"/>
                </a:ln>
                <a:solidFill>
                  <a:schemeClr val="accent3">
                    <a:lumMod val="75000"/>
                  </a:schemeClr>
                </a:solidFill>
                <a:effectLst>
                  <a:outerShdw blurRad="12700" dist="38100" dir="2700000" algn="tl" rotWithShape="0">
                    <a:schemeClr val="bg1">
                      <a:lumMod val="50000"/>
                    </a:schemeClr>
                  </a:outerShdw>
                </a:effectLst>
                <a:latin typeface="+mj-lt"/>
              </a:rPr>
              <a:t>Process</a:t>
            </a:r>
          </a:p>
        </p:txBody>
      </p:sp>
      <p:sp>
        <p:nvSpPr>
          <p:cNvPr id="2" name="Rectangle 1">
            <a:extLst>
              <a:ext uri="{FF2B5EF4-FFF2-40B4-BE49-F238E27FC236}">
                <a16:creationId xmlns:a16="http://schemas.microsoft.com/office/drawing/2014/main" id="{CDC79441-E0CD-B9E8-24DF-76B6F7F2C989}"/>
              </a:ext>
            </a:extLst>
          </p:cNvPr>
          <p:cNvSpPr/>
          <p:nvPr/>
        </p:nvSpPr>
        <p:spPr>
          <a:xfrm rot="19289892">
            <a:off x="-1387949" y="-450449"/>
            <a:ext cx="4025830" cy="151476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C3BB43-79AD-A29C-828B-80F4C68B3FA4}"/>
              </a:ext>
            </a:extLst>
          </p:cNvPr>
          <p:cNvSpPr txBox="1"/>
          <p:nvPr/>
        </p:nvSpPr>
        <p:spPr>
          <a:xfrm>
            <a:off x="4422596" y="4514751"/>
            <a:ext cx="2062296" cy="461665"/>
          </a:xfrm>
          <a:prstGeom prst="rect">
            <a:avLst/>
          </a:prstGeom>
          <a:noFill/>
        </p:spPr>
        <p:txBody>
          <a:bodyPr wrap="none" rtlCol="0">
            <a:spAutoFit/>
          </a:bodyPr>
          <a:lstStyle/>
          <a:p>
            <a:r>
              <a:rPr lang="en-US" sz="2400" dirty="0"/>
              <a:t>Presented by</a:t>
            </a:r>
          </a:p>
        </p:txBody>
      </p:sp>
    </p:spTree>
    <p:extLst>
      <p:ext uri="{BB962C8B-B14F-4D97-AF65-F5344CB8AC3E}">
        <p14:creationId xmlns:p14="http://schemas.microsoft.com/office/powerpoint/2010/main" val="1821787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80140-DEE9-5F2D-1D82-0F97B527978C}"/>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F0DDEB0D-0080-4D65-D799-9C78A82EEC4E}"/>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52164E0-FA57-E66D-CB25-8B431AEF1394}"/>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16C487F-8F39-5C5C-C90F-050A0287F515}"/>
              </a:ext>
            </a:extLst>
          </p:cNvPr>
          <p:cNvSpPr txBox="1"/>
          <p:nvPr/>
        </p:nvSpPr>
        <p:spPr>
          <a:xfrm>
            <a:off x="522157" y="1387762"/>
            <a:ext cx="4127223" cy="584775"/>
          </a:xfrm>
          <a:prstGeom prst="rect">
            <a:avLst/>
          </a:prstGeom>
          <a:noFill/>
        </p:spPr>
        <p:txBody>
          <a:bodyPr wrap="square">
            <a:spAutoFit/>
          </a:bodyPr>
          <a:lstStyle/>
          <a:p>
            <a:r>
              <a:rPr lang="en-US" sz="3200" b="1" i="0" u="none" strike="noStrike" baseline="0" dirty="0">
                <a:solidFill>
                  <a:schemeClr val="accent3"/>
                </a:solidFill>
                <a:latin typeface="Times New Roman" panose="02020603050405020304" pitchFamily="18" charset="0"/>
              </a:rPr>
              <a:t>Material</a:t>
            </a:r>
            <a:r>
              <a:rPr lang="en-US" sz="3200" b="1" i="0" u="none" strike="noStrike" baseline="0" dirty="0">
                <a:solidFill>
                  <a:srgbClr val="000000"/>
                </a:solidFill>
                <a:latin typeface="Times New Roman" panose="02020603050405020304" pitchFamily="18" charset="0"/>
              </a:rPr>
              <a:t> </a:t>
            </a:r>
            <a:r>
              <a:rPr lang="en-US" sz="3200" b="1" i="0" u="none" strike="noStrike" baseline="0" dirty="0">
                <a:solidFill>
                  <a:schemeClr val="accent2"/>
                </a:solidFill>
                <a:latin typeface="Times New Roman" panose="02020603050405020304" pitchFamily="18" charset="0"/>
              </a:rPr>
              <a:t>Selection </a:t>
            </a:r>
            <a:endParaRPr lang="en-US" sz="3200" dirty="0">
              <a:solidFill>
                <a:schemeClr val="accent2"/>
              </a:solidFill>
            </a:endParaRPr>
          </a:p>
        </p:txBody>
      </p:sp>
      <p:sp>
        <p:nvSpPr>
          <p:cNvPr id="3" name="TextBox 2">
            <a:extLst>
              <a:ext uri="{FF2B5EF4-FFF2-40B4-BE49-F238E27FC236}">
                <a16:creationId xmlns:a16="http://schemas.microsoft.com/office/drawing/2014/main" id="{3049E21A-D202-330F-84D3-E8705C441C08}"/>
              </a:ext>
            </a:extLst>
          </p:cNvPr>
          <p:cNvSpPr txBox="1"/>
          <p:nvPr/>
        </p:nvSpPr>
        <p:spPr>
          <a:xfrm>
            <a:off x="522157" y="2122437"/>
            <a:ext cx="4539208" cy="2308324"/>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The main goal of material selection is to minimize cost while meeting product performance goals. The cost and properties of candidate materials begin the process of material selection. </a:t>
            </a:r>
          </a:p>
        </p:txBody>
      </p:sp>
      <p:sp>
        <p:nvSpPr>
          <p:cNvPr id="4" name="AutoShape 2" descr="Construction Materials : 10 Different Construction Materials Around The  Globe - RTF | Rethinking The Future">
            <a:extLst>
              <a:ext uri="{FF2B5EF4-FFF2-40B4-BE49-F238E27FC236}">
                <a16:creationId xmlns:a16="http://schemas.microsoft.com/office/drawing/2014/main" id="{087973BB-ABE1-CD2B-F8D3-3DBD9F78E126}"/>
              </a:ext>
            </a:extLst>
          </p:cNvPr>
          <p:cNvSpPr>
            <a:spLocks noChangeAspect="1" noChangeArrowheads="1"/>
          </p:cNvSpPr>
          <p:nvPr/>
        </p:nvSpPr>
        <p:spPr bwMode="auto">
          <a:xfrm>
            <a:off x="5943599" y="3276599"/>
            <a:ext cx="2267339" cy="22673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Construction Materials : 10 Different Construction Materials Around The  Globe - RTF | Rethinking The Future">
            <a:extLst>
              <a:ext uri="{FF2B5EF4-FFF2-40B4-BE49-F238E27FC236}">
                <a16:creationId xmlns:a16="http://schemas.microsoft.com/office/drawing/2014/main" id="{958BD0F7-B451-6DB8-EB26-81D8740D9C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6D740209-D1FA-9D8C-CB0D-1D7DCACBA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599" y="1498239"/>
            <a:ext cx="3739680" cy="3080984"/>
          </a:xfrm>
          <a:prstGeom prst="rect">
            <a:avLst/>
          </a:prstGeom>
        </p:spPr>
      </p:pic>
      <p:pic>
        <p:nvPicPr>
          <p:cNvPr id="1030" name="Picture 6" descr="Selection - Free ui icons">
            <a:extLst>
              <a:ext uri="{FF2B5EF4-FFF2-40B4-BE49-F238E27FC236}">
                <a16:creationId xmlns:a16="http://schemas.microsoft.com/office/drawing/2014/main" id="{FB7CA349-9FC2-75E4-9C51-1FCAF740F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993" y="4450977"/>
            <a:ext cx="2563520" cy="197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4278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91954-6A4F-6F3F-6EAD-6593080F87A5}"/>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4BCC3ABB-0F31-BBB9-405F-03E8E9018FCD}"/>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236EA64-CE89-74BC-7647-7DC067DD381D}"/>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5540A01-C0A4-0927-CBF1-A46A1E753E7C}"/>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808037" y="2463957"/>
            <a:ext cx="5287963" cy="3459660"/>
          </a:xfrm>
          <a:prstGeom prst="rect">
            <a:avLst/>
          </a:prstGeom>
          <a:noFill/>
          <a:ln w="9525">
            <a:noFill/>
          </a:ln>
        </p:spPr>
      </p:pic>
      <p:sp>
        <p:nvSpPr>
          <p:cNvPr id="3" name="TextBox 2">
            <a:extLst>
              <a:ext uri="{FF2B5EF4-FFF2-40B4-BE49-F238E27FC236}">
                <a16:creationId xmlns:a16="http://schemas.microsoft.com/office/drawing/2014/main" id="{14C0DF7D-074B-D239-EB1E-BE4885C379CB}"/>
              </a:ext>
            </a:extLst>
          </p:cNvPr>
          <p:cNvSpPr txBox="1"/>
          <p:nvPr/>
        </p:nvSpPr>
        <p:spPr>
          <a:xfrm>
            <a:off x="742723" y="949055"/>
            <a:ext cx="10603301" cy="1200329"/>
          </a:xfrm>
          <a:prstGeom prst="rect">
            <a:avLst/>
          </a:prstGeom>
          <a:noFill/>
        </p:spPr>
        <p:txBody>
          <a:bodyPr wrap="square">
            <a:spAutoFit/>
          </a:bodyPr>
          <a:lstStyle/>
          <a:p>
            <a:r>
              <a:rPr lang="en-US" sz="2400" b="0" i="0" u="none" strike="noStrike" baseline="0" dirty="0">
                <a:solidFill>
                  <a:srgbClr val="000000"/>
                </a:solidFill>
                <a:latin typeface="Times New Roman" panose="02020603050405020304" pitchFamily="18" charset="0"/>
              </a:rPr>
              <a:t>We use the </a:t>
            </a:r>
            <a:r>
              <a:rPr lang="en-US" sz="2400" b="1" i="0" u="none" strike="noStrike" baseline="0" dirty="0">
                <a:solidFill>
                  <a:schemeClr val="accent3"/>
                </a:solidFill>
                <a:latin typeface="Times New Roman" panose="02020603050405020304" pitchFamily="18" charset="0"/>
              </a:rPr>
              <a:t>Digital Logic Method </a:t>
            </a:r>
            <a:r>
              <a:rPr lang="en-US" sz="2400" b="0" i="0" u="none" strike="noStrike" baseline="0" dirty="0">
                <a:solidFill>
                  <a:srgbClr val="000000"/>
                </a:solidFill>
                <a:latin typeface="Times New Roman" panose="02020603050405020304" pitchFamily="18" charset="0"/>
              </a:rPr>
              <a:t>to select the material of our product. In the Digital Logic Method, we find the value of α and β in the following way. The performance index, Y= Σαβ and the material with the highest value of ϒ is considered the best. </a:t>
            </a:r>
            <a:endParaRPr lang="en-US" sz="2400" dirty="0"/>
          </a:p>
        </p:txBody>
      </p:sp>
      <p:pic>
        <p:nvPicPr>
          <p:cNvPr id="2056" name="Picture 8">
            <a:extLst>
              <a:ext uri="{FF2B5EF4-FFF2-40B4-BE49-F238E27FC236}">
                <a16:creationId xmlns:a16="http://schemas.microsoft.com/office/drawing/2014/main" id="{15F61954-797B-D7BD-6381-A4673F829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1622" y="2561656"/>
            <a:ext cx="3264261" cy="3264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44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C8EDB-D510-D546-366A-E0D41372858E}"/>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44006F11-0472-64D4-6D56-4CB649492BE9}"/>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9C17EF2D-BBA3-E1EE-2ED1-25CE8480468B}"/>
              </a:ext>
            </a:extLst>
          </p:cNvPr>
          <p:cNvSpPr/>
          <p:nvPr/>
        </p:nvSpPr>
        <p:spPr>
          <a:xfrm>
            <a:off x="11405541" y="63656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6AB4491-3C6A-70B8-93EB-F5E403453FC8}"/>
              </a:ext>
            </a:extLst>
          </p:cNvPr>
          <p:cNvSpPr txBox="1"/>
          <p:nvPr/>
        </p:nvSpPr>
        <p:spPr>
          <a:xfrm>
            <a:off x="3132169" y="680783"/>
            <a:ext cx="6554756" cy="523220"/>
          </a:xfrm>
          <a:prstGeom prst="rect">
            <a:avLst/>
          </a:prstGeom>
          <a:noFill/>
        </p:spPr>
        <p:txBody>
          <a:bodyPr wrap="square">
            <a:spAutoFit/>
          </a:bodyPr>
          <a:lstStyle/>
          <a:p>
            <a:r>
              <a:rPr lang="en-US" sz="2800" b="1" i="0" u="none" strike="noStrike" baseline="0" dirty="0">
                <a:solidFill>
                  <a:schemeClr val="accent3">
                    <a:lumMod val="75000"/>
                  </a:schemeClr>
                </a:solidFill>
                <a:latin typeface="Times New Roman" panose="02020603050405020304" pitchFamily="18" charset="0"/>
              </a:rPr>
              <a:t>Material Selection of Cart’s Frame</a:t>
            </a:r>
            <a:endParaRPr lang="en-US" sz="2800" dirty="0">
              <a:solidFill>
                <a:schemeClr val="accent3">
                  <a:lumMod val="75000"/>
                </a:schemeClr>
              </a:solidFill>
            </a:endParaRPr>
          </a:p>
        </p:txBody>
      </p:sp>
      <p:graphicFrame>
        <p:nvGraphicFramePr>
          <p:cNvPr id="3" name="Table 2">
            <a:extLst>
              <a:ext uri="{FF2B5EF4-FFF2-40B4-BE49-F238E27FC236}">
                <a16:creationId xmlns:a16="http://schemas.microsoft.com/office/drawing/2014/main" id="{F61C128A-EE51-69BC-C558-D7B1237F2357}"/>
              </a:ext>
            </a:extLst>
          </p:cNvPr>
          <p:cNvGraphicFramePr>
            <a:graphicFrameLocks noGrp="1"/>
          </p:cNvGraphicFramePr>
          <p:nvPr>
            <p:extLst>
              <p:ext uri="{D42A27DB-BD31-4B8C-83A1-F6EECF244321}">
                <p14:modId xmlns:p14="http://schemas.microsoft.com/office/powerpoint/2010/main" val="2410032958"/>
              </p:ext>
            </p:extLst>
          </p:nvPr>
        </p:nvGraphicFramePr>
        <p:xfrm>
          <a:off x="960469" y="1739182"/>
          <a:ext cx="10528034" cy="4438034"/>
        </p:xfrm>
        <a:graphic>
          <a:graphicData uri="http://schemas.openxmlformats.org/drawingml/2006/table">
            <a:tbl>
              <a:tblPr firstRow="1" firstCol="1" bandRow="1">
                <a:tableStyleId>{ED083AE6-46FA-4A59-8FB0-9F97EB10719F}</a:tableStyleId>
              </a:tblPr>
              <a:tblGrid>
                <a:gridCol w="1372285">
                  <a:extLst>
                    <a:ext uri="{9D8B030D-6E8A-4147-A177-3AD203B41FA5}">
                      <a16:colId xmlns:a16="http://schemas.microsoft.com/office/drawing/2014/main" val="2092560614"/>
                    </a:ext>
                  </a:extLst>
                </a:gridCol>
                <a:gridCol w="323527">
                  <a:extLst>
                    <a:ext uri="{9D8B030D-6E8A-4147-A177-3AD203B41FA5}">
                      <a16:colId xmlns:a16="http://schemas.microsoft.com/office/drawing/2014/main" val="3139288559"/>
                    </a:ext>
                  </a:extLst>
                </a:gridCol>
                <a:gridCol w="241744">
                  <a:extLst>
                    <a:ext uri="{9D8B030D-6E8A-4147-A177-3AD203B41FA5}">
                      <a16:colId xmlns:a16="http://schemas.microsoft.com/office/drawing/2014/main" val="2111502416"/>
                    </a:ext>
                  </a:extLst>
                </a:gridCol>
                <a:gridCol w="243542">
                  <a:extLst>
                    <a:ext uri="{9D8B030D-6E8A-4147-A177-3AD203B41FA5}">
                      <a16:colId xmlns:a16="http://schemas.microsoft.com/office/drawing/2014/main" val="596233629"/>
                    </a:ext>
                  </a:extLst>
                </a:gridCol>
                <a:gridCol w="226468">
                  <a:extLst>
                    <a:ext uri="{9D8B030D-6E8A-4147-A177-3AD203B41FA5}">
                      <a16:colId xmlns:a16="http://schemas.microsoft.com/office/drawing/2014/main" val="1873278537"/>
                    </a:ext>
                  </a:extLst>
                </a:gridCol>
                <a:gridCol w="292968">
                  <a:extLst>
                    <a:ext uri="{9D8B030D-6E8A-4147-A177-3AD203B41FA5}">
                      <a16:colId xmlns:a16="http://schemas.microsoft.com/office/drawing/2014/main" val="3279077714"/>
                    </a:ext>
                  </a:extLst>
                </a:gridCol>
                <a:gridCol w="295667">
                  <a:extLst>
                    <a:ext uri="{9D8B030D-6E8A-4147-A177-3AD203B41FA5}">
                      <a16:colId xmlns:a16="http://schemas.microsoft.com/office/drawing/2014/main" val="1103336910"/>
                    </a:ext>
                  </a:extLst>
                </a:gridCol>
                <a:gridCol w="295667">
                  <a:extLst>
                    <a:ext uri="{9D8B030D-6E8A-4147-A177-3AD203B41FA5}">
                      <a16:colId xmlns:a16="http://schemas.microsoft.com/office/drawing/2014/main" val="1915511432"/>
                    </a:ext>
                  </a:extLst>
                </a:gridCol>
                <a:gridCol w="292968">
                  <a:extLst>
                    <a:ext uri="{9D8B030D-6E8A-4147-A177-3AD203B41FA5}">
                      <a16:colId xmlns:a16="http://schemas.microsoft.com/office/drawing/2014/main" val="392819629"/>
                    </a:ext>
                  </a:extLst>
                </a:gridCol>
                <a:gridCol w="295667">
                  <a:extLst>
                    <a:ext uri="{9D8B030D-6E8A-4147-A177-3AD203B41FA5}">
                      <a16:colId xmlns:a16="http://schemas.microsoft.com/office/drawing/2014/main" val="698578944"/>
                    </a:ext>
                  </a:extLst>
                </a:gridCol>
                <a:gridCol w="394520">
                  <a:extLst>
                    <a:ext uri="{9D8B030D-6E8A-4147-A177-3AD203B41FA5}">
                      <a16:colId xmlns:a16="http://schemas.microsoft.com/office/drawing/2014/main" val="1632227802"/>
                    </a:ext>
                  </a:extLst>
                </a:gridCol>
                <a:gridCol w="397216">
                  <a:extLst>
                    <a:ext uri="{9D8B030D-6E8A-4147-A177-3AD203B41FA5}">
                      <a16:colId xmlns:a16="http://schemas.microsoft.com/office/drawing/2014/main" val="2179718995"/>
                    </a:ext>
                  </a:extLst>
                </a:gridCol>
                <a:gridCol w="394520">
                  <a:extLst>
                    <a:ext uri="{9D8B030D-6E8A-4147-A177-3AD203B41FA5}">
                      <a16:colId xmlns:a16="http://schemas.microsoft.com/office/drawing/2014/main" val="1056713186"/>
                    </a:ext>
                  </a:extLst>
                </a:gridCol>
                <a:gridCol w="394520">
                  <a:extLst>
                    <a:ext uri="{9D8B030D-6E8A-4147-A177-3AD203B41FA5}">
                      <a16:colId xmlns:a16="http://schemas.microsoft.com/office/drawing/2014/main" val="1045711332"/>
                    </a:ext>
                  </a:extLst>
                </a:gridCol>
                <a:gridCol w="397216">
                  <a:extLst>
                    <a:ext uri="{9D8B030D-6E8A-4147-A177-3AD203B41FA5}">
                      <a16:colId xmlns:a16="http://schemas.microsoft.com/office/drawing/2014/main" val="3514282480"/>
                    </a:ext>
                  </a:extLst>
                </a:gridCol>
                <a:gridCol w="394520">
                  <a:extLst>
                    <a:ext uri="{9D8B030D-6E8A-4147-A177-3AD203B41FA5}">
                      <a16:colId xmlns:a16="http://schemas.microsoft.com/office/drawing/2014/main" val="2481725822"/>
                    </a:ext>
                  </a:extLst>
                </a:gridCol>
                <a:gridCol w="394520">
                  <a:extLst>
                    <a:ext uri="{9D8B030D-6E8A-4147-A177-3AD203B41FA5}">
                      <a16:colId xmlns:a16="http://schemas.microsoft.com/office/drawing/2014/main" val="3625129191"/>
                    </a:ext>
                  </a:extLst>
                </a:gridCol>
                <a:gridCol w="397216">
                  <a:extLst>
                    <a:ext uri="{9D8B030D-6E8A-4147-A177-3AD203B41FA5}">
                      <a16:colId xmlns:a16="http://schemas.microsoft.com/office/drawing/2014/main" val="1726164229"/>
                    </a:ext>
                  </a:extLst>
                </a:gridCol>
                <a:gridCol w="394520">
                  <a:extLst>
                    <a:ext uri="{9D8B030D-6E8A-4147-A177-3AD203B41FA5}">
                      <a16:colId xmlns:a16="http://schemas.microsoft.com/office/drawing/2014/main" val="253425525"/>
                    </a:ext>
                  </a:extLst>
                </a:gridCol>
                <a:gridCol w="394520">
                  <a:extLst>
                    <a:ext uri="{9D8B030D-6E8A-4147-A177-3AD203B41FA5}">
                      <a16:colId xmlns:a16="http://schemas.microsoft.com/office/drawing/2014/main" val="1241705563"/>
                    </a:ext>
                  </a:extLst>
                </a:gridCol>
                <a:gridCol w="319221">
                  <a:extLst>
                    <a:ext uri="{9D8B030D-6E8A-4147-A177-3AD203B41FA5}">
                      <a16:colId xmlns:a16="http://schemas.microsoft.com/office/drawing/2014/main" val="876234102"/>
                    </a:ext>
                  </a:extLst>
                </a:gridCol>
                <a:gridCol w="314325">
                  <a:extLst>
                    <a:ext uri="{9D8B030D-6E8A-4147-A177-3AD203B41FA5}">
                      <a16:colId xmlns:a16="http://schemas.microsoft.com/office/drawing/2014/main" val="208442593"/>
                    </a:ext>
                  </a:extLst>
                </a:gridCol>
                <a:gridCol w="950400">
                  <a:extLst>
                    <a:ext uri="{9D8B030D-6E8A-4147-A177-3AD203B41FA5}">
                      <a16:colId xmlns:a16="http://schemas.microsoft.com/office/drawing/2014/main" val="2988305467"/>
                    </a:ext>
                  </a:extLst>
                </a:gridCol>
                <a:gridCol w="1110297">
                  <a:extLst>
                    <a:ext uri="{9D8B030D-6E8A-4147-A177-3AD203B41FA5}">
                      <a16:colId xmlns:a16="http://schemas.microsoft.com/office/drawing/2014/main" val="3957564500"/>
                    </a:ext>
                  </a:extLst>
                </a:gridCol>
              </a:tblGrid>
              <a:tr h="828350">
                <a:tc>
                  <a:txBody>
                    <a:bodyPr/>
                    <a:lstStyle/>
                    <a:p>
                      <a:pPr marL="0" marR="0" indent="0" algn="ctr">
                        <a:lnSpc>
                          <a:spcPct val="107000"/>
                        </a:lnSpc>
                        <a:spcAft>
                          <a:spcPts val="5"/>
                        </a:spcAft>
                      </a:pPr>
                      <a:r>
                        <a:rPr lang="en-US" sz="1400" kern="100">
                          <a:effectLst/>
                        </a:rPr>
                        <a:t>Selection Criteria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048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175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5969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ctr">
                        <a:lnSpc>
                          <a:spcPct val="107000"/>
                        </a:lnSpc>
                        <a:spcAft>
                          <a:spcPts val="5"/>
                        </a:spcAft>
                      </a:pPr>
                      <a:r>
                        <a:rPr lang="en-US" sz="1400" kern="100">
                          <a:effectLst/>
                        </a:rPr>
                        <a:t>Positive Decisions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41275" marR="0" indent="0" algn="l">
                        <a:lnSpc>
                          <a:spcPct val="107000"/>
                        </a:lnSpc>
                        <a:spcAft>
                          <a:spcPts val="5"/>
                        </a:spcAft>
                      </a:pPr>
                      <a:r>
                        <a:rPr lang="en-US" sz="1400" kern="100" dirty="0">
                          <a:effectLst/>
                        </a:rPr>
                        <a:t>Relative </a:t>
                      </a:r>
                    </a:p>
                    <a:p>
                      <a:pPr marL="0" marR="0" indent="0" algn="l">
                        <a:lnSpc>
                          <a:spcPct val="107000"/>
                        </a:lnSpc>
                        <a:spcAft>
                          <a:spcPts val="5"/>
                        </a:spcAft>
                      </a:pPr>
                      <a:r>
                        <a:rPr lang="en-US" sz="1400" kern="100" dirty="0">
                          <a:effectLst/>
                        </a:rPr>
                        <a:t>Emphasis Co-</a:t>
                      </a:r>
                    </a:p>
                    <a:p>
                      <a:pPr marL="36830" marR="0" indent="0" algn="l">
                        <a:lnSpc>
                          <a:spcPct val="107000"/>
                        </a:lnSpc>
                        <a:spcAft>
                          <a:spcPts val="5"/>
                        </a:spcAft>
                      </a:pPr>
                      <a:r>
                        <a:rPr lang="en-US" sz="1400" kern="100" dirty="0">
                          <a:effectLst/>
                        </a:rPr>
                        <a:t>efficient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1490687758"/>
                  </a:ext>
                </a:extLst>
              </a:tr>
              <a:tr h="372156">
                <a:tc>
                  <a:txBody>
                    <a:bodyPr/>
                    <a:lstStyle/>
                    <a:p>
                      <a:pPr marL="0" marR="3683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2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6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16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20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21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1760037890"/>
                  </a:ext>
                </a:extLst>
              </a:tr>
              <a:tr h="480950">
                <a:tc>
                  <a:txBody>
                    <a:bodyPr/>
                    <a:lstStyle/>
                    <a:p>
                      <a:pPr marL="0" marR="0" indent="0" algn="just">
                        <a:lnSpc>
                          <a:spcPct val="107000"/>
                        </a:lnSpc>
                        <a:spcAft>
                          <a:spcPts val="5"/>
                        </a:spcAft>
                      </a:pPr>
                      <a:r>
                        <a:rPr lang="en-US" sz="1400" kern="100" dirty="0">
                          <a:effectLst/>
                        </a:rPr>
                        <a:t>1.Ultimate Strength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6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0.28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3067641459"/>
                  </a:ext>
                </a:extLst>
              </a:tr>
              <a:tr h="468220">
                <a:tc>
                  <a:txBody>
                    <a:bodyPr/>
                    <a:lstStyle/>
                    <a:p>
                      <a:pPr marL="0" marR="0" indent="0" algn="just">
                        <a:lnSpc>
                          <a:spcPct val="107000"/>
                        </a:lnSpc>
                        <a:spcAft>
                          <a:spcPts val="5"/>
                        </a:spcAft>
                      </a:pPr>
                      <a:r>
                        <a:rPr lang="en-US" sz="1400" kern="100" dirty="0">
                          <a:effectLst/>
                        </a:rPr>
                        <a:t>2. Toughness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048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175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5969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0.24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7916278"/>
                  </a:ext>
                </a:extLst>
              </a:tr>
              <a:tr h="374291">
                <a:tc>
                  <a:txBody>
                    <a:bodyPr/>
                    <a:lstStyle/>
                    <a:p>
                      <a:pPr marL="0" marR="71120" indent="0" algn="just">
                        <a:lnSpc>
                          <a:spcPct val="107000"/>
                        </a:lnSpc>
                        <a:spcAft>
                          <a:spcPts val="5"/>
                        </a:spcAft>
                      </a:pPr>
                      <a:r>
                        <a:rPr lang="en-US" sz="1400" kern="100" dirty="0">
                          <a:effectLst/>
                        </a:rPr>
                        <a:t>3. Cost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175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5969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0.14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2618264942"/>
                  </a:ext>
                </a:extLst>
              </a:tr>
              <a:tr h="426308">
                <a:tc>
                  <a:txBody>
                    <a:bodyPr/>
                    <a:lstStyle/>
                    <a:p>
                      <a:pPr marL="0" marR="69850" indent="0" algn="just">
                        <a:lnSpc>
                          <a:spcPct val="107000"/>
                        </a:lnSpc>
                        <a:spcAft>
                          <a:spcPts val="5"/>
                        </a:spcAft>
                      </a:pPr>
                      <a:r>
                        <a:rPr lang="en-US" sz="1400" kern="100" dirty="0">
                          <a:effectLst/>
                        </a:rPr>
                        <a:t>4.Rust </a:t>
                      </a:r>
                    </a:p>
                    <a:p>
                      <a:pPr marL="0" marR="69215" indent="0" algn="just">
                        <a:lnSpc>
                          <a:spcPct val="107000"/>
                        </a:lnSpc>
                        <a:spcAft>
                          <a:spcPts val="5"/>
                        </a:spcAft>
                      </a:pPr>
                      <a:r>
                        <a:rPr lang="en-US" sz="1400" kern="100" dirty="0">
                          <a:effectLst/>
                        </a:rPr>
                        <a:t>Corrosion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048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5969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0.09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1695530409"/>
                  </a:ext>
                </a:extLst>
              </a:tr>
              <a:tr h="426308">
                <a:tc>
                  <a:txBody>
                    <a:bodyPr/>
                    <a:lstStyle/>
                    <a:p>
                      <a:pPr marL="0" marR="0" indent="0" algn="just">
                        <a:lnSpc>
                          <a:spcPct val="107000"/>
                        </a:lnSpc>
                        <a:spcAft>
                          <a:spcPts val="5"/>
                        </a:spcAft>
                      </a:pPr>
                      <a:r>
                        <a:rPr lang="en-US" sz="1400" kern="100" dirty="0">
                          <a:effectLst/>
                        </a:rPr>
                        <a:t>5.Electrical Conductivity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048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175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1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0.05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2757987371"/>
                  </a:ext>
                </a:extLst>
              </a:tr>
              <a:tr h="385676">
                <a:tc>
                  <a:txBody>
                    <a:bodyPr/>
                    <a:lstStyle/>
                    <a:p>
                      <a:pPr marL="0" marR="69850" indent="0" algn="just">
                        <a:lnSpc>
                          <a:spcPct val="107000"/>
                        </a:lnSpc>
                        <a:spcAft>
                          <a:spcPts val="5"/>
                        </a:spcAft>
                      </a:pPr>
                      <a:r>
                        <a:rPr lang="en-US" sz="1400" kern="100" dirty="0">
                          <a:effectLst/>
                        </a:rPr>
                        <a:t>6.Weight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048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175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5969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0.05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2596875373"/>
                  </a:ext>
                </a:extLst>
              </a:tr>
              <a:tr h="418019">
                <a:tc>
                  <a:txBody>
                    <a:bodyPr/>
                    <a:lstStyle/>
                    <a:p>
                      <a:pPr marL="0" marR="0" indent="0" algn="just">
                        <a:lnSpc>
                          <a:spcPct val="107000"/>
                        </a:lnSpc>
                        <a:spcAft>
                          <a:spcPts val="5"/>
                        </a:spcAft>
                      </a:pPr>
                      <a:r>
                        <a:rPr lang="en-US" sz="1400" kern="100" dirty="0">
                          <a:effectLst/>
                        </a:rPr>
                        <a:t>7.Young's Modulus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048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71755"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5969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a:effectLst/>
                        </a:rPr>
                        <a:t>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tc>
                  <a:txBody>
                    <a:bodyPr/>
                    <a:lstStyle/>
                    <a:p>
                      <a:pPr marL="0" marR="0" indent="0" algn="l">
                        <a:lnSpc>
                          <a:spcPct val="107000"/>
                        </a:lnSpc>
                        <a:spcAft>
                          <a:spcPts val="5"/>
                        </a:spcAft>
                      </a:pPr>
                      <a:r>
                        <a:rPr lang="en-US" sz="1400" kern="100" dirty="0">
                          <a:effectLst/>
                        </a:rPr>
                        <a:t>0.14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0" marT="30480" marB="0"/>
                </a:tc>
                <a:extLst>
                  <a:ext uri="{0D108BD9-81ED-4DB2-BD59-A6C34878D82A}">
                    <a16:rowId xmlns:a16="http://schemas.microsoft.com/office/drawing/2014/main" val="2138353042"/>
                  </a:ext>
                </a:extLst>
              </a:tr>
            </a:tbl>
          </a:graphicData>
        </a:graphic>
      </p:graphicFrame>
      <p:pic>
        <p:nvPicPr>
          <p:cNvPr id="3074" name="Picture 2" descr="Select - Free computer icons">
            <a:extLst>
              <a:ext uri="{FF2B5EF4-FFF2-40B4-BE49-F238E27FC236}">
                <a16:creationId xmlns:a16="http://schemas.microsoft.com/office/drawing/2014/main" id="{410E59BE-9C58-4909-350F-62AE4AAEBB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0568" y="430205"/>
            <a:ext cx="1163607" cy="1163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2278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7AF19-E414-5490-DE8E-75E8EEB73F53}"/>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69E0852B-C0B9-FD62-111F-F7BB3ED2A1A7}"/>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79CA61A-234F-6DA8-7D56-01CB81C084C3}"/>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4B79237-6193-7BE5-31E0-42B17B8797C4}"/>
              </a:ext>
            </a:extLst>
          </p:cNvPr>
          <p:cNvSpPr txBox="1"/>
          <p:nvPr/>
        </p:nvSpPr>
        <p:spPr>
          <a:xfrm>
            <a:off x="2401513" y="592693"/>
            <a:ext cx="8309301" cy="523220"/>
          </a:xfrm>
          <a:prstGeom prst="rect">
            <a:avLst/>
          </a:prstGeom>
          <a:noFill/>
        </p:spPr>
        <p:txBody>
          <a:bodyPr wrap="square">
            <a:spAutoFit/>
          </a:bodyPr>
          <a:lstStyle/>
          <a:p>
            <a:r>
              <a:rPr lang="en-US" sz="2800" b="1" i="0" u="none" strike="noStrike" baseline="0" dirty="0">
                <a:solidFill>
                  <a:schemeClr val="accent3">
                    <a:lumMod val="75000"/>
                  </a:schemeClr>
                </a:solidFill>
                <a:latin typeface="Times New Roman" panose="02020603050405020304" pitchFamily="18" charset="0"/>
              </a:rPr>
              <a:t>Table</a:t>
            </a:r>
            <a:r>
              <a:rPr lang="en-US" sz="2800" b="1" dirty="0">
                <a:solidFill>
                  <a:schemeClr val="accent3">
                    <a:lumMod val="75000"/>
                  </a:schemeClr>
                </a:solidFill>
                <a:latin typeface="Times New Roman" panose="02020603050405020304" pitchFamily="18" charset="0"/>
              </a:rPr>
              <a:t>: </a:t>
            </a:r>
            <a:r>
              <a:rPr lang="en-US" sz="2800" b="1" i="0" u="none" strike="noStrike" baseline="0" dirty="0">
                <a:solidFill>
                  <a:schemeClr val="accent3">
                    <a:lumMod val="75000"/>
                  </a:schemeClr>
                </a:solidFill>
                <a:latin typeface="Times New Roman" panose="02020603050405020304" pitchFamily="18" charset="0"/>
              </a:rPr>
              <a:t> Properties of Candidate material for frame </a:t>
            </a:r>
            <a:endParaRPr lang="en-US" sz="2800" b="1" dirty="0">
              <a:solidFill>
                <a:schemeClr val="accent3">
                  <a:lumMod val="75000"/>
                </a:schemeClr>
              </a:solidFill>
            </a:endParaRPr>
          </a:p>
        </p:txBody>
      </p:sp>
      <p:graphicFrame>
        <p:nvGraphicFramePr>
          <p:cNvPr id="4" name="Table 3">
            <a:extLst>
              <a:ext uri="{FF2B5EF4-FFF2-40B4-BE49-F238E27FC236}">
                <a16:creationId xmlns:a16="http://schemas.microsoft.com/office/drawing/2014/main" id="{C34BFD38-9085-90E5-191B-E546C723F67A}"/>
              </a:ext>
            </a:extLst>
          </p:cNvPr>
          <p:cNvGraphicFramePr>
            <a:graphicFrameLocks noGrp="1"/>
          </p:cNvGraphicFramePr>
          <p:nvPr>
            <p:extLst>
              <p:ext uri="{D42A27DB-BD31-4B8C-83A1-F6EECF244321}">
                <p14:modId xmlns:p14="http://schemas.microsoft.com/office/powerpoint/2010/main" val="3956444530"/>
              </p:ext>
            </p:extLst>
          </p:nvPr>
        </p:nvGraphicFramePr>
        <p:xfrm>
          <a:off x="1822453" y="1326307"/>
          <a:ext cx="8888361" cy="4939000"/>
        </p:xfrm>
        <a:graphic>
          <a:graphicData uri="http://schemas.openxmlformats.org/drawingml/2006/table">
            <a:tbl>
              <a:tblPr firstRow="1" firstCol="1" bandRow="1">
                <a:tableStyleId>{ED083AE6-46FA-4A59-8FB0-9F97EB10719F}</a:tableStyleId>
              </a:tblPr>
              <a:tblGrid>
                <a:gridCol w="2088501">
                  <a:extLst>
                    <a:ext uri="{9D8B030D-6E8A-4147-A177-3AD203B41FA5}">
                      <a16:colId xmlns:a16="http://schemas.microsoft.com/office/drawing/2014/main" val="2944843756"/>
                    </a:ext>
                  </a:extLst>
                </a:gridCol>
                <a:gridCol w="928537">
                  <a:extLst>
                    <a:ext uri="{9D8B030D-6E8A-4147-A177-3AD203B41FA5}">
                      <a16:colId xmlns:a16="http://schemas.microsoft.com/office/drawing/2014/main" val="395483497"/>
                    </a:ext>
                  </a:extLst>
                </a:gridCol>
                <a:gridCol w="1232404">
                  <a:extLst>
                    <a:ext uri="{9D8B030D-6E8A-4147-A177-3AD203B41FA5}">
                      <a16:colId xmlns:a16="http://schemas.microsoft.com/office/drawing/2014/main" val="739682475"/>
                    </a:ext>
                  </a:extLst>
                </a:gridCol>
                <a:gridCol w="1165609">
                  <a:extLst>
                    <a:ext uri="{9D8B030D-6E8A-4147-A177-3AD203B41FA5}">
                      <a16:colId xmlns:a16="http://schemas.microsoft.com/office/drawing/2014/main" val="1729675411"/>
                    </a:ext>
                  </a:extLst>
                </a:gridCol>
                <a:gridCol w="1185367">
                  <a:extLst>
                    <a:ext uri="{9D8B030D-6E8A-4147-A177-3AD203B41FA5}">
                      <a16:colId xmlns:a16="http://schemas.microsoft.com/office/drawing/2014/main" val="14478796"/>
                    </a:ext>
                  </a:extLst>
                </a:gridCol>
                <a:gridCol w="1186306">
                  <a:extLst>
                    <a:ext uri="{9D8B030D-6E8A-4147-A177-3AD203B41FA5}">
                      <a16:colId xmlns:a16="http://schemas.microsoft.com/office/drawing/2014/main" val="2703601264"/>
                    </a:ext>
                  </a:extLst>
                </a:gridCol>
                <a:gridCol w="1101637">
                  <a:extLst>
                    <a:ext uri="{9D8B030D-6E8A-4147-A177-3AD203B41FA5}">
                      <a16:colId xmlns:a16="http://schemas.microsoft.com/office/drawing/2014/main" val="3945177175"/>
                    </a:ext>
                  </a:extLst>
                </a:gridCol>
              </a:tblGrid>
              <a:tr h="793440">
                <a:tc>
                  <a:txBody>
                    <a:bodyPr/>
                    <a:lstStyle/>
                    <a:p>
                      <a:pPr marL="0" marR="34290" indent="0" algn="ctr">
                        <a:lnSpc>
                          <a:spcPct val="107000"/>
                        </a:lnSpc>
                        <a:spcAft>
                          <a:spcPts val="5"/>
                        </a:spcAft>
                      </a:pPr>
                      <a:r>
                        <a:rPr lang="en-US" sz="1400" kern="100" dirty="0">
                          <a:effectLst/>
                        </a:rPr>
                        <a:t>Material Properties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1270" indent="0" algn="ctr">
                        <a:lnSpc>
                          <a:spcPct val="107000"/>
                        </a:lnSpc>
                        <a:spcAft>
                          <a:spcPts val="5"/>
                        </a:spcAft>
                      </a:pPr>
                      <a:r>
                        <a:rPr lang="en-US" sz="1400" kern="100" dirty="0">
                          <a:solidFill>
                            <a:schemeClr val="bg1"/>
                          </a:solidFill>
                          <a:effectLst/>
                        </a:rPr>
                        <a:t> </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175" indent="0" algn="ctr">
                        <a:lnSpc>
                          <a:spcPct val="107000"/>
                        </a:lnSpc>
                        <a:spcAft>
                          <a:spcPts val="5"/>
                        </a:spcAft>
                      </a:pPr>
                      <a:r>
                        <a:rPr lang="en-US" sz="1400" kern="100" dirty="0">
                          <a:solidFill>
                            <a:schemeClr val="bg1"/>
                          </a:solidFill>
                          <a:effectLst/>
                        </a:rPr>
                        <a:t> </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0" indent="0" algn="ctr">
                        <a:lnSpc>
                          <a:spcPct val="107000"/>
                        </a:lnSpc>
                        <a:spcAft>
                          <a:spcPts val="5"/>
                        </a:spcAft>
                      </a:pPr>
                      <a:r>
                        <a:rPr lang="en-US" sz="1400" kern="100" dirty="0">
                          <a:solidFill>
                            <a:schemeClr val="bg1"/>
                          </a:solidFill>
                          <a:effectLst/>
                        </a:rPr>
                        <a:t> </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1270" indent="0" algn="ctr">
                        <a:lnSpc>
                          <a:spcPct val="107000"/>
                        </a:lnSpc>
                        <a:spcAft>
                          <a:spcPts val="5"/>
                        </a:spcAft>
                      </a:pPr>
                      <a:r>
                        <a:rPr lang="en-US" sz="1400" kern="100" dirty="0">
                          <a:solidFill>
                            <a:schemeClr val="bg1"/>
                          </a:solidFill>
                          <a:effectLst/>
                        </a:rPr>
                        <a:t> </a:t>
                      </a:r>
                      <a:endParaRPr lang="en-US" sz="140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50165" marR="0" indent="0" algn="l">
                        <a:lnSpc>
                          <a:spcPct val="107000"/>
                        </a:lnSpc>
                        <a:spcAft>
                          <a:spcPts val="5"/>
                        </a:spcAft>
                      </a:pPr>
                      <a:r>
                        <a:rPr lang="en-US" sz="1400" kern="100">
                          <a:effectLst/>
                        </a:rPr>
                        <a:t>Minimum </a:t>
                      </a:r>
                    </a:p>
                    <a:p>
                      <a:pPr marL="0" marR="34290" indent="0" algn="ctr">
                        <a:lnSpc>
                          <a:spcPct val="107000"/>
                        </a:lnSpc>
                        <a:spcAft>
                          <a:spcPts val="5"/>
                        </a:spcAft>
                      </a:pPr>
                      <a:r>
                        <a:rPr lang="en-US" sz="1400" kern="100">
                          <a:effectLst/>
                        </a:rPr>
                        <a:t>Value </a:t>
                      </a:r>
                    </a:p>
                    <a:p>
                      <a:pPr marL="0" marR="35560" indent="0" algn="ctr">
                        <a:lnSpc>
                          <a:spcPct val="107000"/>
                        </a:lnSpc>
                        <a:spcAft>
                          <a:spcPts val="5"/>
                        </a:spcAft>
                      </a:pPr>
                      <a:r>
                        <a:rPr lang="en-US" sz="1400" kern="100">
                          <a:effectLst/>
                        </a:rPr>
                        <a:t>Required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10795" marR="0" indent="0" algn="l">
                        <a:lnSpc>
                          <a:spcPct val="107000"/>
                        </a:lnSpc>
                        <a:spcAft>
                          <a:spcPts val="5"/>
                        </a:spcAft>
                      </a:pPr>
                      <a:r>
                        <a:rPr lang="en-US" sz="1400" kern="100">
                          <a:effectLst/>
                        </a:rPr>
                        <a:t>Maximum </a:t>
                      </a:r>
                    </a:p>
                    <a:p>
                      <a:pPr marL="0" marR="35560" indent="0" algn="ctr">
                        <a:lnSpc>
                          <a:spcPct val="107000"/>
                        </a:lnSpc>
                        <a:spcAft>
                          <a:spcPts val="5"/>
                        </a:spcAft>
                      </a:pPr>
                      <a:r>
                        <a:rPr lang="en-US" sz="1400" kern="100">
                          <a:effectLst/>
                        </a:rPr>
                        <a:t>Value </a:t>
                      </a:r>
                    </a:p>
                    <a:p>
                      <a:pPr marL="45720" marR="0" indent="0" algn="l">
                        <a:lnSpc>
                          <a:spcPct val="107000"/>
                        </a:lnSpc>
                        <a:spcAft>
                          <a:spcPts val="5"/>
                        </a:spcAft>
                      </a:pPr>
                      <a:r>
                        <a:rPr lang="en-US" sz="1400" kern="100">
                          <a:effectLst/>
                        </a:rPr>
                        <a:t>Required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122459841"/>
                  </a:ext>
                </a:extLst>
              </a:tr>
              <a:tr h="1111124">
                <a:tc>
                  <a:txBody>
                    <a:bodyPr/>
                    <a:lstStyle/>
                    <a:p>
                      <a:pPr marL="0" marR="1270" indent="0" algn="ctr">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dirty="0">
                          <a:effectLst/>
                        </a:rPr>
                        <a:t>Mild </a:t>
                      </a:r>
                    </a:p>
                    <a:p>
                      <a:pPr marL="0" marR="36830" indent="0" algn="ctr">
                        <a:lnSpc>
                          <a:spcPct val="107000"/>
                        </a:lnSpc>
                        <a:spcAft>
                          <a:spcPts val="5"/>
                        </a:spcAft>
                      </a:pPr>
                      <a:r>
                        <a:rPr lang="en-US" sz="1400" kern="100" dirty="0">
                          <a:effectLst/>
                        </a:rPr>
                        <a:t>Steel </a:t>
                      </a:r>
                    </a:p>
                    <a:p>
                      <a:pPr marL="0" marR="0" indent="0" algn="l">
                        <a:lnSpc>
                          <a:spcPct val="107000"/>
                        </a:lnSpc>
                        <a:spcAft>
                          <a:spcPts val="5"/>
                        </a:spcAft>
                      </a:pPr>
                      <a:r>
                        <a:rPr lang="en-US" sz="1400" kern="100" dirty="0">
                          <a:effectLst/>
                        </a:rPr>
                        <a:t>(Coated)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0" indent="0" algn="ctr">
                        <a:lnSpc>
                          <a:spcPct val="99000"/>
                        </a:lnSpc>
                        <a:spcAft>
                          <a:spcPts val="5"/>
                        </a:spcAft>
                      </a:pPr>
                      <a:r>
                        <a:rPr lang="en-US" sz="1400" kern="100" dirty="0">
                          <a:effectLst/>
                        </a:rPr>
                        <a:t>Aluminum (Standard </a:t>
                      </a:r>
                    </a:p>
                    <a:p>
                      <a:pPr marL="0" marR="37465" indent="0" algn="ctr">
                        <a:lnSpc>
                          <a:spcPct val="107000"/>
                        </a:lnSpc>
                        <a:spcAft>
                          <a:spcPts val="5"/>
                        </a:spcAft>
                      </a:pPr>
                      <a:r>
                        <a:rPr lang="en-US" sz="1400" kern="100" dirty="0">
                          <a:effectLst/>
                        </a:rPr>
                        <a:t>Grades)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7465" indent="0" algn="ctr">
                        <a:lnSpc>
                          <a:spcPct val="107000"/>
                        </a:lnSpc>
                        <a:spcAft>
                          <a:spcPts val="5"/>
                        </a:spcAft>
                      </a:pPr>
                      <a:r>
                        <a:rPr lang="en-US" sz="1400" kern="100" dirty="0">
                          <a:effectLst/>
                        </a:rPr>
                        <a:t>Stainless </a:t>
                      </a:r>
                    </a:p>
                    <a:p>
                      <a:pPr marL="0" marR="36195" indent="0" algn="ctr">
                        <a:lnSpc>
                          <a:spcPct val="107000"/>
                        </a:lnSpc>
                        <a:spcAft>
                          <a:spcPts val="5"/>
                        </a:spcAft>
                      </a:pPr>
                      <a:r>
                        <a:rPr lang="en-US" sz="1400" kern="100" dirty="0">
                          <a:effectLst/>
                        </a:rPr>
                        <a:t>Steel </a:t>
                      </a:r>
                    </a:p>
                    <a:p>
                      <a:pPr marL="0" marR="37465" indent="0" algn="ctr">
                        <a:lnSpc>
                          <a:spcPct val="107000"/>
                        </a:lnSpc>
                        <a:spcAft>
                          <a:spcPts val="5"/>
                        </a:spcAft>
                      </a:pPr>
                      <a:r>
                        <a:rPr lang="en-US" sz="1400" kern="100" dirty="0">
                          <a:effectLst/>
                        </a:rPr>
                        <a:t>(Grade </a:t>
                      </a:r>
                    </a:p>
                    <a:p>
                      <a:pPr marL="0" marR="34290" indent="0" algn="ctr">
                        <a:lnSpc>
                          <a:spcPct val="107000"/>
                        </a:lnSpc>
                        <a:spcAft>
                          <a:spcPts val="5"/>
                        </a:spcAft>
                      </a:pPr>
                      <a:r>
                        <a:rPr lang="en-US" sz="1400" kern="100" dirty="0">
                          <a:effectLst/>
                        </a:rPr>
                        <a:t>304)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0" indent="0" algn="ctr">
                        <a:lnSpc>
                          <a:spcPct val="99000"/>
                        </a:lnSpc>
                        <a:spcAft>
                          <a:spcPts val="5"/>
                        </a:spcAft>
                      </a:pPr>
                      <a:r>
                        <a:rPr lang="en-US" sz="1400" kern="100">
                          <a:effectLst/>
                        </a:rPr>
                        <a:t>HighStrength </a:t>
                      </a:r>
                    </a:p>
                    <a:p>
                      <a:pPr marL="0" marR="0" indent="0" algn="ctr">
                        <a:lnSpc>
                          <a:spcPct val="99000"/>
                        </a:lnSpc>
                        <a:spcAft>
                          <a:spcPts val="5"/>
                        </a:spcAft>
                      </a:pPr>
                      <a:r>
                        <a:rPr lang="en-US" sz="1400" kern="100">
                          <a:effectLst/>
                        </a:rPr>
                        <a:t>Low-Alloy (HSLA) </a:t>
                      </a:r>
                    </a:p>
                    <a:p>
                      <a:pPr marL="0" marR="34290" indent="0" algn="ctr">
                        <a:lnSpc>
                          <a:spcPct val="107000"/>
                        </a:lnSpc>
                        <a:spcAft>
                          <a:spcPts val="5"/>
                        </a:spcAft>
                      </a:pPr>
                      <a:r>
                        <a:rPr lang="en-US" sz="1400" kern="100">
                          <a:effectLst/>
                        </a:rPr>
                        <a:t>Steel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127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175" indent="0" algn="ctr">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1475868012"/>
                  </a:ext>
                </a:extLst>
              </a:tr>
              <a:tr h="538031">
                <a:tc>
                  <a:txBody>
                    <a:bodyPr/>
                    <a:lstStyle/>
                    <a:p>
                      <a:pPr marL="0" marR="0" indent="0" algn="l">
                        <a:lnSpc>
                          <a:spcPct val="107000"/>
                        </a:lnSpc>
                        <a:spcAft>
                          <a:spcPts val="5"/>
                        </a:spcAft>
                      </a:pPr>
                      <a:r>
                        <a:rPr lang="en-US" sz="1400" kern="100">
                          <a:effectLst/>
                        </a:rPr>
                        <a:t>1. Ultimate Strength </a:t>
                      </a:r>
                    </a:p>
                    <a:p>
                      <a:pPr marL="0" marR="0" indent="0" algn="l">
                        <a:lnSpc>
                          <a:spcPct val="107000"/>
                        </a:lnSpc>
                        <a:spcAft>
                          <a:spcPts val="5"/>
                        </a:spcAft>
                      </a:pPr>
                      <a:r>
                        <a:rPr lang="en-US" sz="1400" kern="100">
                          <a:effectLst/>
                        </a:rPr>
                        <a:t>(MPa)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195" indent="0" algn="ctr">
                        <a:lnSpc>
                          <a:spcPct val="107000"/>
                        </a:lnSpc>
                        <a:spcAft>
                          <a:spcPts val="5"/>
                        </a:spcAft>
                      </a:pPr>
                      <a:r>
                        <a:rPr lang="en-US" sz="1400" kern="100">
                          <a:effectLst/>
                        </a:rPr>
                        <a:t>450 </a:t>
                      </a:r>
                    </a:p>
                    <a:p>
                      <a:pPr marL="0" marR="1270" indent="0" algn="ctr">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a:effectLst/>
                        </a:rPr>
                        <a:t>200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dirty="0">
                          <a:effectLst/>
                        </a:rPr>
                        <a:t>600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dirty="0">
                          <a:effectLst/>
                        </a:rPr>
                        <a:t>850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dirty="0">
                          <a:effectLst/>
                        </a:rPr>
                        <a:t>200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a:effectLst/>
                        </a:rPr>
                        <a:t>850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4185816549"/>
                  </a:ext>
                </a:extLst>
              </a:tr>
              <a:tr h="315448">
                <a:tc>
                  <a:txBody>
                    <a:bodyPr/>
                    <a:lstStyle/>
                    <a:p>
                      <a:pPr marL="0" marR="0" indent="0" algn="l">
                        <a:lnSpc>
                          <a:spcPct val="107000"/>
                        </a:lnSpc>
                        <a:spcAft>
                          <a:spcPts val="5"/>
                        </a:spcAft>
                      </a:pPr>
                      <a:r>
                        <a:rPr lang="en-US" sz="1400" kern="100">
                          <a:effectLst/>
                        </a:rPr>
                        <a:t>2. Toughness(J)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150 J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dirty="0">
                          <a:effectLst/>
                        </a:rPr>
                        <a:t>80 J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290" indent="0" algn="ctr">
                        <a:lnSpc>
                          <a:spcPct val="107000"/>
                        </a:lnSpc>
                        <a:spcAft>
                          <a:spcPts val="5"/>
                        </a:spcAft>
                      </a:pPr>
                      <a:r>
                        <a:rPr lang="en-US" sz="1400" kern="100">
                          <a:effectLst/>
                        </a:rPr>
                        <a:t>200 J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5560" indent="0" algn="ctr">
                        <a:lnSpc>
                          <a:spcPct val="107000"/>
                        </a:lnSpc>
                        <a:spcAft>
                          <a:spcPts val="5"/>
                        </a:spcAft>
                      </a:pPr>
                      <a:r>
                        <a:rPr lang="en-US" sz="1400" kern="100">
                          <a:effectLst/>
                        </a:rPr>
                        <a:t>250 J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dirty="0">
                          <a:effectLst/>
                        </a:rPr>
                        <a:t>80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a:effectLst/>
                        </a:rPr>
                        <a:t>250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1430608666"/>
                  </a:ext>
                </a:extLst>
              </a:tr>
              <a:tr h="355995">
                <a:tc>
                  <a:txBody>
                    <a:bodyPr/>
                    <a:lstStyle/>
                    <a:p>
                      <a:pPr marL="0" marR="0" indent="0" algn="l">
                        <a:lnSpc>
                          <a:spcPct val="107000"/>
                        </a:lnSpc>
                        <a:spcAft>
                          <a:spcPts val="5"/>
                        </a:spcAft>
                      </a:pPr>
                      <a:r>
                        <a:rPr lang="en-US" sz="1400" kern="100">
                          <a:effectLst/>
                        </a:rPr>
                        <a:t>3. Cost/kg (Tk)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195" indent="0" algn="ctr">
                        <a:lnSpc>
                          <a:spcPct val="107000"/>
                        </a:lnSpc>
                        <a:spcAft>
                          <a:spcPts val="5"/>
                        </a:spcAft>
                      </a:pPr>
                      <a:r>
                        <a:rPr lang="en-US" sz="1400" kern="100">
                          <a:effectLst/>
                        </a:rPr>
                        <a:t>90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a:effectLst/>
                        </a:rPr>
                        <a:t>270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400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a:effectLst/>
                        </a:rPr>
                        <a:t>155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a:effectLst/>
                        </a:rPr>
                        <a:t>90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a:effectLst/>
                        </a:rPr>
                        <a:t>400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1896431470"/>
                  </a:ext>
                </a:extLst>
              </a:tr>
              <a:tr h="538031">
                <a:tc>
                  <a:txBody>
                    <a:bodyPr/>
                    <a:lstStyle/>
                    <a:p>
                      <a:pPr marL="0" marR="0" indent="0" algn="l">
                        <a:lnSpc>
                          <a:spcPct val="107000"/>
                        </a:lnSpc>
                        <a:spcAft>
                          <a:spcPts val="5"/>
                        </a:spcAft>
                      </a:pPr>
                      <a:r>
                        <a:rPr lang="en-US" sz="1400" kern="100">
                          <a:effectLst/>
                        </a:rPr>
                        <a:t>4.Rust Corrosion </a:t>
                      </a:r>
                    </a:p>
                    <a:p>
                      <a:pPr marL="0" marR="0" indent="0" algn="l">
                        <a:lnSpc>
                          <a:spcPct val="107000"/>
                        </a:lnSpc>
                        <a:spcAft>
                          <a:spcPts val="5"/>
                        </a:spcAft>
                      </a:pPr>
                      <a:r>
                        <a:rPr lang="en-US" sz="1400" kern="100">
                          <a:effectLst/>
                        </a:rPr>
                        <a:t>(mm/year)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0.2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a:effectLst/>
                        </a:rPr>
                        <a:t>0.015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3655" indent="0" algn="ctr">
                        <a:lnSpc>
                          <a:spcPct val="107000"/>
                        </a:lnSpc>
                        <a:spcAft>
                          <a:spcPts val="5"/>
                        </a:spcAft>
                      </a:pPr>
                      <a:r>
                        <a:rPr lang="en-US" sz="1400" kern="100" dirty="0">
                          <a:effectLst/>
                        </a:rPr>
                        <a:t>0.005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0.08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5560" indent="0" algn="ctr">
                        <a:lnSpc>
                          <a:spcPct val="107000"/>
                        </a:lnSpc>
                        <a:spcAft>
                          <a:spcPts val="5"/>
                        </a:spcAft>
                      </a:pPr>
                      <a:r>
                        <a:rPr lang="en-US" sz="1400" kern="100" dirty="0">
                          <a:effectLst/>
                        </a:rPr>
                        <a:t>0.005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dirty="0">
                          <a:effectLst/>
                        </a:rPr>
                        <a:t>0.2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3752619799"/>
                  </a:ext>
                </a:extLst>
              </a:tr>
              <a:tr h="539262">
                <a:tc>
                  <a:txBody>
                    <a:bodyPr/>
                    <a:lstStyle/>
                    <a:p>
                      <a:pPr marL="0" marR="0" indent="0" algn="l">
                        <a:lnSpc>
                          <a:spcPct val="107000"/>
                        </a:lnSpc>
                        <a:spcAft>
                          <a:spcPts val="5"/>
                        </a:spcAft>
                      </a:pPr>
                      <a:r>
                        <a:rPr lang="en-US" sz="1400" kern="100">
                          <a:effectLst/>
                        </a:rPr>
                        <a:t>5. Electrical </a:t>
                      </a:r>
                    </a:p>
                    <a:p>
                      <a:pPr marL="0" marR="0" indent="0" algn="l">
                        <a:lnSpc>
                          <a:spcPct val="107000"/>
                        </a:lnSpc>
                        <a:spcAft>
                          <a:spcPts val="5"/>
                        </a:spcAft>
                      </a:pPr>
                      <a:r>
                        <a:rPr lang="en-US" sz="1400" kern="100">
                          <a:effectLst/>
                        </a:rPr>
                        <a:t>Conductivity (MS/m)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6.99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a:effectLst/>
                        </a:rPr>
                        <a:t>37.7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3655" indent="0" algn="ctr">
                        <a:lnSpc>
                          <a:spcPct val="107000"/>
                        </a:lnSpc>
                        <a:spcAft>
                          <a:spcPts val="5"/>
                        </a:spcAft>
                      </a:pPr>
                      <a:r>
                        <a:rPr lang="en-US" sz="1400" kern="100">
                          <a:effectLst/>
                        </a:rPr>
                        <a:t>1.45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4.5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5560" indent="0" algn="ctr">
                        <a:lnSpc>
                          <a:spcPct val="107000"/>
                        </a:lnSpc>
                        <a:spcAft>
                          <a:spcPts val="5"/>
                        </a:spcAft>
                      </a:pPr>
                      <a:r>
                        <a:rPr lang="en-US" sz="1400" kern="100" dirty="0">
                          <a:effectLst/>
                        </a:rPr>
                        <a:t>1.45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a:effectLst/>
                        </a:rPr>
                        <a:t>37.7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429049214"/>
                  </a:ext>
                </a:extLst>
              </a:tr>
              <a:tr h="336532">
                <a:tc>
                  <a:txBody>
                    <a:bodyPr/>
                    <a:lstStyle/>
                    <a:p>
                      <a:pPr marL="0" marR="0" indent="0" algn="l">
                        <a:lnSpc>
                          <a:spcPct val="107000"/>
                        </a:lnSpc>
                        <a:spcAft>
                          <a:spcPts val="5"/>
                        </a:spcAft>
                      </a:pPr>
                      <a:r>
                        <a:rPr lang="en-US" sz="1400" kern="100">
                          <a:effectLst/>
                        </a:rPr>
                        <a:t>6. Weight/m</a:t>
                      </a:r>
                      <a:r>
                        <a:rPr lang="en-US" sz="1400" kern="100" baseline="30000">
                          <a:effectLst/>
                        </a:rPr>
                        <a:t>3</a:t>
                      </a: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3020" indent="0" algn="ctr">
                        <a:lnSpc>
                          <a:spcPct val="107000"/>
                        </a:lnSpc>
                        <a:spcAft>
                          <a:spcPts val="5"/>
                        </a:spcAft>
                      </a:pPr>
                      <a:r>
                        <a:rPr lang="en-US" sz="1400" kern="100">
                          <a:effectLst/>
                        </a:rPr>
                        <a:t>7850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2700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5560" indent="0" algn="ctr">
                        <a:lnSpc>
                          <a:spcPct val="107000"/>
                        </a:lnSpc>
                        <a:spcAft>
                          <a:spcPts val="5"/>
                        </a:spcAft>
                      </a:pPr>
                      <a:r>
                        <a:rPr lang="en-US" sz="1400" kern="100">
                          <a:effectLst/>
                        </a:rPr>
                        <a:t>8000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3655" indent="0" algn="ctr">
                        <a:lnSpc>
                          <a:spcPct val="107000"/>
                        </a:lnSpc>
                        <a:spcAft>
                          <a:spcPts val="5"/>
                        </a:spcAft>
                      </a:pPr>
                      <a:r>
                        <a:rPr lang="en-US" sz="1400" kern="100">
                          <a:effectLst/>
                        </a:rPr>
                        <a:t>7800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3655" indent="0" algn="ctr">
                        <a:lnSpc>
                          <a:spcPct val="107000"/>
                        </a:lnSpc>
                        <a:spcAft>
                          <a:spcPts val="5"/>
                        </a:spcAft>
                      </a:pPr>
                      <a:r>
                        <a:rPr lang="en-US" sz="1400" kern="100">
                          <a:effectLst/>
                        </a:rPr>
                        <a:t>2700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dirty="0">
                          <a:effectLst/>
                        </a:rPr>
                        <a:t>8000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3290653108"/>
                  </a:ext>
                </a:extLst>
              </a:tr>
              <a:tr h="411137">
                <a:tc>
                  <a:txBody>
                    <a:bodyPr/>
                    <a:lstStyle/>
                    <a:p>
                      <a:pPr marL="0" marR="0" indent="0" algn="l">
                        <a:lnSpc>
                          <a:spcPct val="107000"/>
                        </a:lnSpc>
                        <a:spcAft>
                          <a:spcPts val="5"/>
                        </a:spcAft>
                      </a:pPr>
                      <a:r>
                        <a:rPr lang="en-US" sz="1400" kern="100">
                          <a:effectLst/>
                        </a:rPr>
                        <a:t>7.Youngs Modulus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195" indent="0" algn="ctr">
                        <a:lnSpc>
                          <a:spcPct val="107000"/>
                        </a:lnSpc>
                        <a:spcAft>
                          <a:spcPts val="5"/>
                        </a:spcAft>
                      </a:pPr>
                      <a:r>
                        <a:rPr lang="en-US" sz="1400" kern="100">
                          <a:effectLst/>
                        </a:rPr>
                        <a:t>210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a:effectLst/>
                        </a:rPr>
                        <a:t>70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4925" indent="0" algn="ctr">
                        <a:lnSpc>
                          <a:spcPct val="107000"/>
                        </a:lnSpc>
                        <a:spcAft>
                          <a:spcPts val="5"/>
                        </a:spcAft>
                      </a:pPr>
                      <a:r>
                        <a:rPr lang="en-US" sz="1400" kern="100">
                          <a:effectLst/>
                        </a:rPr>
                        <a:t>193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dirty="0">
                          <a:effectLst/>
                        </a:rPr>
                        <a:t>205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6830" indent="0" algn="ctr">
                        <a:lnSpc>
                          <a:spcPct val="107000"/>
                        </a:lnSpc>
                        <a:spcAft>
                          <a:spcPts val="5"/>
                        </a:spcAft>
                      </a:pPr>
                      <a:r>
                        <a:rPr lang="en-US" sz="1400" kern="100">
                          <a:effectLst/>
                        </a:rPr>
                        <a:t>70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tc>
                  <a:txBody>
                    <a:bodyPr/>
                    <a:lstStyle/>
                    <a:p>
                      <a:pPr marL="0" marR="38100" indent="0" algn="ctr">
                        <a:lnSpc>
                          <a:spcPct val="107000"/>
                        </a:lnSpc>
                        <a:spcAft>
                          <a:spcPts val="5"/>
                        </a:spcAft>
                      </a:pPr>
                      <a:r>
                        <a:rPr lang="en-US" sz="1400" kern="100" dirty="0">
                          <a:effectLst/>
                        </a:rPr>
                        <a:t>210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3655" marT="35560" marB="0"/>
                </a:tc>
                <a:extLst>
                  <a:ext uri="{0D108BD9-81ED-4DB2-BD59-A6C34878D82A}">
                    <a16:rowId xmlns:a16="http://schemas.microsoft.com/office/drawing/2014/main" val="1366729321"/>
                  </a:ext>
                </a:extLst>
              </a:tr>
            </a:tbl>
          </a:graphicData>
        </a:graphic>
      </p:graphicFrame>
    </p:spTree>
    <p:extLst>
      <p:ext uri="{BB962C8B-B14F-4D97-AF65-F5344CB8AC3E}">
        <p14:creationId xmlns:p14="http://schemas.microsoft.com/office/powerpoint/2010/main" val="35541778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D724-AA81-1638-650C-A15BCBA02A65}"/>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CD6CF739-5F55-C468-70FC-78A3EBDF425A}"/>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371D4F5-05AC-F5D3-BC33-7D3653B2931D}"/>
              </a:ext>
            </a:extLst>
          </p:cNvPr>
          <p:cNvSpPr txBox="1"/>
          <p:nvPr/>
        </p:nvSpPr>
        <p:spPr>
          <a:xfrm>
            <a:off x="2654344" y="403076"/>
            <a:ext cx="7642181" cy="369332"/>
          </a:xfrm>
          <a:prstGeom prst="rect">
            <a:avLst/>
          </a:prstGeom>
          <a:noFill/>
        </p:spPr>
        <p:txBody>
          <a:bodyPr wrap="square">
            <a:spAutoFit/>
          </a:bodyPr>
          <a:lstStyle/>
          <a:p>
            <a:r>
              <a:rPr lang="en-US" sz="1800" b="1" i="0" u="none" strike="noStrike" baseline="0" dirty="0">
                <a:solidFill>
                  <a:schemeClr val="accent4"/>
                </a:solidFill>
                <a:latin typeface="Times New Roman" panose="02020603050405020304" pitchFamily="18" charset="0"/>
              </a:rPr>
              <a:t>Table: Scaled values of properties and performance Index of Carts Frame </a:t>
            </a:r>
            <a:endParaRPr lang="en-US" b="1" dirty="0">
              <a:solidFill>
                <a:schemeClr val="accent4"/>
              </a:solidFill>
            </a:endParaRPr>
          </a:p>
        </p:txBody>
      </p:sp>
      <p:graphicFrame>
        <p:nvGraphicFramePr>
          <p:cNvPr id="5" name="Table 4">
            <a:extLst>
              <a:ext uri="{FF2B5EF4-FFF2-40B4-BE49-F238E27FC236}">
                <a16:creationId xmlns:a16="http://schemas.microsoft.com/office/drawing/2014/main" id="{6F00651F-BCB3-0ECB-9F7E-9FD12D1F9E77}"/>
              </a:ext>
            </a:extLst>
          </p:cNvPr>
          <p:cNvGraphicFramePr>
            <a:graphicFrameLocks noGrp="1"/>
          </p:cNvGraphicFramePr>
          <p:nvPr>
            <p:extLst>
              <p:ext uri="{D42A27DB-BD31-4B8C-83A1-F6EECF244321}">
                <p14:modId xmlns:p14="http://schemas.microsoft.com/office/powerpoint/2010/main" val="908988180"/>
              </p:ext>
            </p:extLst>
          </p:nvPr>
        </p:nvGraphicFramePr>
        <p:xfrm>
          <a:off x="989043" y="910334"/>
          <a:ext cx="10764805" cy="5658276"/>
        </p:xfrm>
        <a:graphic>
          <a:graphicData uri="http://schemas.openxmlformats.org/drawingml/2006/table">
            <a:tbl>
              <a:tblPr firstRow="1" firstCol="1" bandRow="1">
                <a:tableStyleId>{8799B23B-EC83-4686-B30A-512413B5E67A}</a:tableStyleId>
              </a:tblPr>
              <a:tblGrid>
                <a:gridCol w="1630385">
                  <a:extLst>
                    <a:ext uri="{9D8B030D-6E8A-4147-A177-3AD203B41FA5}">
                      <a16:colId xmlns:a16="http://schemas.microsoft.com/office/drawing/2014/main" val="1185912925"/>
                    </a:ext>
                  </a:extLst>
                </a:gridCol>
                <a:gridCol w="1123381">
                  <a:extLst>
                    <a:ext uri="{9D8B030D-6E8A-4147-A177-3AD203B41FA5}">
                      <a16:colId xmlns:a16="http://schemas.microsoft.com/office/drawing/2014/main" val="4275088984"/>
                    </a:ext>
                  </a:extLst>
                </a:gridCol>
                <a:gridCol w="1083525">
                  <a:extLst>
                    <a:ext uri="{9D8B030D-6E8A-4147-A177-3AD203B41FA5}">
                      <a16:colId xmlns:a16="http://schemas.microsoft.com/office/drawing/2014/main" val="2435198607"/>
                    </a:ext>
                  </a:extLst>
                </a:gridCol>
                <a:gridCol w="1001032">
                  <a:extLst>
                    <a:ext uri="{9D8B030D-6E8A-4147-A177-3AD203B41FA5}">
                      <a16:colId xmlns:a16="http://schemas.microsoft.com/office/drawing/2014/main" val="2178788266"/>
                    </a:ext>
                  </a:extLst>
                </a:gridCol>
                <a:gridCol w="1001032">
                  <a:extLst>
                    <a:ext uri="{9D8B030D-6E8A-4147-A177-3AD203B41FA5}">
                      <a16:colId xmlns:a16="http://schemas.microsoft.com/office/drawing/2014/main" val="4058396128"/>
                    </a:ext>
                  </a:extLst>
                </a:gridCol>
                <a:gridCol w="1086305">
                  <a:extLst>
                    <a:ext uri="{9D8B030D-6E8A-4147-A177-3AD203B41FA5}">
                      <a16:colId xmlns:a16="http://schemas.microsoft.com/office/drawing/2014/main" val="3786886902"/>
                    </a:ext>
                  </a:extLst>
                </a:gridCol>
                <a:gridCol w="916686">
                  <a:extLst>
                    <a:ext uri="{9D8B030D-6E8A-4147-A177-3AD203B41FA5}">
                      <a16:colId xmlns:a16="http://schemas.microsoft.com/office/drawing/2014/main" val="486549817"/>
                    </a:ext>
                  </a:extLst>
                </a:gridCol>
                <a:gridCol w="1001959">
                  <a:extLst>
                    <a:ext uri="{9D8B030D-6E8A-4147-A177-3AD203B41FA5}">
                      <a16:colId xmlns:a16="http://schemas.microsoft.com/office/drawing/2014/main" val="3204292370"/>
                    </a:ext>
                  </a:extLst>
                </a:gridCol>
                <a:gridCol w="918541">
                  <a:extLst>
                    <a:ext uri="{9D8B030D-6E8A-4147-A177-3AD203B41FA5}">
                      <a16:colId xmlns:a16="http://schemas.microsoft.com/office/drawing/2014/main" val="3203721437"/>
                    </a:ext>
                  </a:extLst>
                </a:gridCol>
                <a:gridCol w="1001959">
                  <a:extLst>
                    <a:ext uri="{9D8B030D-6E8A-4147-A177-3AD203B41FA5}">
                      <a16:colId xmlns:a16="http://schemas.microsoft.com/office/drawing/2014/main" val="880029386"/>
                    </a:ext>
                  </a:extLst>
                </a:gridCol>
              </a:tblGrid>
              <a:tr h="716644">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dirty="0">
                          <a:effectLst/>
                        </a:rPr>
                        <a:t>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gridSpan="2">
                  <a:txBody>
                    <a:bodyPr/>
                    <a:lstStyle/>
                    <a:p>
                      <a:pPr marL="0" marR="0" indent="0" algn="l">
                        <a:lnSpc>
                          <a:spcPct val="107000"/>
                        </a:lnSpc>
                        <a:spcAft>
                          <a:spcPts val="5"/>
                        </a:spcAft>
                      </a:pPr>
                      <a:r>
                        <a:rPr lang="en-US" sz="1400" kern="100">
                          <a:effectLst/>
                        </a:rPr>
                        <a:t>Mild Steel (Coated)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hMerge="1">
                  <a:txBody>
                    <a:bodyPr/>
                    <a:lstStyle/>
                    <a:p>
                      <a:endParaRPr lang="en-US"/>
                    </a:p>
                  </a:txBody>
                  <a:tcPr/>
                </a:tc>
                <a:tc gridSpan="2">
                  <a:txBody>
                    <a:bodyPr/>
                    <a:lstStyle/>
                    <a:p>
                      <a:pPr marL="0" marR="0" indent="0" algn="l">
                        <a:lnSpc>
                          <a:spcPct val="107000"/>
                        </a:lnSpc>
                        <a:spcAft>
                          <a:spcPts val="5"/>
                        </a:spcAft>
                      </a:pPr>
                      <a:r>
                        <a:rPr lang="en-US" sz="1400" kern="100" dirty="0">
                          <a:effectLst/>
                        </a:rPr>
                        <a:t>Aluminum (Standard Grades)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hMerge="1">
                  <a:txBody>
                    <a:bodyPr/>
                    <a:lstStyle/>
                    <a:p>
                      <a:endParaRPr lang="en-US"/>
                    </a:p>
                  </a:txBody>
                  <a:tcPr/>
                </a:tc>
                <a:tc gridSpan="2">
                  <a:txBody>
                    <a:bodyPr/>
                    <a:lstStyle/>
                    <a:p>
                      <a:pPr marL="0" marR="0" indent="0" algn="l">
                        <a:lnSpc>
                          <a:spcPct val="107000"/>
                        </a:lnSpc>
                        <a:spcAft>
                          <a:spcPts val="5"/>
                        </a:spcAft>
                      </a:pPr>
                      <a:r>
                        <a:rPr lang="en-US" sz="1400" kern="100">
                          <a:effectLst/>
                        </a:rPr>
                        <a:t>Stainless Steel (Grade 304)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hMerge="1">
                  <a:txBody>
                    <a:bodyPr/>
                    <a:lstStyle/>
                    <a:p>
                      <a:endParaRPr lang="en-US"/>
                    </a:p>
                  </a:txBody>
                  <a:tcPr/>
                </a:tc>
                <a:tc gridSpan="2">
                  <a:txBody>
                    <a:bodyPr/>
                    <a:lstStyle/>
                    <a:p>
                      <a:pPr marL="0" marR="0" indent="0" algn="l">
                        <a:lnSpc>
                          <a:spcPct val="107000"/>
                        </a:lnSpc>
                        <a:spcAft>
                          <a:spcPts val="5"/>
                        </a:spcAft>
                      </a:pPr>
                      <a:r>
                        <a:rPr lang="en-US" sz="1400" kern="100">
                          <a:effectLst/>
                        </a:rPr>
                        <a:t>High-Strength Low-</a:t>
                      </a:r>
                    </a:p>
                    <a:p>
                      <a:pPr marL="0" marR="0" indent="0" algn="l">
                        <a:lnSpc>
                          <a:spcPct val="107000"/>
                        </a:lnSpc>
                        <a:spcAft>
                          <a:spcPts val="5"/>
                        </a:spcAft>
                      </a:pPr>
                      <a:r>
                        <a:rPr lang="en-US" sz="1400" kern="100">
                          <a:effectLst/>
                        </a:rPr>
                        <a:t>Alloy (HSLA) Steel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hMerge="1">
                  <a:txBody>
                    <a:bodyPr/>
                    <a:lstStyle/>
                    <a:p>
                      <a:endParaRPr lang="en-US"/>
                    </a:p>
                  </a:txBody>
                  <a:tcPr/>
                </a:tc>
                <a:extLst>
                  <a:ext uri="{0D108BD9-81ED-4DB2-BD59-A6C34878D82A}">
                    <a16:rowId xmlns:a16="http://schemas.microsoft.com/office/drawing/2014/main" val="2404911642"/>
                  </a:ext>
                </a:extLst>
              </a:tr>
              <a:tr h="843007">
                <a:tc>
                  <a:txBody>
                    <a:bodyPr/>
                    <a:lstStyle/>
                    <a:p>
                      <a:pPr marL="0" marR="26670" indent="0" algn="l">
                        <a:lnSpc>
                          <a:spcPct val="107000"/>
                        </a:lnSpc>
                        <a:spcAft>
                          <a:spcPts val="5"/>
                        </a:spcAft>
                      </a:pPr>
                      <a:r>
                        <a:rPr lang="en-US" sz="1400" kern="100">
                          <a:effectLst/>
                        </a:rPr>
                        <a:t>Selection Criteria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ctr">
                        <a:lnSpc>
                          <a:spcPct val="107000"/>
                        </a:lnSpc>
                        <a:spcAft>
                          <a:spcPts val="5"/>
                        </a:spcAft>
                      </a:pPr>
                      <a:r>
                        <a:rPr lang="en-US" sz="1400" kern="100" dirty="0">
                          <a:effectLst/>
                        </a:rPr>
                        <a:t>Weighting Factor (α)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29210" indent="0" algn="ctr">
                        <a:lnSpc>
                          <a:spcPct val="107000"/>
                        </a:lnSpc>
                        <a:spcAft>
                          <a:spcPts val="5"/>
                        </a:spcAft>
                      </a:pPr>
                      <a:r>
                        <a:rPr lang="en-US" sz="1400" kern="100">
                          <a:effectLst/>
                        </a:rPr>
                        <a:t>Scale </a:t>
                      </a:r>
                    </a:p>
                    <a:p>
                      <a:pPr marL="0" marR="32385" indent="0" algn="ctr">
                        <a:lnSpc>
                          <a:spcPct val="107000"/>
                        </a:lnSpc>
                        <a:spcAft>
                          <a:spcPts val="5"/>
                        </a:spcAft>
                      </a:pPr>
                      <a:r>
                        <a:rPr lang="en-US" sz="1400" kern="100">
                          <a:effectLst/>
                        </a:rPr>
                        <a:t>Property, </a:t>
                      </a:r>
                    </a:p>
                    <a:p>
                      <a:pPr marL="0" marR="31115" indent="0" algn="ctr">
                        <a:lnSpc>
                          <a:spcPct val="107000"/>
                        </a:lnSpc>
                        <a:spcAft>
                          <a:spcPts val="5"/>
                        </a:spcAft>
                      </a:pPr>
                      <a:r>
                        <a:rPr lang="en-US" sz="1400" kern="100">
                          <a:effectLst/>
                        </a:rPr>
                        <a:t>(β)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7620" marR="0" indent="0" algn="l">
                        <a:lnSpc>
                          <a:spcPct val="107000"/>
                        </a:lnSpc>
                        <a:spcAft>
                          <a:spcPts val="5"/>
                        </a:spcAft>
                      </a:pPr>
                      <a:r>
                        <a:rPr lang="en-US" sz="1400" kern="100">
                          <a:effectLst/>
                        </a:rPr>
                        <a:t>Weighted </a:t>
                      </a:r>
                    </a:p>
                    <a:p>
                      <a:pPr marL="0" marR="32385" indent="0" algn="ctr">
                        <a:lnSpc>
                          <a:spcPct val="107000"/>
                        </a:lnSpc>
                        <a:spcAft>
                          <a:spcPts val="5"/>
                        </a:spcAft>
                      </a:pPr>
                      <a:r>
                        <a:rPr lang="en-US" sz="1400" kern="100">
                          <a:effectLst/>
                        </a:rPr>
                        <a:t>Score, </a:t>
                      </a:r>
                    </a:p>
                    <a:p>
                      <a:pPr marL="0" marR="29210" indent="0" algn="ctr">
                        <a:lnSpc>
                          <a:spcPct val="107000"/>
                        </a:lnSpc>
                        <a:spcAft>
                          <a:spcPts val="5"/>
                        </a:spcAft>
                      </a:pPr>
                      <a:r>
                        <a:rPr lang="en-US" sz="1400" kern="100">
                          <a:effectLst/>
                        </a:rPr>
                        <a:t>(αβ)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31115" indent="0" algn="ctr">
                        <a:lnSpc>
                          <a:spcPct val="107000"/>
                        </a:lnSpc>
                        <a:spcAft>
                          <a:spcPts val="5"/>
                        </a:spcAft>
                      </a:pPr>
                      <a:r>
                        <a:rPr lang="en-US" sz="1400" kern="100">
                          <a:effectLst/>
                        </a:rPr>
                        <a:t>Scale </a:t>
                      </a:r>
                    </a:p>
                    <a:p>
                      <a:pPr marL="31750" marR="0" indent="0" algn="l">
                        <a:lnSpc>
                          <a:spcPct val="107000"/>
                        </a:lnSpc>
                        <a:spcAft>
                          <a:spcPts val="5"/>
                        </a:spcAft>
                      </a:pPr>
                      <a:r>
                        <a:rPr lang="en-US" sz="1400" kern="100">
                          <a:effectLst/>
                        </a:rPr>
                        <a:t>Property </a:t>
                      </a:r>
                    </a:p>
                    <a:p>
                      <a:pPr marL="0" marR="29845" indent="0" algn="ctr">
                        <a:lnSpc>
                          <a:spcPct val="107000"/>
                        </a:lnSpc>
                        <a:spcAft>
                          <a:spcPts val="5"/>
                        </a:spcAft>
                      </a:pPr>
                      <a:r>
                        <a:rPr lang="en-US" sz="1400" kern="100">
                          <a:effectLst/>
                        </a:rPr>
                        <a:t>(β)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ctr">
                        <a:lnSpc>
                          <a:spcPct val="107000"/>
                        </a:lnSpc>
                        <a:spcAft>
                          <a:spcPts val="5"/>
                        </a:spcAft>
                      </a:pPr>
                      <a:r>
                        <a:rPr lang="en-US" sz="1400" kern="100">
                          <a:effectLst/>
                        </a:rPr>
                        <a:t>Weighted Score (αβ)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30480" indent="0" algn="ctr">
                        <a:lnSpc>
                          <a:spcPct val="107000"/>
                        </a:lnSpc>
                        <a:spcAft>
                          <a:spcPts val="5"/>
                        </a:spcAft>
                      </a:pPr>
                      <a:r>
                        <a:rPr lang="en-US" sz="1400" kern="100">
                          <a:effectLst/>
                        </a:rPr>
                        <a:t>Scale </a:t>
                      </a:r>
                    </a:p>
                    <a:p>
                      <a:pPr marL="3175" marR="0" indent="0" algn="l">
                        <a:lnSpc>
                          <a:spcPct val="107000"/>
                        </a:lnSpc>
                        <a:spcAft>
                          <a:spcPts val="5"/>
                        </a:spcAft>
                      </a:pPr>
                      <a:r>
                        <a:rPr lang="en-US" sz="1400" kern="100">
                          <a:effectLst/>
                        </a:rPr>
                        <a:t>Property </a:t>
                      </a:r>
                    </a:p>
                    <a:p>
                      <a:pPr marL="0" marR="29210" indent="0" algn="ctr">
                        <a:lnSpc>
                          <a:spcPct val="107000"/>
                        </a:lnSpc>
                        <a:spcAft>
                          <a:spcPts val="5"/>
                        </a:spcAft>
                      </a:pPr>
                      <a:r>
                        <a:rPr lang="en-US" sz="1400" kern="100">
                          <a:effectLst/>
                        </a:rPr>
                        <a:t>(β)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ctr">
                        <a:lnSpc>
                          <a:spcPct val="107000"/>
                        </a:lnSpc>
                        <a:spcAft>
                          <a:spcPts val="5"/>
                        </a:spcAft>
                      </a:pPr>
                      <a:r>
                        <a:rPr lang="en-US" sz="1400" kern="100">
                          <a:effectLst/>
                        </a:rPr>
                        <a:t>Weighted Score αβ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32385" indent="0" algn="ctr">
                        <a:lnSpc>
                          <a:spcPct val="107000"/>
                        </a:lnSpc>
                        <a:spcAft>
                          <a:spcPts val="5"/>
                        </a:spcAft>
                      </a:pPr>
                      <a:r>
                        <a:rPr lang="en-US" sz="1400" kern="100" dirty="0">
                          <a:effectLst/>
                        </a:rPr>
                        <a:t>Scale </a:t>
                      </a:r>
                    </a:p>
                    <a:p>
                      <a:pPr marL="3175" marR="0" indent="0" algn="l">
                        <a:lnSpc>
                          <a:spcPct val="107000"/>
                        </a:lnSpc>
                        <a:spcAft>
                          <a:spcPts val="5"/>
                        </a:spcAft>
                      </a:pPr>
                      <a:r>
                        <a:rPr lang="en-US" sz="1400" kern="100" dirty="0">
                          <a:effectLst/>
                        </a:rPr>
                        <a:t>Property </a:t>
                      </a:r>
                    </a:p>
                    <a:p>
                      <a:pPr marL="0" marR="31115" indent="0" algn="ctr">
                        <a:lnSpc>
                          <a:spcPct val="107000"/>
                        </a:lnSpc>
                        <a:spcAft>
                          <a:spcPts val="5"/>
                        </a:spcAft>
                      </a:pPr>
                      <a:r>
                        <a:rPr lang="en-US" sz="1400" kern="100" dirty="0">
                          <a:effectLst/>
                        </a:rPr>
                        <a:t>(β)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7620" marR="0" indent="0" algn="l">
                        <a:lnSpc>
                          <a:spcPct val="107000"/>
                        </a:lnSpc>
                        <a:spcAft>
                          <a:spcPts val="5"/>
                        </a:spcAft>
                      </a:pPr>
                      <a:r>
                        <a:rPr lang="en-US" sz="1400" kern="100" dirty="0">
                          <a:effectLst/>
                        </a:rPr>
                        <a:t>Weighted </a:t>
                      </a:r>
                    </a:p>
                    <a:p>
                      <a:pPr marL="0" marR="31115" indent="0" algn="ctr">
                        <a:lnSpc>
                          <a:spcPct val="107000"/>
                        </a:lnSpc>
                        <a:spcAft>
                          <a:spcPts val="5"/>
                        </a:spcAft>
                      </a:pPr>
                      <a:r>
                        <a:rPr lang="en-US" sz="1400" kern="100" dirty="0">
                          <a:effectLst/>
                        </a:rPr>
                        <a:t>Score </a:t>
                      </a:r>
                    </a:p>
                    <a:p>
                      <a:pPr marL="0" marR="29845" indent="0" algn="ctr">
                        <a:lnSpc>
                          <a:spcPct val="107000"/>
                        </a:lnSpc>
                        <a:spcAft>
                          <a:spcPts val="5"/>
                        </a:spcAft>
                      </a:pPr>
                      <a:r>
                        <a:rPr lang="en-US" sz="1400" kern="100" dirty="0">
                          <a:effectLst/>
                        </a:rPr>
                        <a:t>(αβ)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3375635252"/>
                  </a:ext>
                </a:extLst>
              </a:tr>
              <a:tr h="540556">
                <a:tc>
                  <a:txBody>
                    <a:bodyPr/>
                    <a:lstStyle/>
                    <a:p>
                      <a:pPr marL="0" marR="0" indent="0" algn="l">
                        <a:lnSpc>
                          <a:spcPct val="107000"/>
                        </a:lnSpc>
                        <a:spcAft>
                          <a:spcPts val="5"/>
                        </a:spcAft>
                      </a:pPr>
                      <a:r>
                        <a:rPr lang="en-US" sz="1400" kern="100" dirty="0">
                          <a:effectLst/>
                        </a:rPr>
                        <a:t>1. Ultimate </a:t>
                      </a:r>
                    </a:p>
                    <a:p>
                      <a:pPr marL="0" marR="0" indent="0" algn="l">
                        <a:lnSpc>
                          <a:spcPct val="107000"/>
                        </a:lnSpc>
                        <a:spcAft>
                          <a:spcPts val="5"/>
                        </a:spcAft>
                      </a:pPr>
                      <a:r>
                        <a:rPr lang="en-US" sz="1400" kern="100" dirty="0">
                          <a:effectLst/>
                        </a:rPr>
                        <a:t>Strength (MPa)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0.28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52.94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14.82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23.53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6.59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70.59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19.76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100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28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3767122169"/>
                  </a:ext>
                </a:extLst>
              </a:tr>
              <a:tr h="364470">
                <a:tc>
                  <a:txBody>
                    <a:bodyPr/>
                    <a:lstStyle/>
                    <a:p>
                      <a:pPr marL="0" marR="0" indent="0" algn="l">
                        <a:lnSpc>
                          <a:spcPct val="107000"/>
                        </a:lnSpc>
                        <a:spcAft>
                          <a:spcPts val="5"/>
                        </a:spcAft>
                      </a:pPr>
                      <a:r>
                        <a:rPr lang="en-US" sz="1400" kern="100">
                          <a:effectLst/>
                        </a:rPr>
                        <a:t>2. Toughness(j)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0.24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60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14.4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7.68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80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19.2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24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881855254"/>
                  </a:ext>
                </a:extLst>
              </a:tr>
              <a:tr h="324004">
                <a:tc>
                  <a:txBody>
                    <a:bodyPr/>
                    <a:lstStyle/>
                    <a:p>
                      <a:pPr marL="0" marR="0" indent="0" algn="l">
                        <a:lnSpc>
                          <a:spcPct val="107000"/>
                        </a:lnSpc>
                        <a:spcAft>
                          <a:spcPts val="5"/>
                        </a:spcAft>
                      </a:pPr>
                      <a:r>
                        <a:rPr lang="en-US" sz="1400" kern="100">
                          <a:effectLst/>
                        </a:rPr>
                        <a:t>3. Cost/kg (Tk)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0.14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33.33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4.67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33.33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4.67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50.06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7.01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2660175549"/>
                  </a:ext>
                </a:extLst>
              </a:tr>
              <a:tr h="899797">
                <a:tc>
                  <a:txBody>
                    <a:bodyPr/>
                    <a:lstStyle/>
                    <a:p>
                      <a:pPr marL="0" marR="0" indent="0" algn="l">
                        <a:lnSpc>
                          <a:spcPct val="107000"/>
                        </a:lnSpc>
                        <a:spcAft>
                          <a:spcPts val="5"/>
                        </a:spcAft>
                      </a:pPr>
                      <a:r>
                        <a:rPr lang="en-US" sz="1400" kern="100">
                          <a:effectLst/>
                        </a:rPr>
                        <a:t>4.Rust </a:t>
                      </a:r>
                    </a:p>
                    <a:p>
                      <a:pPr marL="0" marR="0" indent="0" algn="l">
                        <a:lnSpc>
                          <a:spcPct val="107000"/>
                        </a:lnSpc>
                        <a:spcAft>
                          <a:spcPts val="5"/>
                        </a:spcAft>
                      </a:pPr>
                      <a:r>
                        <a:rPr lang="en-US" sz="1400" kern="100">
                          <a:effectLst/>
                        </a:rPr>
                        <a:t>Corrosion(mm/y</a:t>
                      </a:r>
                    </a:p>
                    <a:p>
                      <a:pPr marL="0" marR="0" indent="0" algn="l">
                        <a:lnSpc>
                          <a:spcPct val="107000"/>
                        </a:lnSpc>
                        <a:spcAft>
                          <a:spcPts val="5"/>
                        </a:spcAft>
                      </a:pPr>
                      <a:r>
                        <a:rPr lang="en-US" sz="1400" kern="100">
                          <a:effectLst/>
                        </a:rPr>
                        <a:t>ear)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0.09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2.5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0.23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33.33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2.99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6.25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0.56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24209617"/>
                  </a:ext>
                </a:extLst>
              </a:tr>
              <a:tr h="678706">
                <a:tc>
                  <a:txBody>
                    <a:bodyPr/>
                    <a:lstStyle/>
                    <a:p>
                      <a:pPr marL="0" marR="0" indent="0" algn="l">
                        <a:lnSpc>
                          <a:spcPct val="107000"/>
                        </a:lnSpc>
                        <a:spcAft>
                          <a:spcPts val="5"/>
                        </a:spcAft>
                      </a:pPr>
                      <a:r>
                        <a:rPr lang="en-US" sz="1400" kern="100">
                          <a:effectLst/>
                        </a:rPr>
                        <a:t>5. Electrical </a:t>
                      </a:r>
                    </a:p>
                    <a:p>
                      <a:pPr marL="0" marR="0" indent="0" algn="l">
                        <a:lnSpc>
                          <a:spcPct val="107000"/>
                        </a:lnSpc>
                        <a:spcAft>
                          <a:spcPts val="5"/>
                        </a:spcAft>
                      </a:pPr>
                      <a:r>
                        <a:rPr lang="en-US" sz="1400" kern="100">
                          <a:effectLst/>
                        </a:rPr>
                        <a:t>Conductivity </a:t>
                      </a:r>
                    </a:p>
                    <a:p>
                      <a:pPr marL="0" marR="0" indent="0" algn="l">
                        <a:lnSpc>
                          <a:spcPct val="107000"/>
                        </a:lnSpc>
                        <a:spcAft>
                          <a:spcPts val="5"/>
                        </a:spcAft>
                      </a:pPr>
                      <a:r>
                        <a:rPr lang="en-US" sz="1400" kern="100">
                          <a:effectLst/>
                        </a:rPr>
                        <a:t>(MS/m)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0.05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20.74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3.85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0.19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5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32.22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1.61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3632073959"/>
                  </a:ext>
                </a:extLst>
              </a:tr>
              <a:tr h="324004">
                <a:tc>
                  <a:txBody>
                    <a:bodyPr/>
                    <a:lstStyle/>
                    <a:p>
                      <a:pPr marL="0" marR="0" indent="0" algn="l">
                        <a:lnSpc>
                          <a:spcPct val="107000"/>
                        </a:lnSpc>
                        <a:spcAft>
                          <a:spcPts val="5"/>
                        </a:spcAft>
                      </a:pPr>
                      <a:r>
                        <a:rPr lang="en-US" sz="1400" kern="100">
                          <a:effectLst/>
                        </a:rPr>
                        <a:t>6. Weight/m</a:t>
                      </a:r>
                      <a:r>
                        <a:rPr lang="en-US" sz="1400" kern="100" baseline="30000">
                          <a:effectLst/>
                        </a:rPr>
                        <a:t>3</a:t>
                      </a: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0.05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34.39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1.72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33.75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1.69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34.62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1.73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4212992053"/>
                  </a:ext>
                </a:extLst>
              </a:tr>
              <a:tr h="457617">
                <a:tc>
                  <a:txBody>
                    <a:bodyPr/>
                    <a:lstStyle/>
                    <a:p>
                      <a:pPr marL="0" marR="0" indent="0" algn="l">
                        <a:lnSpc>
                          <a:spcPct val="107000"/>
                        </a:lnSpc>
                        <a:spcAft>
                          <a:spcPts val="5"/>
                        </a:spcAft>
                      </a:pPr>
                      <a:r>
                        <a:rPr lang="en-US" sz="1400" kern="100">
                          <a:effectLst/>
                        </a:rPr>
                        <a:t>7. Young’s </a:t>
                      </a:r>
                    </a:p>
                    <a:p>
                      <a:pPr marL="0" marR="0" indent="0" algn="l">
                        <a:lnSpc>
                          <a:spcPct val="107000"/>
                        </a:lnSpc>
                        <a:spcAft>
                          <a:spcPts val="5"/>
                        </a:spcAft>
                      </a:pPr>
                      <a:r>
                        <a:rPr lang="en-US" sz="1400" kern="100">
                          <a:effectLst/>
                        </a:rPr>
                        <a:t>Modulus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0.14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100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14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33.33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4.67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91.9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12.87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97.62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13.67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1026664445"/>
                  </a:ext>
                </a:extLst>
              </a:tr>
              <a:tr h="457617">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127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𝛴αβ </a:t>
                      </a:r>
                    </a:p>
                    <a:p>
                      <a:pPr marL="0" marR="0" indent="0" algn="l">
                        <a:lnSpc>
                          <a:spcPct val="107000"/>
                        </a:lnSpc>
                        <a:spcAft>
                          <a:spcPts val="5"/>
                        </a:spcAft>
                      </a:pPr>
                      <a:r>
                        <a:rPr lang="en-US" sz="1400" kern="100" dirty="0">
                          <a:effectLst/>
                        </a:rPr>
                        <a:t>=60.21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𝛴αβ </a:t>
                      </a:r>
                    </a:p>
                    <a:p>
                      <a:pPr marL="0" marR="0" indent="0" algn="l">
                        <a:lnSpc>
                          <a:spcPct val="107000"/>
                        </a:lnSpc>
                        <a:spcAft>
                          <a:spcPts val="5"/>
                        </a:spcAft>
                      </a:pPr>
                      <a:r>
                        <a:rPr lang="en-US" sz="1400" kern="100">
                          <a:effectLst/>
                        </a:rPr>
                        <a:t>=31.79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𝛴αβ </a:t>
                      </a:r>
                    </a:p>
                    <a:p>
                      <a:pPr marL="0" marR="0" indent="0" algn="l">
                        <a:lnSpc>
                          <a:spcPct val="107000"/>
                        </a:lnSpc>
                        <a:spcAft>
                          <a:spcPts val="5"/>
                        </a:spcAft>
                      </a:pPr>
                      <a:r>
                        <a:rPr lang="en-US" sz="1400" kern="100">
                          <a:effectLst/>
                        </a:rPr>
                        <a:t>=72.19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a:effectLst/>
                        </a:rPr>
                        <a:t> </a:t>
                      </a:r>
                      <a:endParaRPr lang="en-US"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tc>
                  <a:txBody>
                    <a:bodyPr/>
                    <a:lstStyle/>
                    <a:p>
                      <a:pPr marL="0" marR="0" indent="0" algn="l">
                        <a:lnSpc>
                          <a:spcPct val="107000"/>
                        </a:lnSpc>
                        <a:spcAft>
                          <a:spcPts val="5"/>
                        </a:spcAft>
                      </a:pPr>
                      <a:r>
                        <a:rPr lang="en-US" sz="1400" kern="100" dirty="0">
                          <a:effectLst/>
                        </a:rPr>
                        <a:t>𝛴αβ </a:t>
                      </a:r>
                    </a:p>
                    <a:p>
                      <a:pPr marL="0" marR="0" indent="0" algn="l">
                        <a:lnSpc>
                          <a:spcPct val="107000"/>
                        </a:lnSpc>
                        <a:spcAft>
                          <a:spcPts val="5"/>
                        </a:spcAft>
                      </a:pPr>
                      <a:r>
                        <a:rPr lang="en-US" sz="1400" kern="100" dirty="0">
                          <a:effectLst/>
                        </a:rPr>
                        <a:t>=76.58 </a:t>
                      </a:r>
                      <a:endPar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38100" marT="27940" marB="0"/>
                </a:tc>
                <a:extLst>
                  <a:ext uri="{0D108BD9-81ED-4DB2-BD59-A6C34878D82A}">
                    <a16:rowId xmlns:a16="http://schemas.microsoft.com/office/drawing/2014/main" val="1852433386"/>
                  </a:ext>
                </a:extLst>
              </a:tr>
            </a:tbl>
          </a:graphicData>
        </a:graphic>
      </p:graphicFrame>
    </p:spTree>
    <p:extLst>
      <p:ext uri="{BB962C8B-B14F-4D97-AF65-F5344CB8AC3E}">
        <p14:creationId xmlns:p14="http://schemas.microsoft.com/office/powerpoint/2010/main" val="31618807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DDF76-B7BB-4F02-ED81-FB2E9477210C}"/>
            </a:ext>
          </a:extLst>
        </p:cNvPr>
        <p:cNvGrpSpPr/>
        <p:nvPr/>
      </p:nvGrpSpPr>
      <p:grpSpPr>
        <a:xfrm>
          <a:off x="0" y="0"/>
          <a:ext cx="0" cy="0"/>
          <a:chOff x="0" y="0"/>
          <a:chExt cx="0" cy="0"/>
        </a:xfrm>
      </p:grpSpPr>
      <p:pic>
        <p:nvPicPr>
          <p:cNvPr id="4103" name="Picture 7" descr="Select Icon png images | PNGWing">
            <a:extLst>
              <a:ext uri="{FF2B5EF4-FFF2-40B4-BE49-F238E27FC236}">
                <a16:creationId xmlns:a16="http://schemas.microsoft.com/office/drawing/2014/main" id="{7A318553-090A-D413-81DD-A24C01137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5651" y="4438600"/>
            <a:ext cx="1502283" cy="1618765"/>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7DA96EA2-D1FE-6466-54FF-282B29C19897}"/>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52CD2E0D-E538-BAA0-D034-9425A9A25823}"/>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A10F028-B3F3-5031-0DDD-0A4261F14953}"/>
              </a:ext>
            </a:extLst>
          </p:cNvPr>
          <p:cNvSpPr txBox="1"/>
          <p:nvPr/>
        </p:nvSpPr>
        <p:spPr>
          <a:xfrm>
            <a:off x="794069" y="1025775"/>
            <a:ext cx="3308919" cy="584775"/>
          </a:xfrm>
          <a:prstGeom prst="rect">
            <a:avLst/>
          </a:prstGeom>
          <a:noFill/>
        </p:spPr>
        <p:txBody>
          <a:bodyPr wrap="none" rtlCol="0">
            <a:spAutoFit/>
          </a:bodyPr>
          <a:lstStyle/>
          <a:p>
            <a:r>
              <a:rPr lang="en-US" sz="3200" b="1" dirty="0">
                <a:solidFill>
                  <a:schemeClr val="accent4"/>
                </a:solidFill>
                <a:latin typeface="Times New Roman" panose="02020603050405020304" pitchFamily="18" charset="0"/>
                <a:cs typeface="Times New Roman" panose="02020603050405020304" pitchFamily="18" charset="0"/>
              </a:rPr>
              <a:t>Result </a:t>
            </a:r>
            <a:r>
              <a:rPr lang="en-US" sz="3200" dirty="0">
                <a:latin typeface="Times New Roman" panose="02020603050405020304" pitchFamily="18" charset="0"/>
                <a:cs typeface="Times New Roman" panose="02020603050405020304" pitchFamily="18" charset="0"/>
              </a:rPr>
              <a:t>&amp; </a:t>
            </a:r>
            <a:r>
              <a:rPr lang="en-US" sz="3200" b="1" dirty="0">
                <a:solidFill>
                  <a:schemeClr val="accent3"/>
                </a:solidFill>
                <a:latin typeface="Times New Roman" panose="02020603050405020304" pitchFamily="18" charset="0"/>
                <a:cs typeface="Times New Roman" panose="02020603050405020304" pitchFamily="18" charset="0"/>
              </a:rPr>
              <a:t>Analysis</a:t>
            </a:r>
          </a:p>
        </p:txBody>
      </p:sp>
      <p:sp>
        <p:nvSpPr>
          <p:cNvPr id="3" name="TextBox 2">
            <a:extLst>
              <a:ext uri="{FF2B5EF4-FFF2-40B4-BE49-F238E27FC236}">
                <a16:creationId xmlns:a16="http://schemas.microsoft.com/office/drawing/2014/main" id="{9C379F38-6D73-893E-2B5D-3556D95A1EDB}"/>
              </a:ext>
            </a:extLst>
          </p:cNvPr>
          <p:cNvSpPr txBox="1"/>
          <p:nvPr/>
        </p:nvSpPr>
        <p:spPr>
          <a:xfrm>
            <a:off x="420844" y="2001843"/>
            <a:ext cx="5177523" cy="2436757"/>
          </a:xfrm>
          <a:prstGeom prst="rect">
            <a:avLst/>
          </a:prstGeom>
          <a:noFill/>
        </p:spPr>
        <p:txBody>
          <a:bodyPr wrap="square">
            <a:spAutoFit/>
          </a:bodyPr>
          <a:lstStyle/>
          <a:p>
            <a:pPr marL="6350" marR="0" indent="-6350" algn="just">
              <a:lnSpc>
                <a:spcPct val="107000"/>
              </a:lnSpc>
              <a:spcAft>
                <a:spcPts val="725"/>
              </a:spcAft>
            </a:pPr>
            <a:r>
              <a:rPr lang="en-US"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From the value of </a:t>
            </a:r>
            <a:r>
              <a:rPr lang="en-US" sz="2400" b="1" kern="100" dirty="0">
                <a:solidFill>
                  <a:schemeClr val="accent3">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ϒ=</a:t>
            </a:r>
            <a:r>
              <a:rPr lang="en-US" sz="2400" b="1" i="1" kern="100" dirty="0">
                <a:solidFill>
                  <a:schemeClr val="accent3">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100" dirty="0">
                <a:solidFill>
                  <a:schemeClr val="accent3">
                    <a:lumMod val="75000"/>
                  </a:schemeClr>
                </a:solidFill>
                <a:effectLst/>
                <a:latin typeface="Times New Roman" panose="02020603050405020304" pitchFamily="18" charset="0"/>
                <a:ea typeface="Cambria Math" panose="02040503050406030204" pitchFamily="18" charset="0"/>
                <a:cs typeface="Times New Roman" panose="02020603050405020304" pitchFamily="18" charset="0"/>
              </a:rPr>
              <a:t>𝛴αβ</a:t>
            </a:r>
            <a:r>
              <a:rPr lang="en-US" sz="2400" b="1" kern="100" dirty="0">
                <a:solidFill>
                  <a:schemeClr val="accent3">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76.58</a:t>
            </a:r>
            <a:r>
              <a:rPr lang="en-US" sz="2400" b="1"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we can see that High strength low alloy steel (HSLA) has the highest value of the performance index. So, High strength low alloy steel (HSLA) selected for the carts frame and cage. </a:t>
            </a:r>
          </a:p>
        </p:txBody>
      </p:sp>
      <p:sp>
        <p:nvSpPr>
          <p:cNvPr id="4" name="Rectangle 1">
            <a:extLst>
              <a:ext uri="{FF2B5EF4-FFF2-40B4-BE49-F238E27FC236}">
                <a16:creationId xmlns:a16="http://schemas.microsoft.com/office/drawing/2014/main" id="{9770E51C-2413-099F-350B-DECDBA49F1B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2A1B2351-07CD-589E-14EF-DC7A0FECB2D3}"/>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101" name="Picture 5" descr="High Strength Low Alloy Steels">
            <a:extLst>
              <a:ext uri="{FF2B5EF4-FFF2-40B4-BE49-F238E27FC236}">
                <a16:creationId xmlns:a16="http://schemas.microsoft.com/office/drawing/2014/main" id="{9EA29D7A-C8A7-6E9B-C6D2-5B527B8CA6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3635" y="1500760"/>
            <a:ext cx="3649833" cy="273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021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1072-47BD-31B8-262E-2841E49149DF}"/>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35F97B3D-1CDA-5B20-EFF5-974DE1B63FF3}"/>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BE64176-75EC-F3E6-1374-3C625C5FF973}"/>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F56587FE-E1C4-9709-1507-96761C19F0DE}"/>
              </a:ext>
            </a:extLst>
          </p:cNvPr>
          <p:cNvGraphicFramePr>
            <a:graphicFrameLocks noGrp="1"/>
          </p:cNvGraphicFramePr>
          <p:nvPr>
            <p:extLst>
              <p:ext uri="{D42A27DB-BD31-4B8C-83A1-F6EECF244321}">
                <p14:modId xmlns:p14="http://schemas.microsoft.com/office/powerpoint/2010/main" val="3350760163"/>
              </p:ext>
            </p:extLst>
          </p:nvPr>
        </p:nvGraphicFramePr>
        <p:xfrm>
          <a:off x="3900195" y="1805360"/>
          <a:ext cx="7974613" cy="4044613"/>
        </p:xfrm>
        <a:graphic>
          <a:graphicData uri="http://schemas.openxmlformats.org/drawingml/2006/table">
            <a:tbl>
              <a:tblPr firstRow="1" firstCol="1" bandRow="1">
                <a:tableStyleId>{ED083AE6-46FA-4A59-8FB0-9F97EB10719F}</a:tableStyleId>
              </a:tblPr>
              <a:tblGrid>
                <a:gridCol w="1509710">
                  <a:extLst>
                    <a:ext uri="{9D8B030D-6E8A-4147-A177-3AD203B41FA5}">
                      <a16:colId xmlns:a16="http://schemas.microsoft.com/office/drawing/2014/main" val="2972695825"/>
                    </a:ext>
                  </a:extLst>
                </a:gridCol>
                <a:gridCol w="331534">
                  <a:extLst>
                    <a:ext uri="{9D8B030D-6E8A-4147-A177-3AD203B41FA5}">
                      <a16:colId xmlns:a16="http://schemas.microsoft.com/office/drawing/2014/main" val="2089812968"/>
                    </a:ext>
                  </a:extLst>
                </a:gridCol>
                <a:gridCol w="329900">
                  <a:extLst>
                    <a:ext uri="{9D8B030D-6E8A-4147-A177-3AD203B41FA5}">
                      <a16:colId xmlns:a16="http://schemas.microsoft.com/office/drawing/2014/main" val="491248112"/>
                    </a:ext>
                  </a:extLst>
                </a:gridCol>
                <a:gridCol w="330717">
                  <a:extLst>
                    <a:ext uri="{9D8B030D-6E8A-4147-A177-3AD203B41FA5}">
                      <a16:colId xmlns:a16="http://schemas.microsoft.com/office/drawing/2014/main" val="3172670405"/>
                    </a:ext>
                  </a:extLst>
                </a:gridCol>
                <a:gridCol w="330717">
                  <a:extLst>
                    <a:ext uri="{9D8B030D-6E8A-4147-A177-3AD203B41FA5}">
                      <a16:colId xmlns:a16="http://schemas.microsoft.com/office/drawing/2014/main" val="2261776796"/>
                    </a:ext>
                  </a:extLst>
                </a:gridCol>
                <a:gridCol w="414049">
                  <a:extLst>
                    <a:ext uri="{9D8B030D-6E8A-4147-A177-3AD203B41FA5}">
                      <a16:colId xmlns:a16="http://schemas.microsoft.com/office/drawing/2014/main" val="322624168"/>
                    </a:ext>
                  </a:extLst>
                </a:gridCol>
                <a:gridCol w="352724">
                  <a:extLst>
                    <a:ext uri="{9D8B030D-6E8A-4147-A177-3AD203B41FA5}">
                      <a16:colId xmlns:a16="http://schemas.microsoft.com/office/drawing/2014/main" val="1690121648"/>
                    </a:ext>
                  </a:extLst>
                </a:gridCol>
                <a:gridCol w="330717">
                  <a:extLst>
                    <a:ext uri="{9D8B030D-6E8A-4147-A177-3AD203B41FA5}">
                      <a16:colId xmlns:a16="http://schemas.microsoft.com/office/drawing/2014/main" val="3729428236"/>
                    </a:ext>
                  </a:extLst>
                </a:gridCol>
                <a:gridCol w="330717">
                  <a:extLst>
                    <a:ext uri="{9D8B030D-6E8A-4147-A177-3AD203B41FA5}">
                      <a16:colId xmlns:a16="http://schemas.microsoft.com/office/drawing/2014/main" val="239799896"/>
                    </a:ext>
                  </a:extLst>
                </a:gridCol>
                <a:gridCol w="330717">
                  <a:extLst>
                    <a:ext uri="{9D8B030D-6E8A-4147-A177-3AD203B41FA5}">
                      <a16:colId xmlns:a16="http://schemas.microsoft.com/office/drawing/2014/main" val="3017981389"/>
                    </a:ext>
                  </a:extLst>
                </a:gridCol>
                <a:gridCol w="551710">
                  <a:extLst>
                    <a:ext uri="{9D8B030D-6E8A-4147-A177-3AD203B41FA5}">
                      <a16:colId xmlns:a16="http://schemas.microsoft.com/office/drawing/2014/main" val="4155545007"/>
                    </a:ext>
                  </a:extLst>
                </a:gridCol>
                <a:gridCol w="1773107">
                  <a:extLst>
                    <a:ext uri="{9D8B030D-6E8A-4147-A177-3AD203B41FA5}">
                      <a16:colId xmlns:a16="http://schemas.microsoft.com/office/drawing/2014/main" val="815182514"/>
                    </a:ext>
                  </a:extLst>
                </a:gridCol>
                <a:gridCol w="1058294">
                  <a:extLst>
                    <a:ext uri="{9D8B030D-6E8A-4147-A177-3AD203B41FA5}">
                      <a16:colId xmlns:a16="http://schemas.microsoft.com/office/drawing/2014/main" val="3833431585"/>
                    </a:ext>
                  </a:extLst>
                </a:gridCol>
              </a:tblGrid>
              <a:tr h="856122">
                <a:tc>
                  <a:txBody>
                    <a:bodyPr/>
                    <a:lstStyle/>
                    <a:p>
                      <a:pPr marL="0" marR="0" algn="ctr">
                        <a:lnSpc>
                          <a:spcPct val="107000"/>
                        </a:lnSpc>
                        <a:spcAft>
                          <a:spcPts val="800"/>
                        </a:spcAft>
                        <a:buNone/>
                      </a:pPr>
                      <a:r>
                        <a:rPr lang="en-US" sz="1200" kern="0" dirty="0">
                          <a:effectLst/>
                        </a:rPr>
                        <a:t>Selection criteria</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3</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4</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5</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6</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7</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8</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9</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Positive decisions</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Relative importance coefficient (</a:t>
                      </a:r>
                      <a:r>
                        <a:rPr lang="en-US" sz="1200" kern="100" dirty="0">
                          <a:effectLst/>
                        </a:rPr>
                        <a:t>α</a:t>
                      </a:r>
                      <a:r>
                        <a:rPr lang="en-US" sz="1200" kern="0" dirty="0">
                          <a:effectLst/>
                        </a:rPr>
                        <a:t>)</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66902031"/>
                  </a:ext>
                </a:extLst>
              </a:tr>
              <a:tr h="639650">
                <a:tc>
                  <a:txBody>
                    <a:bodyPr/>
                    <a:lstStyle/>
                    <a:p>
                      <a:pPr marL="0" marR="0" algn="ctr">
                        <a:lnSpc>
                          <a:spcPct val="107000"/>
                        </a:lnSpc>
                        <a:spcAft>
                          <a:spcPts val="800"/>
                        </a:spcAft>
                        <a:buNone/>
                      </a:pPr>
                      <a:r>
                        <a:rPr lang="en-US" sz="1200" kern="0">
                          <a:effectLst/>
                        </a:rPr>
                        <a:t>Material Strength &amp; Compatibility</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14419270"/>
                  </a:ext>
                </a:extLst>
              </a:tr>
              <a:tr h="206709">
                <a:tc>
                  <a:txBody>
                    <a:bodyPr/>
                    <a:lstStyle/>
                    <a:p>
                      <a:pPr marL="0" marR="0" algn="ctr">
                        <a:lnSpc>
                          <a:spcPct val="107000"/>
                        </a:lnSpc>
                        <a:spcAft>
                          <a:spcPts val="800"/>
                        </a:spcAft>
                        <a:buNone/>
                      </a:pPr>
                      <a:r>
                        <a:rPr lang="en-US" sz="1200" kern="0">
                          <a:effectLst/>
                        </a:rPr>
                        <a:t>Surface finish</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508554886"/>
                  </a:ext>
                </a:extLst>
              </a:tr>
              <a:tr h="423180">
                <a:tc>
                  <a:txBody>
                    <a:bodyPr/>
                    <a:lstStyle/>
                    <a:p>
                      <a:pPr marL="0" marR="0" algn="ctr">
                        <a:lnSpc>
                          <a:spcPct val="107000"/>
                        </a:lnSpc>
                        <a:spcAft>
                          <a:spcPts val="800"/>
                        </a:spcAft>
                        <a:buNone/>
                      </a:pPr>
                      <a:r>
                        <a:rPr lang="en-US" sz="1200" kern="0" dirty="0">
                          <a:effectLst/>
                        </a:rPr>
                        <a:t> Manufacturing Cost &amp; Scalability</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247890869"/>
                  </a:ext>
                </a:extLst>
              </a:tr>
              <a:tr h="856122">
                <a:tc>
                  <a:txBody>
                    <a:bodyPr/>
                    <a:lstStyle/>
                    <a:p>
                      <a:pPr marL="0" marR="0" algn="ctr">
                        <a:lnSpc>
                          <a:spcPct val="107000"/>
                        </a:lnSpc>
                        <a:spcAft>
                          <a:spcPts val="800"/>
                        </a:spcAft>
                        <a:buNone/>
                      </a:pPr>
                      <a:r>
                        <a:rPr lang="en-US" sz="1200" kern="0" dirty="0">
                          <a:effectLst/>
                        </a:rPr>
                        <a:t>Integration of Electronics &amp; Wiring Management</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 </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2</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246183305"/>
                  </a:ext>
                </a:extLst>
              </a:tr>
              <a:tr h="639650">
                <a:tc>
                  <a:txBody>
                    <a:bodyPr/>
                    <a:lstStyle/>
                    <a:p>
                      <a:pPr marL="0" marR="0" algn="ctr">
                        <a:lnSpc>
                          <a:spcPct val="107000"/>
                        </a:lnSpc>
                        <a:spcAft>
                          <a:spcPts val="800"/>
                        </a:spcAft>
                        <a:buNone/>
                      </a:pPr>
                      <a:r>
                        <a:rPr lang="en-US" sz="1200" kern="0">
                          <a:effectLst/>
                        </a:rPr>
                        <a:t>Structural Strength &amp; Load-Bearing Capacity</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4</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0.4</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174367978"/>
                  </a:ext>
                </a:extLst>
              </a:tr>
              <a:tr h="423180">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 </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(Positive Decision) =10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794424458"/>
                  </a:ext>
                </a:extLst>
              </a:tr>
            </a:tbl>
          </a:graphicData>
        </a:graphic>
      </p:graphicFrame>
      <p:sp>
        <p:nvSpPr>
          <p:cNvPr id="5" name="TextBox 4">
            <a:extLst>
              <a:ext uri="{FF2B5EF4-FFF2-40B4-BE49-F238E27FC236}">
                <a16:creationId xmlns:a16="http://schemas.microsoft.com/office/drawing/2014/main" id="{61A5D8E2-7DB4-8ED0-8923-451B565DE6E8}"/>
              </a:ext>
            </a:extLst>
          </p:cNvPr>
          <p:cNvSpPr txBox="1"/>
          <p:nvPr/>
        </p:nvSpPr>
        <p:spPr>
          <a:xfrm>
            <a:off x="4961795" y="1306536"/>
            <a:ext cx="6097656" cy="374077"/>
          </a:xfrm>
          <a:prstGeom prst="rect">
            <a:avLst/>
          </a:prstGeom>
          <a:noFill/>
        </p:spPr>
        <p:txBody>
          <a:bodyPr wrap="square">
            <a:spAutoFit/>
          </a:bodyPr>
          <a:lstStyle/>
          <a:p>
            <a:pPr marL="0" marR="0" indent="-285750" algn="ctr">
              <a:lnSpc>
                <a:spcPct val="107000"/>
              </a:lnSpc>
              <a:spcAft>
                <a:spcPts val="800"/>
              </a:spcAft>
              <a:tabLst>
                <a:tab pos="0" algn="l"/>
              </a:tabLst>
            </a:pPr>
            <a:r>
              <a:rPr lang="en-US" sz="1800" kern="100" dirty="0">
                <a:effectLst/>
                <a:latin typeface="Times New Roman" panose="02020603050405020304" pitchFamily="18" charset="0"/>
                <a:ea typeface="Calibri" panose="020F0502020204030204" pitchFamily="34" charset="0"/>
                <a:cs typeface="Vrinda" panose="020B0502040204020203" pitchFamily="34" charset="0"/>
              </a:rPr>
              <a:t>Table </a:t>
            </a:r>
            <a:r>
              <a:rPr lang="en-US" kern="100" dirty="0">
                <a:latin typeface="Times New Roman" panose="02020603050405020304" pitchFamily="18" charset="0"/>
                <a:ea typeface="Calibri" panose="020F0502020204030204" pitchFamily="34" charset="0"/>
                <a:cs typeface="Vrinda" panose="020B0502040204020203" pitchFamily="34" charset="0"/>
              </a:rPr>
              <a:t>-</a:t>
            </a:r>
            <a:r>
              <a:rPr lang="en-US" sz="1800" kern="100" dirty="0">
                <a:effectLst/>
                <a:latin typeface="Times New Roman" panose="02020603050405020304" pitchFamily="18" charset="0"/>
                <a:ea typeface="Calibri" panose="020F0502020204030204" pitchFamily="34" charset="0"/>
                <a:cs typeface="Vrinda" panose="020B0502040204020203" pitchFamily="34" charset="0"/>
              </a:rPr>
              <a:t> Relative importance of Selection Criterion</a:t>
            </a:r>
            <a:endParaRPr lang="en-ID" sz="1600" kern="100" dirty="0">
              <a:effectLst/>
              <a:latin typeface="Calibri" panose="020F0502020204030204" pitchFamily="34" charset="0"/>
              <a:ea typeface="Calibri" panose="020F0502020204030204" pitchFamily="34" charset="0"/>
              <a:cs typeface="Vrinda" panose="020B0502040204020203" pitchFamily="34" charset="0"/>
            </a:endParaRPr>
          </a:p>
        </p:txBody>
      </p:sp>
      <p:sp>
        <p:nvSpPr>
          <p:cNvPr id="9" name="TextBox 8">
            <a:extLst>
              <a:ext uri="{FF2B5EF4-FFF2-40B4-BE49-F238E27FC236}">
                <a16:creationId xmlns:a16="http://schemas.microsoft.com/office/drawing/2014/main" id="{EDE14B2F-5B3C-F37B-E285-E7F0D18B501A}"/>
              </a:ext>
            </a:extLst>
          </p:cNvPr>
          <p:cNvSpPr txBox="1"/>
          <p:nvPr/>
        </p:nvSpPr>
        <p:spPr>
          <a:xfrm>
            <a:off x="494472" y="849019"/>
            <a:ext cx="6097656" cy="468077"/>
          </a:xfrm>
          <a:prstGeom prst="rect">
            <a:avLst/>
          </a:prstGeom>
          <a:noFill/>
        </p:spPr>
        <p:txBody>
          <a:bodyPr wrap="square">
            <a:spAutoFit/>
          </a:bodyPr>
          <a:lstStyle/>
          <a:p>
            <a:pPr marL="0" marR="0" indent="-285750">
              <a:lnSpc>
                <a:spcPct val="107000"/>
              </a:lnSpc>
              <a:spcAft>
                <a:spcPts val="800"/>
              </a:spcAft>
            </a:pPr>
            <a:r>
              <a:rPr lang="en-US" sz="2400" b="1" kern="100" dirty="0">
                <a:solidFill>
                  <a:schemeClr val="accent3">
                    <a:lumMod val="75000"/>
                  </a:schemeClr>
                </a:solidFill>
                <a:effectLst/>
                <a:latin typeface="Times New Roman" panose="02020603050405020304" pitchFamily="18" charset="0"/>
                <a:ea typeface="Calibri" panose="020F0502020204030204" pitchFamily="34" charset="0"/>
                <a:cs typeface="Vrinda" panose="020B0502040204020203" pitchFamily="34" charset="0"/>
              </a:rPr>
              <a:t>Manufacturing</a:t>
            </a:r>
            <a:r>
              <a:rPr lang="en-US" sz="2400" b="1" kern="100" dirty="0">
                <a:effectLst/>
                <a:latin typeface="Times New Roman" panose="02020603050405020304" pitchFamily="18" charset="0"/>
                <a:ea typeface="Calibri" panose="020F0502020204030204" pitchFamily="34" charset="0"/>
                <a:cs typeface="Vrinda" panose="020B0502040204020203" pitchFamily="34" charset="0"/>
              </a:rPr>
              <a:t> </a:t>
            </a:r>
            <a:r>
              <a:rPr lang="en-US" sz="2400" b="1" kern="100" dirty="0">
                <a:solidFill>
                  <a:schemeClr val="accent4"/>
                </a:solidFill>
                <a:effectLst/>
                <a:latin typeface="Times New Roman" panose="02020603050405020304" pitchFamily="18" charset="0"/>
                <a:ea typeface="Calibri" panose="020F0502020204030204" pitchFamily="34" charset="0"/>
                <a:cs typeface="Vrinda" panose="020B0502040204020203" pitchFamily="34" charset="0"/>
              </a:rPr>
              <a:t>Process: </a:t>
            </a:r>
            <a:endParaRPr lang="en-ID" sz="2400" kern="100" dirty="0">
              <a:solidFill>
                <a:schemeClr val="accent4"/>
              </a:solidFill>
              <a:effectLst/>
              <a:latin typeface="Calibri" panose="020F0502020204030204" pitchFamily="34" charset="0"/>
              <a:ea typeface="Calibri" panose="020F0502020204030204" pitchFamily="34" charset="0"/>
              <a:cs typeface="Vrinda" panose="020B0502040204020203" pitchFamily="34" charset="0"/>
            </a:endParaRPr>
          </a:p>
        </p:txBody>
      </p:sp>
      <p:sp>
        <p:nvSpPr>
          <p:cNvPr id="3" name="Arrow: Right 2">
            <a:extLst>
              <a:ext uri="{FF2B5EF4-FFF2-40B4-BE49-F238E27FC236}">
                <a16:creationId xmlns:a16="http://schemas.microsoft.com/office/drawing/2014/main" id="{11FB6202-55AE-49BD-2EE3-EE16F1A0F035}"/>
              </a:ext>
            </a:extLst>
          </p:cNvPr>
          <p:cNvSpPr/>
          <p:nvPr/>
        </p:nvSpPr>
        <p:spPr>
          <a:xfrm>
            <a:off x="192055" y="1674781"/>
            <a:ext cx="2388637" cy="699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Production Cost</a:t>
            </a:r>
          </a:p>
        </p:txBody>
      </p:sp>
      <p:sp>
        <p:nvSpPr>
          <p:cNvPr id="4" name="Arrow: Right 3">
            <a:extLst>
              <a:ext uri="{FF2B5EF4-FFF2-40B4-BE49-F238E27FC236}">
                <a16:creationId xmlns:a16="http://schemas.microsoft.com/office/drawing/2014/main" id="{01A44083-0329-E97F-3049-19A0CB31C814}"/>
              </a:ext>
            </a:extLst>
          </p:cNvPr>
          <p:cNvSpPr/>
          <p:nvPr/>
        </p:nvSpPr>
        <p:spPr>
          <a:xfrm>
            <a:off x="436543" y="3666932"/>
            <a:ext cx="2504494" cy="699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Structural Strength</a:t>
            </a:r>
          </a:p>
        </p:txBody>
      </p:sp>
      <p:sp>
        <p:nvSpPr>
          <p:cNvPr id="6" name="Arrow: Right 5">
            <a:extLst>
              <a:ext uri="{FF2B5EF4-FFF2-40B4-BE49-F238E27FC236}">
                <a16:creationId xmlns:a16="http://schemas.microsoft.com/office/drawing/2014/main" id="{85163BFE-17B4-A360-E555-536EC0590972}"/>
              </a:ext>
            </a:extLst>
          </p:cNvPr>
          <p:cNvSpPr/>
          <p:nvPr/>
        </p:nvSpPr>
        <p:spPr>
          <a:xfrm>
            <a:off x="494472" y="5760520"/>
            <a:ext cx="2388637" cy="699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Surface Finish</a:t>
            </a:r>
          </a:p>
        </p:txBody>
      </p:sp>
      <p:pic>
        <p:nvPicPr>
          <p:cNvPr id="5122" name="Picture 2" descr="Production - Free industry icons">
            <a:extLst>
              <a:ext uri="{FF2B5EF4-FFF2-40B4-BE49-F238E27FC236}">
                <a16:creationId xmlns:a16="http://schemas.microsoft.com/office/drawing/2014/main" id="{3EA6EE1C-CB57-354F-0C74-6C30982992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6949" y="2554894"/>
            <a:ext cx="858848" cy="85884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igh strength icon stock vector. Illustration of protection ...">
            <a:extLst>
              <a:ext uri="{FF2B5EF4-FFF2-40B4-BE49-F238E27FC236}">
                <a16:creationId xmlns:a16="http://schemas.microsoft.com/office/drawing/2014/main" id="{8256D8CA-B0B6-AFDC-7AF2-2C19CDD6FE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7532" y="4368704"/>
            <a:ext cx="1391816" cy="1391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8323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EA01-8F11-5C1E-E067-1115099E03D4}"/>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2498AF41-1777-37E3-E579-6CDD81DC5A5A}"/>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6011895-91E1-0533-4530-DB0BF7B1B29A}"/>
              </a:ext>
            </a:extLst>
          </p:cNvPr>
          <p:cNvSpPr/>
          <p:nvPr/>
        </p:nvSpPr>
        <p:spPr>
          <a:xfrm>
            <a:off x="10993633" y="662303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6008996A-6645-79AB-84EE-9DDBC924BFB8}"/>
              </a:ext>
            </a:extLst>
          </p:cNvPr>
          <p:cNvGraphicFramePr>
            <a:graphicFrameLocks noGrp="1"/>
          </p:cNvGraphicFramePr>
          <p:nvPr>
            <p:extLst>
              <p:ext uri="{D42A27DB-BD31-4B8C-83A1-F6EECF244321}">
                <p14:modId xmlns:p14="http://schemas.microsoft.com/office/powerpoint/2010/main" val="2890839702"/>
              </p:ext>
            </p:extLst>
          </p:nvPr>
        </p:nvGraphicFramePr>
        <p:xfrm>
          <a:off x="411155" y="1453324"/>
          <a:ext cx="6823114" cy="4721841"/>
        </p:xfrm>
        <a:graphic>
          <a:graphicData uri="http://schemas.openxmlformats.org/drawingml/2006/table">
            <a:tbl>
              <a:tblPr firstRow="1" firstCol="1" bandRow="1">
                <a:tableStyleId>{ED083AE6-46FA-4A59-8FB0-9F97EB10719F}</a:tableStyleId>
              </a:tblPr>
              <a:tblGrid>
                <a:gridCol w="1964036">
                  <a:extLst>
                    <a:ext uri="{9D8B030D-6E8A-4147-A177-3AD203B41FA5}">
                      <a16:colId xmlns:a16="http://schemas.microsoft.com/office/drawing/2014/main" val="1408148888"/>
                    </a:ext>
                  </a:extLst>
                </a:gridCol>
                <a:gridCol w="1849255">
                  <a:extLst>
                    <a:ext uri="{9D8B030D-6E8A-4147-A177-3AD203B41FA5}">
                      <a16:colId xmlns:a16="http://schemas.microsoft.com/office/drawing/2014/main" val="3992227717"/>
                    </a:ext>
                  </a:extLst>
                </a:gridCol>
                <a:gridCol w="1168648">
                  <a:extLst>
                    <a:ext uri="{9D8B030D-6E8A-4147-A177-3AD203B41FA5}">
                      <a16:colId xmlns:a16="http://schemas.microsoft.com/office/drawing/2014/main" val="3715609910"/>
                    </a:ext>
                  </a:extLst>
                </a:gridCol>
                <a:gridCol w="1841175">
                  <a:extLst>
                    <a:ext uri="{9D8B030D-6E8A-4147-A177-3AD203B41FA5}">
                      <a16:colId xmlns:a16="http://schemas.microsoft.com/office/drawing/2014/main" val="1832609339"/>
                    </a:ext>
                  </a:extLst>
                </a:gridCol>
              </a:tblGrid>
              <a:tr h="477079">
                <a:tc>
                  <a:txBody>
                    <a:bodyPr/>
                    <a:lstStyle/>
                    <a:p>
                      <a:pPr marL="0" marR="0" algn="ctr">
                        <a:lnSpc>
                          <a:spcPct val="107000"/>
                        </a:lnSpc>
                        <a:spcAft>
                          <a:spcPts val="800"/>
                        </a:spcAft>
                        <a:buNone/>
                      </a:pPr>
                      <a:r>
                        <a:rPr lang="en-US" sz="1100" kern="10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b"/>
                </a:tc>
                <a:tc gridSpan="3">
                  <a:txBody>
                    <a:bodyPr/>
                    <a:lstStyle/>
                    <a:p>
                      <a:pPr marL="0" marR="0" algn="ctr">
                        <a:lnSpc>
                          <a:spcPct val="107000"/>
                        </a:lnSpc>
                        <a:spcAft>
                          <a:spcPts val="800"/>
                        </a:spcAft>
                        <a:buNone/>
                      </a:pPr>
                      <a:r>
                        <a:rPr lang="en-US" sz="1200" kern="100" dirty="0">
                          <a:effectLst/>
                        </a:rPr>
                        <a:t>Manufacturing Process</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hMerge="1">
                  <a:txBody>
                    <a:bodyPr/>
                    <a:lstStyle/>
                    <a:p>
                      <a:endParaRPr lang="en-ID"/>
                    </a:p>
                  </a:txBody>
                  <a:tcPr/>
                </a:tc>
                <a:tc hMerge="1">
                  <a:txBody>
                    <a:bodyPr/>
                    <a:lstStyle/>
                    <a:p>
                      <a:endParaRPr lang="en-ID"/>
                    </a:p>
                  </a:txBody>
                  <a:tcPr/>
                </a:tc>
                <a:extLst>
                  <a:ext uri="{0D108BD9-81ED-4DB2-BD59-A6C34878D82A}">
                    <a16:rowId xmlns:a16="http://schemas.microsoft.com/office/drawing/2014/main" val="616641174"/>
                  </a:ext>
                </a:extLst>
              </a:tr>
              <a:tr h="1306119">
                <a:tc>
                  <a:txBody>
                    <a:bodyPr/>
                    <a:lstStyle/>
                    <a:p>
                      <a:pPr marL="0" marR="0" algn="ctr">
                        <a:lnSpc>
                          <a:spcPct val="107000"/>
                        </a:lnSpc>
                        <a:spcAft>
                          <a:spcPts val="800"/>
                        </a:spcAft>
                        <a:buNone/>
                      </a:pPr>
                      <a:r>
                        <a:rPr lang="en-US" sz="1200" kern="100">
                          <a:effectLst/>
                        </a:rPr>
                        <a:t>Properties</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b="1" kern="100" dirty="0">
                          <a:effectLst/>
                        </a:rPr>
                        <a:t>Casting and machining</a:t>
                      </a:r>
                      <a:endParaRPr lang="en-ID" sz="1100" b="1"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b="1" kern="100" dirty="0">
                          <a:effectLst/>
                        </a:rPr>
                        <a:t>Metal Forming and welding</a:t>
                      </a:r>
                      <a:endParaRPr lang="en-ID" sz="1100" b="1"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b="1" kern="100" dirty="0">
                          <a:effectLst/>
                        </a:rPr>
                        <a:t>W</a:t>
                      </a:r>
                      <a:r>
                        <a:rPr lang="en-US" sz="1200" b="1" kern="100">
                          <a:effectLst/>
                        </a:rPr>
                        <a:t>elding </a:t>
                      </a:r>
                      <a:r>
                        <a:rPr lang="en-US" sz="1200" b="1" kern="100" dirty="0">
                          <a:effectLst/>
                        </a:rPr>
                        <a:t>and Assembly Process</a:t>
                      </a:r>
                      <a:endParaRPr lang="en-ID" sz="1100" b="1"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670306841"/>
                  </a:ext>
                </a:extLst>
              </a:tr>
              <a:tr h="765173">
                <a:tc>
                  <a:txBody>
                    <a:bodyPr/>
                    <a:lstStyle/>
                    <a:p>
                      <a:pPr marL="0" marR="0" algn="ctr">
                        <a:lnSpc>
                          <a:spcPct val="107000"/>
                        </a:lnSpc>
                        <a:spcAft>
                          <a:spcPts val="800"/>
                        </a:spcAft>
                        <a:buNone/>
                      </a:pPr>
                      <a:r>
                        <a:rPr lang="en-US" sz="1200" kern="100" dirty="0">
                          <a:effectLst/>
                        </a:rPr>
                        <a:t>Manufacturing Cost &amp; Scalability (taka)</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dirty="0">
                          <a:effectLst/>
                        </a:rPr>
                        <a:t>3225</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a:effectLst/>
                        </a:rPr>
                        <a:t>3875</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dirty="0">
                          <a:effectLst/>
                        </a:rPr>
                        <a:t>3670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114527654"/>
                  </a:ext>
                </a:extLst>
              </a:tr>
              <a:tr h="373761">
                <a:tc>
                  <a:txBody>
                    <a:bodyPr/>
                    <a:lstStyle/>
                    <a:p>
                      <a:pPr marL="0" marR="0" algn="ctr">
                        <a:lnSpc>
                          <a:spcPct val="107000"/>
                        </a:lnSpc>
                        <a:spcAft>
                          <a:spcPts val="800"/>
                        </a:spcAft>
                        <a:buNone/>
                      </a:pPr>
                      <a:r>
                        <a:rPr lang="en-US" sz="1200" kern="100" dirty="0">
                          <a:effectLst/>
                        </a:rPr>
                        <a:t>Surface finish (</a:t>
                      </a:r>
                      <a:r>
                        <a:rPr lang="en-US" sz="1200" kern="100" dirty="0" err="1">
                          <a:effectLst/>
                        </a:rPr>
                        <a:t>μm</a:t>
                      </a:r>
                      <a:r>
                        <a:rPr lang="en-US" sz="1200" kern="100" dirty="0">
                          <a:effectLst/>
                        </a:rPr>
                        <a:t>)</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dirty="0">
                          <a:effectLst/>
                        </a:rPr>
                        <a:t>3.2</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a:effectLst/>
                        </a:rPr>
                        <a:t>6.3</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a:effectLst/>
                        </a:rPr>
                        <a:t>3.2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081427406"/>
                  </a:ext>
                </a:extLst>
              </a:tr>
              <a:tr h="660775">
                <a:tc>
                  <a:txBody>
                    <a:bodyPr/>
                    <a:lstStyle/>
                    <a:p>
                      <a:pPr marL="0" marR="0" algn="ctr">
                        <a:lnSpc>
                          <a:spcPct val="107000"/>
                        </a:lnSpc>
                        <a:spcAft>
                          <a:spcPts val="800"/>
                        </a:spcAft>
                        <a:buNone/>
                      </a:pPr>
                      <a:r>
                        <a:rPr lang="en-US" sz="1200" kern="100" dirty="0">
                          <a:effectLst/>
                        </a:rPr>
                        <a:t>Integration of Electronics &amp; Wiring Management</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lvl="0" algn="ctr">
                        <a:lnSpc>
                          <a:spcPct val="200000"/>
                        </a:lnSpc>
                        <a:spcAft>
                          <a:spcPts val="800"/>
                        </a:spcAft>
                        <a:buNone/>
                      </a:pPr>
                      <a:r>
                        <a:rPr lang="en-US" sz="1200" kern="100" dirty="0">
                          <a:effectLst/>
                        </a:rPr>
                        <a:t>0.4</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a:effectLst/>
                        </a:rPr>
                        <a:t>0.25</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100" dirty="0">
                          <a:effectLst/>
                        </a:rPr>
                        <a:t>0.3</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319101239"/>
                  </a:ext>
                </a:extLst>
              </a:tr>
              <a:tr h="765173">
                <a:tc>
                  <a:txBody>
                    <a:bodyPr/>
                    <a:lstStyle/>
                    <a:p>
                      <a:pPr marL="0" marR="0" algn="ctr">
                        <a:lnSpc>
                          <a:spcPct val="107000"/>
                        </a:lnSpc>
                        <a:spcAft>
                          <a:spcPts val="800"/>
                        </a:spcAft>
                        <a:buNone/>
                      </a:pPr>
                      <a:r>
                        <a:rPr lang="en-US" sz="1200" kern="0" dirty="0">
                          <a:effectLst/>
                        </a:rPr>
                        <a:t>Material Strength &amp; Compatibility (</a:t>
                      </a:r>
                      <a:r>
                        <a:rPr lang="en-US" sz="1200" kern="0" dirty="0" err="1">
                          <a:effectLst/>
                        </a:rPr>
                        <a:t>Mpa</a:t>
                      </a:r>
                      <a:r>
                        <a:rPr lang="en-US" sz="1200" kern="0" dirty="0">
                          <a:effectLst/>
                        </a:rPr>
                        <a:t>)</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280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240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320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057628860"/>
                  </a:ext>
                </a:extLst>
              </a:tr>
              <a:tr h="373761">
                <a:tc>
                  <a:txBody>
                    <a:bodyPr/>
                    <a:lstStyle/>
                    <a:p>
                      <a:pPr marL="0" marR="0" algn="ctr">
                        <a:lnSpc>
                          <a:spcPct val="107000"/>
                        </a:lnSpc>
                        <a:spcAft>
                          <a:spcPts val="800"/>
                        </a:spcAft>
                        <a:buNone/>
                      </a:pPr>
                      <a:r>
                        <a:rPr lang="en-US" sz="1200" kern="0" dirty="0">
                          <a:effectLst/>
                        </a:rPr>
                        <a:t>Material Compatibility</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8</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6.5</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9</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108490899"/>
                  </a:ext>
                </a:extLst>
              </a:tr>
            </a:tbl>
          </a:graphicData>
        </a:graphic>
      </p:graphicFrame>
      <p:sp>
        <p:nvSpPr>
          <p:cNvPr id="7" name="TextBox 6">
            <a:extLst>
              <a:ext uri="{FF2B5EF4-FFF2-40B4-BE49-F238E27FC236}">
                <a16:creationId xmlns:a16="http://schemas.microsoft.com/office/drawing/2014/main" id="{0B16B41C-A8B0-2D93-2C1A-BADC0FFD16E5}"/>
              </a:ext>
            </a:extLst>
          </p:cNvPr>
          <p:cNvSpPr txBox="1"/>
          <p:nvPr/>
        </p:nvSpPr>
        <p:spPr>
          <a:xfrm>
            <a:off x="1260679" y="843848"/>
            <a:ext cx="2562033" cy="400110"/>
          </a:xfrm>
          <a:prstGeom prst="rect">
            <a:avLst/>
          </a:prstGeom>
          <a:noFill/>
        </p:spPr>
        <p:txBody>
          <a:bodyPr wrap="square">
            <a:spAutoFit/>
          </a:bodyPr>
          <a:lstStyle/>
          <a:p>
            <a:r>
              <a:rPr lang="en-US" sz="2000" b="1" dirty="0">
                <a:solidFill>
                  <a:schemeClr val="accent3">
                    <a:lumMod val="75000"/>
                  </a:schemeClr>
                </a:solidFill>
                <a:effectLst/>
                <a:latin typeface="Calibri" panose="020F0502020204030204" pitchFamily="34" charset="0"/>
                <a:ea typeface="Calibri" panose="020F0502020204030204" pitchFamily="34" charset="0"/>
                <a:cs typeface="Vrinda" panose="020B0502040204020203" pitchFamily="34" charset="0"/>
              </a:rPr>
              <a:t>Table</a:t>
            </a:r>
            <a:r>
              <a:rPr lang="en-US" sz="2000" b="1" dirty="0">
                <a:solidFill>
                  <a:schemeClr val="accent3">
                    <a:lumMod val="75000"/>
                  </a:schemeClr>
                </a:solidFill>
                <a:latin typeface="Calibri" panose="020F0502020204030204" pitchFamily="34" charset="0"/>
                <a:ea typeface="Calibri" panose="020F0502020204030204" pitchFamily="34" charset="0"/>
                <a:cs typeface="Vrinda" panose="020B0502040204020203" pitchFamily="34" charset="0"/>
              </a:rPr>
              <a:t> -</a:t>
            </a:r>
            <a:r>
              <a:rPr lang="en-US" sz="2000" b="1" dirty="0">
                <a:solidFill>
                  <a:schemeClr val="accent3">
                    <a:lumMod val="75000"/>
                  </a:schemeClr>
                </a:solidFill>
                <a:effectLst/>
                <a:latin typeface="Calibri" panose="020F0502020204030204" pitchFamily="34" charset="0"/>
                <a:ea typeface="Calibri" panose="020F0502020204030204" pitchFamily="34" charset="0"/>
                <a:cs typeface="Vrinda" panose="020B0502040204020203" pitchFamily="34" charset="0"/>
              </a:rPr>
              <a:t> </a:t>
            </a:r>
            <a:r>
              <a:rPr lang="en-US" sz="2000" b="1" dirty="0">
                <a:solidFill>
                  <a:schemeClr val="accent3">
                    <a:lumMod val="75000"/>
                  </a:schemeClr>
                </a:solidFill>
                <a:effectLst/>
                <a:latin typeface="+mj-lt"/>
                <a:ea typeface="Calibri" panose="020F0502020204030204" pitchFamily="34" charset="0"/>
                <a:cs typeface="Vrinda" panose="020B0502040204020203" pitchFamily="34" charset="0"/>
              </a:rPr>
              <a:t>Properties</a:t>
            </a:r>
            <a:r>
              <a:rPr lang="en-US" sz="2000" b="1" dirty="0">
                <a:solidFill>
                  <a:schemeClr val="accent3">
                    <a:lumMod val="75000"/>
                  </a:schemeClr>
                </a:solidFill>
                <a:effectLst/>
                <a:latin typeface="Calibri" panose="020F0502020204030204" pitchFamily="34" charset="0"/>
                <a:ea typeface="Calibri" panose="020F0502020204030204" pitchFamily="34" charset="0"/>
                <a:cs typeface="Vrinda" panose="020B0502040204020203" pitchFamily="34" charset="0"/>
              </a:rPr>
              <a:t> </a:t>
            </a:r>
            <a:endParaRPr lang="en-ID" sz="2000" b="1" dirty="0">
              <a:solidFill>
                <a:schemeClr val="accent3">
                  <a:lumMod val="75000"/>
                </a:schemeClr>
              </a:solidFill>
            </a:endParaRPr>
          </a:p>
        </p:txBody>
      </p:sp>
      <p:graphicFrame>
        <p:nvGraphicFramePr>
          <p:cNvPr id="8" name="Table 7">
            <a:extLst>
              <a:ext uri="{FF2B5EF4-FFF2-40B4-BE49-F238E27FC236}">
                <a16:creationId xmlns:a16="http://schemas.microsoft.com/office/drawing/2014/main" id="{9A295D8A-B18D-26CA-BBFB-B9061A15E00B}"/>
              </a:ext>
            </a:extLst>
          </p:cNvPr>
          <p:cNvGraphicFramePr>
            <a:graphicFrameLocks noGrp="1"/>
          </p:cNvGraphicFramePr>
          <p:nvPr>
            <p:extLst>
              <p:ext uri="{D42A27DB-BD31-4B8C-83A1-F6EECF244321}">
                <p14:modId xmlns:p14="http://schemas.microsoft.com/office/powerpoint/2010/main" val="2779443534"/>
              </p:ext>
            </p:extLst>
          </p:nvPr>
        </p:nvGraphicFramePr>
        <p:xfrm>
          <a:off x="7611771" y="1453324"/>
          <a:ext cx="4305246" cy="4721839"/>
        </p:xfrm>
        <a:graphic>
          <a:graphicData uri="http://schemas.openxmlformats.org/drawingml/2006/table">
            <a:tbl>
              <a:tblPr firstRow="1" firstCol="1" bandRow="1">
                <a:tableStyleId>{0505E3EF-67EA-436B-97B2-0124C06EBD24}</a:tableStyleId>
              </a:tblPr>
              <a:tblGrid>
                <a:gridCol w="2299920">
                  <a:extLst>
                    <a:ext uri="{9D8B030D-6E8A-4147-A177-3AD203B41FA5}">
                      <a16:colId xmlns:a16="http://schemas.microsoft.com/office/drawing/2014/main" val="537715584"/>
                    </a:ext>
                  </a:extLst>
                </a:gridCol>
                <a:gridCol w="2005326">
                  <a:extLst>
                    <a:ext uri="{9D8B030D-6E8A-4147-A177-3AD203B41FA5}">
                      <a16:colId xmlns:a16="http://schemas.microsoft.com/office/drawing/2014/main" val="61613010"/>
                    </a:ext>
                  </a:extLst>
                </a:gridCol>
              </a:tblGrid>
              <a:tr h="862022">
                <a:tc>
                  <a:txBody>
                    <a:bodyPr/>
                    <a:lstStyle/>
                    <a:p>
                      <a:pPr marL="0" marR="0" algn="ctr">
                        <a:lnSpc>
                          <a:spcPct val="107000"/>
                        </a:lnSpc>
                        <a:spcAft>
                          <a:spcPts val="800"/>
                        </a:spcAft>
                        <a:buNone/>
                      </a:pPr>
                      <a:r>
                        <a:rPr lang="en-US" sz="1200" kern="0">
                          <a:effectLst/>
                        </a:rPr>
                        <a:t>Selection criteria</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Relative importance coefficient(α)</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639585927"/>
                  </a:ext>
                </a:extLst>
              </a:tr>
              <a:tr h="862022">
                <a:tc>
                  <a:txBody>
                    <a:bodyPr/>
                    <a:lstStyle/>
                    <a:p>
                      <a:pPr marL="0" marR="0" algn="ctr">
                        <a:lnSpc>
                          <a:spcPct val="107000"/>
                        </a:lnSpc>
                        <a:spcAft>
                          <a:spcPts val="800"/>
                        </a:spcAft>
                        <a:buNone/>
                      </a:pPr>
                      <a:r>
                        <a:rPr lang="en-US" sz="1200" kern="0">
                          <a:effectLst/>
                        </a:rPr>
                        <a:t>Material Strength &amp; Compatibility</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0.2</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955245698"/>
                  </a:ext>
                </a:extLst>
              </a:tr>
              <a:tr h="421067">
                <a:tc>
                  <a:txBody>
                    <a:bodyPr/>
                    <a:lstStyle/>
                    <a:p>
                      <a:pPr marL="0" marR="0" algn="ctr">
                        <a:lnSpc>
                          <a:spcPct val="107000"/>
                        </a:lnSpc>
                        <a:spcAft>
                          <a:spcPts val="800"/>
                        </a:spcAft>
                        <a:buNone/>
                      </a:pPr>
                      <a:r>
                        <a:rPr lang="en-US" sz="1200" kern="0">
                          <a:effectLst/>
                        </a:rPr>
                        <a:t>Surface finish</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558961987"/>
                  </a:ext>
                </a:extLst>
              </a:tr>
              <a:tr h="862022">
                <a:tc>
                  <a:txBody>
                    <a:bodyPr/>
                    <a:lstStyle/>
                    <a:p>
                      <a:pPr marL="0" marR="0" algn="ctr">
                        <a:lnSpc>
                          <a:spcPct val="107000"/>
                        </a:lnSpc>
                        <a:spcAft>
                          <a:spcPts val="800"/>
                        </a:spcAft>
                        <a:buNone/>
                      </a:pPr>
                      <a:r>
                        <a:rPr lang="en-US" sz="1200" kern="0" dirty="0">
                          <a:effectLst/>
                        </a:rPr>
                        <a:t>Manufacturing Cost &amp; Scalability</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634163901"/>
                  </a:ext>
                </a:extLst>
              </a:tr>
              <a:tr h="872572">
                <a:tc>
                  <a:txBody>
                    <a:bodyPr/>
                    <a:lstStyle/>
                    <a:p>
                      <a:pPr marL="0" marR="0" algn="ctr">
                        <a:lnSpc>
                          <a:spcPct val="107000"/>
                        </a:lnSpc>
                        <a:spcAft>
                          <a:spcPts val="800"/>
                        </a:spcAft>
                        <a:buNone/>
                      </a:pPr>
                      <a:r>
                        <a:rPr lang="en-US" sz="1200" kern="0" dirty="0">
                          <a:effectLst/>
                        </a:rPr>
                        <a:t>Integration of Electronics &amp; Wiring Management</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0.1</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891293250"/>
                  </a:ext>
                </a:extLst>
              </a:tr>
              <a:tr h="421067">
                <a:tc>
                  <a:txBody>
                    <a:bodyPr/>
                    <a:lstStyle/>
                    <a:p>
                      <a:pPr marL="0" marR="0" algn="ctr">
                        <a:lnSpc>
                          <a:spcPct val="107000"/>
                        </a:lnSpc>
                        <a:spcAft>
                          <a:spcPts val="800"/>
                        </a:spcAft>
                        <a:buNone/>
                      </a:pPr>
                      <a:r>
                        <a:rPr lang="en-US" sz="1200" kern="0" dirty="0">
                          <a:effectLst/>
                        </a:rPr>
                        <a:t>Material Compatibility</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0.4</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233088326"/>
                  </a:ext>
                </a:extLst>
              </a:tr>
              <a:tr h="421067">
                <a:tc>
                  <a:txBody>
                    <a:bodyPr/>
                    <a:lstStyle/>
                    <a:p>
                      <a:pPr marL="0" marR="0" algn="l">
                        <a:lnSpc>
                          <a:spcPct val="107000"/>
                        </a:lnSpc>
                        <a:spcAft>
                          <a:spcPts val="800"/>
                        </a:spcAft>
                        <a:buNone/>
                      </a:pPr>
                      <a:r>
                        <a:rPr lang="en-US" sz="1200" kern="0" dirty="0">
                          <a:effectLst/>
                        </a:rPr>
                        <a:t>   Performance Index (g)</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 </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088397902"/>
                  </a:ext>
                </a:extLst>
              </a:tr>
            </a:tbl>
          </a:graphicData>
        </a:graphic>
      </p:graphicFrame>
      <p:sp>
        <p:nvSpPr>
          <p:cNvPr id="10" name="TextBox 9">
            <a:extLst>
              <a:ext uri="{FF2B5EF4-FFF2-40B4-BE49-F238E27FC236}">
                <a16:creationId xmlns:a16="http://schemas.microsoft.com/office/drawing/2014/main" id="{3F7EFB2E-8CB1-B640-41AD-830F8B6A58A1}"/>
              </a:ext>
            </a:extLst>
          </p:cNvPr>
          <p:cNvSpPr txBox="1"/>
          <p:nvPr/>
        </p:nvSpPr>
        <p:spPr>
          <a:xfrm>
            <a:off x="7435402" y="831379"/>
            <a:ext cx="4657984" cy="379271"/>
          </a:xfrm>
          <a:prstGeom prst="rect">
            <a:avLst/>
          </a:prstGeom>
          <a:noFill/>
        </p:spPr>
        <p:txBody>
          <a:bodyPr wrap="square">
            <a:spAutoFit/>
          </a:bodyPr>
          <a:lstStyle/>
          <a:p>
            <a:pPr marL="0" marR="0" algn="ctr">
              <a:lnSpc>
                <a:spcPct val="107000"/>
              </a:lnSpc>
              <a:spcAft>
                <a:spcPts val="800"/>
              </a:spcAft>
            </a:pPr>
            <a:r>
              <a:rPr lang="en-US" sz="1800" b="1" kern="100" dirty="0">
                <a:solidFill>
                  <a:schemeClr val="accent4"/>
                </a:solidFill>
                <a:effectLst/>
                <a:latin typeface="+mj-lt"/>
                <a:ea typeface="Calibri" panose="020F0502020204030204" pitchFamily="34" charset="0"/>
                <a:cs typeface="Vrinda" panose="020B0502040204020203" pitchFamily="34" charset="0"/>
              </a:rPr>
              <a:t>Table </a:t>
            </a:r>
            <a:r>
              <a:rPr lang="en-US" b="1" kern="100" dirty="0">
                <a:solidFill>
                  <a:schemeClr val="accent4"/>
                </a:solidFill>
                <a:latin typeface="+mj-lt"/>
                <a:ea typeface="Calibri" panose="020F0502020204030204" pitchFamily="34" charset="0"/>
                <a:cs typeface="Vrinda" panose="020B0502040204020203" pitchFamily="34" charset="0"/>
              </a:rPr>
              <a:t>-</a:t>
            </a:r>
            <a:r>
              <a:rPr lang="en-US" sz="1800" b="1" kern="100" dirty="0">
                <a:solidFill>
                  <a:schemeClr val="accent4"/>
                </a:solidFill>
                <a:effectLst/>
                <a:latin typeface="+mj-lt"/>
                <a:ea typeface="Calibri" panose="020F0502020204030204" pitchFamily="34" charset="0"/>
                <a:cs typeface="Vrinda" panose="020B0502040204020203" pitchFamily="34" charset="0"/>
              </a:rPr>
              <a:t> Chart for relative evaluation</a:t>
            </a:r>
            <a:endParaRPr lang="en-ID" sz="1600" b="1" kern="100" dirty="0">
              <a:solidFill>
                <a:schemeClr val="accent4"/>
              </a:solidFill>
              <a:effectLst/>
              <a:latin typeface="+mj-lt"/>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4025491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30846-0ACE-57A8-1B51-564D4809E686}"/>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B84B73EE-C6B6-DD4B-C1A0-4A368F838115}"/>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1D29EB8-02E2-AEE2-1420-29C7EA3B8FCA}"/>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8D05EFD2-4CC5-0FFD-90ED-70C858236A9E}"/>
              </a:ext>
            </a:extLst>
          </p:cNvPr>
          <p:cNvGraphicFramePr>
            <a:graphicFrameLocks noGrp="1"/>
          </p:cNvGraphicFramePr>
          <p:nvPr>
            <p:extLst>
              <p:ext uri="{D42A27DB-BD31-4B8C-83A1-F6EECF244321}">
                <p14:modId xmlns:p14="http://schemas.microsoft.com/office/powerpoint/2010/main" val="1520542660"/>
              </p:ext>
            </p:extLst>
          </p:nvPr>
        </p:nvGraphicFramePr>
        <p:xfrm>
          <a:off x="405561" y="1433701"/>
          <a:ext cx="4945226" cy="3990597"/>
        </p:xfrm>
        <a:graphic>
          <a:graphicData uri="http://schemas.openxmlformats.org/drawingml/2006/table">
            <a:tbl>
              <a:tblPr firstRow="1" firstCol="1" bandRow="1">
                <a:tableStyleId>{ED083AE6-46FA-4A59-8FB0-9F97EB10719F}</a:tableStyleId>
              </a:tblPr>
              <a:tblGrid>
                <a:gridCol w="1383657">
                  <a:extLst>
                    <a:ext uri="{9D8B030D-6E8A-4147-A177-3AD203B41FA5}">
                      <a16:colId xmlns:a16="http://schemas.microsoft.com/office/drawing/2014/main" val="3428488346"/>
                    </a:ext>
                  </a:extLst>
                </a:gridCol>
                <a:gridCol w="1263261">
                  <a:extLst>
                    <a:ext uri="{9D8B030D-6E8A-4147-A177-3AD203B41FA5}">
                      <a16:colId xmlns:a16="http://schemas.microsoft.com/office/drawing/2014/main" val="2866665307"/>
                    </a:ext>
                  </a:extLst>
                </a:gridCol>
                <a:gridCol w="1149154">
                  <a:extLst>
                    <a:ext uri="{9D8B030D-6E8A-4147-A177-3AD203B41FA5}">
                      <a16:colId xmlns:a16="http://schemas.microsoft.com/office/drawing/2014/main" val="2675976469"/>
                    </a:ext>
                  </a:extLst>
                </a:gridCol>
                <a:gridCol w="1149154">
                  <a:extLst>
                    <a:ext uri="{9D8B030D-6E8A-4147-A177-3AD203B41FA5}">
                      <a16:colId xmlns:a16="http://schemas.microsoft.com/office/drawing/2014/main" val="4289517962"/>
                    </a:ext>
                  </a:extLst>
                </a:gridCol>
              </a:tblGrid>
              <a:tr h="307368">
                <a:tc rowSpan="2">
                  <a:txBody>
                    <a:bodyPr/>
                    <a:lstStyle/>
                    <a:p>
                      <a:pPr marL="0" marR="0" algn="ctr">
                        <a:lnSpc>
                          <a:spcPct val="107000"/>
                        </a:lnSpc>
                        <a:spcAft>
                          <a:spcPts val="800"/>
                        </a:spcAft>
                        <a:buNone/>
                      </a:pPr>
                      <a:r>
                        <a:rPr lang="en-US" sz="1200" kern="0">
                          <a:effectLst/>
                        </a:rPr>
                        <a:t>Selection criteria</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rowSpan="2">
                  <a:txBody>
                    <a:bodyPr/>
                    <a:lstStyle/>
                    <a:p>
                      <a:pPr marL="0" marR="0" algn="ctr">
                        <a:lnSpc>
                          <a:spcPct val="107000"/>
                        </a:lnSpc>
                        <a:spcAft>
                          <a:spcPts val="800"/>
                        </a:spcAft>
                        <a:buNone/>
                      </a:pPr>
                      <a:r>
                        <a:rPr lang="en-US" sz="1200" kern="0">
                          <a:effectLst/>
                        </a:rPr>
                        <a:t>Relative importance coefficient (α)</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gridSpan="2">
                  <a:txBody>
                    <a:bodyPr/>
                    <a:lstStyle/>
                    <a:p>
                      <a:pPr marL="0" marR="0" algn="ctr">
                        <a:lnSpc>
                          <a:spcPct val="107000"/>
                        </a:lnSpc>
                        <a:spcAft>
                          <a:spcPts val="800"/>
                        </a:spcAft>
                        <a:buNone/>
                      </a:pPr>
                      <a:r>
                        <a:rPr lang="en-US" sz="1200" kern="0">
                          <a:effectLst/>
                        </a:rPr>
                        <a:t>Casting and machining</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hMerge="1">
                  <a:txBody>
                    <a:bodyPr/>
                    <a:lstStyle/>
                    <a:p>
                      <a:endParaRPr lang="en-ID"/>
                    </a:p>
                  </a:txBody>
                  <a:tcPr/>
                </a:tc>
                <a:extLst>
                  <a:ext uri="{0D108BD9-81ED-4DB2-BD59-A6C34878D82A}">
                    <a16:rowId xmlns:a16="http://schemas.microsoft.com/office/drawing/2014/main" val="2545932581"/>
                  </a:ext>
                </a:extLst>
              </a:tr>
              <a:tr h="401049">
                <a:tc vMerge="1">
                  <a:txBody>
                    <a:bodyPr/>
                    <a:lstStyle/>
                    <a:p>
                      <a:endParaRPr lang="en-ID"/>
                    </a:p>
                  </a:txBody>
                  <a:tcPr/>
                </a:tc>
                <a:tc vMerge="1">
                  <a:txBody>
                    <a:bodyPr/>
                    <a:lstStyle/>
                    <a:p>
                      <a:endParaRPr lang="en-ID"/>
                    </a:p>
                  </a:txBody>
                  <a:tcPr/>
                </a:tc>
                <a:tc>
                  <a:txBody>
                    <a:bodyPr/>
                    <a:lstStyle/>
                    <a:p>
                      <a:pPr marL="0" marR="0" algn="ctr">
                        <a:lnSpc>
                          <a:spcPct val="107000"/>
                        </a:lnSpc>
                        <a:spcAft>
                          <a:spcPts val="800"/>
                        </a:spcAft>
                        <a:buNone/>
                      </a:pPr>
                      <a:r>
                        <a:rPr lang="en-US" sz="1200" kern="0" dirty="0">
                          <a:effectLst/>
                        </a:rPr>
                        <a:t>Scaled Property, </a:t>
                      </a:r>
                      <a:r>
                        <a:rPr lang="en-US" sz="1100" kern="100" dirty="0">
                          <a:effectLst/>
                        </a:rPr>
                        <a:t>β</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Weighted Score, </a:t>
                      </a:r>
                      <a:r>
                        <a:rPr lang="en-US" sz="1200" kern="100" dirty="0">
                          <a:effectLst/>
                        </a:rPr>
                        <a:t>αβ</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064567351"/>
                  </a:ext>
                </a:extLst>
              </a:tr>
              <a:tr h="629251">
                <a:tc>
                  <a:txBody>
                    <a:bodyPr/>
                    <a:lstStyle/>
                    <a:p>
                      <a:pPr marL="0" marR="0" algn="ctr">
                        <a:lnSpc>
                          <a:spcPct val="107000"/>
                        </a:lnSpc>
                        <a:spcAft>
                          <a:spcPts val="800"/>
                        </a:spcAft>
                        <a:buNone/>
                      </a:pPr>
                      <a:r>
                        <a:rPr lang="en-US" sz="1200" kern="0" dirty="0">
                          <a:effectLst/>
                        </a:rPr>
                        <a:t>Material Strength &amp; Compatibility</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120.1550388</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24.03100775</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605927924"/>
                  </a:ext>
                </a:extLst>
              </a:tr>
              <a:tr h="307368">
                <a:tc>
                  <a:txBody>
                    <a:bodyPr/>
                    <a:lstStyle/>
                    <a:p>
                      <a:pPr marL="0" marR="0" algn="ctr">
                        <a:lnSpc>
                          <a:spcPct val="107000"/>
                        </a:lnSpc>
                        <a:spcAft>
                          <a:spcPts val="800"/>
                        </a:spcAft>
                        <a:buNone/>
                      </a:pPr>
                      <a:r>
                        <a:rPr lang="en-US" sz="1200" kern="0">
                          <a:effectLst/>
                        </a:rPr>
                        <a:t>Surface finish</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0.2</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100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20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135230240"/>
                  </a:ext>
                </a:extLst>
              </a:tr>
              <a:tr h="629251">
                <a:tc>
                  <a:txBody>
                    <a:bodyPr/>
                    <a:lstStyle/>
                    <a:p>
                      <a:pPr marL="0" marR="0" algn="ctr">
                        <a:lnSpc>
                          <a:spcPct val="107000"/>
                        </a:lnSpc>
                        <a:spcAft>
                          <a:spcPts val="800"/>
                        </a:spcAft>
                        <a:buNone/>
                      </a:pPr>
                      <a:r>
                        <a:rPr lang="en-US" sz="1200" kern="0">
                          <a:effectLst/>
                        </a:rPr>
                        <a:t>Manufacturing Cost &amp; Scalability</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0.1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160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16</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994773228"/>
                  </a:ext>
                </a:extLst>
              </a:tr>
              <a:tr h="951134">
                <a:tc>
                  <a:txBody>
                    <a:bodyPr/>
                    <a:lstStyle/>
                    <a:p>
                      <a:pPr marL="0" marR="0" algn="ctr">
                        <a:lnSpc>
                          <a:spcPct val="107000"/>
                        </a:lnSpc>
                        <a:spcAft>
                          <a:spcPts val="800"/>
                        </a:spcAft>
                        <a:buNone/>
                      </a:pPr>
                      <a:r>
                        <a:rPr lang="en-US" sz="1200" kern="0">
                          <a:effectLst/>
                        </a:rPr>
                        <a:t>Integration of Electronics &amp; Wiring Management</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0.1</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116.6666667</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11.66666667</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995359816"/>
                  </a:ext>
                </a:extLst>
              </a:tr>
              <a:tr h="307368">
                <a:tc>
                  <a:txBody>
                    <a:bodyPr/>
                    <a:lstStyle/>
                    <a:p>
                      <a:pPr marL="0" marR="0" algn="ctr">
                        <a:lnSpc>
                          <a:spcPct val="107000"/>
                        </a:lnSpc>
                        <a:spcAft>
                          <a:spcPts val="800"/>
                        </a:spcAft>
                        <a:buNone/>
                      </a:pPr>
                      <a:r>
                        <a:rPr lang="en-US" sz="1200" kern="0">
                          <a:effectLst/>
                        </a:rPr>
                        <a:t>Material Compatibility</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0.4</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123.0769231</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49.23076923</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695188888"/>
                  </a:ext>
                </a:extLst>
              </a:tr>
              <a:tr h="307368">
                <a:tc>
                  <a:txBody>
                    <a:bodyPr/>
                    <a:lstStyle/>
                    <a:p>
                      <a:pPr marL="0" marR="0" algn="ctr">
                        <a:lnSpc>
                          <a:spcPct val="107000"/>
                        </a:lnSpc>
                        <a:spcAft>
                          <a:spcPts val="800"/>
                        </a:spcAft>
                        <a:buNone/>
                      </a:pPr>
                      <a:r>
                        <a:rPr lang="en-US" sz="1200" kern="0" dirty="0">
                          <a:effectLst/>
                        </a:rPr>
                        <a:t>Performance Index (g)</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120.9284436</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348949924"/>
                  </a:ext>
                </a:extLst>
              </a:tr>
            </a:tbl>
          </a:graphicData>
        </a:graphic>
      </p:graphicFrame>
      <p:graphicFrame>
        <p:nvGraphicFramePr>
          <p:cNvPr id="6" name="Table 5">
            <a:extLst>
              <a:ext uri="{FF2B5EF4-FFF2-40B4-BE49-F238E27FC236}">
                <a16:creationId xmlns:a16="http://schemas.microsoft.com/office/drawing/2014/main" id="{8926918C-5A79-343F-865D-BD5A4040DFD4}"/>
              </a:ext>
            </a:extLst>
          </p:cNvPr>
          <p:cNvGraphicFramePr>
            <a:graphicFrameLocks noGrp="1"/>
          </p:cNvGraphicFramePr>
          <p:nvPr>
            <p:extLst>
              <p:ext uri="{D42A27DB-BD31-4B8C-83A1-F6EECF244321}">
                <p14:modId xmlns:p14="http://schemas.microsoft.com/office/powerpoint/2010/main" val="3861736940"/>
              </p:ext>
            </p:extLst>
          </p:nvPr>
        </p:nvGraphicFramePr>
        <p:xfrm>
          <a:off x="6030686" y="1433699"/>
          <a:ext cx="5606464" cy="3990599"/>
        </p:xfrm>
        <a:graphic>
          <a:graphicData uri="http://schemas.openxmlformats.org/drawingml/2006/table">
            <a:tbl>
              <a:tblPr firstRow="1" firstCol="1" bandRow="1">
                <a:tableStyleId>{ED083AE6-46FA-4A59-8FB0-9F97EB10719F}</a:tableStyleId>
              </a:tblPr>
              <a:tblGrid>
                <a:gridCol w="1361609">
                  <a:extLst>
                    <a:ext uri="{9D8B030D-6E8A-4147-A177-3AD203B41FA5}">
                      <a16:colId xmlns:a16="http://schemas.microsoft.com/office/drawing/2014/main" val="3553147847"/>
                    </a:ext>
                  </a:extLst>
                </a:gridCol>
                <a:gridCol w="1566553">
                  <a:extLst>
                    <a:ext uri="{9D8B030D-6E8A-4147-A177-3AD203B41FA5}">
                      <a16:colId xmlns:a16="http://schemas.microsoft.com/office/drawing/2014/main" val="3600805323"/>
                    </a:ext>
                  </a:extLst>
                </a:gridCol>
                <a:gridCol w="1263350">
                  <a:extLst>
                    <a:ext uri="{9D8B030D-6E8A-4147-A177-3AD203B41FA5}">
                      <a16:colId xmlns:a16="http://schemas.microsoft.com/office/drawing/2014/main" val="4199669442"/>
                    </a:ext>
                  </a:extLst>
                </a:gridCol>
                <a:gridCol w="1414952">
                  <a:extLst>
                    <a:ext uri="{9D8B030D-6E8A-4147-A177-3AD203B41FA5}">
                      <a16:colId xmlns:a16="http://schemas.microsoft.com/office/drawing/2014/main" val="430101033"/>
                    </a:ext>
                  </a:extLst>
                </a:gridCol>
              </a:tblGrid>
              <a:tr h="480518">
                <a:tc gridSpan="2">
                  <a:txBody>
                    <a:bodyPr/>
                    <a:lstStyle/>
                    <a:p>
                      <a:pPr marL="0" marR="0" algn="ctr">
                        <a:lnSpc>
                          <a:spcPct val="107000"/>
                        </a:lnSpc>
                        <a:spcAft>
                          <a:spcPts val="800"/>
                        </a:spcAft>
                        <a:buNone/>
                      </a:pPr>
                      <a:r>
                        <a:rPr lang="en-US" sz="1200" kern="0">
                          <a:effectLst/>
                        </a:rPr>
                        <a:t>Metal Forming and welding</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hMerge="1">
                  <a:txBody>
                    <a:bodyPr/>
                    <a:lstStyle/>
                    <a:p>
                      <a:endParaRPr lang="en-ID"/>
                    </a:p>
                  </a:txBody>
                  <a:tcPr/>
                </a:tc>
                <a:tc gridSpan="2">
                  <a:txBody>
                    <a:bodyPr/>
                    <a:lstStyle/>
                    <a:p>
                      <a:pPr marL="0" marR="0" algn="ctr">
                        <a:lnSpc>
                          <a:spcPct val="107000"/>
                        </a:lnSpc>
                        <a:spcAft>
                          <a:spcPts val="800"/>
                        </a:spcAft>
                        <a:buNone/>
                      </a:pPr>
                      <a:r>
                        <a:rPr lang="en-US" sz="1200" kern="0" dirty="0">
                          <a:effectLst/>
                        </a:rPr>
                        <a:t>welding and Assembly Process</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hMerge="1">
                  <a:txBody>
                    <a:bodyPr/>
                    <a:lstStyle/>
                    <a:p>
                      <a:endParaRPr lang="en-ID"/>
                    </a:p>
                  </a:txBody>
                  <a:tcPr/>
                </a:tc>
                <a:extLst>
                  <a:ext uri="{0D108BD9-81ED-4DB2-BD59-A6C34878D82A}">
                    <a16:rowId xmlns:a16="http://schemas.microsoft.com/office/drawing/2014/main" val="3767736192"/>
                  </a:ext>
                </a:extLst>
              </a:tr>
              <a:tr h="626973">
                <a:tc>
                  <a:txBody>
                    <a:bodyPr/>
                    <a:lstStyle/>
                    <a:p>
                      <a:pPr marL="0" marR="0" algn="ctr">
                        <a:lnSpc>
                          <a:spcPct val="107000"/>
                        </a:lnSpc>
                        <a:spcAft>
                          <a:spcPts val="800"/>
                        </a:spcAft>
                        <a:buNone/>
                      </a:pPr>
                      <a:r>
                        <a:rPr lang="en-US" sz="1200" kern="0" dirty="0">
                          <a:effectLst/>
                        </a:rPr>
                        <a:t>Scaled Property, </a:t>
                      </a:r>
                      <a:r>
                        <a:rPr lang="en-US" sz="1100" kern="100" dirty="0">
                          <a:effectLst/>
                        </a:rPr>
                        <a:t>β</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Weighted Score, </a:t>
                      </a:r>
                      <a:r>
                        <a:rPr lang="en-US" sz="1200" kern="100" dirty="0">
                          <a:effectLst/>
                        </a:rPr>
                        <a:t>αβ</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Scaled Property, </a:t>
                      </a:r>
                      <a:r>
                        <a:rPr lang="en-US" sz="1100" kern="100" dirty="0">
                          <a:effectLst/>
                        </a:rPr>
                        <a:t>β</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Weighted Score, </a:t>
                      </a:r>
                      <a:r>
                        <a:rPr lang="en-US" sz="1200" kern="100" dirty="0">
                          <a:effectLst/>
                        </a:rPr>
                        <a:t>αβ</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428896513"/>
                  </a:ext>
                </a:extLst>
              </a:tr>
              <a:tr h="480518">
                <a:tc>
                  <a:txBody>
                    <a:bodyPr/>
                    <a:lstStyle/>
                    <a:p>
                      <a:pPr marL="0" marR="0" algn="ctr">
                        <a:lnSpc>
                          <a:spcPct val="107000"/>
                        </a:lnSpc>
                        <a:spcAft>
                          <a:spcPts val="800"/>
                        </a:spcAft>
                        <a:buNone/>
                      </a:pPr>
                      <a:r>
                        <a:rPr lang="en-US" sz="1200" kern="0" dirty="0">
                          <a:effectLst/>
                        </a:rPr>
                        <a:t>83.22580645</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16.64516129</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105.5858311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21.11716621</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474506818"/>
                  </a:ext>
                </a:extLst>
              </a:tr>
              <a:tr h="480518">
                <a:tc>
                  <a:txBody>
                    <a:bodyPr/>
                    <a:lstStyle/>
                    <a:p>
                      <a:pPr marL="0" marR="0" algn="ctr">
                        <a:lnSpc>
                          <a:spcPct val="107000"/>
                        </a:lnSpc>
                        <a:spcAft>
                          <a:spcPts val="800"/>
                        </a:spcAft>
                        <a:buNone/>
                      </a:pPr>
                      <a:r>
                        <a:rPr lang="en-US" sz="1200" kern="0">
                          <a:effectLst/>
                        </a:rPr>
                        <a:t>50.79365079</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10.15873016</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100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20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202932321"/>
                  </a:ext>
                </a:extLst>
              </a:tr>
              <a:tr h="480518">
                <a:tc>
                  <a:txBody>
                    <a:bodyPr/>
                    <a:lstStyle/>
                    <a:p>
                      <a:pPr marL="0" marR="0" algn="ctr">
                        <a:lnSpc>
                          <a:spcPct val="107000"/>
                        </a:lnSpc>
                        <a:spcAft>
                          <a:spcPts val="800"/>
                        </a:spcAft>
                        <a:buNone/>
                      </a:pPr>
                      <a:r>
                        <a:rPr lang="en-US" sz="1200" kern="0" dirty="0">
                          <a:effectLst/>
                        </a:rPr>
                        <a:t>100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120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12</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73122646"/>
                  </a:ext>
                </a:extLst>
              </a:tr>
              <a:tr h="480518">
                <a:tc>
                  <a:txBody>
                    <a:bodyPr/>
                    <a:lstStyle/>
                    <a:p>
                      <a:pPr marL="0" marR="0" algn="ctr">
                        <a:lnSpc>
                          <a:spcPct val="107000"/>
                        </a:lnSpc>
                        <a:spcAft>
                          <a:spcPts val="800"/>
                        </a:spcAft>
                        <a:buNone/>
                      </a:pPr>
                      <a:r>
                        <a:rPr lang="en-US" sz="1200" kern="0">
                          <a:effectLst/>
                        </a:rPr>
                        <a:t>100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10</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133.3333333</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13.33333333</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098009154"/>
                  </a:ext>
                </a:extLst>
              </a:tr>
              <a:tr h="480518">
                <a:tc>
                  <a:txBody>
                    <a:bodyPr/>
                    <a:lstStyle/>
                    <a:p>
                      <a:pPr marL="0" marR="0" algn="ctr">
                        <a:lnSpc>
                          <a:spcPct val="107000"/>
                        </a:lnSpc>
                        <a:spcAft>
                          <a:spcPts val="800"/>
                        </a:spcAft>
                        <a:buNone/>
                      </a:pPr>
                      <a:r>
                        <a:rPr lang="en-US" sz="1200" kern="0">
                          <a:effectLst/>
                        </a:rPr>
                        <a:t>100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40</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138.4615385</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55.38461538</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028719311"/>
                  </a:ext>
                </a:extLst>
              </a:tr>
              <a:tr h="480518">
                <a:tc>
                  <a:txBody>
                    <a:bodyPr/>
                    <a:lstStyle/>
                    <a:p>
                      <a:pPr marL="0" marR="0" algn="ctr">
                        <a:lnSpc>
                          <a:spcPct val="107000"/>
                        </a:lnSpc>
                        <a:spcAft>
                          <a:spcPts val="800"/>
                        </a:spcAft>
                        <a:buNone/>
                      </a:pPr>
                      <a:r>
                        <a:rPr lang="en-US" sz="1200" kern="0" dirty="0">
                          <a:effectLst/>
                        </a:rPr>
                        <a:t> </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86.80389145</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a:effectLst/>
                        </a:rPr>
                        <a:t> </a:t>
                      </a:r>
                      <a:endParaRPr lang="en-ID" sz="1100" kern="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tc>
                  <a:txBody>
                    <a:bodyPr/>
                    <a:lstStyle/>
                    <a:p>
                      <a:pPr marL="0" marR="0" algn="ctr">
                        <a:lnSpc>
                          <a:spcPct val="107000"/>
                        </a:lnSpc>
                        <a:spcAft>
                          <a:spcPts val="800"/>
                        </a:spcAft>
                        <a:buNone/>
                      </a:pPr>
                      <a:r>
                        <a:rPr lang="en-US" sz="1200" kern="0" dirty="0">
                          <a:effectLst/>
                        </a:rPr>
                        <a:t>121.8351149</a:t>
                      </a:r>
                      <a:endParaRPr lang="en-ID" sz="1100" kern="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190916396"/>
                  </a:ext>
                </a:extLst>
              </a:tr>
            </a:tbl>
          </a:graphicData>
        </a:graphic>
      </p:graphicFrame>
      <p:sp>
        <p:nvSpPr>
          <p:cNvPr id="9" name="TextBox 8">
            <a:extLst>
              <a:ext uri="{FF2B5EF4-FFF2-40B4-BE49-F238E27FC236}">
                <a16:creationId xmlns:a16="http://schemas.microsoft.com/office/drawing/2014/main" id="{B56D1C23-8B69-8606-85F0-CBFD425C9015}"/>
              </a:ext>
            </a:extLst>
          </p:cNvPr>
          <p:cNvSpPr txBox="1"/>
          <p:nvPr/>
        </p:nvSpPr>
        <p:spPr>
          <a:xfrm>
            <a:off x="1642187" y="634482"/>
            <a:ext cx="9629192" cy="369332"/>
          </a:xfrm>
          <a:prstGeom prst="rect">
            <a:avLst/>
          </a:prstGeom>
          <a:noFill/>
        </p:spPr>
        <p:txBody>
          <a:bodyPr wrap="square">
            <a:spAutoFit/>
          </a:bodyPr>
          <a:lstStyle/>
          <a:p>
            <a:r>
              <a:rPr lang="en-US" sz="1800" b="1" dirty="0">
                <a:solidFill>
                  <a:schemeClr val="accent3">
                    <a:lumMod val="75000"/>
                  </a:schemeClr>
                </a:solidFill>
                <a:effectLst/>
                <a:latin typeface="+mj-lt"/>
                <a:ea typeface="Calibri" panose="020F0502020204030204" pitchFamily="34" charset="0"/>
              </a:rPr>
              <a:t>Table- Determination of Performance Index of manufacturing Processes</a:t>
            </a:r>
            <a:endParaRPr lang="en-ID" b="1" dirty="0">
              <a:solidFill>
                <a:schemeClr val="accent3">
                  <a:lumMod val="75000"/>
                </a:schemeClr>
              </a:solidFill>
              <a:latin typeface="+mj-lt"/>
            </a:endParaRPr>
          </a:p>
        </p:txBody>
      </p:sp>
    </p:spTree>
    <p:extLst>
      <p:ext uri="{BB962C8B-B14F-4D97-AF65-F5344CB8AC3E}">
        <p14:creationId xmlns:p14="http://schemas.microsoft.com/office/powerpoint/2010/main" val="2298823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1E23B9-0D4D-7099-53D5-CEFF73DFE5D1}"/>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3891D5F-1756-523A-08FC-3A4D4905557E}"/>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Welder - Free industry icons">
            <a:extLst>
              <a:ext uri="{FF2B5EF4-FFF2-40B4-BE49-F238E27FC236}">
                <a16:creationId xmlns:a16="http://schemas.microsoft.com/office/drawing/2014/main" id="{08A36D7E-1F36-2251-72D3-8265B695F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449" y="1289180"/>
            <a:ext cx="3086878" cy="30868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6DE4B62-4CE2-5B1C-CD3E-C28384E80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8106" y="1289181"/>
            <a:ext cx="3086877" cy="3086877"/>
          </a:xfrm>
          <a:prstGeom prst="rect">
            <a:avLst/>
          </a:prstGeom>
        </p:spPr>
      </p:pic>
      <p:sp>
        <p:nvSpPr>
          <p:cNvPr id="7" name="TextBox 6">
            <a:extLst>
              <a:ext uri="{FF2B5EF4-FFF2-40B4-BE49-F238E27FC236}">
                <a16:creationId xmlns:a16="http://schemas.microsoft.com/office/drawing/2014/main" id="{72F49E5E-71A0-B970-D990-2DF98D3B17D5}"/>
              </a:ext>
            </a:extLst>
          </p:cNvPr>
          <p:cNvSpPr txBox="1"/>
          <p:nvPr/>
        </p:nvSpPr>
        <p:spPr>
          <a:xfrm>
            <a:off x="1966427" y="5193523"/>
            <a:ext cx="6097554" cy="532453"/>
          </a:xfrm>
          <a:prstGeom prst="rect">
            <a:avLst/>
          </a:prstGeom>
          <a:noFill/>
        </p:spPr>
        <p:txBody>
          <a:bodyPr wrap="square">
            <a:spAutoFit/>
          </a:bodyPr>
          <a:lstStyle/>
          <a:p>
            <a:pPr marL="0" marR="0" algn="ctr">
              <a:lnSpc>
                <a:spcPct val="107000"/>
              </a:lnSpc>
              <a:spcAft>
                <a:spcPts val="800"/>
              </a:spcAft>
              <a:buNone/>
            </a:pPr>
            <a:r>
              <a:rPr lang="en-US" sz="2800" b="1" kern="0" dirty="0"/>
              <a:t>W</a:t>
            </a:r>
            <a:r>
              <a:rPr lang="en-US" sz="2800" b="1" kern="0" dirty="0">
                <a:effectLst/>
              </a:rPr>
              <a:t>elding and Assembly Process</a:t>
            </a:r>
            <a:endParaRPr lang="en-ID" sz="2800" b="1" kern="100" dirty="0">
              <a:effectLst/>
              <a:latin typeface="Calibri" panose="020F0502020204030204" pitchFamily="34" charset="0"/>
              <a:ea typeface="Calibri" panose="020F0502020204030204" pitchFamily="34" charset="0"/>
              <a:cs typeface="Vrinda" panose="020B0502040204020203" pitchFamily="34" charset="0"/>
            </a:endParaRPr>
          </a:p>
        </p:txBody>
      </p:sp>
      <p:pic>
        <p:nvPicPr>
          <p:cNvPr id="6148" name="Picture 4" descr="Check mark vector icon. Checkmark right symbol tick sign. Ok button correct  circle icon. 8134818 Vector Art at Vecteezy">
            <a:extLst>
              <a:ext uri="{FF2B5EF4-FFF2-40B4-BE49-F238E27FC236}">
                <a16:creationId xmlns:a16="http://schemas.microsoft.com/office/drawing/2014/main" id="{D4ABA905-DF48-7806-EC16-9D2884A6C3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63981" y="4304912"/>
            <a:ext cx="1777222" cy="1777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3086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76E7635-632B-4A62-A2D0-118CE8EBFE46}"/>
              </a:ext>
            </a:extLst>
          </p:cNvPr>
          <p:cNvSpPr/>
          <p:nvPr/>
        </p:nvSpPr>
        <p:spPr>
          <a:xfrm>
            <a:off x="4279666" y="4915928"/>
            <a:ext cx="2817959" cy="1077218"/>
          </a:xfrm>
          <a:prstGeom prst="rect">
            <a:avLst/>
          </a:prstGeom>
        </p:spPr>
        <p:txBody>
          <a:bodyPr wrap="square" anchor="b">
            <a:spAutoFit/>
          </a:bodyPr>
          <a:lstStyle/>
          <a:p>
            <a:pPr algn="ctr"/>
            <a:r>
              <a:rPr lang="en-US" sz="3200" b="1" dirty="0"/>
              <a:t>Ratul joy</a:t>
            </a:r>
          </a:p>
          <a:p>
            <a:pPr algn="ctr"/>
            <a:r>
              <a:rPr lang="en-US" sz="3200" b="1" dirty="0"/>
              <a:t>2005030</a:t>
            </a:r>
          </a:p>
        </p:txBody>
      </p:sp>
      <p:pic>
        <p:nvPicPr>
          <p:cNvPr id="2" name="Picture 1">
            <a:extLst>
              <a:ext uri="{FF2B5EF4-FFF2-40B4-BE49-F238E27FC236}">
                <a16:creationId xmlns:a16="http://schemas.microsoft.com/office/drawing/2014/main" id="{ACA44DBF-F031-8D94-E0C7-5F66AB5C555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082" t="846" r="7759" b="3806"/>
          <a:stretch/>
        </p:blipFill>
        <p:spPr>
          <a:xfrm>
            <a:off x="4636722" y="1865431"/>
            <a:ext cx="2103843" cy="2103843"/>
          </a:xfrm>
          <a:prstGeom prst="ellipse">
            <a:avLst/>
          </a:prstGeom>
          <a:ln w="38100">
            <a:solidFill>
              <a:schemeClr val="accent2"/>
            </a:solidFill>
          </a:ln>
        </p:spPr>
      </p:pic>
      <p:sp>
        <p:nvSpPr>
          <p:cNvPr id="3" name="Rectangle 2">
            <a:extLst>
              <a:ext uri="{FF2B5EF4-FFF2-40B4-BE49-F238E27FC236}">
                <a16:creationId xmlns:a16="http://schemas.microsoft.com/office/drawing/2014/main" id="{9C703F61-CD68-E083-9B10-78CD45607FDD}"/>
              </a:ext>
            </a:extLst>
          </p:cNvPr>
          <p:cNvSpPr/>
          <p:nvPr/>
        </p:nvSpPr>
        <p:spPr>
          <a:xfrm>
            <a:off x="3641130" y="641680"/>
            <a:ext cx="4095032" cy="923330"/>
          </a:xfrm>
          <a:prstGeom prst="rect">
            <a:avLst/>
          </a:prstGeom>
          <a:solidFill>
            <a:schemeClr val="bg1"/>
          </a:solid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latin typeface="DauphinPlain"/>
              </a:rPr>
              <a:t>Cost </a:t>
            </a:r>
            <a:r>
              <a:rPr lang="en-US" sz="5400" b="1" dirty="0">
                <a:ln w="9525">
                  <a:solidFill>
                    <a:schemeClr val="bg1"/>
                  </a:solidFill>
                  <a:prstDash val="solid"/>
                </a:ln>
                <a:solidFill>
                  <a:schemeClr val="accent3">
                    <a:lumMod val="75000"/>
                  </a:schemeClr>
                </a:solidFill>
                <a:effectLst>
                  <a:outerShdw blurRad="12700" dist="38100" dir="2700000" algn="tl" rotWithShape="0">
                    <a:schemeClr val="bg1">
                      <a:lumMod val="50000"/>
                    </a:schemeClr>
                  </a:outerShdw>
                </a:effectLst>
                <a:latin typeface="DauphinPlain"/>
              </a:rPr>
              <a:t>Analysis</a:t>
            </a:r>
            <a:r>
              <a:rPr lang="en-US" sz="5400" b="1" cap="none" spc="0" dirty="0">
                <a:ln w="9525">
                  <a:solidFill>
                    <a:schemeClr val="bg1"/>
                  </a:solidFill>
                  <a:prstDash val="solid"/>
                </a:ln>
                <a:solidFill>
                  <a:schemeClr val="accent3">
                    <a:lumMod val="75000"/>
                  </a:schemeClr>
                </a:solidFill>
                <a:effectLst>
                  <a:outerShdw blurRad="12700" dist="38100" dir="2700000" algn="tl" rotWithShape="0">
                    <a:schemeClr val="bg1">
                      <a:lumMod val="50000"/>
                    </a:schemeClr>
                  </a:outerShdw>
                </a:effectLst>
                <a:latin typeface="DauphinPlain"/>
              </a:rPr>
              <a:t> </a:t>
            </a:r>
            <a:endParaRPr lang="en-US" sz="5400" b="1" cap="none" spc="0" dirty="0">
              <a:ln w="9525">
                <a:solidFill>
                  <a:schemeClr val="bg1"/>
                </a:solidFill>
                <a:prstDash val="solid"/>
              </a:ln>
              <a:solidFill>
                <a:schemeClr val="accent3">
                  <a:lumMod val="75000"/>
                </a:schemeClr>
              </a:solidFill>
              <a:effectLst>
                <a:outerShdw blurRad="12700" dist="38100" dir="2700000" algn="tl" rotWithShape="0">
                  <a:schemeClr val="bg1">
                    <a:lumMod val="50000"/>
                  </a:schemeClr>
                </a:outerShdw>
              </a:effectLst>
            </a:endParaRPr>
          </a:p>
        </p:txBody>
      </p:sp>
      <p:pic>
        <p:nvPicPr>
          <p:cNvPr id="4" name="Picture 3">
            <a:extLst>
              <a:ext uri="{FF2B5EF4-FFF2-40B4-BE49-F238E27FC236}">
                <a16:creationId xmlns:a16="http://schemas.microsoft.com/office/drawing/2014/main" id="{5A50DCC1-22CD-86D5-3E7E-F12FBFE35CE4}"/>
              </a:ext>
            </a:extLst>
          </p:cNvPr>
          <p:cNvPicPr>
            <a:picLocks noChangeAspect="1"/>
          </p:cNvPicPr>
          <p:nvPr/>
        </p:nvPicPr>
        <p:blipFill>
          <a:blip r:embed="rId3"/>
          <a:stretch>
            <a:fillRect/>
          </a:stretch>
        </p:blipFill>
        <p:spPr>
          <a:xfrm>
            <a:off x="4572980" y="4269696"/>
            <a:ext cx="2231329" cy="646232"/>
          </a:xfrm>
          <a:prstGeom prst="rect">
            <a:avLst/>
          </a:prstGeom>
        </p:spPr>
      </p:pic>
      <p:sp>
        <p:nvSpPr>
          <p:cNvPr id="5" name="Rectangle 4">
            <a:extLst>
              <a:ext uri="{FF2B5EF4-FFF2-40B4-BE49-F238E27FC236}">
                <a16:creationId xmlns:a16="http://schemas.microsoft.com/office/drawing/2014/main" id="{38DF3B5E-D423-3AC1-E4CB-573F84558A82}"/>
              </a:ext>
            </a:extLst>
          </p:cNvPr>
          <p:cNvSpPr/>
          <p:nvPr/>
        </p:nvSpPr>
        <p:spPr>
          <a:xfrm rot="19289892">
            <a:off x="-1387949" y="-450449"/>
            <a:ext cx="4025830" cy="151476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88693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1016-C30E-0BD7-A9B5-C888E5630E2C}"/>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284E1FDC-4AD4-50F1-38A4-384FAAC4982C}"/>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48CA24A-701F-9E00-18A1-51052551FF25}"/>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B7823BA-910C-084F-4374-59E5C3874328}"/>
              </a:ext>
            </a:extLst>
          </p:cNvPr>
          <p:cNvSpPr txBox="1"/>
          <p:nvPr/>
        </p:nvSpPr>
        <p:spPr>
          <a:xfrm>
            <a:off x="447413" y="878195"/>
            <a:ext cx="6097656" cy="593304"/>
          </a:xfrm>
          <a:prstGeom prst="rect">
            <a:avLst/>
          </a:prstGeom>
          <a:noFill/>
        </p:spPr>
        <p:txBody>
          <a:bodyPr wrap="square">
            <a:spAutoFit/>
          </a:bodyPr>
          <a:lstStyle/>
          <a:p>
            <a:pPr marL="0" marR="0">
              <a:lnSpc>
                <a:spcPct val="107000"/>
              </a:lnSpc>
              <a:spcAft>
                <a:spcPts val="800"/>
              </a:spcAft>
            </a:pPr>
            <a:r>
              <a:rPr lang="en-US" sz="3200" b="1" kern="100" dirty="0">
                <a:solidFill>
                  <a:schemeClr val="accent3">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Cost </a:t>
            </a:r>
            <a:r>
              <a:rPr lang="en-US" sz="3200" b="1" kern="100" dirty="0">
                <a:solidFill>
                  <a:schemeClr val="accent4"/>
                </a:solidFill>
                <a:effectLst/>
                <a:latin typeface="Times New Roman" panose="02020603050405020304" pitchFamily="18" charset="0"/>
                <a:ea typeface="Calibri" panose="020F0502020204030204" pitchFamily="34" charset="0"/>
                <a:cs typeface="Times New Roman" panose="02020603050405020304" pitchFamily="18" charset="0"/>
              </a:rPr>
              <a:t>Analysis</a:t>
            </a:r>
            <a:endParaRPr lang="en-US" sz="3200" kern="100" dirty="0">
              <a:solidFill>
                <a:schemeClr val="accent4"/>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Arrow: Right 4">
            <a:extLst>
              <a:ext uri="{FF2B5EF4-FFF2-40B4-BE49-F238E27FC236}">
                <a16:creationId xmlns:a16="http://schemas.microsoft.com/office/drawing/2014/main" id="{942038C2-AEFE-6902-2394-E77A6F61D5DF}"/>
              </a:ext>
            </a:extLst>
          </p:cNvPr>
          <p:cNvSpPr/>
          <p:nvPr/>
        </p:nvSpPr>
        <p:spPr>
          <a:xfrm>
            <a:off x="5365102" y="3054609"/>
            <a:ext cx="3872204" cy="13902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Fixed Cost</a:t>
            </a:r>
          </a:p>
        </p:txBody>
      </p:sp>
      <p:sp>
        <p:nvSpPr>
          <p:cNvPr id="6" name="Arrow: Right 5">
            <a:extLst>
              <a:ext uri="{FF2B5EF4-FFF2-40B4-BE49-F238E27FC236}">
                <a16:creationId xmlns:a16="http://schemas.microsoft.com/office/drawing/2014/main" id="{A9311296-B526-9080-8E32-B74A851FF671}"/>
              </a:ext>
            </a:extLst>
          </p:cNvPr>
          <p:cNvSpPr/>
          <p:nvPr/>
        </p:nvSpPr>
        <p:spPr>
          <a:xfrm>
            <a:off x="2802294" y="4693298"/>
            <a:ext cx="3872204" cy="13902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Variable Cost</a:t>
            </a:r>
          </a:p>
        </p:txBody>
      </p:sp>
      <p:sp>
        <p:nvSpPr>
          <p:cNvPr id="7" name="Arrow: Right 6">
            <a:extLst>
              <a:ext uri="{FF2B5EF4-FFF2-40B4-BE49-F238E27FC236}">
                <a16:creationId xmlns:a16="http://schemas.microsoft.com/office/drawing/2014/main" id="{3C899F6A-7A19-3B9F-FEAB-80F798414935}"/>
              </a:ext>
            </a:extLst>
          </p:cNvPr>
          <p:cNvSpPr/>
          <p:nvPr/>
        </p:nvSpPr>
        <p:spPr>
          <a:xfrm>
            <a:off x="3744686" y="1415920"/>
            <a:ext cx="3872204" cy="13902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BOM</a:t>
            </a:r>
          </a:p>
        </p:txBody>
      </p:sp>
    </p:spTree>
    <p:extLst>
      <p:ext uri="{BB962C8B-B14F-4D97-AF65-F5344CB8AC3E}">
        <p14:creationId xmlns:p14="http://schemas.microsoft.com/office/powerpoint/2010/main" val="5360413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C27FD-7A76-F87D-975D-7F25E4C6DBF9}"/>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63B42986-B05A-8B97-A951-7F136F6E6C63}"/>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BE3BF25-A16B-BF4B-4055-A210DF1B0AA9}"/>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6712825-E5CE-4F8D-AE9E-E83B413C5952}"/>
              </a:ext>
            </a:extLst>
          </p:cNvPr>
          <p:cNvSpPr txBox="1"/>
          <p:nvPr/>
        </p:nvSpPr>
        <p:spPr>
          <a:xfrm>
            <a:off x="335446" y="727361"/>
            <a:ext cx="6005706" cy="1225464"/>
          </a:xfrm>
          <a:prstGeom prst="rect">
            <a:avLst/>
          </a:prstGeom>
          <a:noFill/>
        </p:spPr>
        <p:txBody>
          <a:bodyPr wrap="square">
            <a:spAutoFit/>
          </a:bodyPr>
          <a:lstStyle/>
          <a:p>
            <a:pPr>
              <a:lnSpc>
                <a:spcPct val="107000"/>
              </a:lnSpc>
              <a:spcAft>
                <a:spcPts val="800"/>
              </a:spcAft>
            </a:pPr>
            <a:r>
              <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rPr>
              <a:t>Bill of Material (BOM)</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1DB2EF8-004B-89D0-3419-52174FA3ED32}"/>
              </a:ext>
            </a:extLst>
          </p:cNvPr>
          <p:cNvSpPr txBox="1"/>
          <p:nvPr/>
        </p:nvSpPr>
        <p:spPr>
          <a:xfrm>
            <a:off x="2159574" y="1340093"/>
            <a:ext cx="8003479" cy="470000"/>
          </a:xfrm>
          <a:prstGeom prst="rect">
            <a:avLst/>
          </a:prstGeom>
          <a:noFill/>
        </p:spPr>
        <p:txBody>
          <a:bodyPr wrap="square">
            <a:spAutoFit/>
          </a:bodyPr>
          <a:lstStyle/>
          <a:p>
            <a:pPr marL="0" marR="0">
              <a:lnSpc>
                <a:spcPct val="107000"/>
              </a:lnSpc>
              <a:spcAft>
                <a:spcPts val="800"/>
              </a:spcAf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Table: BOM of Smart Shopping Cart (For Mass Production)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85CB7F6-B1DA-F90A-C84E-A7313DDBB125}"/>
              </a:ext>
            </a:extLst>
          </p:cNvPr>
          <p:cNvGraphicFramePr>
            <a:graphicFrameLocks noGrp="1"/>
          </p:cNvGraphicFramePr>
          <p:nvPr>
            <p:extLst>
              <p:ext uri="{D42A27DB-BD31-4B8C-83A1-F6EECF244321}">
                <p14:modId xmlns:p14="http://schemas.microsoft.com/office/powerpoint/2010/main" val="3008630435"/>
              </p:ext>
            </p:extLst>
          </p:nvPr>
        </p:nvGraphicFramePr>
        <p:xfrm>
          <a:off x="427380" y="1952826"/>
          <a:ext cx="10714380" cy="4309007"/>
        </p:xfrm>
        <a:graphic>
          <a:graphicData uri="http://schemas.openxmlformats.org/drawingml/2006/table">
            <a:tbl>
              <a:tblPr firstRow="1" firstCol="1" bandRow="1">
                <a:tableStyleId>{ED083AE6-46FA-4A59-8FB0-9F97EB10719F}</a:tableStyleId>
              </a:tblPr>
              <a:tblGrid>
                <a:gridCol w="1785730">
                  <a:extLst>
                    <a:ext uri="{9D8B030D-6E8A-4147-A177-3AD203B41FA5}">
                      <a16:colId xmlns:a16="http://schemas.microsoft.com/office/drawing/2014/main" val="3135365556"/>
                    </a:ext>
                  </a:extLst>
                </a:gridCol>
                <a:gridCol w="1785730">
                  <a:extLst>
                    <a:ext uri="{9D8B030D-6E8A-4147-A177-3AD203B41FA5}">
                      <a16:colId xmlns:a16="http://schemas.microsoft.com/office/drawing/2014/main" val="656026651"/>
                    </a:ext>
                  </a:extLst>
                </a:gridCol>
                <a:gridCol w="1785730">
                  <a:extLst>
                    <a:ext uri="{9D8B030D-6E8A-4147-A177-3AD203B41FA5}">
                      <a16:colId xmlns:a16="http://schemas.microsoft.com/office/drawing/2014/main" val="3269005140"/>
                    </a:ext>
                  </a:extLst>
                </a:gridCol>
                <a:gridCol w="1785730">
                  <a:extLst>
                    <a:ext uri="{9D8B030D-6E8A-4147-A177-3AD203B41FA5}">
                      <a16:colId xmlns:a16="http://schemas.microsoft.com/office/drawing/2014/main" val="1578657178"/>
                    </a:ext>
                  </a:extLst>
                </a:gridCol>
                <a:gridCol w="1785730">
                  <a:extLst>
                    <a:ext uri="{9D8B030D-6E8A-4147-A177-3AD203B41FA5}">
                      <a16:colId xmlns:a16="http://schemas.microsoft.com/office/drawing/2014/main" val="3949325121"/>
                    </a:ext>
                  </a:extLst>
                </a:gridCol>
                <a:gridCol w="1785730">
                  <a:extLst>
                    <a:ext uri="{9D8B030D-6E8A-4147-A177-3AD203B41FA5}">
                      <a16:colId xmlns:a16="http://schemas.microsoft.com/office/drawing/2014/main" val="3536165882"/>
                    </a:ext>
                  </a:extLst>
                </a:gridCol>
              </a:tblGrid>
              <a:tr h="289284">
                <a:tc>
                  <a:txBody>
                    <a:bodyPr/>
                    <a:lstStyle/>
                    <a:p>
                      <a:pPr marL="0" marR="0">
                        <a:lnSpc>
                          <a:spcPct val="107000"/>
                        </a:lnSpc>
                        <a:spcAft>
                          <a:spcPts val="800"/>
                        </a:spcAft>
                      </a:pPr>
                      <a:r>
                        <a:rPr lang="en-US" sz="1600" kern="100">
                          <a:effectLst/>
                        </a:rPr>
                        <a:t>Components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Quantity</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Material</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Unit Cost (BDT)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Total Cost (BDT)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 of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2155229"/>
                  </a:ext>
                </a:extLst>
              </a:tr>
              <a:tr h="591964">
                <a:tc>
                  <a:txBody>
                    <a:bodyPr/>
                    <a:lstStyle/>
                    <a:p>
                      <a:pPr marL="0" marR="0">
                        <a:lnSpc>
                          <a:spcPct val="107000"/>
                        </a:lnSpc>
                        <a:spcAft>
                          <a:spcPts val="800"/>
                        </a:spcAft>
                      </a:pPr>
                      <a:r>
                        <a:rPr lang="en-US" sz="1600" kern="100" dirty="0">
                          <a:effectLst/>
                        </a:rPr>
                        <a:t>Frame (Cart Structure)</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dirty="0">
                          <a:effectLst/>
                        </a:rPr>
                        <a:t>High-strength low-alloy steel</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3,000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3,000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20%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6616122"/>
                  </a:ext>
                </a:extLst>
              </a:tr>
              <a:tr h="289284">
                <a:tc>
                  <a:txBody>
                    <a:bodyPr/>
                    <a:lstStyle/>
                    <a:p>
                      <a:pPr marL="0" marR="0">
                        <a:lnSpc>
                          <a:spcPct val="107000"/>
                        </a:lnSpc>
                        <a:spcAft>
                          <a:spcPts val="800"/>
                        </a:spcAft>
                      </a:pPr>
                      <a:r>
                        <a:rPr lang="en-US" sz="1600" kern="100">
                          <a:effectLst/>
                        </a:rPr>
                        <a:t>Wheels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4</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Rubber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300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1,200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8%</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858562"/>
                  </a:ext>
                </a:extLst>
              </a:tr>
              <a:tr h="289284">
                <a:tc>
                  <a:txBody>
                    <a:bodyPr/>
                    <a:lstStyle/>
                    <a:p>
                      <a:pPr marL="0" marR="0">
                        <a:lnSpc>
                          <a:spcPct val="107000"/>
                        </a:lnSpc>
                        <a:spcAft>
                          <a:spcPts val="800"/>
                        </a:spcAft>
                      </a:pPr>
                      <a:r>
                        <a:rPr lang="en-US" sz="1600" kern="100">
                          <a:effectLst/>
                        </a:rPr>
                        <a:t>Basket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Steel</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1,500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1,500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8278068"/>
                  </a:ext>
                </a:extLst>
              </a:tr>
              <a:tr h="289284">
                <a:tc>
                  <a:txBody>
                    <a:bodyPr/>
                    <a:lstStyle/>
                    <a:p>
                      <a:pPr marL="0" marR="0">
                        <a:lnSpc>
                          <a:spcPct val="107000"/>
                        </a:lnSpc>
                        <a:spcAft>
                          <a:spcPts val="800"/>
                        </a:spcAft>
                      </a:pPr>
                      <a:r>
                        <a:rPr lang="en-US" sz="1600" kern="100">
                          <a:effectLst/>
                        </a:rPr>
                        <a:t>Display Screen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LCD/LED</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2,500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2,500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17%</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9017401"/>
                  </a:ext>
                </a:extLst>
              </a:tr>
              <a:tr h="289284">
                <a:tc>
                  <a:txBody>
                    <a:bodyPr/>
                    <a:lstStyle/>
                    <a:p>
                      <a:pPr marL="0" marR="0">
                        <a:lnSpc>
                          <a:spcPct val="107000"/>
                        </a:lnSpc>
                        <a:spcAft>
                          <a:spcPts val="800"/>
                        </a:spcAft>
                      </a:pPr>
                      <a:r>
                        <a:rPr lang="en-US" sz="1600" kern="100">
                          <a:effectLst/>
                        </a:rPr>
                        <a:t>RFID Scanner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dirty="0">
                          <a:effectLst/>
                        </a:rPr>
                        <a:t>1</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Plastic/Metal</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1,200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1,200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8%</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831045"/>
                  </a:ext>
                </a:extLst>
              </a:tr>
              <a:tr h="591964">
                <a:tc>
                  <a:txBody>
                    <a:bodyPr/>
                    <a:lstStyle/>
                    <a:p>
                      <a:pPr marL="0" marR="0">
                        <a:lnSpc>
                          <a:spcPct val="107000"/>
                        </a:lnSpc>
                        <a:spcAft>
                          <a:spcPts val="800"/>
                        </a:spcAft>
                      </a:pPr>
                      <a:r>
                        <a:rPr lang="en-US" sz="1600" kern="100">
                          <a:effectLst/>
                        </a:rPr>
                        <a:t>Arduino Nano</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Electronic Components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400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400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3%</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3930980"/>
                  </a:ext>
                </a:extLst>
              </a:tr>
              <a:tr h="289284">
                <a:tc>
                  <a:txBody>
                    <a:bodyPr/>
                    <a:lstStyle/>
                    <a:p>
                      <a:pPr marL="0" marR="0">
                        <a:lnSpc>
                          <a:spcPct val="107000"/>
                        </a:lnSpc>
                        <a:spcAft>
                          <a:spcPts val="800"/>
                        </a:spcAft>
                      </a:pPr>
                      <a:r>
                        <a:rPr lang="en-US" sz="1600" kern="100">
                          <a:effectLst/>
                        </a:rPr>
                        <a:t>Electrical Box</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dirty="0">
                          <a:effectLst/>
                        </a:rPr>
                        <a:t>Plastic</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600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600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4%</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7281063"/>
                  </a:ext>
                </a:extLst>
              </a:tr>
              <a:tr h="591964">
                <a:tc>
                  <a:txBody>
                    <a:bodyPr/>
                    <a:lstStyle/>
                    <a:p>
                      <a:pPr marL="0" marR="0">
                        <a:lnSpc>
                          <a:spcPct val="107000"/>
                        </a:lnSpc>
                        <a:spcAft>
                          <a:spcPts val="800"/>
                        </a:spcAft>
                      </a:pPr>
                      <a:r>
                        <a:rPr lang="en-US" sz="1600" kern="100">
                          <a:effectLst/>
                        </a:rPr>
                        <a:t>EM18</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Electronic Components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800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800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dirty="0">
                          <a:effectLst/>
                        </a:rPr>
                        <a:t>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5939910"/>
                  </a:ext>
                </a:extLst>
              </a:tr>
              <a:tr h="289284">
                <a:tc>
                  <a:txBody>
                    <a:bodyPr/>
                    <a:lstStyle/>
                    <a:p>
                      <a:pPr marL="0" marR="0">
                        <a:lnSpc>
                          <a:spcPct val="107000"/>
                        </a:lnSpc>
                        <a:spcAft>
                          <a:spcPts val="800"/>
                        </a:spcAft>
                      </a:pPr>
                      <a:r>
                        <a:rPr lang="en-US" sz="1600" kern="100">
                          <a:effectLst/>
                        </a:rPr>
                        <a:t>Battery</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Lithium-ion/Lead Acid</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2,000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2,000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13%</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71209939"/>
                  </a:ext>
                </a:extLst>
              </a:tr>
              <a:tr h="289284">
                <a:tc>
                  <a:txBody>
                    <a:bodyPr/>
                    <a:lstStyle/>
                    <a:p>
                      <a:pPr marL="0" marR="0">
                        <a:lnSpc>
                          <a:spcPct val="107000"/>
                        </a:lnSpc>
                        <a:spcAft>
                          <a:spcPts val="800"/>
                        </a:spcAft>
                      </a:pPr>
                      <a:r>
                        <a:rPr lang="en-US" sz="1600" kern="100" dirty="0">
                          <a:effectLst/>
                        </a:rPr>
                        <a:t>Total</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sz="1600" kern="100">
                        <a:effectLst/>
                        <a:latin typeface="Times New Roman" panose="02020603050405020304" pitchFamily="18" charset="0"/>
                        <a:cs typeface="Times New Roman" panose="02020603050405020304" pitchFamily="18" charset="0"/>
                      </a:endParaRPr>
                    </a:p>
                  </a:txBody>
                  <a:tcPr marL="68580" marR="68580" marT="0" marB="0"/>
                </a:tc>
                <a:tc>
                  <a:txBody>
                    <a:bodyPr/>
                    <a:lstStyle/>
                    <a:p>
                      <a:endParaRPr lang="en-US" sz="1600" kern="100">
                        <a:effectLst/>
                        <a:latin typeface="Times New Roman" panose="02020603050405020304" pitchFamily="18" charset="0"/>
                        <a:cs typeface="Times New Roman" panose="02020603050405020304" pitchFamily="18" charset="0"/>
                      </a:endParaRPr>
                    </a:p>
                  </a:txBody>
                  <a:tcPr marL="68580" marR="68580" marT="0" marB="0"/>
                </a:tc>
                <a:tc>
                  <a:txBody>
                    <a:bodyPr/>
                    <a:lstStyle/>
                    <a:p>
                      <a:endParaRPr lang="en-US" sz="1600" kern="100">
                        <a:effectLst/>
                        <a:latin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a:effectLst/>
                        </a:rPr>
                        <a:t>13,100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pPr>
                      <a:r>
                        <a:rPr lang="en-US" sz="1600" kern="100" dirty="0">
                          <a:effectLst/>
                        </a:rPr>
                        <a:t>100%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3913635"/>
                  </a:ext>
                </a:extLst>
              </a:tr>
            </a:tbl>
          </a:graphicData>
        </a:graphic>
      </p:graphicFrame>
    </p:spTree>
    <p:extLst>
      <p:ext uri="{BB962C8B-B14F-4D97-AF65-F5344CB8AC3E}">
        <p14:creationId xmlns:p14="http://schemas.microsoft.com/office/powerpoint/2010/main" val="41366511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D9BA6-24B7-C33D-797E-C94DA4F4E15A}"/>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CCDCA809-D7E6-CE7F-871C-D4EB97D50AA9}"/>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5DD58372-1A6F-80BF-450D-09DF3A2217F2}"/>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EEB71CC-57AF-DCB2-04D4-D8B8C5E24AAD}"/>
              </a:ext>
            </a:extLst>
          </p:cNvPr>
          <p:cNvSpPr txBox="1"/>
          <p:nvPr/>
        </p:nvSpPr>
        <p:spPr>
          <a:xfrm>
            <a:off x="2103175" y="1149408"/>
            <a:ext cx="6097656" cy="584775"/>
          </a:xfrm>
          <a:prstGeom prst="rect">
            <a:avLst/>
          </a:prstGeom>
          <a:noFill/>
        </p:spPr>
        <p:txBody>
          <a:bodyPr wrap="square">
            <a:spAutoFit/>
          </a:bodyPr>
          <a:lstStyle/>
          <a:p>
            <a:r>
              <a:rPr lang="en-US" sz="3200" b="1" dirty="0">
                <a:solidFill>
                  <a:schemeClr val="accent3"/>
                </a:solidFill>
                <a:effectLst/>
                <a:latin typeface="Times New Roman" panose="02020603050405020304" pitchFamily="18" charset="0"/>
                <a:ea typeface="Calibri" panose="020F0502020204030204" pitchFamily="34" charset="0"/>
              </a:rPr>
              <a:t>Life </a:t>
            </a:r>
            <a:r>
              <a:rPr lang="en-US" sz="3200" b="1" dirty="0">
                <a:solidFill>
                  <a:schemeClr val="accent2"/>
                </a:solidFill>
                <a:effectLst/>
                <a:latin typeface="Times New Roman" panose="02020603050405020304" pitchFamily="18" charset="0"/>
                <a:ea typeface="Calibri" panose="020F0502020204030204" pitchFamily="34" charset="0"/>
              </a:rPr>
              <a:t>Cycle Cost</a:t>
            </a:r>
            <a:endParaRPr lang="en-US" sz="3200" dirty="0">
              <a:solidFill>
                <a:schemeClr val="accent2"/>
              </a:solidFill>
            </a:endParaRPr>
          </a:p>
        </p:txBody>
      </p:sp>
      <p:sp>
        <p:nvSpPr>
          <p:cNvPr id="3" name="TextBox 2">
            <a:extLst>
              <a:ext uri="{FF2B5EF4-FFF2-40B4-BE49-F238E27FC236}">
                <a16:creationId xmlns:a16="http://schemas.microsoft.com/office/drawing/2014/main" id="{8A1556E7-11B7-3BB4-2369-335063F5C796}"/>
              </a:ext>
            </a:extLst>
          </p:cNvPr>
          <p:cNvSpPr txBox="1"/>
          <p:nvPr/>
        </p:nvSpPr>
        <p:spPr>
          <a:xfrm>
            <a:off x="427383" y="2390994"/>
            <a:ext cx="5936096" cy="863250"/>
          </a:xfrm>
          <a:prstGeom prst="rect">
            <a:avLst/>
          </a:prstGeom>
          <a:noFill/>
        </p:spPr>
        <p:txBody>
          <a:bodyPr wrap="square">
            <a:spAutoFit/>
          </a:bodyPr>
          <a:lstStyle/>
          <a:p>
            <a:pPr marL="0" marR="0">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We have estimated that the lifecycle of our product is 5 years.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170" name="Picture 2" descr="Lifecycle Icons Images – Browse 16,517 Stock Photos, Vectors, and Video |  Adobe Stock">
            <a:extLst>
              <a:ext uri="{FF2B5EF4-FFF2-40B4-BE49-F238E27FC236}">
                <a16:creationId xmlns:a16="http://schemas.microsoft.com/office/drawing/2014/main" id="{F06B2361-8D6B-8A09-7937-3893AE490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566" y="1336021"/>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4467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8ACD-5442-7CB0-9E8A-90F2BA6202F0}"/>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316BE22B-FC33-72B1-F996-EE2D7E744EFF}"/>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3621262-3A22-79A3-FA48-B9875E3283FB}"/>
              </a:ext>
            </a:extLst>
          </p:cNvPr>
          <p:cNvSpPr/>
          <p:nvPr/>
        </p:nvSpPr>
        <p:spPr>
          <a:xfrm>
            <a:off x="1118024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034E36B-1B3B-8606-481D-7879B7C6615A}"/>
              </a:ext>
            </a:extLst>
          </p:cNvPr>
          <p:cNvSpPr txBox="1"/>
          <p:nvPr/>
        </p:nvSpPr>
        <p:spPr>
          <a:xfrm>
            <a:off x="3047172" y="570024"/>
            <a:ext cx="6097656" cy="405367"/>
          </a:xfrm>
          <a:prstGeom prst="rect">
            <a:avLst/>
          </a:prstGeom>
          <a:noFill/>
        </p:spPr>
        <p:txBody>
          <a:bodyPr wrap="square">
            <a:spAutoFit/>
          </a:bodyPr>
          <a:lstStyle/>
          <a:p>
            <a:pPr marL="0" marR="0">
              <a:lnSpc>
                <a:spcPct val="107000"/>
              </a:lnSpc>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Table: Life Cycle Cost of Smart Shopping Cart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7B2AEF5-BE05-2CB9-3476-59A16F1BF9F8}"/>
              </a:ext>
            </a:extLst>
          </p:cNvPr>
          <p:cNvGraphicFramePr>
            <a:graphicFrameLocks noGrp="1"/>
          </p:cNvGraphicFramePr>
          <p:nvPr>
            <p:extLst>
              <p:ext uri="{D42A27DB-BD31-4B8C-83A1-F6EECF244321}">
                <p14:modId xmlns:p14="http://schemas.microsoft.com/office/powerpoint/2010/main" val="2120550231"/>
              </p:ext>
            </p:extLst>
          </p:nvPr>
        </p:nvGraphicFramePr>
        <p:xfrm>
          <a:off x="754102" y="1091808"/>
          <a:ext cx="10426144" cy="5196168"/>
        </p:xfrm>
        <a:graphic>
          <a:graphicData uri="http://schemas.openxmlformats.org/drawingml/2006/table">
            <a:tbl>
              <a:tblPr firstRow="1" firstCol="1" bandRow="1">
                <a:tableStyleId>{ED083AE6-46FA-4A59-8FB0-9F97EB10719F}</a:tableStyleId>
              </a:tblPr>
              <a:tblGrid>
                <a:gridCol w="2372847">
                  <a:extLst>
                    <a:ext uri="{9D8B030D-6E8A-4147-A177-3AD203B41FA5}">
                      <a16:colId xmlns:a16="http://schemas.microsoft.com/office/drawing/2014/main" val="4144618279"/>
                    </a:ext>
                  </a:extLst>
                </a:gridCol>
                <a:gridCol w="1150471">
                  <a:extLst>
                    <a:ext uri="{9D8B030D-6E8A-4147-A177-3AD203B41FA5}">
                      <a16:colId xmlns:a16="http://schemas.microsoft.com/office/drawing/2014/main" val="4204246584"/>
                    </a:ext>
                  </a:extLst>
                </a:gridCol>
                <a:gridCol w="1150471">
                  <a:extLst>
                    <a:ext uri="{9D8B030D-6E8A-4147-A177-3AD203B41FA5}">
                      <a16:colId xmlns:a16="http://schemas.microsoft.com/office/drawing/2014/main" val="2098840420"/>
                    </a:ext>
                  </a:extLst>
                </a:gridCol>
                <a:gridCol w="1150471">
                  <a:extLst>
                    <a:ext uri="{9D8B030D-6E8A-4147-A177-3AD203B41FA5}">
                      <a16:colId xmlns:a16="http://schemas.microsoft.com/office/drawing/2014/main" val="3960906490"/>
                    </a:ext>
                  </a:extLst>
                </a:gridCol>
                <a:gridCol w="1150471">
                  <a:extLst>
                    <a:ext uri="{9D8B030D-6E8A-4147-A177-3AD203B41FA5}">
                      <a16:colId xmlns:a16="http://schemas.microsoft.com/office/drawing/2014/main" val="1518068666"/>
                    </a:ext>
                  </a:extLst>
                </a:gridCol>
                <a:gridCol w="1150471">
                  <a:extLst>
                    <a:ext uri="{9D8B030D-6E8A-4147-A177-3AD203B41FA5}">
                      <a16:colId xmlns:a16="http://schemas.microsoft.com/office/drawing/2014/main" val="642597575"/>
                    </a:ext>
                  </a:extLst>
                </a:gridCol>
                <a:gridCol w="1150471">
                  <a:extLst>
                    <a:ext uri="{9D8B030D-6E8A-4147-A177-3AD203B41FA5}">
                      <a16:colId xmlns:a16="http://schemas.microsoft.com/office/drawing/2014/main" val="3716132471"/>
                    </a:ext>
                  </a:extLst>
                </a:gridCol>
                <a:gridCol w="1150471">
                  <a:extLst>
                    <a:ext uri="{9D8B030D-6E8A-4147-A177-3AD203B41FA5}">
                      <a16:colId xmlns:a16="http://schemas.microsoft.com/office/drawing/2014/main" val="1382956571"/>
                    </a:ext>
                  </a:extLst>
                </a:gridCol>
              </a:tblGrid>
              <a:tr h="664832">
                <a:tc>
                  <a:txBody>
                    <a:bodyPr/>
                    <a:lstStyle/>
                    <a:p>
                      <a:pPr marL="0" marR="0" algn="ctr">
                        <a:lnSpc>
                          <a:spcPct val="107000"/>
                        </a:lnSpc>
                        <a:spcAft>
                          <a:spcPts val="800"/>
                        </a:spcAft>
                      </a:pPr>
                      <a:r>
                        <a:rPr lang="en-US" sz="1600" kern="0">
                          <a:effectLst/>
                        </a:rPr>
                        <a:t>Fixed Cost (BDT)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a:effectLst/>
                        </a:rPr>
                        <a:t>1st Year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a:effectLst/>
                        </a:rPr>
                        <a:t>2nd Year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a:effectLst/>
                        </a:rPr>
                        <a:t>3rd Year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a:effectLst/>
                        </a:rPr>
                        <a:t>4th Year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a:effectLst/>
                        </a:rPr>
                        <a:t>5th Year</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dirty="0">
                          <a:effectLst/>
                        </a:rPr>
                        <a:t>Lifecycle</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pPr>
                      <a:r>
                        <a:rPr lang="en-US" sz="1600" kern="0">
                          <a:effectLst/>
                        </a:rPr>
                        <a:t>Variable Cost (BDT)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15025753"/>
                  </a:ext>
                </a:extLst>
              </a:tr>
              <a:tr h="279928">
                <a:tc>
                  <a:txBody>
                    <a:bodyPr/>
                    <a:lstStyle/>
                    <a:p>
                      <a:pPr marL="0" marR="0">
                        <a:lnSpc>
                          <a:spcPct val="107000"/>
                        </a:lnSpc>
                        <a:spcAft>
                          <a:spcPts val="800"/>
                        </a:spcAft>
                      </a:pPr>
                      <a:r>
                        <a:rPr lang="en-US" sz="1600" kern="0">
                          <a:effectLst/>
                        </a:rPr>
                        <a:t>R&amp;D</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90080856"/>
                  </a:ext>
                </a:extLst>
              </a:tr>
              <a:tr h="279928">
                <a:tc>
                  <a:txBody>
                    <a:bodyPr/>
                    <a:lstStyle/>
                    <a:p>
                      <a:pPr marL="0" marR="0">
                        <a:lnSpc>
                          <a:spcPct val="107000"/>
                        </a:lnSpc>
                        <a:spcAft>
                          <a:spcPts val="800"/>
                        </a:spcAft>
                      </a:pPr>
                      <a:r>
                        <a:rPr lang="en-US" sz="1600" kern="0">
                          <a:effectLst/>
                        </a:rPr>
                        <a:t>Design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34955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34955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16164215"/>
                  </a:ext>
                </a:extLst>
              </a:tr>
              <a:tr h="279928">
                <a:tc>
                  <a:txBody>
                    <a:bodyPr/>
                    <a:lstStyle/>
                    <a:p>
                      <a:pPr marL="0" marR="0">
                        <a:lnSpc>
                          <a:spcPct val="107000"/>
                        </a:lnSpc>
                        <a:spcAft>
                          <a:spcPts val="800"/>
                        </a:spcAft>
                      </a:pPr>
                      <a:r>
                        <a:rPr lang="en-US" sz="1600" kern="0">
                          <a:effectLst/>
                        </a:rPr>
                        <a:t>Improvements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21275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07187442"/>
                  </a:ext>
                </a:extLst>
              </a:tr>
              <a:tr h="279928">
                <a:tc>
                  <a:txBody>
                    <a:bodyPr/>
                    <a:lstStyle/>
                    <a:p>
                      <a:pPr marL="0" marR="0">
                        <a:lnSpc>
                          <a:spcPct val="107000"/>
                        </a:lnSpc>
                        <a:spcAft>
                          <a:spcPts val="800"/>
                        </a:spcAft>
                      </a:pPr>
                      <a:r>
                        <a:rPr lang="en-US" sz="1600" kern="0">
                          <a:effectLst/>
                        </a:rPr>
                        <a:t>Total R&amp;D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39210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48157042"/>
                  </a:ext>
                </a:extLst>
              </a:tr>
              <a:tr h="279928">
                <a:tc>
                  <a:txBody>
                    <a:bodyPr/>
                    <a:lstStyle/>
                    <a:p>
                      <a:pPr marL="0" marR="0">
                        <a:lnSpc>
                          <a:spcPct val="107000"/>
                        </a:lnSpc>
                        <a:spcAft>
                          <a:spcPts val="800"/>
                        </a:spcAft>
                      </a:pPr>
                      <a:r>
                        <a:rPr lang="en-US" sz="1600" kern="0">
                          <a:effectLst/>
                        </a:rPr>
                        <a:t>Facilities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54385349"/>
                  </a:ext>
                </a:extLst>
              </a:tr>
              <a:tr h="279928">
                <a:tc>
                  <a:txBody>
                    <a:bodyPr/>
                    <a:lstStyle/>
                    <a:p>
                      <a:pPr marL="0" marR="0">
                        <a:lnSpc>
                          <a:spcPct val="107000"/>
                        </a:lnSpc>
                        <a:spcAft>
                          <a:spcPts val="800"/>
                        </a:spcAft>
                      </a:pPr>
                      <a:r>
                        <a:rPr lang="en-US" sz="1600" kern="0">
                          <a:effectLst/>
                        </a:rPr>
                        <a:t>Land</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6000000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85266394"/>
                  </a:ext>
                </a:extLst>
              </a:tr>
              <a:tr h="279928">
                <a:tc>
                  <a:txBody>
                    <a:bodyPr/>
                    <a:lstStyle/>
                    <a:p>
                      <a:pPr marL="0" marR="0">
                        <a:lnSpc>
                          <a:spcPct val="107000"/>
                        </a:lnSpc>
                        <a:spcAft>
                          <a:spcPts val="800"/>
                        </a:spcAft>
                      </a:pPr>
                      <a:r>
                        <a:rPr lang="en-US" sz="1600" kern="0">
                          <a:effectLst/>
                        </a:rPr>
                        <a:t>Depreciation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335250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03299998"/>
                  </a:ext>
                </a:extLst>
              </a:tr>
              <a:tr h="279928">
                <a:tc>
                  <a:txBody>
                    <a:bodyPr/>
                    <a:lstStyle/>
                    <a:p>
                      <a:pPr marL="0" marR="0">
                        <a:lnSpc>
                          <a:spcPct val="107000"/>
                        </a:lnSpc>
                        <a:spcAft>
                          <a:spcPts val="800"/>
                        </a:spcAft>
                      </a:pPr>
                      <a:r>
                        <a:rPr lang="en-US" sz="1600" kern="0">
                          <a:effectLst/>
                        </a:rPr>
                        <a:t>Total Facilities Expense</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6335250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97278358"/>
                  </a:ext>
                </a:extLst>
              </a:tr>
              <a:tr h="279928">
                <a:tc>
                  <a:txBody>
                    <a:bodyPr/>
                    <a:lstStyle/>
                    <a:p>
                      <a:pPr marL="0" marR="0">
                        <a:lnSpc>
                          <a:spcPct val="107000"/>
                        </a:lnSpc>
                        <a:spcAft>
                          <a:spcPts val="800"/>
                        </a:spcAft>
                      </a:pPr>
                      <a:r>
                        <a:rPr lang="en-US" sz="1600" kern="0">
                          <a:effectLst/>
                        </a:rPr>
                        <a:t>Production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8370183"/>
                  </a:ext>
                </a:extLst>
              </a:tr>
              <a:tr h="279928">
                <a:tc>
                  <a:txBody>
                    <a:bodyPr/>
                    <a:lstStyle/>
                    <a:p>
                      <a:pPr marL="0" marR="0">
                        <a:lnSpc>
                          <a:spcPct val="107000"/>
                        </a:lnSpc>
                        <a:spcAft>
                          <a:spcPts val="800"/>
                        </a:spcAft>
                      </a:pPr>
                      <a:r>
                        <a:rPr lang="en-US" sz="1600" kern="0">
                          <a:effectLst/>
                        </a:rPr>
                        <a:t>BOM</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13,705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27243793"/>
                  </a:ext>
                </a:extLst>
              </a:tr>
              <a:tr h="279928">
                <a:tc>
                  <a:txBody>
                    <a:bodyPr/>
                    <a:lstStyle/>
                    <a:p>
                      <a:pPr marL="0" marR="0">
                        <a:lnSpc>
                          <a:spcPct val="107000"/>
                        </a:lnSpc>
                        <a:spcAft>
                          <a:spcPts val="800"/>
                        </a:spcAft>
                      </a:pPr>
                      <a:r>
                        <a:rPr lang="en-US" sz="1600" kern="0">
                          <a:effectLst/>
                        </a:rPr>
                        <a:t>Labour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74827315"/>
                  </a:ext>
                </a:extLst>
              </a:tr>
              <a:tr h="279928">
                <a:tc>
                  <a:txBody>
                    <a:bodyPr/>
                    <a:lstStyle/>
                    <a:p>
                      <a:pPr marL="0" marR="0">
                        <a:lnSpc>
                          <a:spcPct val="107000"/>
                        </a:lnSpc>
                        <a:spcAft>
                          <a:spcPts val="800"/>
                        </a:spcAft>
                      </a:pPr>
                      <a:r>
                        <a:rPr lang="en-US" sz="1600" kern="0">
                          <a:effectLst/>
                        </a:rPr>
                        <a:t>Maintenance</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56275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60780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74900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85060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95505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372520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82199731"/>
                  </a:ext>
                </a:extLst>
              </a:tr>
              <a:tr h="279928">
                <a:tc>
                  <a:txBody>
                    <a:bodyPr/>
                    <a:lstStyle/>
                    <a:p>
                      <a:pPr marL="0" marR="0">
                        <a:lnSpc>
                          <a:spcPct val="107000"/>
                        </a:lnSpc>
                        <a:spcAft>
                          <a:spcPts val="800"/>
                        </a:spcAft>
                      </a:pPr>
                      <a:r>
                        <a:rPr lang="en-US" sz="1600" kern="0">
                          <a:effectLst/>
                        </a:rPr>
                        <a:t>Utilities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250000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350000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420000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500000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460000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1980000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03849712"/>
                  </a:ext>
                </a:extLst>
              </a:tr>
              <a:tr h="279928">
                <a:tc>
                  <a:txBody>
                    <a:bodyPr/>
                    <a:lstStyle/>
                    <a:p>
                      <a:pPr marL="0" marR="0">
                        <a:lnSpc>
                          <a:spcPct val="107000"/>
                        </a:lnSpc>
                        <a:spcAft>
                          <a:spcPts val="800"/>
                        </a:spcAft>
                      </a:pPr>
                      <a:r>
                        <a:rPr lang="en-US" sz="1600" kern="0">
                          <a:effectLst/>
                        </a:rPr>
                        <a:t>Insurance</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00208274"/>
                  </a:ext>
                </a:extLst>
              </a:tr>
              <a:tr h="279928">
                <a:tc>
                  <a:txBody>
                    <a:bodyPr/>
                    <a:lstStyle/>
                    <a:p>
                      <a:pPr marL="0" marR="0">
                        <a:lnSpc>
                          <a:spcPct val="107000"/>
                        </a:lnSpc>
                        <a:spcAft>
                          <a:spcPts val="800"/>
                        </a:spcAft>
                      </a:pPr>
                      <a:r>
                        <a:rPr lang="en-US" sz="1600" kern="0">
                          <a:effectLst/>
                        </a:rPr>
                        <a:t>Total Production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806275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460780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544900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635060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605505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2602520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80039366"/>
                  </a:ext>
                </a:extLst>
              </a:tr>
            </a:tbl>
          </a:graphicData>
        </a:graphic>
      </p:graphicFrame>
    </p:spTree>
    <p:extLst>
      <p:ext uri="{BB962C8B-B14F-4D97-AF65-F5344CB8AC3E}">
        <p14:creationId xmlns:p14="http://schemas.microsoft.com/office/powerpoint/2010/main" val="29213084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B3016-F0E6-9C80-B48D-3294822907E4}"/>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8113D093-28A2-5E75-F992-2ADF15BDA9CD}"/>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5F3E64A-EC31-AEB3-2553-0FF551C3CB7E}"/>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F0002F0-9896-B64F-F023-32294899C2A0}"/>
              </a:ext>
            </a:extLst>
          </p:cNvPr>
          <p:cNvSpPr txBox="1"/>
          <p:nvPr/>
        </p:nvSpPr>
        <p:spPr>
          <a:xfrm>
            <a:off x="3201161" y="634482"/>
            <a:ext cx="6097656" cy="374077"/>
          </a:xfrm>
          <a:prstGeom prst="rect">
            <a:avLst/>
          </a:prstGeom>
          <a:noFill/>
        </p:spPr>
        <p:txBody>
          <a:bodyPr wrap="square">
            <a:spAutoFit/>
          </a:bodyPr>
          <a:lstStyle/>
          <a:p>
            <a:pPr marL="0" marR="0">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Table: Life Cycle Cost of Smart Shopping Cart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EBB4DD5-F971-93BD-03E6-85E1ED5D4F74}"/>
              </a:ext>
            </a:extLst>
          </p:cNvPr>
          <p:cNvGraphicFramePr>
            <a:graphicFrameLocks noGrp="1"/>
          </p:cNvGraphicFramePr>
          <p:nvPr>
            <p:extLst>
              <p:ext uri="{D42A27DB-BD31-4B8C-83A1-F6EECF244321}">
                <p14:modId xmlns:p14="http://schemas.microsoft.com/office/powerpoint/2010/main" val="3730751941"/>
              </p:ext>
            </p:extLst>
          </p:nvPr>
        </p:nvGraphicFramePr>
        <p:xfrm>
          <a:off x="989043" y="1215546"/>
          <a:ext cx="9738686" cy="4959619"/>
        </p:xfrm>
        <a:graphic>
          <a:graphicData uri="http://schemas.openxmlformats.org/drawingml/2006/table">
            <a:tbl>
              <a:tblPr firstRow="1" firstCol="1" bandRow="1">
                <a:tableStyleId>{C083E6E3-FA7D-4D7B-A595-EF9225AFEA82}</a:tableStyleId>
              </a:tblPr>
              <a:tblGrid>
                <a:gridCol w="2491292">
                  <a:extLst>
                    <a:ext uri="{9D8B030D-6E8A-4147-A177-3AD203B41FA5}">
                      <a16:colId xmlns:a16="http://schemas.microsoft.com/office/drawing/2014/main" val="992746721"/>
                    </a:ext>
                  </a:extLst>
                </a:gridCol>
                <a:gridCol w="1207899">
                  <a:extLst>
                    <a:ext uri="{9D8B030D-6E8A-4147-A177-3AD203B41FA5}">
                      <a16:colId xmlns:a16="http://schemas.microsoft.com/office/drawing/2014/main" val="2702225251"/>
                    </a:ext>
                  </a:extLst>
                </a:gridCol>
                <a:gridCol w="1207899">
                  <a:extLst>
                    <a:ext uri="{9D8B030D-6E8A-4147-A177-3AD203B41FA5}">
                      <a16:colId xmlns:a16="http://schemas.microsoft.com/office/drawing/2014/main" val="3791579591"/>
                    </a:ext>
                  </a:extLst>
                </a:gridCol>
                <a:gridCol w="1207899">
                  <a:extLst>
                    <a:ext uri="{9D8B030D-6E8A-4147-A177-3AD203B41FA5}">
                      <a16:colId xmlns:a16="http://schemas.microsoft.com/office/drawing/2014/main" val="4287437508"/>
                    </a:ext>
                  </a:extLst>
                </a:gridCol>
                <a:gridCol w="1207899">
                  <a:extLst>
                    <a:ext uri="{9D8B030D-6E8A-4147-A177-3AD203B41FA5}">
                      <a16:colId xmlns:a16="http://schemas.microsoft.com/office/drawing/2014/main" val="4234645110"/>
                    </a:ext>
                  </a:extLst>
                </a:gridCol>
                <a:gridCol w="1207899">
                  <a:extLst>
                    <a:ext uri="{9D8B030D-6E8A-4147-A177-3AD203B41FA5}">
                      <a16:colId xmlns:a16="http://schemas.microsoft.com/office/drawing/2014/main" val="2525434435"/>
                    </a:ext>
                  </a:extLst>
                </a:gridCol>
                <a:gridCol w="1207899">
                  <a:extLst>
                    <a:ext uri="{9D8B030D-6E8A-4147-A177-3AD203B41FA5}">
                      <a16:colId xmlns:a16="http://schemas.microsoft.com/office/drawing/2014/main" val="857384567"/>
                    </a:ext>
                  </a:extLst>
                </a:gridCol>
              </a:tblGrid>
              <a:tr h="402131">
                <a:tc>
                  <a:txBody>
                    <a:bodyPr/>
                    <a:lstStyle/>
                    <a:p>
                      <a:pPr marL="0" marR="0">
                        <a:lnSpc>
                          <a:spcPct val="107000"/>
                        </a:lnSpc>
                        <a:spcAft>
                          <a:spcPts val="800"/>
                        </a:spcAft>
                      </a:pPr>
                      <a:r>
                        <a:rPr lang="en-US" sz="1600" kern="0" dirty="0">
                          <a:effectLst/>
                        </a:rPr>
                        <a:t>Marketing</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55509870"/>
                  </a:ext>
                </a:extLst>
              </a:tr>
              <a:tr h="402131">
                <a:tc>
                  <a:txBody>
                    <a:bodyPr/>
                    <a:lstStyle/>
                    <a:p>
                      <a:pPr marL="0" marR="0">
                        <a:lnSpc>
                          <a:spcPct val="107000"/>
                        </a:lnSpc>
                        <a:spcAft>
                          <a:spcPts val="800"/>
                        </a:spcAft>
                      </a:pPr>
                      <a:r>
                        <a:rPr lang="en-US" sz="1600" kern="0">
                          <a:effectLst/>
                        </a:rPr>
                        <a:t>Awareness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120000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100000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80000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60000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40000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400000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45550494"/>
                  </a:ext>
                </a:extLst>
              </a:tr>
              <a:tr h="402131">
                <a:tc>
                  <a:txBody>
                    <a:bodyPr/>
                    <a:lstStyle/>
                    <a:p>
                      <a:pPr marL="0" marR="0">
                        <a:lnSpc>
                          <a:spcPct val="107000"/>
                        </a:lnSpc>
                        <a:spcAft>
                          <a:spcPts val="800"/>
                        </a:spcAft>
                      </a:pPr>
                      <a:r>
                        <a:rPr lang="en-US" sz="1600" kern="0">
                          <a:effectLst/>
                        </a:rPr>
                        <a:t>Accessibility</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66980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70550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77080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87950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99575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402135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85532431"/>
                  </a:ext>
                </a:extLst>
              </a:tr>
              <a:tr h="402131">
                <a:tc>
                  <a:txBody>
                    <a:bodyPr/>
                    <a:lstStyle/>
                    <a:p>
                      <a:pPr marL="0" marR="0">
                        <a:lnSpc>
                          <a:spcPct val="107000"/>
                        </a:lnSpc>
                        <a:spcAft>
                          <a:spcPts val="800"/>
                        </a:spcAft>
                      </a:pPr>
                      <a:r>
                        <a:rPr lang="en-US" sz="1600" kern="0">
                          <a:effectLst/>
                        </a:rPr>
                        <a:t>Total Marketing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186980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170550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157080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147950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139575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802135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31902023"/>
                  </a:ext>
                </a:extLst>
              </a:tr>
              <a:tr h="402131">
                <a:tc>
                  <a:txBody>
                    <a:bodyPr/>
                    <a:lstStyle/>
                    <a:p>
                      <a:pPr marL="0" marR="0">
                        <a:lnSpc>
                          <a:spcPct val="107000"/>
                        </a:lnSpc>
                        <a:spcAft>
                          <a:spcPts val="800"/>
                        </a:spcAft>
                      </a:pPr>
                      <a:r>
                        <a:rPr lang="en-US" sz="1600" kern="0">
                          <a:effectLst/>
                        </a:rPr>
                        <a:t>Distribution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6943162"/>
                  </a:ext>
                </a:extLst>
              </a:tr>
              <a:tr h="402131">
                <a:tc>
                  <a:txBody>
                    <a:bodyPr/>
                    <a:lstStyle/>
                    <a:p>
                      <a:pPr marL="0" marR="0">
                        <a:lnSpc>
                          <a:spcPct val="107000"/>
                        </a:lnSpc>
                        <a:spcAft>
                          <a:spcPts val="800"/>
                        </a:spcAft>
                      </a:pPr>
                      <a:r>
                        <a:rPr lang="en-US" sz="1600" kern="0">
                          <a:effectLst/>
                        </a:rPr>
                        <a:t>Logistics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56750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67850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74320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81235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90505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370660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1339345"/>
                  </a:ext>
                </a:extLst>
              </a:tr>
              <a:tr h="402131">
                <a:tc>
                  <a:txBody>
                    <a:bodyPr/>
                    <a:lstStyle/>
                    <a:p>
                      <a:pPr marL="0" marR="0">
                        <a:lnSpc>
                          <a:spcPct val="107000"/>
                        </a:lnSpc>
                        <a:spcAft>
                          <a:spcPts val="800"/>
                        </a:spcAft>
                      </a:pPr>
                      <a:r>
                        <a:rPr lang="en-US" sz="1600" kern="0">
                          <a:effectLst/>
                        </a:rPr>
                        <a:t>Avg. Shipping</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125000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6522223"/>
                  </a:ext>
                </a:extLst>
              </a:tr>
              <a:tr h="402131">
                <a:tc>
                  <a:txBody>
                    <a:bodyPr/>
                    <a:lstStyle/>
                    <a:p>
                      <a:pPr marL="0" marR="0">
                        <a:lnSpc>
                          <a:spcPct val="107000"/>
                        </a:lnSpc>
                        <a:spcAft>
                          <a:spcPts val="800"/>
                        </a:spcAft>
                      </a:pPr>
                      <a:r>
                        <a:rPr lang="en-US" sz="1600" kern="0">
                          <a:effectLst/>
                        </a:rPr>
                        <a:t>Total Distribution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81750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92850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99320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106235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115505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495660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32863460"/>
                  </a:ext>
                </a:extLst>
              </a:tr>
              <a:tr h="402131">
                <a:tc>
                  <a:txBody>
                    <a:bodyPr/>
                    <a:lstStyle/>
                    <a:p>
                      <a:pPr marL="0" marR="0">
                        <a:lnSpc>
                          <a:spcPct val="107000"/>
                        </a:lnSpc>
                        <a:spcAft>
                          <a:spcPts val="800"/>
                        </a:spcAft>
                      </a:pPr>
                      <a:r>
                        <a:rPr lang="en-US" sz="1600" kern="0">
                          <a:effectLst/>
                        </a:rPr>
                        <a:t>Customer Service</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53705581"/>
                  </a:ext>
                </a:extLst>
              </a:tr>
              <a:tr h="670220">
                <a:tc>
                  <a:txBody>
                    <a:bodyPr/>
                    <a:lstStyle/>
                    <a:p>
                      <a:pPr marL="0" marR="0">
                        <a:lnSpc>
                          <a:spcPct val="107000"/>
                        </a:lnSpc>
                        <a:spcAft>
                          <a:spcPts val="800"/>
                        </a:spcAft>
                      </a:pPr>
                      <a:r>
                        <a:rPr lang="en-US" sz="1600" kern="0">
                          <a:effectLst/>
                        </a:rPr>
                        <a:t>Free 1st Month Adjustment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5275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6200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6975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7505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30955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35015261"/>
                  </a:ext>
                </a:extLst>
              </a:tr>
              <a:tr h="670220">
                <a:tc>
                  <a:txBody>
                    <a:bodyPr/>
                    <a:lstStyle/>
                    <a:p>
                      <a:pPr marL="0" marR="0">
                        <a:lnSpc>
                          <a:spcPct val="107000"/>
                        </a:lnSpc>
                        <a:spcAft>
                          <a:spcPts val="800"/>
                        </a:spcAft>
                      </a:pPr>
                      <a:r>
                        <a:rPr lang="en-US" sz="1600" kern="0">
                          <a:effectLst/>
                        </a:rPr>
                        <a:t>Total Customer Service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5275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6200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6975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7505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30955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57782639"/>
                  </a:ext>
                </a:extLst>
              </a:tr>
            </a:tbl>
          </a:graphicData>
        </a:graphic>
      </p:graphicFrame>
    </p:spTree>
    <p:extLst>
      <p:ext uri="{BB962C8B-B14F-4D97-AF65-F5344CB8AC3E}">
        <p14:creationId xmlns:p14="http://schemas.microsoft.com/office/powerpoint/2010/main" val="17659659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28160-917C-13BB-1D8C-AEFEAA0A3F9F}"/>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535C00A1-1659-D546-0157-4A8C3E46ADD8}"/>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B6E922E-07B2-E566-2A3D-21A65E267330}"/>
              </a:ext>
            </a:extLst>
          </p:cNvPr>
          <p:cNvSpPr/>
          <p:nvPr/>
        </p:nvSpPr>
        <p:spPr>
          <a:xfrm>
            <a:off x="11163245" y="6182789"/>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89498DD-1B53-3376-0318-370445791C6C}"/>
              </a:ext>
            </a:extLst>
          </p:cNvPr>
          <p:cNvSpPr txBox="1"/>
          <p:nvPr/>
        </p:nvSpPr>
        <p:spPr>
          <a:xfrm>
            <a:off x="3275805" y="634482"/>
            <a:ext cx="6097656" cy="374077"/>
          </a:xfrm>
          <a:prstGeom prst="rect">
            <a:avLst/>
          </a:prstGeom>
          <a:noFill/>
        </p:spPr>
        <p:txBody>
          <a:bodyPr wrap="square">
            <a:spAutoFit/>
          </a:bodyPr>
          <a:lstStyle/>
          <a:p>
            <a:pPr marL="0" marR="0">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Table: Life Cycle Cost of Smart Shopping Cart</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0A8911D-E99E-D4F4-D339-0BAAC3D24273}"/>
              </a:ext>
            </a:extLst>
          </p:cNvPr>
          <p:cNvGraphicFramePr>
            <a:graphicFrameLocks noGrp="1"/>
          </p:cNvGraphicFramePr>
          <p:nvPr>
            <p:extLst>
              <p:ext uri="{D42A27DB-BD31-4B8C-83A1-F6EECF244321}">
                <p14:modId xmlns:p14="http://schemas.microsoft.com/office/powerpoint/2010/main" val="2663826463"/>
              </p:ext>
            </p:extLst>
          </p:nvPr>
        </p:nvGraphicFramePr>
        <p:xfrm>
          <a:off x="989043" y="1171013"/>
          <a:ext cx="10108094" cy="5011776"/>
        </p:xfrm>
        <a:graphic>
          <a:graphicData uri="http://schemas.openxmlformats.org/drawingml/2006/table">
            <a:tbl>
              <a:tblPr firstRow="1" firstCol="1" bandRow="1">
                <a:tableStyleId>{8799B23B-EC83-4686-B30A-512413B5E67A}</a:tableStyleId>
              </a:tblPr>
              <a:tblGrid>
                <a:gridCol w="2300462">
                  <a:extLst>
                    <a:ext uri="{9D8B030D-6E8A-4147-A177-3AD203B41FA5}">
                      <a16:colId xmlns:a16="http://schemas.microsoft.com/office/drawing/2014/main" val="1215765291"/>
                    </a:ext>
                  </a:extLst>
                </a:gridCol>
                <a:gridCol w="1115376">
                  <a:extLst>
                    <a:ext uri="{9D8B030D-6E8A-4147-A177-3AD203B41FA5}">
                      <a16:colId xmlns:a16="http://schemas.microsoft.com/office/drawing/2014/main" val="183822904"/>
                    </a:ext>
                  </a:extLst>
                </a:gridCol>
                <a:gridCol w="1115376">
                  <a:extLst>
                    <a:ext uri="{9D8B030D-6E8A-4147-A177-3AD203B41FA5}">
                      <a16:colId xmlns:a16="http://schemas.microsoft.com/office/drawing/2014/main" val="11003412"/>
                    </a:ext>
                  </a:extLst>
                </a:gridCol>
                <a:gridCol w="1115376">
                  <a:extLst>
                    <a:ext uri="{9D8B030D-6E8A-4147-A177-3AD203B41FA5}">
                      <a16:colId xmlns:a16="http://schemas.microsoft.com/office/drawing/2014/main" val="777117636"/>
                    </a:ext>
                  </a:extLst>
                </a:gridCol>
                <a:gridCol w="1115376">
                  <a:extLst>
                    <a:ext uri="{9D8B030D-6E8A-4147-A177-3AD203B41FA5}">
                      <a16:colId xmlns:a16="http://schemas.microsoft.com/office/drawing/2014/main" val="3608821767"/>
                    </a:ext>
                  </a:extLst>
                </a:gridCol>
                <a:gridCol w="1115376">
                  <a:extLst>
                    <a:ext uri="{9D8B030D-6E8A-4147-A177-3AD203B41FA5}">
                      <a16:colId xmlns:a16="http://schemas.microsoft.com/office/drawing/2014/main" val="2788083644"/>
                    </a:ext>
                  </a:extLst>
                </a:gridCol>
                <a:gridCol w="1115376">
                  <a:extLst>
                    <a:ext uri="{9D8B030D-6E8A-4147-A177-3AD203B41FA5}">
                      <a16:colId xmlns:a16="http://schemas.microsoft.com/office/drawing/2014/main" val="3951424517"/>
                    </a:ext>
                  </a:extLst>
                </a:gridCol>
                <a:gridCol w="1115376">
                  <a:extLst>
                    <a:ext uri="{9D8B030D-6E8A-4147-A177-3AD203B41FA5}">
                      <a16:colId xmlns:a16="http://schemas.microsoft.com/office/drawing/2014/main" val="112370077"/>
                    </a:ext>
                  </a:extLst>
                </a:gridCol>
              </a:tblGrid>
              <a:tr h="357808">
                <a:tc>
                  <a:txBody>
                    <a:bodyPr/>
                    <a:lstStyle/>
                    <a:p>
                      <a:pPr marL="0" marR="0">
                        <a:lnSpc>
                          <a:spcPct val="107000"/>
                        </a:lnSpc>
                        <a:spcAft>
                          <a:spcPts val="800"/>
                        </a:spcAft>
                      </a:pPr>
                      <a:r>
                        <a:rPr lang="en-US" sz="1600" kern="0">
                          <a:effectLst/>
                        </a:rPr>
                        <a:t>Additional Overheads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25016100"/>
                  </a:ext>
                </a:extLst>
              </a:tr>
              <a:tr h="357808">
                <a:tc>
                  <a:txBody>
                    <a:bodyPr/>
                    <a:lstStyle/>
                    <a:p>
                      <a:pPr marL="0" marR="0">
                        <a:lnSpc>
                          <a:spcPct val="107000"/>
                        </a:lnSpc>
                        <a:spcAft>
                          <a:spcPts val="800"/>
                        </a:spcAft>
                      </a:pPr>
                      <a:r>
                        <a:rPr lang="en-US" sz="1600" kern="0">
                          <a:effectLst/>
                        </a:rPr>
                        <a:t>Administrative</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378755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425075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478655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529875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2312410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44189198"/>
                  </a:ext>
                </a:extLst>
              </a:tr>
              <a:tr h="357808">
                <a:tc>
                  <a:txBody>
                    <a:bodyPr/>
                    <a:lstStyle/>
                    <a:p>
                      <a:pPr marL="0" marR="0">
                        <a:lnSpc>
                          <a:spcPct val="107000"/>
                        </a:lnSpc>
                        <a:spcAft>
                          <a:spcPts val="800"/>
                        </a:spcAft>
                      </a:pPr>
                      <a:r>
                        <a:rPr lang="en-US" sz="1600" kern="0">
                          <a:effectLst/>
                        </a:rPr>
                        <a:t>Patent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50000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95244165"/>
                  </a:ext>
                </a:extLst>
              </a:tr>
              <a:tr h="357808">
                <a:tc>
                  <a:txBody>
                    <a:bodyPr/>
                    <a:lstStyle/>
                    <a:p>
                      <a:pPr marL="0" marR="0">
                        <a:lnSpc>
                          <a:spcPct val="107000"/>
                        </a:lnSpc>
                        <a:spcAft>
                          <a:spcPts val="800"/>
                        </a:spcAft>
                      </a:pPr>
                      <a:r>
                        <a:rPr lang="en-US" sz="1600" kern="0">
                          <a:effectLst/>
                        </a:rPr>
                        <a:t>Lawsuits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100000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3988753"/>
                  </a:ext>
                </a:extLst>
              </a:tr>
              <a:tr h="715616">
                <a:tc>
                  <a:txBody>
                    <a:bodyPr/>
                    <a:lstStyle/>
                    <a:p>
                      <a:pPr marL="0" marR="0">
                        <a:lnSpc>
                          <a:spcPct val="107000"/>
                        </a:lnSpc>
                        <a:spcAft>
                          <a:spcPts val="800"/>
                        </a:spcAft>
                      </a:pPr>
                      <a:r>
                        <a:rPr lang="en-US" sz="1600" kern="0">
                          <a:effectLst/>
                        </a:rPr>
                        <a:t>Software License</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a:effectLst/>
                        </a:rPr>
                        <a:t>2000</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10000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56878118"/>
                  </a:ext>
                </a:extLst>
              </a:tr>
              <a:tr h="357808">
                <a:tc>
                  <a:txBody>
                    <a:bodyPr/>
                    <a:lstStyle/>
                    <a:p>
                      <a:pPr marL="0" marR="0">
                        <a:lnSpc>
                          <a:spcPct val="107000"/>
                        </a:lnSpc>
                        <a:spcAft>
                          <a:spcPts val="800"/>
                        </a:spcAft>
                      </a:pPr>
                      <a:r>
                        <a:rPr lang="en-US" sz="1600" kern="0">
                          <a:effectLst/>
                        </a:rPr>
                        <a:t>Total Overhead Costs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450755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447075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500655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522050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551875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2472410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46462444"/>
                  </a:ext>
                </a:extLst>
              </a:tr>
              <a:tr h="566529">
                <a:tc>
                  <a:txBody>
                    <a:bodyPr/>
                    <a:lstStyle/>
                    <a:p>
                      <a:pPr marL="0" marR="0">
                        <a:lnSpc>
                          <a:spcPct val="107000"/>
                        </a:lnSpc>
                        <a:spcAft>
                          <a:spcPts val="800"/>
                        </a:spcAft>
                      </a:pPr>
                      <a:r>
                        <a:rPr lang="en-US" sz="1600" kern="0">
                          <a:effectLst/>
                        </a:rPr>
                        <a:t>End of Life Cycle Project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6290638"/>
                  </a:ext>
                </a:extLst>
              </a:tr>
              <a:tr h="357808">
                <a:tc>
                  <a:txBody>
                    <a:bodyPr/>
                    <a:lstStyle/>
                    <a:p>
                      <a:pPr marL="0" marR="0">
                        <a:lnSpc>
                          <a:spcPct val="107000"/>
                        </a:lnSpc>
                        <a:spcAft>
                          <a:spcPts val="800"/>
                        </a:spcAft>
                      </a:pPr>
                      <a:r>
                        <a:rPr lang="en-US" sz="1600" kern="0">
                          <a:effectLst/>
                        </a:rPr>
                        <a:t>Decommissioning</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dirty="0">
                          <a:effectLst/>
                        </a:rPr>
                        <a:t> </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50777</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57560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77633757"/>
                  </a:ext>
                </a:extLst>
              </a:tr>
              <a:tr h="357808">
                <a:tc>
                  <a:txBody>
                    <a:bodyPr/>
                    <a:lstStyle/>
                    <a:p>
                      <a:pPr marL="0" marR="0">
                        <a:lnSpc>
                          <a:spcPct val="107000"/>
                        </a:lnSpc>
                        <a:spcAft>
                          <a:spcPts val="800"/>
                        </a:spcAft>
                      </a:pPr>
                      <a:r>
                        <a:rPr lang="en-US" sz="1600" kern="0">
                          <a:effectLst/>
                        </a:rPr>
                        <a:t>Waste Management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30670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32887</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05586133"/>
                  </a:ext>
                </a:extLst>
              </a:tr>
              <a:tr h="357808">
                <a:tc>
                  <a:txBody>
                    <a:bodyPr/>
                    <a:lstStyle/>
                    <a:p>
                      <a:pPr marL="0" marR="0">
                        <a:lnSpc>
                          <a:spcPct val="107000"/>
                        </a:lnSpc>
                        <a:spcAft>
                          <a:spcPts val="800"/>
                        </a:spcAft>
                      </a:pPr>
                      <a:r>
                        <a:rPr lang="en-US" sz="1600" kern="0">
                          <a:effectLst/>
                        </a:rPr>
                        <a:t>Total EOC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81447</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90447</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Aft>
                          <a:spcPts val="800"/>
                        </a:spcAft>
                      </a:pPr>
                      <a:r>
                        <a:rPr lang="en-US" sz="1600" kern="0">
                          <a:effectLst/>
                        </a:rPr>
                        <a:t> </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01025634"/>
                  </a:ext>
                </a:extLst>
              </a:tr>
              <a:tr h="566529">
                <a:tc>
                  <a:txBody>
                    <a:bodyPr/>
                    <a:lstStyle/>
                    <a:p>
                      <a:pPr marL="0" marR="0">
                        <a:lnSpc>
                          <a:spcPct val="107000"/>
                        </a:lnSpc>
                        <a:spcAft>
                          <a:spcPts val="800"/>
                        </a:spcAft>
                      </a:pPr>
                      <a:r>
                        <a:rPr lang="en-US" sz="1600" kern="0">
                          <a:effectLst/>
                        </a:rPr>
                        <a:t>Total Accumulated Cost</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1637295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1248760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1380235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1490105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1488765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12788930</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pPr>
                      <a:r>
                        <a:rPr lang="en-US" sz="1600" kern="0" dirty="0">
                          <a:effectLst/>
                        </a:rPr>
                        <a:t>14,055</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68606037"/>
                  </a:ext>
                </a:extLst>
              </a:tr>
            </a:tbl>
          </a:graphicData>
        </a:graphic>
      </p:graphicFrame>
    </p:spTree>
    <p:extLst>
      <p:ext uri="{BB962C8B-B14F-4D97-AF65-F5344CB8AC3E}">
        <p14:creationId xmlns:p14="http://schemas.microsoft.com/office/powerpoint/2010/main" val="20818937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8852E-4076-CAE5-5308-5C418DDACE58}"/>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45D6C099-FE41-7216-53A3-D4D5C01F78F9}"/>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BF77B7C-94DF-89AD-78E6-A4ECF40D293D}"/>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94BB6DF-5EA6-BFAB-E9A9-9D9F7C5DB061}"/>
              </a:ext>
            </a:extLst>
          </p:cNvPr>
          <p:cNvSpPr txBox="1"/>
          <p:nvPr/>
        </p:nvSpPr>
        <p:spPr>
          <a:xfrm>
            <a:off x="1402836" y="884504"/>
            <a:ext cx="6097656" cy="1077218"/>
          </a:xfrm>
          <a:prstGeom prst="rect">
            <a:avLst/>
          </a:prstGeom>
          <a:noFill/>
        </p:spPr>
        <p:txBody>
          <a:bodyPr wrap="square">
            <a:spAutoFit/>
          </a:bodyPr>
          <a:lstStyle/>
          <a:p>
            <a:r>
              <a:rPr lang="en-US" sz="3200" b="1" kern="100" dirty="0">
                <a:solidFill>
                  <a:schemeClr val="accent4"/>
                </a:solidFill>
                <a:effectLst/>
                <a:latin typeface="Times New Roman" panose="02020603050405020304" pitchFamily="18" charset="0"/>
                <a:ea typeface="Calibri" panose="020F0502020204030204" pitchFamily="34" charset="0"/>
                <a:cs typeface="Times New Roman" panose="02020603050405020304" pitchFamily="18" charset="0"/>
              </a:rPr>
              <a:t>Sales</a:t>
            </a:r>
            <a:r>
              <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kern="100" dirty="0">
                <a:solidFill>
                  <a:schemeClr val="accent3"/>
                </a:solidFill>
                <a:effectLst/>
                <a:latin typeface="Times New Roman" panose="02020603050405020304" pitchFamily="18" charset="0"/>
                <a:ea typeface="Calibri" panose="020F0502020204030204" pitchFamily="34" charset="0"/>
                <a:cs typeface="Times New Roman" panose="02020603050405020304" pitchFamily="18" charset="0"/>
              </a:rPr>
              <a:t>Scenario </a:t>
            </a:r>
            <a:endParaRPr lang="en-US" sz="3200" kern="100" dirty="0">
              <a:solidFill>
                <a:schemeClr val="accent3"/>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graphicFrame>
        <p:nvGraphicFramePr>
          <p:cNvPr id="3" name="Table 2">
            <a:extLst>
              <a:ext uri="{FF2B5EF4-FFF2-40B4-BE49-F238E27FC236}">
                <a16:creationId xmlns:a16="http://schemas.microsoft.com/office/drawing/2014/main" id="{36F6C60D-9A5E-E0F6-711E-08BA87E28A24}"/>
              </a:ext>
            </a:extLst>
          </p:cNvPr>
          <p:cNvGraphicFramePr>
            <a:graphicFrameLocks noGrp="1"/>
          </p:cNvGraphicFramePr>
          <p:nvPr>
            <p:extLst>
              <p:ext uri="{D42A27DB-BD31-4B8C-83A1-F6EECF244321}">
                <p14:modId xmlns:p14="http://schemas.microsoft.com/office/powerpoint/2010/main" val="3091762591"/>
              </p:ext>
            </p:extLst>
          </p:nvPr>
        </p:nvGraphicFramePr>
        <p:xfrm>
          <a:off x="5027518" y="1780940"/>
          <a:ext cx="5854148" cy="3296120"/>
        </p:xfrm>
        <a:graphic>
          <a:graphicData uri="http://schemas.openxmlformats.org/drawingml/2006/table">
            <a:tbl>
              <a:tblPr>
                <a:tableStyleId>{C4B1156A-380E-4F78-BDF5-A606A8083BF9}</a:tableStyleId>
              </a:tblPr>
              <a:tblGrid>
                <a:gridCol w="2499051">
                  <a:extLst>
                    <a:ext uri="{9D8B030D-6E8A-4147-A177-3AD203B41FA5}">
                      <a16:colId xmlns:a16="http://schemas.microsoft.com/office/drawing/2014/main" val="738043137"/>
                    </a:ext>
                  </a:extLst>
                </a:gridCol>
                <a:gridCol w="3355097">
                  <a:extLst>
                    <a:ext uri="{9D8B030D-6E8A-4147-A177-3AD203B41FA5}">
                      <a16:colId xmlns:a16="http://schemas.microsoft.com/office/drawing/2014/main" val="2108713407"/>
                    </a:ext>
                  </a:extLst>
                </a:gridCol>
              </a:tblGrid>
              <a:tr h="618984">
                <a:tc>
                  <a:txBody>
                    <a:bodyPr/>
                    <a:lstStyle/>
                    <a:p>
                      <a:pPr marL="0" marR="0" algn="ctr">
                        <a:lnSpc>
                          <a:spcPct val="107000"/>
                        </a:lnSpc>
                        <a:spcAft>
                          <a:spcPts val="800"/>
                        </a:spcAft>
                      </a:pPr>
                      <a:r>
                        <a:rPr lang="en-US" sz="1800" kern="100">
                          <a:effectLst/>
                        </a:rPr>
                        <a:t>Year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dirty="0">
                          <a:effectLst/>
                        </a:rPr>
                        <a:t>Sales (Unit) </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6129756"/>
                  </a:ext>
                </a:extLst>
              </a:tr>
              <a:tr h="409622">
                <a:tc>
                  <a:txBody>
                    <a:bodyPr/>
                    <a:lstStyle/>
                    <a:p>
                      <a:pPr marL="0" marR="0" algn="ctr">
                        <a:lnSpc>
                          <a:spcPct val="107000"/>
                        </a:lnSpc>
                        <a:spcAft>
                          <a:spcPts val="800"/>
                        </a:spcAft>
                      </a:pPr>
                      <a:r>
                        <a:rPr lang="en-US" sz="1800" kern="100">
                          <a:effectLst/>
                        </a:rPr>
                        <a:t>1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a:effectLst/>
                        </a:rPr>
                        <a:t>350</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9104887"/>
                  </a:ext>
                </a:extLst>
              </a:tr>
              <a:tr h="409622">
                <a:tc>
                  <a:txBody>
                    <a:bodyPr/>
                    <a:lstStyle/>
                    <a:p>
                      <a:pPr marL="0" marR="0" algn="ctr">
                        <a:lnSpc>
                          <a:spcPct val="107000"/>
                        </a:lnSpc>
                        <a:spcAft>
                          <a:spcPts val="800"/>
                        </a:spcAft>
                      </a:pPr>
                      <a:r>
                        <a:rPr lang="en-US" sz="1800" kern="100">
                          <a:effectLst/>
                        </a:rPr>
                        <a:t>2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dirty="0">
                          <a:effectLst/>
                        </a:rPr>
                        <a:t>526</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89580054"/>
                  </a:ext>
                </a:extLst>
              </a:tr>
              <a:tr h="413595">
                <a:tc>
                  <a:txBody>
                    <a:bodyPr/>
                    <a:lstStyle/>
                    <a:p>
                      <a:pPr marL="0" marR="0" algn="ctr">
                        <a:lnSpc>
                          <a:spcPct val="107000"/>
                        </a:lnSpc>
                        <a:spcAft>
                          <a:spcPts val="800"/>
                        </a:spcAft>
                      </a:pPr>
                      <a:r>
                        <a:rPr lang="en-US" sz="1800" kern="100">
                          <a:effectLst/>
                        </a:rPr>
                        <a:t>3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dirty="0">
                          <a:effectLst/>
                        </a:rPr>
                        <a:t>875</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328720"/>
                  </a:ext>
                </a:extLst>
              </a:tr>
              <a:tr h="409622">
                <a:tc>
                  <a:txBody>
                    <a:bodyPr/>
                    <a:lstStyle/>
                    <a:p>
                      <a:pPr marL="0" marR="0" algn="ctr">
                        <a:lnSpc>
                          <a:spcPct val="107000"/>
                        </a:lnSpc>
                        <a:spcAft>
                          <a:spcPts val="800"/>
                        </a:spcAft>
                      </a:pPr>
                      <a:r>
                        <a:rPr lang="en-US" sz="1800" kern="100" dirty="0">
                          <a:effectLst/>
                        </a:rPr>
                        <a:t>4 </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dirty="0">
                          <a:effectLst/>
                        </a:rPr>
                        <a:t>822</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584095"/>
                  </a:ext>
                </a:extLst>
              </a:tr>
              <a:tr h="409622">
                <a:tc>
                  <a:txBody>
                    <a:bodyPr/>
                    <a:lstStyle/>
                    <a:p>
                      <a:pPr marL="0" marR="0" algn="ctr">
                        <a:lnSpc>
                          <a:spcPct val="107000"/>
                        </a:lnSpc>
                        <a:spcAft>
                          <a:spcPts val="800"/>
                        </a:spcAft>
                      </a:pPr>
                      <a:r>
                        <a:rPr lang="en-US" sz="1800" kern="100">
                          <a:effectLst/>
                        </a:rPr>
                        <a:t>5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dirty="0">
                          <a:effectLst/>
                        </a:rPr>
                        <a:t>650</a:t>
                      </a:r>
                      <a:endParaRPr lang="en-US" sz="1800" kern="100" dirty="0">
                        <a:effectLst/>
                        <a:latin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98442821"/>
                  </a:ext>
                </a:extLst>
              </a:tr>
              <a:tr h="625053">
                <a:tc>
                  <a:txBody>
                    <a:bodyPr/>
                    <a:lstStyle/>
                    <a:p>
                      <a:pPr marL="0" marR="0" algn="ctr">
                        <a:lnSpc>
                          <a:spcPct val="107000"/>
                        </a:lnSpc>
                        <a:spcAft>
                          <a:spcPts val="800"/>
                        </a:spcAft>
                      </a:pPr>
                      <a:r>
                        <a:rPr lang="en-US" sz="1800" kern="100">
                          <a:effectLst/>
                        </a:rPr>
                        <a:t>Total unit produced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pPr>
                      <a:r>
                        <a:rPr lang="en-US" sz="1800" kern="100" dirty="0">
                          <a:effectLst/>
                        </a:rPr>
                        <a:t>3223</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1528621"/>
                  </a:ext>
                </a:extLst>
              </a:tr>
            </a:tbl>
          </a:graphicData>
        </a:graphic>
      </p:graphicFrame>
      <p:pic>
        <p:nvPicPr>
          <p:cNvPr id="8194" name="Picture 2" descr="Sales - Free marketing icons">
            <a:extLst>
              <a:ext uri="{FF2B5EF4-FFF2-40B4-BE49-F238E27FC236}">
                <a16:creationId xmlns:a16="http://schemas.microsoft.com/office/drawing/2014/main" id="{62BD4A78-60D4-3656-D085-0CC7C0163F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043" y="2120851"/>
            <a:ext cx="2616297" cy="2616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2278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1E457-1ED6-97AA-355C-43B70FBC8A5A}"/>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74865137-98AB-B388-44CD-120D101CC940}"/>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E25C563-A180-9E6C-D052-5755D5D50466}"/>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B771C11-72F6-6A6E-B58F-C5C1B20EA00F}"/>
              </a:ext>
            </a:extLst>
          </p:cNvPr>
          <p:cNvSpPr txBox="1"/>
          <p:nvPr/>
        </p:nvSpPr>
        <p:spPr>
          <a:xfrm>
            <a:off x="742723" y="999558"/>
            <a:ext cx="10942982" cy="5751383"/>
          </a:xfrm>
          <a:prstGeom prst="rect">
            <a:avLst/>
          </a:prstGeom>
          <a:noFill/>
        </p:spPr>
        <p:txBody>
          <a:bodyPr wrap="square">
            <a:spAutoFit/>
          </a:bodyPr>
          <a:lstStyle/>
          <a:p>
            <a:pPr marL="0" marR="0">
              <a:lnSpc>
                <a:spcPct val="107000"/>
              </a:lnSpc>
              <a:spcAft>
                <a:spcPts val="800"/>
              </a:spcAft>
            </a:pPr>
            <a:r>
              <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rPr>
              <a:t>Cost Calculation</a:t>
            </a:r>
          </a:p>
          <a:p>
            <a:pPr marL="0" marR="0">
              <a:lnSpc>
                <a:spcPct val="107000"/>
              </a:lnSpc>
              <a:spcAft>
                <a:spcPts val="800"/>
              </a:spcAft>
            </a:pP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Variable Cost: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1. Bill of Materials: Total per unit cost = </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13705</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Taka . Lifecycle Cost: Total accumulated variable cost = 13705*3223= 44171215 Taka </a:t>
            </a:r>
          </a:p>
          <a:p>
            <a:pPr marL="0" marR="0">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Fixed Cost: </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1. Lifecycle Cost: Total accumulated fixed cost = 12788930 Taka </a:t>
            </a:r>
          </a:p>
          <a:p>
            <a:pPr marL="0" marR="0">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Total Cost: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Fixed Cost + Variable Cost = 56960145 Taka. </a:t>
            </a:r>
          </a:p>
          <a:p>
            <a:pPr marL="0" marR="0">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Per Unit Cost: </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𝑇𝑜𝑡𝑎𝑙 𝐶𝑜𝑠𝑡 ÷ 𝑇𝑜𝑡𝑎𝑙 𝑈𝑛𝑖𝑡 𝑃𝑟𝑜𝑑𝑢𝑐𝑒𝑑 = 56960145/3223 = </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17673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Taka</a:t>
            </a:r>
          </a:p>
          <a:p>
            <a:pPr marL="0" marR="0">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46356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054E3-0C36-D40F-1643-B4747237A929}"/>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7BE4F574-3180-FF3E-5001-23BA7791CD91}"/>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1E800A5-2D5B-BC25-9472-2C6050C66193}"/>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3798EDF-50F4-287F-0F48-BFC0C8B36518}"/>
              </a:ext>
            </a:extLst>
          </p:cNvPr>
          <p:cNvSpPr txBox="1"/>
          <p:nvPr/>
        </p:nvSpPr>
        <p:spPr>
          <a:xfrm>
            <a:off x="341556" y="1927914"/>
            <a:ext cx="5764288" cy="4265720"/>
          </a:xfrm>
          <a:prstGeom prst="rect">
            <a:avLst/>
          </a:prstGeom>
          <a:noFill/>
        </p:spPr>
        <p:txBody>
          <a:bodyPr wrap="square">
            <a:spAutoFit/>
          </a:bodyPr>
          <a:lstStyle/>
          <a:p>
            <a:pPr marL="0" marR="0">
              <a:lnSpc>
                <a:spcPct val="107000"/>
              </a:lnSpc>
              <a:spcAft>
                <a:spcPts val="800"/>
              </a:spcAft>
            </a:pPr>
            <a:r>
              <a:rPr lang="en-US" sz="1600" kern="100" dirty="0">
                <a:effectLst/>
                <a:ea typeface="Calibri" panose="020F0502020204030204" pitchFamily="34" charset="0"/>
                <a:cs typeface="Times New Roman" panose="02020603050405020304" pitchFamily="18" charset="0"/>
              </a:rPr>
              <a:t>Let, </a:t>
            </a:r>
            <a:r>
              <a:rPr lang="en-US" sz="1600" b="1" kern="100" dirty="0" err="1">
                <a:effectLst/>
                <a:ea typeface="Calibri" panose="020F0502020204030204" pitchFamily="34" charset="0"/>
                <a:cs typeface="Times New Roman" panose="02020603050405020304" pitchFamily="18" charset="0"/>
              </a:rPr>
              <a:t>BEP</a:t>
            </a:r>
            <a:r>
              <a:rPr lang="en-US" sz="1600" b="1" kern="100" baseline="-25000" dirty="0" err="1">
                <a:effectLst/>
                <a:ea typeface="Calibri" panose="020F0502020204030204" pitchFamily="34" charset="0"/>
                <a:cs typeface="Times New Roman" panose="02020603050405020304" pitchFamily="18" charset="0"/>
              </a:rPr>
              <a:t>x</a:t>
            </a:r>
            <a:r>
              <a:rPr lang="en-US" sz="1600" b="1" kern="100" dirty="0">
                <a:effectLst/>
                <a:ea typeface="Calibri" panose="020F0502020204030204" pitchFamily="34" charset="0"/>
                <a:cs typeface="Times New Roman" panose="02020603050405020304" pitchFamily="18" charset="0"/>
              </a:rPr>
              <a:t> = </a:t>
            </a:r>
            <a:r>
              <a:rPr lang="en-US" sz="1600" kern="100" dirty="0">
                <a:effectLst/>
                <a:ea typeface="Calibri" panose="020F0502020204030204" pitchFamily="34" charset="0"/>
                <a:cs typeface="Times New Roman" panose="02020603050405020304" pitchFamily="18" charset="0"/>
              </a:rPr>
              <a:t>Break Even Point in Units.</a:t>
            </a:r>
          </a:p>
          <a:p>
            <a:pPr marL="0" marR="0">
              <a:lnSpc>
                <a:spcPct val="107000"/>
              </a:lnSpc>
              <a:spcAft>
                <a:spcPts val="800"/>
              </a:spcAft>
            </a:pPr>
            <a:r>
              <a:rPr lang="en-US" sz="1600" b="1" kern="100" dirty="0">
                <a:effectLst/>
                <a:ea typeface="Calibri" panose="020F0502020204030204" pitchFamily="34" charset="0"/>
                <a:cs typeface="Times New Roman" panose="02020603050405020304" pitchFamily="18" charset="0"/>
              </a:rPr>
              <a:t>BEP$ = </a:t>
            </a:r>
            <a:r>
              <a:rPr lang="en-US" sz="1600" kern="100" dirty="0">
                <a:effectLst/>
                <a:ea typeface="Calibri" panose="020F0502020204030204" pitchFamily="34" charset="0"/>
                <a:cs typeface="Times New Roman" panose="02020603050405020304" pitchFamily="18" charset="0"/>
              </a:rPr>
              <a:t>Break Even Point in Takas. </a:t>
            </a:r>
          </a:p>
          <a:p>
            <a:pPr marL="0" marR="0">
              <a:lnSpc>
                <a:spcPct val="107000"/>
              </a:lnSpc>
              <a:spcAft>
                <a:spcPts val="800"/>
              </a:spcAft>
            </a:pPr>
            <a:r>
              <a:rPr lang="en-US" sz="1600" b="1" kern="100" dirty="0">
                <a:effectLst/>
                <a:ea typeface="Calibri" panose="020F0502020204030204" pitchFamily="34" charset="0"/>
                <a:cs typeface="Times New Roman" panose="02020603050405020304" pitchFamily="18" charset="0"/>
              </a:rPr>
              <a:t>S = </a:t>
            </a:r>
            <a:r>
              <a:rPr lang="en-US" sz="1600" kern="100" dirty="0">
                <a:effectLst/>
                <a:ea typeface="Calibri" panose="020F0502020204030204" pitchFamily="34" charset="0"/>
                <a:cs typeface="Times New Roman" panose="02020603050405020304" pitchFamily="18" charset="0"/>
              </a:rPr>
              <a:t>Selling price per unit = </a:t>
            </a:r>
            <a:r>
              <a:rPr lang="en-US" sz="1600" kern="100" dirty="0">
                <a:ea typeface="Calibri" panose="020F0502020204030204" pitchFamily="34" charset="0"/>
                <a:cs typeface="Times New Roman" panose="02020603050405020304" pitchFamily="18" charset="0"/>
              </a:rPr>
              <a:t>20000</a:t>
            </a:r>
            <a:r>
              <a:rPr lang="en-US" sz="1600" kern="100" dirty="0">
                <a:effectLst/>
                <a:ea typeface="Calibri" panose="020F0502020204030204" pitchFamily="34" charset="0"/>
                <a:cs typeface="Times New Roman" panose="02020603050405020304" pitchFamily="18" charset="0"/>
              </a:rPr>
              <a:t> Taka </a:t>
            </a:r>
          </a:p>
          <a:p>
            <a:pPr marL="0" marR="0">
              <a:lnSpc>
                <a:spcPct val="107000"/>
              </a:lnSpc>
              <a:spcAft>
                <a:spcPts val="800"/>
              </a:spcAft>
            </a:pPr>
            <a:r>
              <a:rPr lang="en-US" sz="1600" b="1" kern="100" dirty="0">
                <a:effectLst/>
                <a:ea typeface="Calibri" panose="020F0502020204030204" pitchFamily="34" charset="0"/>
                <a:cs typeface="Times New Roman" panose="02020603050405020304" pitchFamily="18" charset="0"/>
              </a:rPr>
              <a:t>Q = </a:t>
            </a:r>
            <a:r>
              <a:rPr lang="en-US" sz="1600" kern="100" dirty="0">
                <a:effectLst/>
                <a:ea typeface="Calibri" panose="020F0502020204030204" pitchFamily="34" charset="0"/>
                <a:cs typeface="Times New Roman" panose="02020603050405020304" pitchFamily="18" charset="0"/>
              </a:rPr>
              <a:t>Total number of units produced = 3223</a:t>
            </a:r>
          </a:p>
          <a:p>
            <a:pPr marL="0" marR="0">
              <a:lnSpc>
                <a:spcPct val="107000"/>
              </a:lnSpc>
              <a:spcAft>
                <a:spcPts val="800"/>
              </a:spcAft>
            </a:pPr>
            <a:r>
              <a:rPr lang="en-US" sz="1600" b="1" kern="100" dirty="0">
                <a:effectLst/>
                <a:ea typeface="Calibri" panose="020F0502020204030204" pitchFamily="34" charset="0"/>
                <a:cs typeface="Times New Roman" panose="02020603050405020304" pitchFamily="18" charset="0"/>
              </a:rPr>
              <a:t>TR = </a:t>
            </a:r>
            <a:r>
              <a:rPr lang="en-US" sz="1600" kern="100" dirty="0">
                <a:effectLst/>
                <a:ea typeface="Calibri" panose="020F0502020204030204" pitchFamily="34" charset="0"/>
                <a:cs typeface="Times New Roman" panose="02020603050405020304" pitchFamily="18" charset="0"/>
              </a:rPr>
              <a:t>Total Revenue = (𝑠 × 𝑄) = Total Sales = </a:t>
            </a:r>
            <a:r>
              <a:rPr lang="en-US" sz="1600" kern="100" dirty="0">
                <a:ea typeface="Calibri" panose="020F0502020204030204" pitchFamily="34" charset="0"/>
                <a:cs typeface="Times New Roman" panose="02020603050405020304" pitchFamily="18" charset="0"/>
              </a:rPr>
              <a:t>64460000 </a:t>
            </a:r>
            <a:r>
              <a:rPr lang="en-US" sz="1600" kern="100" dirty="0">
                <a:effectLst/>
                <a:ea typeface="Calibri" panose="020F0502020204030204" pitchFamily="34" charset="0"/>
                <a:cs typeface="Times New Roman" panose="02020603050405020304" pitchFamily="18" charset="0"/>
              </a:rPr>
              <a:t>Taka </a:t>
            </a:r>
          </a:p>
          <a:p>
            <a:pPr marL="0" marR="0">
              <a:lnSpc>
                <a:spcPct val="107000"/>
              </a:lnSpc>
              <a:spcAft>
                <a:spcPts val="800"/>
              </a:spcAft>
            </a:pPr>
            <a:r>
              <a:rPr lang="en-US" sz="1600" b="1" kern="100" dirty="0">
                <a:effectLst/>
                <a:ea typeface="Calibri" panose="020F0502020204030204" pitchFamily="34" charset="0"/>
                <a:cs typeface="Times New Roman" panose="02020603050405020304" pitchFamily="18" charset="0"/>
              </a:rPr>
              <a:t>F = </a:t>
            </a:r>
            <a:r>
              <a:rPr lang="en-US" sz="1600" kern="100" dirty="0">
                <a:effectLst/>
                <a:ea typeface="Calibri" panose="020F0502020204030204" pitchFamily="34" charset="0"/>
                <a:cs typeface="Times New Roman" panose="02020603050405020304" pitchFamily="18" charset="0"/>
              </a:rPr>
              <a:t>Fixed Cost = </a:t>
            </a:r>
            <a:r>
              <a:rPr lang="en-US" sz="1600" kern="100" dirty="0">
                <a:ea typeface="Calibri" panose="020F0502020204030204" pitchFamily="34" charset="0"/>
                <a:cs typeface="Times New Roman" panose="02020603050405020304" pitchFamily="18" charset="0"/>
              </a:rPr>
              <a:t>12788930</a:t>
            </a:r>
            <a:r>
              <a:rPr lang="en-US" sz="1600" kern="100" dirty="0">
                <a:effectLst/>
                <a:ea typeface="Calibri" panose="020F0502020204030204" pitchFamily="34" charset="0"/>
                <a:cs typeface="Times New Roman" panose="02020603050405020304" pitchFamily="18" charset="0"/>
              </a:rPr>
              <a:t> Taka </a:t>
            </a:r>
            <a:r>
              <a:rPr lang="en-US" sz="1600" b="1" kern="100" dirty="0">
                <a:effectLst/>
                <a:ea typeface="Calibri" panose="020F0502020204030204" pitchFamily="34" charset="0"/>
                <a:cs typeface="Times New Roman" panose="02020603050405020304" pitchFamily="18" charset="0"/>
              </a:rPr>
              <a:t>V = </a:t>
            </a:r>
            <a:r>
              <a:rPr lang="en-US" sz="1600" kern="100" dirty="0">
                <a:effectLst/>
                <a:ea typeface="Calibri" panose="020F0502020204030204" pitchFamily="34" charset="0"/>
                <a:cs typeface="Times New Roman" panose="02020603050405020304" pitchFamily="18" charset="0"/>
              </a:rPr>
              <a:t>Variable Cost = 13705 Taka </a:t>
            </a:r>
          </a:p>
          <a:p>
            <a:pPr marL="0" marR="0">
              <a:lnSpc>
                <a:spcPct val="107000"/>
              </a:lnSpc>
              <a:spcAft>
                <a:spcPts val="800"/>
              </a:spcAft>
            </a:pPr>
            <a:r>
              <a:rPr lang="en-US" sz="1600" b="1" kern="100" dirty="0">
                <a:effectLst/>
                <a:ea typeface="Calibri" panose="020F0502020204030204" pitchFamily="34" charset="0"/>
                <a:cs typeface="Times New Roman" panose="02020603050405020304" pitchFamily="18" charset="0"/>
              </a:rPr>
              <a:t>TC = </a:t>
            </a:r>
            <a:r>
              <a:rPr lang="en-US" sz="1600" kern="100" dirty="0">
                <a:effectLst/>
                <a:ea typeface="Calibri" panose="020F0502020204030204" pitchFamily="34" charset="0"/>
                <a:cs typeface="Times New Roman" panose="02020603050405020304" pitchFamily="18" charset="0"/>
              </a:rPr>
              <a:t>Total Cost = F + VQ = 56960145 Taka </a:t>
            </a:r>
          </a:p>
          <a:p>
            <a:pPr marL="0" marR="0">
              <a:lnSpc>
                <a:spcPct val="107000"/>
              </a:lnSpc>
              <a:spcAft>
                <a:spcPts val="800"/>
              </a:spcAft>
            </a:pPr>
            <a:r>
              <a:rPr lang="en-US" sz="1600" kern="100" dirty="0">
                <a:effectLst/>
                <a:ea typeface="Calibri" panose="020F0502020204030204" pitchFamily="34" charset="0"/>
                <a:cs typeface="Times New Roman" panose="02020603050405020304" pitchFamily="18" charset="0"/>
              </a:rPr>
              <a:t>Break Even Point occurs when TR = TC</a:t>
            </a:r>
          </a:p>
          <a:p>
            <a:pPr marL="0" marR="0">
              <a:lnSpc>
                <a:spcPct val="107000"/>
              </a:lnSpc>
              <a:spcAft>
                <a:spcPts val="800"/>
              </a:spcAft>
            </a:pPr>
            <a:r>
              <a:rPr lang="en-US" sz="1600" kern="100" dirty="0">
                <a:effectLst/>
                <a:ea typeface="Calibri" panose="020F0502020204030204" pitchFamily="34" charset="0"/>
                <a:cs typeface="Times New Roman" panose="02020603050405020304" pitchFamily="18" charset="0"/>
              </a:rPr>
              <a:t>𝑩𝑬𝑷𝒙 = 𝑭</a:t>
            </a:r>
            <a:r>
              <a:rPr lang="en-US" sz="1600" b="1" kern="100" dirty="0">
                <a:effectLst/>
                <a:ea typeface="Calibri" panose="020F0502020204030204" pitchFamily="34" charset="0"/>
                <a:cs typeface="Times New Roman" panose="02020603050405020304" pitchFamily="18" charset="0"/>
              </a:rPr>
              <a:t>/(S-V) </a:t>
            </a:r>
            <a:r>
              <a:rPr lang="en-US" sz="1600" kern="100" dirty="0">
                <a:effectLst/>
                <a:ea typeface="Calibri" panose="020F0502020204030204" pitchFamily="34" charset="0"/>
                <a:cs typeface="Times New Roman" panose="02020603050405020304" pitchFamily="18" charset="0"/>
              </a:rPr>
              <a:t>=</a:t>
            </a:r>
            <a:r>
              <a:rPr lang="en-US" sz="1600" kern="100" dirty="0">
                <a:ea typeface="Calibri" panose="020F0502020204030204" pitchFamily="34" charset="0"/>
                <a:cs typeface="Times New Roman" panose="02020603050405020304" pitchFamily="18" charset="0"/>
              </a:rPr>
              <a:t>12788930</a:t>
            </a:r>
            <a:r>
              <a:rPr lang="en-US" sz="1600" kern="100" dirty="0">
                <a:effectLst/>
                <a:ea typeface="Calibri" panose="020F0502020204030204" pitchFamily="34" charset="0"/>
                <a:cs typeface="Times New Roman" panose="02020603050405020304" pitchFamily="18" charset="0"/>
              </a:rPr>
              <a:t>/(20000-13705) = 2032 Units. </a:t>
            </a:r>
          </a:p>
          <a:p>
            <a:pPr marL="0" marR="0">
              <a:lnSpc>
                <a:spcPct val="107000"/>
              </a:lnSpc>
              <a:spcAft>
                <a:spcPts val="800"/>
              </a:spcAft>
            </a:pPr>
            <a:r>
              <a:rPr lang="en-US" sz="1600" kern="100" dirty="0">
                <a:effectLst/>
                <a:ea typeface="Calibri" panose="020F0502020204030204" pitchFamily="34" charset="0"/>
                <a:cs typeface="Times New Roman" panose="02020603050405020304" pitchFamily="18" charset="0"/>
              </a:rPr>
              <a:t>𝑩𝑬𝑷$ = 𝑩𝑬𝑷𝒙 × 𝑺 = 2032*20000 = 40640000 Taka. </a:t>
            </a:r>
          </a:p>
          <a:p>
            <a:pPr marL="0" marR="0">
              <a:lnSpc>
                <a:spcPct val="107000"/>
              </a:lnSpc>
              <a:spcAft>
                <a:spcPts val="800"/>
              </a:spcAft>
            </a:pPr>
            <a:r>
              <a:rPr lang="en-US" sz="1600" kern="100" dirty="0">
                <a:effectLst/>
                <a:ea typeface="Calibri" panose="020F0502020204030204" pitchFamily="34" charset="0"/>
                <a:cs typeface="Times New Roman" panose="02020603050405020304" pitchFamily="18" charset="0"/>
              </a:rPr>
              <a:t>𝑷𝒓𝒐𝒇𝒊𝒕 = 𝑻𝑹 - 𝑻𝑪 =</a:t>
            </a:r>
            <a:r>
              <a:rPr lang="en-US" sz="1600" kern="100" dirty="0">
                <a:ea typeface="Calibri" panose="020F0502020204030204" pitchFamily="34" charset="0"/>
                <a:cs typeface="Times New Roman" panose="02020603050405020304" pitchFamily="18" charset="0"/>
              </a:rPr>
              <a:t>6446</a:t>
            </a:r>
            <a:r>
              <a:rPr lang="en-US" sz="1600" kern="100" dirty="0">
                <a:effectLst/>
                <a:ea typeface="Calibri" panose="020F0502020204030204" pitchFamily="34" charset="0"/>
                <a:cs typeface="Times New Roman" panose="02020603050405020304" pitchFamily="18" charset="0"/>
              </a:rPr>
              <a:t>0000-56960145 = </a:t>
            </a:r>
            <a:r>
              <a:rPr lang="en-US" sz="1600" kern="100" dirty="0">
                <a:ea typeface="Calibri" panose="020F0502020204030204" pitchFamily="34" charset="0"/>
                <a:cs typeface="Times New Roman" panose="02020603050405020304" pitchFamily="18" charset="0"/>
              </a:rPr>
              <a:t>7499855</a:t>
            </a:r>
            <a:r>
              <a:rPr lang="en-US" sz="1600" kern="100" dirty="0">
                <a:effectLst/>
                <a:ea typeface="Calibri" panose="020F0502020204030204" pitchFamily="34" charset="0"/>
                <a:cs typeface="Times New Roman" panose="02020603050405020304" pitchFamily="18" charset="0"/>
              </a:rPr>
              <a:t> Taka.</a:t>
            </a:r>
          </a:p>
        </p:txBody>
      </p:sp>
      <p:pic>
        <p:nvPicPr>
          <p:cNvPr id="9218" name="Picture 2" descr="Revenue - Free business and finance icons">
            <a:extLst>
              <a:ext uri="{FF2B5EF4-FFF2-40B4-BE49-F238E27FC236}">
                <a16:creationId xmlns:a16="http://schemas.microsoft.com/office/drawing/2014/main" id="{734C42B3-A776-B9F9-0D12-C91DF0BFD9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6558" y="1959236"/>
            <a:ext cx="2090057" cy="209005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163854C-797A-C1B3-DDE9-93619E58D30E}"/>
              </a:ext>
            </a:extLst>
          </p:cNvPr>
          <p:cNvSpPr/>
          <p:nvPr/>
        </p:nvSpPr>
        <p:spPr>
          <a:xfrm>
            <a:off x="6615260" y="4240412"/>
            <a:ext cx="2332653" cy="331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kern="100" dirty="0">
                <a:ea typeface="Calibri" panose="020F0502020204030204" pitchFamily="34" charset="0"/>
                <a:cs typeface="Times New Roman" panose="02020603050405020304" pitchFamily="18" charset="0"/>
              </a:rPr>
              <a:t>64460000 </a:t>
            </a:r>
            <a:r>
              <a:rPr lang="en-US" sz="1600" kern="100" dirty="0">
                <a:effectLst/>
                <a:ea typeface="Calibri" panose="020F0502020204030204" pitchFamily="34" charset="0"/>
                <a:cs typeface="Times New Roman" panose="02020603050405020304" pitchFamily="18" charset="0"/>
              </a:rPr>
              <a:t>Taka</a:t>
            </a:r>
            <a:endParaRPr lang="en-US" sz="1600" dirty="0"/>
          </a:p>
        </p:txBody>
      </p:sp>
      <p:sp>
        <p:nvSpPr>
          <p:cNvPr id="4" name="TextBox 3">
            <a:extLst>
              <a:ext uri="{FF2B5EF4-FFF2-40B4-BE49-F238E27FC236}">
                <a16:creationId xmlns:a16="http://schemas.microsoft.com/office/drawing/2014/main" id="{187D0EE1-BC1D-474E-7E11-5B086DBA855F}"/>
              </a:ext>
            </a:extLst>
          </p:cNvPr>
          <p:cNvSpPr txBox="1"/>
          <p:nvPr/>
        </p:nvSpPr>
        <p:spPr>
          <a:xfrm>
            <a:off x="6941973" y="1494345"/>
            <a:ext cx="2090057" cy="369332"/>
          </a:xfrm>
          <a:prstGeom prst="rect">
            <a:avLst/>
          </a:prstGeom>
          <a:noFill/>
        </p:spPr>
        <p:txBody>
          <a:bodyPr wrap="square" rtlCol="0">
            <a:spAutoFit/>
          </a:bodyPr>
          <a:lstStyle/>
          <a:p>
            <a:r>
              <a:rPr lang="en-US" b="1" dirty="0"/>
              <a:t>Total Revenue</a:t>
            </a:r>
          </a:p>
        </p:txBody>
      </p:sp>
      <p:pic>
        <p:nvPicPr>
          <p:cNvPr id="9220" name="Picture 4" descr="Low Cost Icon Vector Art, Icons, and Graphics for Free Download">
            <a:extLst>
              <a:ext uri="{FF2B5EF4-FFF2-40B4-BE49-F238E27FC236}">
                <a16:creationId xmlns:a16="http://schemas.microsoft.com/office/drawing/2014/main" id="{F6428298-BD26-D9DE-996F-3594B40C17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7173" y="2512110"/>
            <a:ext cx="2393115" cy="20900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2EF474-2D6C-B3A6-B087-6C9F054D77EE}"/>
              </a:ext>
            </a:extLst>
          </p:cNvPr>
          <p:cNvSpPr txBox="1"/>
          <p:nvPr/>
        </p:nvSpPr>
        <p:spPr>
          <a:xfrm>
            <a:off x="9905909" y="1916433"/>
            <a:ext cx="1515641" cy="369332"/>
          </a:xfrm>
          <a:prstGeom prst="rect">
            <a:avLst/>
          </a:prstGeom>
          <a:noFill/>
        </p:spPr>
        <p:txBody>
          <a:bodyPr wrap="square" rtlCol="0">
            <a:spAutoFit/>
          </a:bodyPr>
          <a:lstStyle/>
          <a:p>
            <a:r>
              <a:rPr lang="en-US" b="1" dirty="0"/>
              <a:t>Total Cost</a:t>
            </a:r>
          </a:p>
        </p:txBody>
      </p:sp>
      <p:sp>
        <p:nvSpPr>
          <p:cNvPr id="6" name="Rectangle 5">
            <a:extLst>
              <a:ext uri="{FF2B5EF4-FFF2-40B4-BE49-F238E27FC236}">
                <a16:creationId xmlns:a16="http://schemas.microsoft.com/office/drawing/2014/main" id="{E6D334ED-4391-8C33-CD07-C76DB6171119}"/>
              </a:ext>
            </a:extLst>
          </p:cNvPr>
          <p:cNvSpPr/>
          <p:nvPr/>
        </p:nvSpPr>
        <p:spPr>
          <a:xfrm>
            <a:off x="9527635" y="5054858"/>
            <a:ext cx="2332653" cy="331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kern="100" dirty="0">
                <a:effectLst/>
                <a:ea typeface="Calibri" panose="020F0502020204030204" pitchFamily="34" charset="0"/>
                <a:cs typeface="Times New Roman" panose="02020603050405020304" pitchFamily="18" charset="0"/>
              </a:rPr>
              <a:t>56960145</a:t>
            </a:r>
            <a:r>
              <a:rPr lang="en-US" sz="1600" kern="100" dirty="0">
                <a:ea typeface="Calibri" panose="020F0502020204030204" pitchFamily="34" charset="0"/>
                <a:cs typeface="Times New Roman" panose="02020603050405020304" pitchFamily="18" charset="0"/>
              </a:rPr>
              <a:t> </a:t>
            </a:r>
            <a:r>
              <a:rPr lang="en-US" sz="1600" kern="100" dirty="0">
                <a:effectLst/>
                <a:ea typeface="Calibri" panose="020F0502020204030204" pitchFamily="34" charset="0"/>
                <a:cs typeface="Times New Roman" panose="02020603050405020304" pitchFamily="18" charset="0"/>
              </a:rPr>
              <a:t>Taka</a:t>
            </a:r>
            <a:endParaRPr lang="en-US" sz="1600" dirty="0"/>
          </a:p>
        </p:txBody>
      </p:sp>
      <p:sp>
        <p:nvSpPr>
          <p:cNvPr id="8" name="TextBox 7">
            <a:extLst>
              <a:ext uri="{FF2B5EF4-FFF2-40B4-BE49-F238E27FC236}">
                <a16:creationId xmlns:a16="http://schemas.microsoft.com/office/drawing/2014/main" id="{B360B32F-3D22-427D-9C4E-5235646E7000}"/>
              </a:ext>
            </a:extLst>
          </p:cNvPr>
          <p:cNvSpPr txBox="1"/>
          <p:nvPr/>
        </p:nvSpPr>
        <p:spPr>
          <a:xfrm>
            <a:off x="989043" y="584544"/>
            <a:ext cx="3200400" cy="1094467"/>
          </a:xfrm>
          <a:prstGeom prst="rect">
            <a:avLst/>
          </a:prstGeom>
          <a:noFill/>
        </p:spPr>
        <p:txBody>
          <a:bodyPr wrap="square">
            <a:spAutoFit/>
          </a:bodyPr>
          <a:lstStyle/>
          <a:p>
            <a:pPr marL="0" marR="0" algn="ctr">
              <a:lnSpc>
                <a:spcPct val="107000"/>
              </a:lnSpc>
              <a:spcAft>
                <a:spcPts val="800"/>
              </a:spcAft>
            </a:pPr>
            <a:r>
              <a:rPr lang="en-US" sz="2800" b="1" kern="100" dirty="0">
                <a:solidFill>
                  <a:schemeClr val="accent4"/>
                </a:solidFill>
                <a:effectLst/>
                <a:latin typeface="+mj-lt"/>
                <a:ea typeface="Calibri" panose="020F0502020204030204" pitchFamily="34" charset="0"/>
                <a:cs typeface="Times New Roman" panose="02020603050405020304" pitchFamily="18" charset="0"/>
              </a:rPr>
              <a:t>Break</a:t>
            </a:r>
            <a:r>
              <a:rPr lang="en-US" sz="2800" b="1" kern="100" dirty="0">
                <a:effectLst/>
                <a:latin typeface="+mj-lt"/>
                <a:ea typeface="Calibri" panose="020F0502020204030204" pitchFamily="34" charset="0"/>
                <a:cs typeface="Times New Roman" panose="02020603050405020304" pitchFamily="18" charset="0"/>
              </a:rPr>
              <a:t> </a:t>
            </a:r>
            <a:r>
              <a:rPr lang="en-US" sz="2800" b="1" kern="100" dirty="0">
                <a:solidFill>
                  <a:schemeClr val="accent3">
                    <a:lumMod val="75000"/>
                  </a:schemeClr>
                </a:solidFill>
                <a:effectLst/>
                <a:latin typeface="+mj-lt"/>
                <a:ea typeface="Calibri" panose="020F0502020204030204" pitchFamily="34" charset="0"/>
                <a:cs typeface="Times New Roman" panose="02020603050405020304" pitchFamily="18" charset="0"/>
              </a:rPr>
              <a:t>Even </a:t>
            </a:r>
          </a:p>
          <a:p>
            <a:pPr marL="0" marR="0" algn="ctr">
              <a:lnSpc>
                <a:spcPct val="107000"/>
              </a:lnSpc>
              <a:spcAft>
                <a:spcPts val="800"/>
              </a:spcAft>
            </a:pPr>
            <a:r>
              <a:rPr lang="en-US" sz="2800" b="1" kern="100" dirty="0">
                <a:latin typeface="+mj-lt"/>
                <a:ea typeface="Calibri" panose="020F0502020204030204" pitchFamily="34" charset="0"/>
                <a:cs typeface="Times New Roman" panose="02020603050405020304" pitchFamily="18" charset="0"/>
              </a:rPr>
              <a:t>                  </a:t>
            </a:r>
            <a:r>
              <a:rPr lang="en-US" sz="2800" b="1" kern="100" dirty="0">
                <a:effectLst/>
                <a:latin typeface="+mj-lt"/>
                <a:ea typeface="Calibri" panose="020F0502020204030204" pitchFamily="34" charset="0"/>
                <a:cs typeface="Times New Roman" panose="02020603050405020304" pitchFamily="18" charset="0"/>
              </a:rPr>
              <a:t>Analysis</a:t>
            </a:r>
            <a:endParaRPr lang="en-US" sz="28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21573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C7F2-A874-14A8-852B-8C4B6C3601BB}"/>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F46CC6BD-4138-57DB-049A-8AAE7F5B0EF8}"/>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D39A5B53-0DEB-520A-6E1E-CDBFC46E38E8}"/>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B0FA2BC-0C72-216D-E9FC-0FE6777FDD0D}"/>
              </a:ext>
            </a:extLst>
          </p:cNvPr>
          <p:cNvSpPr txBox="1"/>
          <p:nvPr/>
        </p:nvSpPr>
        <p:spPr>
          <a:xfrm>
            <a:off x="4205303" y="530766"/>
            <a:ext cx="4277309" cy="584775"/>
          </a:xfrm>
          <a:prstGeom prst="rect">
            <a:avLst/>
          </a:prstGeom>
          <a:noFill/>
        </p:spPr>
        <p:txBody>
          <a:bodyPr wrap="square">
            <a:spAutoFit/>
          </a:bodyPr>
          <a:lstStyle/>
          <a:p>
            <a:r>
              <a:rPr lang="en-US" sz="3200" dirty="0">
                <a:effectLst/>
                <a:latin typeface="Calibri" panose="020F0502020204030204" pitchFamily="34" charset="0"/>
                <a:ea typeface="Calibri" panose="020F0502020204030204" pitchFamily="34" charset="0"/>
                <a:cs typeface="Times New Roman" panose="02020603050405020304" pitchFamily="18" charset="0"/>
              </a:rPr>
              <a:t>Break-Even Graph</a:t>
            </a:r>
            <a:endParaRPr lang="en-US" sz="3200" dirty="0"/>
          </a:p>
        </p:txBody>
      </p:sp>
      <p:pic>
        <p:nvPicPr>
          <p:cNvPr id="3" name="Picture 2">
            <a:extLst>
              <a:ext uri="{FF2B5EF4-FFF2-40B4-BE49-F238E27FC236}">
                <a16:creationId xmlns:a16="http://schemas.microsoft.com/office/drawing/2014/main" id="{FFE1F497-14ED-491A-4C04-1ABA245F09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2849" y="1011825"/>
            <a:ext cx="9130784" cy="5478470"/>
          </a:xfrm>
          <a:prstGeom prst="rect">
            <a:avLst/>
          </a:prstGeom>
        </p:spPr>
      </p:pic>
    </p:spTree>
    <p:extLst>
      <p:ext uri="{BB962C8B-B14F-4D97-AF65-F5344CB8AC3E}">
        <p14:creationId xmlns:p14="http://schemas.microsoft.com/office/powerpoint/2010/main" val="42651854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AA1D07-B9E0-4578-18F1-68565A0C4992}"/>
              </a:ext>
            </a:extLst>
          </p:cNvPr>
          <p:cNvSpPr/>
          <p:nvPr/>
        </p:nvSpPr>
        <p:spPr>
          <a:xfrm>
            <a:off x="705238" y="-51707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7CF037-D052-F7FC-D653-EDE226630608}"/>
              </a:ext>
            </a:extLst>
          </p:cNvPr>
          <p:cNvSpPr/>
          <p:nvPr/>
        </p:nvSpPr>
        <p:spPr>
          <a:xfrm>
            <a:off x="10881666" y="6175165"/>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6098934-EAC8-3FC6-2897-1BB7AB5E7221}"/>
              </a:ext>
            </a:extLst>
          </p:cNvPr>
          <p:cNvSpPr txBox="1"/>
          <p:nvPr/>
        </p:nvSpPr>
        <p:spPr>
          <a:xfrm>
            <a:off x="1272849" y="452978"/>
            <a:ext cx="3165410" cy="523220"/>
          </a:xfrm>
          <a:prstGeom prst="rect">
            <a:avLst/>
          </a:prstGeom>
          <a:noFill/>
        </p:spPr>
        <p:txBody>
          <a:bodyPr wrap="square">
            <a:spAutoFit/>
          </a:bodyPr>
          <a:lstStyle/>
          <a:p>
            <a:r>
              <a:rPr lang="en-US" sz="2800" b="1" kern="100" dirty="0">
                <a:solidFill>
                  <a:schemeClr val="accent3"/>
                </a:solidFill>
                <a:latin typeface="+mj-lt"/>
                <a:ea typeface="Calibri" panose="020F0502020204030204" pitchFamily="34" charset="0"/>
                <a:cs typeface="Times New Roman" panose="02020603050405020304" pitchFamily="18" charset="0"/>
              </a:rPr>
              <a:t>Our Prototype</a:t>
            </a:r>
            <a:r>
              <a:rPr lang="en-US" sz="2800" b="1" kern="100" dirty="0">
                <a:solidFill>
                  <a:schemeClr val="accent3"/>
                </a:solidFill>
                <a:effectLst/>
                <a:latin typeface="+mj-lt"/>
                <a:ea typeface="Calibri" panose="020F0502020204030204" pitchFamily="34" charset="0"/>
                <a:cs typeface="Times New Roman" panose="02020603050405020304" pitchFamily="18" charset="0"/>
              </a:rPr>
              <a:t> </a:t>
            </a:r>
            <a:endParaRPr lang="en-US" sz="2800" kern="100" dirty="0">
              <a:solidFill>
                <a:schemeClr val="accent3"/>
              </a:solidFill>
              <a:effectLst/>
              <a:latin typeface="+mj-lt"/>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9433C172-B946-7278-0FC4-3E655659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010" y="1233617"/>
            <a:ext cx="4208108" cy="4390765"/>
          </a:xfrm>
          <a:prstGeom prst="rect">
            <a:avLst/>
          </a:prstGeom>
        </p:spPr>
      </p:pic>
      <p:pic>
        <p:nvPicPr>
          <p:cNvPr id="5" name="Picture 4">
            <a:extLst>
              <a:ext uri="{FF2B5EF4-FFF2-40B4-BE49-F238E27FC236}">
                <a16:creationId xmlns:a16="http://schemas.microsoft.com/office/drawing/2014/main" id="{4D0E4DC4-0ADC-F1F6-7D12-06C307384025}"/>
              </a:ext>
            </a:extLst>
          </p:cNvPr>
          <p:cNvPicPr>
            <a:picLocks noChangeAspect="1"/>
          </p:cNvPicPr>
          <p:nvPr/>
        </p:nvPicPr>
        <p:blipFill>
          <a:blip r:embed="rId3"/>
          <a:srcRect t="30790" b="9252"/>
          <a:stretch/>
        </p:blipFill>
        <p:spPr>
          <a:xfrm>
            <a:off x="6231657" y="1233617"/>
            <a:ext cx="4119232" cy="4390765"/>
          </a:xfrm>
          <a:prstGeom prst="rect">
            <a:avLst/>
          </a:prstGeom>
        </p:spPr>
      </p:pic>
    </p:spTree>
    <p:extLst>
      <p:ext uri="{BB962C8B-B14F-4D97-AF65-F5344CB8AC3E}">
        <p14:creationId xmlns:p14="http://schemas.microsoft.com/office/powerpoint/2010/main" val="6440433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980406-77EA-41F6-85EB-EEB0608FE687}"/>
              </a:ext>
            </a:extLst>
          </p:cNvPr>
          <p:cNvSpPr/>
          <p:nvPr/>
        </p:nvSpPr>
        <p:spPr>
          <a:xfrm>
            <a:off x="674437" y="270577"/>
            <a:ext cx="4904510" cy="923330"/>
          </a:xfrm>
          <a:prstGeom prst="rect">
            <a:avLst/>
          </a:prstGeom>
          <a:noFill/>
        </p:spPr>
        <p:txBody>
          <a:bodyPr wrap="square" lIns="91440" tIns="45720" rIns="91440" bIns="45720">
            <a:spAutoFit/>
          </a:bodyPr>
          <a:lstStyle/>
          <a:p>
            <a:r>
              <a:rPr lang="en-US" sz="5400" b="1" kern="100" cap="none" spc="50" dirty="0">
                <a:ln w="9525" cmpd="sng">
                  <a:solidFill>
                    <a:schemeClr val="accent1"/>
                  </a:solidFill>
                  <a:prstDash val="solid"/>
                </a:ln>
                <a:solidFill>
                  <a:schemeClr val="accent3"/>
                </a:solidFill>
                <a:effectLst>
                  <a:glow rad="38100">
                    <a:schemeClr val="accent1">
                      <a:alpha val="40000"/>
                    </a:schemeClr>
                  </a:glow>
                </a:effectLst>
                <a:latin typeface="+mj-lt"/>
                <a:ea typeface="Times New Roman" panose="02020603050405020304" pitchFamily="18" charset="0"/>
                <a:cs typeface="Vrinda" panose="020B0502040204020203" pitchFamily="34" charset="0"/>
              </a:rPr>
              <a:t>Conclusion</a:t>
            </a:r>
            <a:r>
              <a:rPr lang="en-US" sz="5400" b="1" kern="100" cap="none" spc="50" dirty="0">
                <a:ln w="9525" cmpd="sng">
                  <a:solidFill>
                    <a:schemeClr val="accent1"/>
                  </a:solidFill>
                  <a:prstDash val="solid"/>
                </a:ln>
                <a:effectLst>
                  <a:glow rad="38100">
                    <a:schemeClr val="accent1">
                      <a:alpha val="40000"/>
                    </a:schemeClr>
                  </a:glow>
                </a:effectLst>
                <a:latin typeface="+mj-lt"/>
                <a:ea typeface="Times New Roman" panose="02020603050405020304" pitchFamily="18" charset="0"/>
                <a:cs typeface="Vrinda" panose="020B0502040204020203" pitchFamily="34" charset="0"/>
              </a:rPr>
              <a:t>  </a:t>
            </a:r>
            <a:endParaRPr lang="en-US" sz="5400" b="1" cap="none" spc="50" dirty="0">
              <a:ln w="9525" cmpd="sng">
                <a:solidFill>
                  <a:schemeClr val="accent1"/>
                </a:solidFill>
                <a:prstDash val="solid"/>
              </a:ln>
              <a:effectLst>
                <a:glow rad="38100">
                  <a:schemeClr val="accent1">
                    <a:alpha val="40000"/>
                  </a:schemeClr>
                </a:glow>
              </a:effectLst>
            </a:endParaRPr>
          </a:p>
        </p:txBody>
      </p:sp>
      <p:pic>
        <p:nvPicPr>
          <p:cNvPr id="6" name="Picture 5">
            <a:extLst>
              <a:ext uri="{FF2B5EF4-FFF2-40B4-BE49-F238E27FC236}">
                <a16:creationId xmlns:a16="http://schemas.microsoft.com/office/drawing/2014/main" id="{77ACE923-B007-FE83-39D9-5C4D6CB3FF41}"/>
              </a:ext>
            </a:extLst>
          </p:cNvPr>
          <p:cNvPicPr>
            <a:picLocks noChangeAspect="1"/>
          </p:cNvPicPr>
          <p:nvPr/>
        </p:nvPicPr>
        <p:blipFill>
          <a:blip r:embed="rId2"/>
          <a:stretch>
            <a:fillRect/>
          </a:stretch>
        </p:blipFill>
        <p:spPr>
          <a:xfrm>
            <a:off x="498005" y="6227009"/>
            <a:ext cx="676715" cy="1261981"/>
          </a:xfrm>
          <a:prstGeom prst="rect">
            <a:avLst/>
          </a:prstGeom>
        </p:spPr>
      </p:pic>
      <p:sp>
        <p:nvSpPr>
          <p:cNvPr id="7" name="Rectangle 6">
            <a:extLst>
              <a:ext uri="{FF2B5EF4-FFF2-40B4-BE49-F238E27FC236}">
                <a16:creationId xmlns:a16="http://schemas.microsoft.com/office/drawing/2014/main" id="{D83C71FC-F4C8-4018-7CFD-0651CDEE664F}"/>
              </a:ext>
            </a:extLst>
          </p:cNvPr>
          <p:cNvSpPr/>
          <p:nvPr/>
        </p:nvSpPr>
        <p:spPr>
          <a:xfrm>
            <a:off x="11100619" y="-419311"/>
            <a:ext cx="567611" cy="1151553"/>
          </a:xfrm>
          <a:prstGeom prst="rect">
            <a:avLst/>
          </a:prstGeom>
          <a:solidFill>
            <a:schemeClr val="accent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1D46B98-BA39-9748-2D57-62EFC01423DA}"/>
              </a:ext>
            </a:extLst>
          </p:cNvPr>
          <p:cNvSpPr txBox="1"/>
          <p:nvPr/>
        </p:nvSpPr>
        <p:spPr>
          <a:xfrm>
            <a:off x="1088995" y="1313323"/>
            <a:ext cx="13059314" cy="4770537"/>
          </a:xfrm>
          <a:prstGeom prst="rect">
            <a:avLst/>
          </a:prstGeom>
          <a:noFill/>
        </p:spPr>
        <p:txBody>
          <a:bodyPr wrap="square">
            <a:spAutoFit/>
          </a:bodyPr>
          <a:lstStyle/>
          <a:p>
            <a:pPr marL="285750" indent="-285750">
              <a:buFont typeface="Wingdings" panose="05000000000000000000" pitchFamily="2" charset="2"/>
              <a:buChar char="q"/>
            </a:pPr>
            <a:r>
              <a:rPr lang="en-US" sz="1600" dirty="0"/>
              <a:t>Smart Shopping Cart enhances efficiency in retail shopping.</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Features include RFID scanning, automatic billing, and digital display.</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Designed based on extensive market and consumer analysis.</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Stress and thermal analysis confirm structural strength and safety.</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Locally developed to reduce reliance on imports.</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Cost-effective design within 10,000–12,000 BDT.</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High market potential in Bangladesh’s modern retail sector.</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Validated using QFD, function structure, and simulation tools.</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Suitable for mass production using stamping and welding processes.</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Powered by durable battery with safe electronic integration.</a:t>
            </a:r>
          </a:p>
        </p:txBody>
      </p:sp>
    </p:spTree>
    <p:extLst>
      <p:ext uri="{BB962C8B-B14F-4D97-AF65-F5344CB8AC3E}">
        <p14:creationId xmlns:p14="http://schemas.microsoft.com/office/powerpoint/2010/main" val="1314146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25779B-1278-B2B3-8043-1AD8F6A05DEE}"/>
              </a:ext>
            </a:extLst>
          </p:cNvPr>
          <p:cNvSpPr/>
          <p:nvPr/>
        </p:nvSpPr>
        <p:spPr>
          <a:xfrm>
            <a:off x="2669309" y="2004291"/>
            <a:ext cx="6677891" cy="221672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mj-lt"/>
              </a:rPr>
              <a:t>THANK YOU</a:t>
            </a:r>
          </a:p>
        </p:txBody>
      </p:sp>
    </p:spTree>
    <p:extLst>
      <p:ext uri="{BB962C8B-B14F-4D97-AF65-F5344CB8AC3E}">
        <p14:creationId xmlns:p14="http://schemas.microsoft.com/office/powerpoint/2010/main" val="729181400"/>
      </p:ext>
    </p:extLst>
  </p:cSld>
  <p:clrMapOvr>
    <a:masterClrMapping/>
  </p:clrMapOvr>
</p:sld>
</file>

<file path=ppt/theme/theme1.xml><?xml version="1.0" encoding="utf-8"?>
<a:theme xmlns:a="http://schemas.openxmlformats.org/drawingml/2006/main" name="Office Theme">
  <a:themeElements>
    <a:clrScheme name="Business Management Infographic">
      <a:dk1>
        <a:sysClr val="windowText" lastClr="000000"/>
      </a:dk1>
      <a:lt1>
        <a:sysClr val="window" lastClr="FFFFFF"/>
      </a:lt1>
      <a:dk2>
        <a:srgbClr val="44546A"/>
      </a:dk2>
      <a:lt2>
        <a:srgbClr val="E7E6E6"/>
      </a:lt2>
      <a:accent1>
        <a:srgbClr val="798CB7"/>
      </a:accent1>
      <a:accent2>
        <a:srgbClr val="65A3B9"/>
      </a:accent2>
      <a:accent3>
        <a:srgbClr val="E2AE68"/>
      </a:accent3>
      <a:accent4>
        <a:srgbClr val="46BAB7"/>
      </a:accent4>
      <a:accent5>
        <a:srgbClr val="4472C4"/>
      </a:accent5>
      <a:accent6>
        <a:srgbClr val="70AD47"/>
      </a:accent6>
      <a:hlink>
        <a:srgbClr val="0563C1"/>
      </a:hlink>
      <a:folHlink>
        <a:srgbClr val="954F72"/>
      </a:folHlink>
    </a:clrScheme>
    <a:fontScheme name="Business Management Infographic">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1090</TotalTime>
  <Words>3577</Words>
  <Application>Microsoft Office PowerPoint</Application>
  <PresentationFormat>Widescreen</PresentationFormat>
  <Paragraphs>1692</Paragraphs>
  <Slides>66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66</vt:i4>
      </vt:variant>
    </vt:vector>
  </HeadingPairs>
  <TitlesOfParts>
    <vt:vector size="76" baseType="lpstr">
      <vt:lpstr>Arial</vt:lpstr>
      <vt:lpstr>Arial Black</vt:lpstr>
      <vt:lpstr>Calibri</vt:lpstr>
      <vt:lpstr>Century Gothic</vt:lpstr>
      <vt:lpstr>DauphinPlain</vt:lpstr>
      <vt:lpstr>Open Sans</vt:lpstr>
      <vt:lpstr>Poppins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Elmous</dc:creator>
  <cp:lastModifiedBy>ferdaous al farabe</cp:lastModifiedBy>
  <cp:revision>83</cp:revision>
  <dcterms:created xsi:type="dcterms:W3CDTF">2021-03-16T05:07:45Z</dcterms:created>
  <dcterms:modified xsi:type="dcterms:W3CDTF">2025-04-22T06:29:14Z</dcterms:modified>
</cp:coreProperties>
</file>